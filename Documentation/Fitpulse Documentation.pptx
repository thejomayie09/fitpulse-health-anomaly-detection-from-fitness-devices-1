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6" r:id="rId3"/>
    <p:sldId id="257" r:id="rId4"/>
    <p:sldId id="258" r:id="rId5"/>
    <p:sldId id="259" r:id="rId6"/>
    <p:sldId id="267" r:id="rId7"/>
    <p:sldId id="268" r:id="rId8"/>
    <p:sldId id="260" r:id="rId9"/>
    <p:sldId id="261" r:id="rId10"/>
    <p:sldId id="262" r:id="rId11"/>
    <p:sldId id="263" r:id="rId12"/>
    <p:sldId id="264" r:id="rId13"/>
    <p:sldId id="265"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3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506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5F023-24E9-FC00-C832-9239E387B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E3905-A293-2602-78C8-348A20A24F5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8071D9-6622-BF55-B949-32C9A963E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FAB8E8-ABE1-11E0-F3B7-E79A6C86935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29355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BF224-8988-FE19-F98D-BE1616AFA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34646-9A46-A35C-836A-2FFB8E996E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B1B4814-E34C-E0E1-E4B9-FFDB93EDC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E2673A-2123-74B8-F5D5-992BA57C817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2126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5C45E-5A26-8126-B42F-F1A99FBE0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40369-220B-EFF4-E9B3-787D1FD787E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819A00-B785-B4DF-62EF-65FAE45C0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03B680-61C1-0DC2-2D76-F8D4272F05B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78652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1B52-C70A-6560-701B-CCB0C075B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86836-EF8D-830B-34FF-6ED10ABA265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633E2F5-D141-6283-0D06-3A524AFEA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1D436A-2F9F-3234-50E5-E7CC69A9078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07011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8B51-706C-09C5-2116-D4415BEAF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3424C-0AB3-2DB8-36C6-AD3EB14F259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7E6764-636A-305C-0C93-320D5E7AD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BD734-66EC-C9FB-AAEC-174911603A1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79712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0621-36F3-49FB-FA3D-7F8769112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662CF-A08A-439C-3E9E-E52898E9D79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D0430D8-9418-A1D0-9F6B-0E3928E66F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C0A2EF-9E6B-342A-3589-06C7F008F08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48985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9B9B-C0EA-B884-68A0-90BE7E70B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BDE22-8557-CBFD-DC56-D8C20ACC08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A99B4E2-8B0D-3AC1-D342-677533E41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A483C9-4A61-563F-5C57-DA23A4C0422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36435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Shape 1"/>
          <p:cNvSpPr/>
          <p:nvPr/>
        </p:nvSpPr>
        <p:spPr>
          <a:xfrm>
            <a:off x="0" y="73152"/>
            <a:ext cx="109728" cy="5070348"/>
          </a:xfrm>
          <a:prstGeom prst="rect">
            <a:avLst/>
          </a:prstGeom>
          <a:solidFill>
            <a:srgbClr val="6366F1"/>
          </a:solidFill>
          <a:ln w="12700">
            <a:solidFill>
              <a:srgbClr val="6366F1"/>
            </a:solidFill>
            <a:prstDash val="solid"/>
          </a:ln>
        </p:spPr>
        <p:txBody>
          <a:bodyPr/>
          <a:lstStyle/>
          <a:p>
            <a:endParaRPr lang="en-IN"/>
          </a:p>
        </p:txBody>
      </p:sp>
      <p:sp>
        <p:nvSpPr>
          <p:cNvPr id="4" name="Text 2"/>
          <p:cNvSpPr/>
          <p:nvPr/>
        </p:nvSpPr>
        <p:spPr>
          <a:xfrm>
            <a:off x="365760" y="1097280"/>
            <a:ext cx="8412480" cy="1005840"/>
          </a:xfrm>
          <a:prstGeom prst="rect">
            <a:avLst/>
          </a:prstGeom>
          <a:noFill/>
          <a:ln/>
        </p:spPr>
        <p:txBody>
          <a:bodyPr wrap="square" lIns="0" tIns="0" rIns="0" bIns="0" rtlCol="0" anchor="ctr"/>
          <a:lstStyle/>
          <a:p>
            <a:pPr marL="0" indent="0" algn="ctr">
              <a:buNone/>
            </a:pPr>
            <a:r>
              <a:rPr lang="en-US" sz="5400" b="1" dirty="0">
                <a:solidFill>
                  <a:srgbClr val="A78BFA"/>
                </a:solidFill>
                <a:latin typeface="Calibri" pitchFamily="34" charset="0"/>
                <a:ea typeface="Calibri" pitchFamily="34" charset="-122"/>
                <a:cs typeface="Calibri" pitchFamily="34" charset="-120"/>
              </a:rPr>
              <a:t>FitPulse</a:t>
            </a:r>
            <a:endParaRPr lang="en-US" sz="5400" dirty="0"/>
          </a:p>
        </p:txBody>
      </p:sp>
      <p:sp>
        <p:nvSpPr>
          <p:cNvPr id="5" name="Text 3"/>
          <p:cNvSpPr/>
          <p:nvPr/>
        </p:nvSpPr>
        <p:spPr>
          <a:xfrm>
            <a:off x="365760" y="2103120"/>
            <a:ext cx="8412480" cy="640080"/>
          </a:xfrm>
          <a:prstGeom prst="rect">
            <a:avLst/>
          </a:prstGeom>
          <a:noFill/>
          <a:ln/>
        </p:spPr>
        <p:txBody>
          <a:bodyPr wrap="square" lIns="0" tIns="0" rIns="0" bIns="0" rtlCol="0" anchor="ctr"/>
          <a:lstStyle/>
          <a:p>
            <a:pPr marL="0" indent="0" algn="ctr">
              <a:buNone/>
            </a:pPr>
            <a:r>
              <a:rPr lang="en-US" sz="2000" dirty="0">
                <a:solidFill>
                  <a:srgbClr val="38BDF8"/>
                </a:solidFill>
                <a:latin typeface="Calibri" pitchFamily="34" charset="0"/>
                <a:ea typeface="Calibri" pitchFamily="34" charset="-122"/>
                <a:cs typeface="Calibri" pitchFamily="34" charset="-120"/>
              </a:rPr>
              <a:t>Health Anomaly Detection from Fitness Devices</a:t>
            </a:r>
            <a:endParaRPr lang="en-US" sz="2000" dirty="0"/>
          </a:p>
        </p:txBody>
      </p:sp>
      <p:sp>
        <p:nvSpPr>
          <p:cNvPr id="6" name="Shape 4"/>
          <p:cNvSpPr/>
          <p:nvPr/>
        </p:nvSpPr>
        <p:spPr>
          <a:xfrm>
            <a:off x="3200400" y="2834640"/>
            <a:ext cx="2743200" cy="36576"/>
          </a:xfrm>
          <a:prstGeom prst="rect">
            <a:avLst/>
          </a:prstGeom>
          <a:solidFill>
            <a:srgbClr val="A78BFA"/>
          </a:solidFill>
          <a:ln w="12700">
            <a:solidFill>
              <a:srgbClr val="A78BFA"/>
            </a:solidFill>
            <a:prstDash val="solid"/>
          </a:ln>
        </p:spPr>
        <p:txBody>
          <a:bodyPr/>
          <a:lstStyle/>
          <a:p>
            <a:endParaRPr lang="en-IN"/>
          </a:p>
        </p:txBody>
      </p:sp>
      <p:sp>
        <p:nvSpPr>
          <p:cNvPr id="14" name="Shape 12"/>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
        <p:nvSpPr>
          <p:cNvPr id="19" name="Text 11"/>
          <p:cNvSpPr/>
          <p:nvPr/>
        </p:nvSpPr>
        <p:spPr>
          <a:xfrm>
            <a:off x="6118166" y="3733038"/>
            <a:ext cx="2075807" cy="347472"/>
          </a:xfrm>
          <a:prstGeom prst="rect">
            <a:avLst/>
          </a:prstGeom>
          <a:noFill/>
          <a:ln/>
        </p:spPr>
        <p:txBody>
          <a:bodyPr wrap="square" rtlCol="0" anchor="ctr"/>
          <a:lstStyle/>
          <a:p>
            <a:pPr algn="ctr"/>
            <a:r>
              <a:rPr lang="en-US" sz="2400" b="1" dirty="0">
                <a:solidFill>
                  <a:srgbClr val="A78BFA"/>
                </a:solidFill>
                <a:latin typeface="Calibri" pitchFamily="34" charset="0"/>
                <a:ea typeface="Calibri" pitchFamily="34" charset="-122"/>
                <a:cs typeface="Calibri" pitchFamily="34" charset="-120"/>
              </a:rPr>
              <a:t>Thejomayie K</a:t>
            </a:r>
          </a:p>
          <a:p>
            <a:pPr algn="ctr"/>
            <a:r>
              <a:rPr lang="en-US" sz="2400" b="1" dirty="0">
                <a:solidFill>
                  <a:srgbClr val="A78BFA"/>
                </a:solidFill>
                <a:latin typeface="Calibri" pitchFamily="34" charset="0"/>
                <a:ea typeface="Calibri" pitchFamily="34" charset="-122"/>
                <a:cs typeface="Calibri" pitchFamily="34" charset="-120"/>
              </a:rPr>
              <a:t>Batch 13</a:t>
            </a:r>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130444B-8FDF-CF71-CF19-A2F53BCA5B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708B78-DA0F-F727-1AF2-1BF05A46BC70}"/>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Shape 1">
            <a:extLst>
              <a:ext uri="{FF2B5EF4-FFF2-40B4-BE49-F238E27FC236}">
                <a16:creationId xmlns:a16="http://schemas.microsoft.com/office/drawing/2014/main" id="{885E3F76-D26A-F94F-89F5-B6ED8759E98A}"/>
              </a:ext>
            </a:extLst>
          </p:cNvPr>
          <p:cNvSpPr/>
          <p:nvPr/>
        </p:nvSpPr>
        <p:spPr>
          <a:xfrm>
            <a:off x="0" y="73152"/>
            <a:ext cx="109728" cy="5070348"/>
          </a:xfrm>
          <a:prstGeom prst="rect">
            <a:avLst/>
          </a:prstGeom>
          <a:solidFill>
            <a:srgbClr val="6366F1"/>
          </a:solidFill>
          <a:ln w="12700">
            <a:solidFill>
              <a:srgbClr val="6366F1"/>
            </a:solidFill>
            <a:prstDash val="solid"/>
          </a:ln>
        </p:spPr>
        <p:txBody>
          <a:bodyPr/>
          <a:lstStyle/>
          <a:p>
            <a:endParaRPr lang="en-IN"/>
          </a:p>
        </p:txBody>
      </p:sp>
      <p:sp>
        <p:nvSpPr>
          <p:cNvPr id="4" name="Text 2">
            <a:extLst>
              <a:ext uri="{FF2B5EF4-FFF2-40B4-BE49-F238E27FC236}">
                <a16:creationId xmlns:a16="http://schemas.microsoft.com/office/drawing/2014/main" id="{A20245E1-9076-6BBC-8471-DB285489288B}"/>
              </a:ext>
            </a:extLst>
          </p:cNvPr>
          <p:cNvSpPr/>
          <p:nvPr/>
        </p:nvSpPr>
        <p:spPr>
          <a:xfrm>
            <a:off x="365760" y="1097280"/>
            <a:ext cx="8412480" cy="1005840"/>
          </a:xfrm>
          <a:prstGeom prst="rect">
            <a:avLst/>
          </a:prstGeom>
          <a:noFill/>
          <a:ln/>
        </p:spPr>
        <p:txBody>
          <a:bodyPr wrap="square" lIns="0" tIns="0" rIns="0" bIns="0" rtlCol="0" anchor="ctr"/>
          <a:lstStyle/>
          <a:p>
            <a:pPr marL="0" indent="0" algn="ctr">
              <a:buNone/>
            </a:pPr>
            <a:r>
              <a:rPr lang="en-US" sz="5400" b="1" dirty="0">
                <a:solidFill>
                  <a:srgbClr val="A78BFA"/>
                </a:solidFill>
                <a:latin typeface="Calibri" pitchFamily="34" charset="0"/>
                <a:ea typeface="Calibri" pitchFamily="34" charset="-122"/>
                <a:cs typeface="Calibri" pitchFamily="34" charset="-120"/>
              </a:rPr>
              <a:t>FitPulse</a:t>
            </a:r>
            <a:endParaRPr lang="en-US" sz="5400" dirty="0"/>
          </a:p>
        </p:txBody>
      </p:sp>
      <p:sp>
        <p:nvSpPr>
          <p:cNvPr id="5" name="Text 3">
            <a:extLst>
              <a:ext uri="{FF2B5EF4-FFF2-40B4-BE49-F238E27FC236}">
                <a16:creationId xmlns:a16="http://schemas.microsoft.com/office/drawing/2014/main" id="{B53029BF-92A9-4AE2-F63B-DC0E541D5867}"/>
              </a:ext>
            </a:extLst>
          </p:cNvPr>
          <p:cNvSpPr/>
          <p:nvPr/>
        </p:nvSpPr>
        <p:spPr>
          <a:xfrm>
            <a:off x="365760" y="2103120"/>
            <a:ext cx="8412480" cy="640080"/>
          </a:xfrm>
          <a:prstGeom prst="rect">
            <a:avLst/>
          </a:prstGeom>
          <a:noFill/>
          <a:ln/>
        </p:spPr>
        <p:txBody>
          <a:bodyPr wrap="square" lIns="0" tIns="0" rIns="0" bIns="0" rtlCol="0" anchor="ctr"/>
          <a:lstStyle/>
          <a:p>
            <a:pPr marL="0" indent="0" algn="ctr">
              <a:buNone/>
            </a:pPr>
            <a:r>
              <a:rPr lang="en-US" sz="2000" dirty="0">
                <a:solidFill>
                  <a:srgbClr val="38BDF8"/>
                </a:solidFill>
                <a:latin typeface="Calibri" pitchFamily="34" charset="0"/>
                <a:ea typeface="Calibri" pitchFamily="34" charset="-122"/>
                <a:cs typeface="Calibri" pitchFamily="34" charset="-120"/>
              </a:rPr>
              <a:t>Health Anomaly Detection from Fitness Devices</a:t>
            </a:r>
            <a:endParaRPr lang="en-US" sz="2000" dirty="0"/>
          </a:p>
        </p:txBody>
      </p:sp>
      <p:sp>
        <p:nvSpPr>
          <p:cNvPr id="6" name="Shape 4">
            <a:extLst>
              <a:ext uri="{FF2B5EF4-FFF2-40B4-BE49-F238E27FC236}">
                <a16:creationId xmlns:a16="http://schemas.microsoft.com/office/drawing/2014/main" id="{3F9846B2-F7FD-EC01-D530-49FD106A1B90}"/>
              </a:ext>
            </a:extLst>
          </p:cNvPr>
          <p:cNvSpPr/>
          <p:nvPr/>
        </p:nvSpPr>
        <p:spPr>
          <a:xfrm>
            <a:off x="3200400" y="2834640"/>
            <a:ext cx="2743200" cy="36576"/>
          </a:xfrm>
          <a:prstGeom prst="rect">
            <a:avLst/>
          </a:prstGeom>
          <a:solidFill>
            <a:srgbClr val="A78BFA"/>
          </a:solidFill>
          <a:ln w="12700">
            <a:solidFill>
              <a:srgbClr val="A78BFA"/>
            </a:solidFill>
            <a:prstDash val="solid"/>
          </a:ln>
        </p:spPr>
        <p:txBody>
          <a:bodyPr/>
          <a:lstStyle/>
          <a:p>
            <a:endParaRPr lang="en-IN"/>
          </a:p>
        </p:txBody>
      </p:sp>
      <p:sp>
        <p:nvSpPr>
          <p:cNvPr id="7" name="Text 5">
            <a:extLst>
              <a:ext uri="{FF2B5EF4-FFF2-40B4-BE49-F238E27FC236}">
                <a16:creationId xmlns:a16="http://schemas.microsoft.com/office/drawing/2014/main" id="{DA192659-34D2-5AC0-93B7-BF1CECEAEB5A}"/>
              </a:ext>
            </a:extLst>
          </p:cNvPr>
          <p:cNvSpPr/>
          <p:nvPr/>
        </p:nvSpPr>
        <p:spPr>
          <a:xfrm>
            <a:off x="365760" y="3017520"/>
            <a:ext cx="8412480" cy="457200"/>
          </a:xfrm>
          <a:prstGeom prst="rect">
            <a:avLst/>
          </a:prstGeom>
          <a:noFill/>
          <a:ln/>
        </p:spPr>
        <p:txBody>
          <a:bodyPr wrap="square" lIns="0" tIns="0" rIns="0" bIns="0" rtlCol="0" anchor="ctr"/>
          <a:lstStyle/>
          <a:p>
            <a:pPr marL="0" indent="0" algn="ctr">
              <a:buNone/>
            </a:pPr>
            <a:r>
              <a:rPr lang="en-US" sz="1500" dirty="0">
                <a:solidFill>
                  <a:srgbClr val="7A9ABB"/>
                </a:solidFill>
                <a:latin typeface="Calibri" pitchFamily="34" charset="0"/>
                <a:ea typeface="Calibri" pitchFamily="34" charset="-122"/>
                <a:cs typeface="Calibri" pitchFamily="34" charset="-120"/>
              </a:rPr>
              <a:t>Milestone 1  ·  Milestone 2</a:t>
            </a:r>
            <a:endParaRPr lang="en-US" sz="1500" dirty="0"/>
          </a:p>
        </p:txBody>
      </p:sp>
      <p:sp>
        <p:nvSpPr>
          <p:cNvPr id="8" name="Shape 6">
            <a:extLst>
              <a:ext uri="{FF2B5EF4-FFF2-40B4-BE49-F238E27FC236}">
                <a16:creationId xmlns:a16="http://schemas.microsoft.com/office/drawing/2014/main" id="{19B3A3E5-49F9-8DD9-38BB-16204A13034B}"/>
              </a:ext>
            </a:extLst>
          </p:cNvPr>
          <p:cNvSpPr/>
          <p:nvPr/>
        </p:nvSpPr>
        <p:spPr>
          <a:xfrm>
            <a:off x="228600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9" name="Text 7">
            <a:extLst>
              <a:ext uri="{FF2B5EF4-FFF2-40B4-BE49-F238E27FC236}">
                <a16:creationId xmlns:a16="http://schemas.microsoft.com/office/drawing/2014/main" id="{E30419C6-5DDF-ADF4-9A8A-F694FA34151C}"/>
              </a:ext>
            </a:extLst>
          </p:cNvPr>
          <p:cNvSpPr/>
          <p:nvPr/>
        </p:nvSpPr>
        <p:spPr>
          <a:xfrm>
            <a:off x="228600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Streamlit</a:t>
            </a:r>
            <a:endParaRPr lang="en-US" sz="1000" dirty="0"/>
          </a:p>
        </p:txBody>
      </p:sp>
      <p:sp>
        <p:nvSpPr>
          <p:cNvPr id="10" name="Shape 8">
            <a:extLst>
              <a:ext uri="{FF2B5EF4-FFF2-40B4-BE49-F238E27FC236}">
                <a16:creationId xmlns:a16="http://schemas.microsoft.com/office/drawing/2014/main" id="{B4E3956F-9F03-9CC7-E454-9D37C8E7A454}"/>
              </a:ext>
            </a:extLst>
          </p:cNvPr>
          <p:cNvSpPr/>
          <p:nvPr/>
        </p:nvSpPr>
        <p:spPr>
          <a:xfrm>
            <a:off x="393192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11" name="Text 9">
            <a:extLst>
              <a:ext uri="{FF2B5EF4-FFF2-40B4-BE49-F238E27FC236}">
                <a16:creationId xmlns:a16="http://schemas.microsoft.com/office/drawing/2014/main" id="{2B9A4B5B-B779-797F-67CC-321010EAB756}"/>
              </a:ext>
            </a:extLst>
          </p:cNvPr>
          <p:cNvSpPr/>
          <p:nvPr/>
        </p:nvSpPr>
        <p:spPr>
          <a:xfrm>
            <a:off x="393192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Python</a:t>
            </a:r>
            <a:endParaRPr lang="en-US" sz="1000" dirty="0"/>
          </a:p>
        </p:txBody>
      </p:sp>
      <p:sp>
        <p:nvSpPr>
          <p:cNvPr id="12" name="Shape 10">
            <a:extLst>
              <a:ext uri="{FF2B5EF4-FFF2-40B4-BE49-F238E27FC236}">
                <a16:creationId xmlns:a16="http://schemas.microsoft.com/office/drawing/2014/main" id="{46376ADB-81D7-98D7-9CB8-E6BE20CCF12C}"/>
              </a:ext>
            </a:extLst>
          </p:cNvPr>
          <p:cNvSpPr/>
          <p:nvPr/>
        </p:nvSpPr>
        <p:spPr>
          <a:xfrm>
            <a:off x="557784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13" name="Text 11">
            <a:extLst>
              <a:ext uri="{FF2B5EF4-FFF2-40B4-BE49-F238E27FC236}">
                <a16:creationId xmlns:a16="http://schemas.microsoft.com/office/drawing/2014/main" id="{24A10F54-BE25-E7B1-B0D9-3F17093FF086}"/>
              </a:ext>
            </a:extLst>
          </p:cNvPr>
          <p:cNvSpPr/>
          <p:nvPr/>
        </p:nvSpPr>
        <p:spPr>
          <a:xfrm>
            <a:off x="557784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Machine Learning</a:t>
            </a:r>
            <a:endParaRPr lang="en-US" sz="1000" dirty="0"/>
          </a:p>
        </p:txBody>
      </p:sp>
      <p:sp>
        <p:nvSpPr>
          <p:cNvPr id="14" name="Shape 12">
            <a:extLst>
              <a:ext uri="{FF2B5EF4-FFF2-40B4-BE49-F238E27FC236}">
                <a16:creationId xmlns:a16="http://schemas.microsoft.com/office/drawing/2014/main" id="{DF58B459-CE8D-95F6-E032-D07651755B05}"/>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extLst>
      <p:ext uri="{BB962C8B-B14F-4D97-AF65-F5344CB8AC3E}">
        <p14:creationId xmlns:p14="http://schemas.microsoft.com/office/powerpoint/2010/main" val="1706861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Project Overview</a:t>
            </a:r>
            <a:endParaRPr lang="en-US" sz="2800" dirty="0"/>
          </a:p>
        </p:txBody>
      </p:sp>
      <p:sp>
        <p:nvSpPr>
          <p:cNvPr id="4" name="Text 2"/>
          <p:cNvSpPr/>
          <p:nvPr/>
        </p:nvSpPr>
        <p:spPr>
          <a:xfrm>
            <a:off x="365760" y="868680"/>
            <a:ext cx="84124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What is FitPulse?</a:t>
            </a:r>
            <a:endParaRPr lang="en-US" sz="1600" dirty="0"/>
          </a:p>
        </p:txBody>
      </p:sp>
      <p:sp>
        <p:nvSpPr>
          <p:cNvPr id="5" name="Text 3"/>
          <p:cNvSpPr/>
          <p:nvPr/>
        </p:nvSpPr>
        <p:spPr>
          <a:xfrm>
            <a:off x="365760" y="1234440"/>
            <a:ext cx="8412480" cy="731520"/>
          </a:xfrm>
          <a:prstGeom prst="rect">
            <a:avLst/>
          </a:prstGeom>
          <a:noFill/>
          <a:ln/>
        </p:spPr>
        <p:txBody>
          <a:bodyPr wrap="square" lIns="0" tIns="0" rIns="0" bIns="0" rtlCol="0" anchor="ctr"/>
          <a:lstStyle/>
          <a:p>
            <a:pPr marL="0" indent="0">
              <a:buNone/>
            </a:pPr>
            <a:r>
              <a:rPr lang="en-US" sz="1300" dirty="0">
                <a:solidFill>
                  <a:srgbClr val="DCE8F5"/>
                </a:solidFill>
                <a:latin typeface="Calibri" pitchFamily="34" charset="0"/>
                <a:ea typeface="Calibri" pitchFamily="34" charset="-122"/>
                <a:cs typeface="Calibri" pitchFamily="34" charset="-120"/>
              </a:rPr>
              <a:t>FitPulse is a complete data science platform that takes raw Fitbit sensor data from 30 users, cleans it, extracts patterns, forecasts health trends, and groups users by their fitness behaviour — all in an interactive web application.</a:t>
            </a:r>
            <a:endParaRPr lang="en-US" sz="1300" dirty="0"/>
          </a:p>
        </p:txBody>
      </p:sp>
      <p:sp>
        <p:nvSpPr>
          <p:cNvPr id="6" name="Shape 4"/>
          <p:cNvSpPr/>
          <p:nvPr/>
        </p:nvSpPr>
        <p:spPr>
          <a:xfrm>
            <a:off x="320040" y="2103120"/>
            <a:ext cx="1920240" cy="118872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7" name="Text 5"/>
          <p:cNvSpPr/>
          <p:nvPr/>
        </p:nvSpPr>
        <p:spPr>
          <a:xfrm>
            <a:off x="320040" y="2148840"/>
            <a:ext cx="1920240" cy="594360"/>
          </a:xfrm>
          <a:prstGeom prst="rect">
            <a:avLst/>
          </a:prstGeom>
          <a:noFill/>
          <a:ln/>
        </p:spPr>
        <p:txBody>
          <a:bodyPr wrap="square" rtlCol="0" anchor="ctr"/>
          <a:lstStyle/>
          <a:p>
            <a:pPr marL="0" indent="0" algn="ctr">
              <a:buNone/>
            </a:pPr>
            <a:r>
              <a:rPr lang="en-US" sz="3600" b="1" dirty="0">
                <a:solidFill>
                  <a:srgbClr val="A78BFA"/>
                </a:solidFill>
                <a:latin typeface="Calibri" pitchFamily="34" charset="0"/>
                <a:ea typeface="Calibri" pitchFamily="34" charset="-122"/>
                <a:cs typeface="Calibri" pitchFamily="34" charset="-120"/>
              </a:rPr>
              <a:t>30</a:t>
            </a:r>
            <a:endParaRPr lang="en-US" sz="3600" dirty="0"/>
          </a:p>
        </p:txBody>
      </p:sp>
      <p:sp>
        <p:nvSpPr>
          <p:cNvPr id="8" name="Text 6"/>
          <p:cNvSpPr/>
          <p:nvPr/>
        </p:nvSpPr>
        <p:spPr>
          <a:xfrm>
            <a:off x="32004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Users</a:t>
            </a:r>
            <a:endParaRPr lang="en-US" sz="1200" dirty="0"/>
          </a:p>
        </p:txBody>
      </p:sp>
      <p:sp>
        <p:nvSpPr>
          <p:cNvPr id="9" name="Shape 7"/>
          <p:cNvSpPr/>
          <p:nvPr/>
        </p:nvSpPr>
        <p:spPr>
          <a:xfrm>
            <a:off x="2468880" y="2103120"/>
            <a:ext cx="1920240" cy="118872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8"/>
          <p:cNvSpPr/>
          <p:nvPr/>
        </p:nvSpPr>
        <p:spPr>
          <a:xfrm>
            <a:off x="2468880" y="2148840"/>
            <a:ext cx="1920240" cy="594360"/>
          </a:xfrm>
          <a:prstGeom prst="rect">
            <a:avLst/>
          </a:prstGeom>
          <a:noFill/>
          <a:ln/>
        </p:spPr>
        <p:txBody>
          <a:bodyPr wrap="square" rtlCol="0" anchor="ctr"/>
          <a:lstStyle/>
          <a:p>
            <a:pPr marL="0" indent="0" algn="ctr">
              <a:buNone/>
            </a:pPr>
            <a:r>
              <a:rPr lang="en-US" sz="3600" b="1" dirty="0">
                <a:solidFill>
                  <a:srgbClr val="38BDF8"/>
                </a:solidFill>
                <a:latin typeface="Calibri" pitchFamily="34" charset="0"/>
                <a:ea typeface="Calibri" pitchFamily="34" charset="-122"/>
                <a:cs typeface="Calibri" pitchFamily="34" charset="-120"/>
              </a:rPr>
              <a:t>5</a:t>
            </a:r>
            <a:endParaRPr lang="en-US" sz="3600" dirty="0"/>
          </a:p>
        </p:txBody>
      </p:sp>
      <p:sp>
        <p:nvSpPr>
          <p:cNvPr id="11" name="Text 9"/>
          <p:cNvSpPr/>
          <p:nvPr/>
        </p:nvSpPr>
        <p:spPr>
          <a:xfrm>
            <a:off x="246888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Sensor Files</a:t>
            </a:r>
            <a:endParaRPr lang="en-US" sz="1200" dirty="0"/>
          </a:p>
        </p:txBody>
      </p:sp>
      <p:sp>
        <p:nvSpPr>
          <p:cNvPr id="12" name="Shape 10"/>
          <p:cNvSpPr/>
          <p:nvPr/>
        </p:nvSpPr>
        <p:spPr>
          <a:xfrm>
            <a:off x="4617720" y="2103120"/>
            <a:ext cx="1920240" cy="118872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Text 11"/>
          <p:cNvSpPr/>
          <p:nvPr/>
        </p:nvSpPr>
        <p:spPr>
          <a:xfrm>
            <a:off x="4617720" y="2148840"/>
            <a:ext cx="1920240" cy="594360"/>
          </a:xfrm>
          <a:prstGeom prst="rect">
            <a:avLst/>
          </a:prstGeom>
          <a:noFill/>
          <a:ln/>
        </p:spPr>
        <p:txBody>
          <a:bodyPr wrap="square" rtlCol="0" anchor="ctr"/>
          <a:lstStyle/>
          <a:p>
            <a:pPr marL="0" indent="0" algn="ctr">
              <a:buNone/>
            </a:pPr>
            <a:r>
              <a:rPr lang="en-US" sz="3600" b="1" dirty="0">
                <a:solidFill>
                  <a:srgbClr val="10B981"/>
                </a:solidFill>
                <a:latin typeface="Calibri" pitchFamily="34" charset="0"/>
                <a:ea typeface="Calibri" pitchFamily="34" charset="-122"/>
                <a:cs typeface="Calibri" pitchFamily="34" charset="-120"/>
              </a:rPr>
              <a:t>30</a:t>
            </a:r>
            <a:endParaRPr lang="en-US" sz="3600" dirty="0"/>
          </a:p>
        </p:txBody>
      </p:sp>
      <p:sp>
        <p:nvSpPr>
          <p:cNvPr id="14" name="Text 12"/>
          <p:cNvSpPr/>
          <p:nvPr/>
        </p:nvSpPr>
        <p:spPr>
          <a:xfrm>
            <a:off x="461772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Days of Data</a:t>
            </a:r>
            <a:endParaRPr lang="en-US" sz="1200" dirty="0"/>
          </a:p>
        </p:txBody>
      </p:sp>
      <p:sp>
        <p:nvSpPr>
          <p:cNvPr id="15" name="Shape 13"/>
          <p:cNvSpPr/>
          <p:nvPr/>
        </p:nvSpPr>
        <p:spPr>
          <a:xfrm>
            <a:off x="6766560" y="2103120"/>
            <a:ext cx="1920240" cy="118872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6" name="Text 14"/>
          <p:cNvSpPr/>
          <p:nvPr/>
        </p:nvSpPr>
        <p:spPr>
          <a:xfrm>
            <a:off x="6766560" y="2148840"/>
            <a:ext cx="1920240" cy="594360"/>
          </a:xfrm>
          <a:prstGeom prst="rect">
            <a:avLst/>
          </a:prstGeom>
          <a:noFill/>
          <a:ln/>
        </p:spPr>
        <p:txBody>
          <a:bodyPr wrap="square"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2</a:t>
            </a:r>
            <a:endParaRPr lang="en-US" sz="3600" dirty="0"/>
          </a:p>
        </p:txBody>
      </p:sp>
      <p:sp>
        <p:nvSpPr>
          <p:cNvPr id="17" name="Text 15"/>
          <p:cNvSpPr/>
          <p:nvPr/>
        </p:nvSpPr>
        <p:spPr>
          <a:xfrm>
            <a:off x="676656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Milestones</a:t>
            </a:r>
            <a:endParaRPr lang="en-US" sz="1200" dirty="0"/>
          </a:p>
        </p:txBody>
      </p:sp>
      <p:sp>
        <p:nvSpPr>
          <p:cNvPr id="18" name="Shape 16"/>
          <p:cNvSpPr/>
          <p:nvPr/>
        </p:nvSpPr>
        <p:spPr>
          <a:xfrm>
            <a:off x="320040" y="3474720"/>
            <a:ext cx="8503920" cy="1280160"/>
          </a:xfrm>
          <a:prstGeom prst="rect">
            <a:avLst/>
          </a:prstGeom>
          <a:solidFill>
            <a:srgbClr val="162A41"/>
          </a:solidFill>
          <a:ln w="12700">
            <a:solidFill>
              <a:srgbClr val="1E3A5F"/>
            </a:solidFill>
            <a:prstDash val="solid"/>
          </a:ln>
        </p:spPr>
        <p:txBody>
          <a:bodyPr/>
          <a:lstStyle/>
          <a:p>
            <a:endParaRPr lang="en-IN"/>
          </a:p>
        </p:txBody>
      </p:sp>
      <p:sp>
        <p:nvSpPr>
          <p:cNvPr id="19" name="Text 17"/>
          <p:cNvSpPr/>
          <p:nvPr/>
        </p:nvSpPr>
        <p:spPr>
          <a:xfrm>
            <a:off x="502920" y="3547872"/>
            <a:ext cx="1828800" cy="32004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Dataset</a:t>
            </a:r>
            <a:endParaRPr lang="en-US" sz="1300" dirty="0"/>
          </a:p>
        </p:txBody>
      </p:sp>
      <p:sp>
        <p:nvSpPr>
          <p:cNvPr id="20" name="Text 18"/>
          <p:cNvSpPr/>
          <p:nvPr/>
        </p:nvSpPr>
        <p:spPr>
          <a:xfrm>
            <a:off x="502920" y="3858768"/>
            <a:ext cx="8229600" cy="731520"/>
          </a:xfrm>
          <a:prstGeom prst="rect">
            <a:avLst/>
          </a:prstGeom>
          <a:noFill/>
          <a:ln/>
        </p:spPr>
        <p:txBody>
          <a:bodyPr wrap="square" lIns="0" tIns="0" rIns="0" bIns="0" rtlCol="0" anchor="ctr"/>
          <a:lstStyle/>
          <a:p>
            <a:pPr marL="0" indent="0">
              <a:buNone/>
            </a:pPr>
            <a:r>
              <a:rPr lang="en-US" sz="1200" dirty="0">
                <a:solidFill>
                  <a:srgbClr val="DCE8F5"/>
                </a:solidFill>
                <a:latin typeface="Calibri" pitchFamily="34" charset="0"/>
                <a:ea typeface="Calibri" pitchFamily="34" charset="-122"/>
                <a:cs typeface="Calibri" pitchFamily="34" charset="-120"/>
              </a:rPr>
              <a:t>FitBit Fitness Tracker Dataset — real data from 30 Fitbit users who consented to share their personal tracker data covering steps, heart rate, sleep, calories, and activity intensity over 30 days (March–May 2016). Publicly available dataset used for academic research.</a:t>
            </a:r>
            <a:endParaRPr lang="en-US" sz="1200" dirty="0"/>
          </a:p>
        </p:txBody>
      </p:sp>
      <p:sp>
        <p:nvSpPr>
          <p:cNvPr id="21" name="Shape 19"/>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62A41"/>
          </a:solidFill>
          <a:ln w="12700">
            <a:solidFill>
              <a:srgbClr val="162A41"/>
            </a:solidFill>
            <a:prstDash val="solid"/>
          </a:ln>
        </p:spPr>
        <p:txBody>
          <a:bodyPr/>
          <a:lstStyle/>
          <a:p>
            <a:endParaRPr lang="en-IN"/>
          </a:p>
        </p:txBody>
      </p:sp>
      <p:sp>
        <p:nvSpPr>
          <p:cNvPr id="3" name="Shape 1"/>
          <p:cNvSpPr/>
          <p:nvPr/>
        </p:nvSpPr>
        <p:spPr>
          <a:xfrm>
            <a:off x="4114800" y="0"/>
            <a:ext cx="54864" cy="5143500"/>
          </a:xfrm>
          <a:prstGeom prst="rect">
            <a:avLst/>
          </a:prstGeom>
          <a:solidFill>
            <a:srgbClr val="A78BFA"/>
          </a:solidFill>
          <a:ln w="12700">
            <a:solidFill>
              <a:srgbClr val="A78BFA"/>
            </a:solidFill>
            <a:prstDash val="solid"/>
          </a:ln>
        </p:spPr>
        <p:txBody>
          <a:bodyPr/>
          <a:lstStyle/>
          <a:p>
            <a:endParaRPr lang="en-IN"/>
          </a:p>
        </p:txBody>
      </p:sp>
      <p:sp>
        <p:nvSpPr>
          <p:cNvPr id="4" name="Text 2"/>
          <p:cNvSpPr/>
          <p:nvPr/>
        </p:nvSpPr>
        <p:spPr>
          <a:xfrm>
            <a:off x="274320" y="1097280"/>
            <a:ext cx="3566160" cy="1371600"/>
          </a:xfrm>
          <a:prstGeom prst="rect">
            <a:avLst/>
          </a:prstGeom>
          <a:noFill/>
          <a:ln/>
        </p:spPr>
        <p:txBody>
          <a:bodyPr wrap="square" rtlCol="0" anchor="ctr"/>
          <a:lstStyle/>
          <a:p>
            <a:pPr marL="0" indent="0" algn="ctr">
              <a:buNone/>
            </a:pPr>
            <a:r>
              <a:rPr lang="en-US" sz="9600" b="1" dirty="0">
                <a:solidFill>
                  <a:srgbClr val="A78BFA">
                    <a:alpha val="70000"/>
                  </a:srgbClr>
                </a:solidFill>
                <a:latin typeface="Calibri" pitchFamily="34" charset="0"/>
                <a:ea typeface="Calibri" pitchFamily="34" charset="-122"/>
                <a:cs typeface="Calibri" pitchFamily="34" charset="-120"/>
              </a:rPr>
              <a:t>01</a:t>
            </a:r>
            <a:endParaRPr lang="en-US" sz="9600" dirty="0"/>
          </a:p>
        </p:txBody>
      </p:sp>
      <p:sp>
        <p:nvSpPr>
          <p:cNvPr id="5" name="Text 3"/>
          <p:cNvSpPr/>
          <p:nvPr/>
        </p:nvSpPr>
        <p:spPr>
          <a:xfrm>
            <a:off x="274320" y="2560320"/>
            <a:ext cx="356616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Milestone 1</a:t>
            </a:r>
            <a:endParaRPr lang="en-US" sz="2200" dirty="0"/>
          </a:p>
        </p:txBody>
      </p:sp>
      <p:sp>
        <p:nvSpPr>
          <p:cNvPr id="6" name="Text 4"/>
          <p:cNvSpPr/>
          <p:nvPr/>
        </p:nvSpPr>
        <p:spPr>
          <a:xfrm>
            <a:off x="274320" y="3063240"/>
            <a:ext cx="3566160" cy="731520"/>
          </a:xfrm>
          <a:prstGeom prst="rect">
            <a:avLst/>
          </a:prstGeom>
          <a:noFill/>
          <a:ln/>
        </p:spPr>
        <p:txBody>
          <a:bodyPr wrap="square" rtlCol="0" anchor="ctr"/>
          <a:lstStyle/>
          <a:p>
            <a:pPr marL="0" indent="0" algn="ctr">
              <a:buNone/>
            </a:pPr>
            <a:r>
              <a:rPr lang="en-US" sz="1400" dirty="0">
                <a:solidFill>
                  <a:srgbClr val="7A9ABB"/>
                </a:solidFill>
                <a:latin typeface="Calibri" pitchFamily="34" charset="0"/>
                <a:ea typeface="Calibri" pitchFamily="34" charset="-122"/>
                <a:cs typeface="Calibri" pitchFamily="34" charset="-120"/>
              </a:rPr>
              <a:t>Data Collection &amp;</a:t>
            </a:r>
            <a:endParaRPr lang="en-US" sz="1400" dirty="0"/>
          </a:p>
          <a:p>
            <a:pPr marL="0" indent="0" algn="ctr">
              <a:buNone/>
            </a:pPr>
            <a:r>
              <a:rPr lang="en-US" sz="1400" dirty="0">
                <a:solidFill>
                  <a:srgbClr val="7A9ABB"/>
                </a:solidFill>
                <a:latin typeface="Calibri" pitchFamily="34" charset="0"/>
                <a:ea typeface="Calibri" pitchFamily="34" charset="-122"/>
                <a:cs typeface="Calibri" pitchFamily="34" charset="-120"/>
              </a:rPr>
              <a:t>Preprocessing</a:t>
            </a:r>
            <a:endParaRPr lang="en-US" sz="1400" dirty="0"/>
          </a:p>
        </p:txBody>
      </p:sp>
      <p:sp>
        <p:nvSpPr>
          <p:cNvPr id="7" name="Shape 5"/>
          <p:cNvSpPr/>
          <p:nvPr/>
        </p:nvSpPr>
        <p:spPr>
          <a:xfrm>
            <a:off x="4572000" y="457200"/>
            <a:ext cx="502920" cy="502920"/>
          </a:xfrm>
          <a:prstGeom prst="rect">
            <a:avLst/>
          </a:prstGeom>
          <a:solidFill>
            <a:srgbClr val="A78BFA"/>
          </a:solidFill>
          <a:ln w="12700">
            <a:solidFill>
              <a:srgbClr val="A78BFA"/>
            </a:solidFill>
            <a:prstDash val="solid"/>
          </a:ln>
        </p:spPr>
        <p:txBody>
          <a:bodyPr/>
          <a:lstStyle/>
          <a:p>
            <a:endParaRPr lang="en-IN"/>
          </a:p>
        </p:txBody>
      </p:sp>
      <p:sp>
        <p:nvSpPr>
          <p:cNvPr id="8" name="Text 6"/>
          <p:cNvSpPr/>
          <p:nvPr/>
        </p:nvSpPr>
        <p:spPr>
          <a:xfrm>
            <a:off x="4572000" y="45720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5212080" y="47548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Upload CSV</a:t>
            </a:r>
            <a:endParaRPr lang="en-US" sz="1400" dirty="0"/>
          </a:p>
        </p:txBody>
      </p:sp>
      <p:sp>
        <p:nvSpPr>
          <p:cNvPr id="10" name="Text 8"/>
          <p:cNvSpPr/>
          <p:nvPr/>
        </p:nvSpPr>
        <p:spPr>
          <a:xfrm>
            <a:off x="5212080" y="71323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User uploads a fitness tracking CSV file</a:t>
            </a:r>
            <a:endParaRPr lang="en-US" sz="1100" dirty="0"/>
          </a:p>
        </p:txBody>
      </p:sp>
      <p:sp>
        <p:nvSpPr>
          <p:cNvPr id="11" name="Shape 9"/>
          <p:cNvSpPr/>
          <p:nvPr/>
        </p:nvSpPr>
        <p:spPr>
          <a:xfrm>
            <a:off x="4572000" y="1554480"/>
            <a:ext cx="502920" cy="502920"/>
          </a:xfrm>
          <a:prstGeom prst="rect">
            <a:avLst/>
          </a:prstGeom>
          <a:solidFill>
            <a:srgbClr val="A78BFA"/>
          </a:solidFill>
          <a:ln w="12700">
            <a:solidFill>
              <a:srgbClr val="A78BFA"/>
            </a:solidFill>
            <a:prstDash val="solid"/>
          </a:ln>
        </p:spPr>
        <p:txBody>
          <a:bodyPr/>
          <a:lstStyle/>
          <a:p>
            <a:endParaRPr lang="en-IN"/>
          </a:p>
        </p:txBody>
      </p:sp>
      <p:sp>
        <p:nvSpPr>
          <p:cNvPr id="12" name="Text 10"/>
          <p:cNvSpPr/>
          <p:nvPr/>
        </p:nvSpPr>
        <p:spPr>
          <a:xfrm>
            <a:off x="4572000" y="155448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212080" y="157276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Inspect</a:t>
            </a:r>
            <a:endParaRPr lang="en-US" sz="1400" dirty="0"/>
          </a:p>
        </p:txBody>
      </p:sp>
      <p:sp>
        <p:nvSpPr>
          <p:cNvPr id="14" name="Text 12"/>
          <p:cNvSpPr/>
          <p:nvPr/>
        </p:nvSpPr>
        <p:spPr>
          <a:xfrm>
            <a:off x="5212080" y="181051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Preview raw data, check missing values &amp; types</a:t>
            </a:r>
            <a:endParaRPr lang="en-US" sz="1100" dirty="0"/>
          </a:p>
        </p:txBody>
      </p:sp>
      <p:sp>
        <p:nvSpPr>
          <p:cNvPr id="15" name="Shape 13"/>
          <p:cNvSpPr/>
          <p:nvPr/>
        </p:nvSpPr>
        <p:spPr>
          <a:xfrm>
            <a:off x="4572000" y="2651760"/>
            <a:ext cx="502920" cy="502920"/>
          </a:xfrm>
          <a:prstGeom prst="rect">
            <a:avLst/>
          </a:prstGeom>
          <a:solidFill>
            <a:srgbClr val="A78BFA"/>
          </a:solidFill>
          <a:ln w="12700">
            <a:solidFill>
              <a:srgbClr val="A78BFA"/>
            </a:solidFill>
            <a:prstDash val="solid"/>
          </a:ln>
        </p:spPr>
        <p:txBody>
          <a:bodyPr/>
          <a:lstStyle/>
          <a:p>
            <a:endParaRPr lang="en-IN"/>
          </a:p>
        </p:txBody>
      </p:sp>
      <p:sp>
        <p:nvSpPr>
          <p:cNvPr id="16" name="Text 14"/>
          <p:cNvSpPr/>
          <p:nvPr/>
        </p:nvSpPr>
        <p:spPr>
          <a:xfrm>
            <a:off x="4572000" y="265176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5212080" y="267004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Clean</a:t>
            </a:r>
            <a:endParaRPr lang="en-US" sz="1400" dirty="0"/>
          </a:p>
        </p:txBody>
      </p:sp>
      <p:sp>
        <p:nvSpPr>
          <p:cNvPr id="18" name="Text 16"/>
          <p:cNvSpPr/>
          <p:nvPr/>
        </p:nvSpPr>
        <p:spPr>
          <a:xfrm>
            <a:off x="5212080" y="290779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Fix dates, interpolate numbers, fill categories</a:t>
            </a:r>
            <a:endParaRPr lang="en-US" sz="1100" dirty="0"/>
          </a:p>
        </p:txBody>
      </p:sp>
      <p:sp>
        <p:nvSpPr>
          <p:cNvPr id="19" name="Shape 17"/>
          <p:cNvSpPr/>
          <p:nvPr/>
        </p:nvSpPr>
        <p:spPr>
          <a:xfrm>
            <a:off x="4572000" y="3749040"/>
            <a:ext cx="502920" cy="502920"/>
          </a:xfrm>
          <a:prstGeom prst="rect">
            <a:avLst/>
          </a:prstGeom>
          <a:solidFill>
            <a:srgbClr val="A78BFA"/>
          </a:solidFill>
          <a:ln w="12700">
            <a:solidFill>
              <a:srgbClr val="A78BFA"/>
            </a:solidFill>
            <a:prstDash val="solid"/>
          </a:ln>
        </p:spPr>
        <p:txBody>
          <a:bodyPr/>
          <a:lstStyle/>
          <a:p>
            <a:endParaRPr lang="en-IN"/>
          </a:p>
        </p:txBody>
      </p:sp>
      <p:sp>
        <p:nvSpPr>
          <p:cNvPr id="20" name="Text 18"/>
          <p:cNvSpPr/>
          <p:nvPr/>
        </p:nvSpPr>
        <p:spPr>
          <a:xfrm>
            <a:off x="4572000" y="374904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12080" y="376732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Visualise</a:t>
            </a:r>
            <a:endParaRPr lang="en-US" sz="1400" dirty="0"/>
          </a:p>
        </p:txBody>
      </p:sp>
      <p:sp>
        <p:nvSpPr>
          <p:cNvPr id="22" name="Text 20"/>
          <p:cNvSpPr/>
          <p:nvPr/>
        </p:nvSpPr>
        <p:spPr>
          <a:xfrm>
            <a:off x="5212080" y="400507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Detect outliers with Box Plot &amp; Histogram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Milestone 1 — Key Features</a:t>
            </a:r>
            <a:endParaRPr lang="en-US" sz="2800" dirty="0"/>
          </a:p>
        </p:txBody>
      </p:sp>
      <p:sp>
        <p:nvSpPr>
          <p:cNvPr id="4" name="Shape 2"/>
          <p:cNvSpPr/>
          <p:nvPr/>
        </p:nvSpPr>
        <p:spPr>
          <a:xfrm>
            <a:off x="228600" y="914400"/>
            <a:ext cx="2834640" cy="3840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28600" y="914400"/>
            <a:ext cx="2834640" cy="411480"/>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200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Data Cleaning Engine</a:t>
            </a:r>
            <a:endParaRPr lang="en-US" sz="1200" dirty="0"/>
          </a:p>
        </p:txBody>
      </p:sp>
      <p:sp>
        <p:nvSpPr>
          <p:cNvPr id="7" name="Text 5"/>
          <p:cNvSpPr/>
          <p:nvPr/>
        </p:nvSpPr>
        <p:spPr>
          <a:xfrm>
            <a:off x="3383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Normalise date columns to proper format</a:t>
            </a:r>
            <a:endParaRPr lang="en-US" sz="1100" dirty="0"/>
          </a:p>
        </p:txBody>
      </p:sp>
      <p:sp>
        <p:nvSpPr>
          <p:cNvPr id="8" name="Text 6"/>
          <p:cNvSpPr/>
          <p:nvPr/>
        </p:nvSpPr>
        <p:spPr>
          <a:xfrm>
            <a:off x="3383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Interpolate missing numeric values (linear method)</a:t>
            </a:r>
            <a:endParaRPr lang="en-US" sz="1100" dirty="0"/>
          </a:p>
        </p:txBody>
      </p:sp>
      <p:sp>
        <p:nvSpPr>
          <p:cNvPr id="9" name="Text 7"/>
          <p:cNvSpPr/>
          <p:nvPr/>
        </p:nvSpPr>
        <p:spPr>
          <a:xfrm>
            <a:off x="3383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Fill empty text columns with 'Unknown'</a:t>
            </a:r>
            <a:endParaRPr lang="en-US" sz="1100" dirty="0"/>
          </a:p>
        </p:txBody>
      </p:sp>
      <p:sp>
        <p:nvSpPr>
          <p:cNvPr id="10" name="Text 8"/>
          <p:cNvSpPr/>
          <p:nvPr/>
        </p:nvSpPr>
        <p:spPr>
          <a:xfrm>
            <a:off x="3383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Download cleaned CSV after processing</a:t>
            </a:r>
            <a:endParaRPr lang="en-US" sz="1100" dirty="0"/>
          </a:p>
        </p:txBody>
      </p:sp>
      <p:sp>
        <p:nvSpPr>
          <p:cNvPr id="11" name="Shape 9"/>
          <p:cNvSpPr/>
          <p:nvPr/>
        </p:nvSpPr>
        <p:spPr>
          <a:xfrm>
            <a:off x="3200400" y="914400"/>
            <a:ext cx="2834640" cy="3840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10"/>
          <p:cNvSpPr/>
          <p:nvPr/>
        </p:nvSpPr>
        <p:spPr>
          <a:xfrm>
            <a:off x="3200400" y="914400"/>
            <a:ext cx="2834640" cy="411480"/>
          </a:xfrm>
          <a:prstGeom prst="rect">
            <a:avLst/>
          </a:prstGeom>
          <a:solidFill>
            <a:srgbClr val="38BDF8"/>
          </a:solidFill>
          <a:ln w="12700">
            <a:solidFill>
              <a:srgbClr val="38BDF8"/>
            </a:solidFill>
            <a:prstDash val="solid"/>
          </a:ln>
        </p:spPr>
        <p:txBody>
          <a:bodyPr/>
          <a:lstStyle/>
          <a:p>
            <a:endParaRPr lang="en-IN"/>
          </a:p>
        </p:txBody>
      </p:sp>
      <p:sp>
        <p:nvSpPr>
          <p:cNvPr id="13" name="Text 11"/>
          <p:cNvSpPr/>
          <p:nvPr/>
        </p:nvSpPr>
        <p:spPr>
          <a:xfrm>
            <a:off x="32918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Data Inspection</a:t>
            </a:r>
            <a:endParaRPr lang="en-US" sz="1200" dirty="0"/>
          </a:p>
        </p:txBody>
      </p:sp>
      <p:sp>
        <p:nvSpPr>
          <p:cNvPr id="14" name="Text 12"/>
          <p:cNvSpPr/>
          <p:nvPr/>
        </p:nvSpPr>
        <p:spPr>
          <a:xfrm>
            <a:off x="33101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Raw dataset preview — first 10 rows</a:t>
            </a:r>
            <a:endParaRPr lang="en-US" sz="1100" dirty="0"/>
          </a:p>
        </p:txBody>
      </p:sp>
      <p:sp>
        <p:nvSpPr>
          <p:cNvPr id="15" name="Text 13"/>
          <p:cNvSpPr/>
          <p:nvPr/>
        </p:nvSpPr>
        <p:spPr>
          <a:xfrm>
            <a:off x="33101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Missing values bar chart per column</a:t>
            </a:r>
            <a:endParaRPr lang="en-US" sz="1100" dirty="0"/>
          </a:p>
        </p:txBody>
      </p:sp>
      <p:sp>
        <p:nvSpPr>
          <p:cNvPr id="16" name="Text 14"/>
          <p:cNvSpPr/>
          <p:nvPr/>
        </p:nvSpPr>
        <p:spPr>
          <a:xfrm>
            <a:off x="33101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Data types table for all columns</a:t>
            </a:r>
            <a:endParaRPr lang="en-US" sz="1100" dirty="0"/>
          </a:p>
        </p:txBody>
      </p:sp>
      <p:sp>
        <p:nvSpPr>
          <p:cNvPr id="17" name="Text 15"/>
          <p:cNvSpPr/>
          <p:nvPr/>
        </p:nvSpPr>
        <p:spPr>
          <a:xfrm>
            <a:off x="33101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4 summary metrics — rows, columns, missing, completeness</a:t>
            </a:r>
            <a:endParaRPr lang="en-US" sz="1100" dirty="0"/>
          </a:p>
        </p:txBody>
      </p:sp>
      <p:sp>
        <p:nvSpPr>
          <p:cNvPr id="18" name="Shape 16"/>
          <p:cNvSpPr/>
          <p:nvPr/>
        </p:nvSpPr>
        <p:spPr>
          <a:xfrm>
            <a:off x="6172200" y="914400"/>
            <a:ext cx="2834640" cy="3840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6172200" y="914400"/>
            <a:ext cx="2834640" cy="411480"/>
          </a:xfrm>
          <a:prstGeom prst="rect">
            <a:avLst/>
          </a:prstGeom>
          <a:solidFill>
            <a:srgbClr val="10B981"/>
          </a:solidFill>
          <a:ln w="12700">
            <a:solidFill>
              <a:srgbClr val="10B981"/>
            </a:solidFill>
            <a:prstDash val="solid"/>
          </a:ln>
        </p:spPr>
        <p:txBody>
          <a:bodyPr/>
          <a:lstStyle/>
          <a:p>
            <a:endParaRPr lang="en-IN"/>
          </a:p>
        </p:txBody>
      </p:sp>
      <p:sp>
        <p:nvSpPr>
          <p:cNvPr id="20" name="Text 18"/>
          <p:cNvSpPr/>
          <p:nvPr/>
        </p:nvSpPr>
        <p:spPr>
          <a:xfrm>
            <a:off x="62636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Outlier Detection</a:t>
            </a:r>
            <a:endParaRPr lang="en-US" sz="1200" dirty="0"/>
          </a:p>
        </p:txBody>
      </p:sp>
      <p:sp>
        <p:nvSpPr>
          <p:cNvPr id="21" name="Text 19"/>
          <p:cNvSpPr/>
          <p:nvPr/>
        </p:nvSpPr>
        <p:spPr>
          <a:xfrm>
            <a:off x="62819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IQR method — Q1, Q3, and 1.5×IQR rule</a:t>
            </a:r>
            <a:endParaRPr lang="en-US" sz="1100" dirty="0"/>
          </a:p>
        </p:txBody>
      </p:sp>
      <p:sp>
        <p:nvSpPr>
          <p:cNvPr id="22" name="Text 20"/>
          <p:cNvSpPr/>
          <p:nvPr/>
        </p:nvSpPr>
        <p:spPr>
          <a:xfrm>
            <a:off x="62819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Box plot — shows normal range and outlier dots</a:t>
            </a:r>
            <a:endParaRPr lang="en-US" sz="1100" dirty="0"/>
          </a:p>
        </p:txBody>
      </p:sp>
      <p:sp>
        <p:nvSpPr>
          <p:cNvPr id="23" name="Text 21"/>
          <p:cNvSpPr/>
          <p:nvPr/>
        </p:nvSpPr>
        <p:spPr>
          <a:xfrm>
            <a:off x="62819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Histogram — frequency distribution with outlier zones</a:t>
            </a:r>
            <a:endParaRPr lang="en-US" sz="1100" dirty="0"/>
          </a:p>
        </p:txBody>
      </p:sp>
      <p:sp>
        <p:nvSpPr>
          <p:cNvPr id="24" name="Text 22"/>
          <p:cNvSpPr/>
          <p:nvPr/>
        </p:nvSpPr>
        <p:spPr>
          <a:xfrm>
            <a:off x="62819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Mean and Median reference lines on histogram</a:t>
            </a:r>
            <a:endParaRPr lang="en-US" sz="1100" dirty="0"/>
          </a:p>
        </p:txBody>
      </p:sp>
      <p:sp>
        <p:nvSpPr>
          <p:cNvPr id="25" name="Shape 23"/>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DF6C618-3A7C-A3EC-7D50-B7264155C0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785BE-203D-6220-879F-C3C9D9044EC3}"/>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40487EF7-E813-5FA0-EC59-DCDEF0576945}"/>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File Upload:</a:t>
            </a:r>
          </a:p>
          <a:p>
            <a:pPr marL="0" indent="0">
              <a:buNone/>
            </a:pPr>
            <a:endParaRPr lang="en-US" sz="2800" dirty="0"/>
          </a:p>
        </p:txBody>
      </p:sp>
      <p:sp>
        <p:nvSpPr>
          <p:cNvPr id="25" name="Shape 23">
            <a:extLst>
              <a:ext uri="{FF2B5EF4-FFF2-40B4-BE49-F238E27FC236}">
                <a16:creationId xmlns:a16="http://schemas.microsoft.com/office/drawing/2014/main" id="{F7A8E021-6AAF-F62A-2317-993376FCBC3C}"/>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27" name="Picture 26">
            <a:extLst>
              <a:ext uri="{FF2B5EF4-FFF2-40B4-BE49-F238E27FC236}">
                <a16:creationId xmlns:a16="http://schemas.microsoft.com/office/drawing/2014/main" id="{7C4E322A-13D5-7943-2F68-7E5EFC774E72}"/>
              </a:ext>
            </a:extLst>
          </p:cNvPr>
          <p:cNvPicPr>
            <a:picLocks noChangeAspect="1"/>
          </p:cNvPicPr>
          <p:nvPr/>
        </p:nvPicPr>
        <p:blipFill>
          <a:blip r:embed="rId3"/>
          <a:stretch>
            <a:fillRect/>
          </a:stretch>
        </p:blipFill>
        <p:spPr>
          <a:xfrm>
            <a:off x="1460664" y="1365422"/>
            <a:ext cx="6412675" cy="3437303"/>
          </a:xfrm>
          <a:prstGeom prst="rect">
            <a:avLst/>
          </a:prstGeom>
        </p:spPr>
      </p:pic>
    </p:spTree>
    <p:extLst>
      <p:ext uri="{BB962C8B-B14F-4D97-AF65-F5344CB8AC3E}">
        <p14:creationId xmlns:p14="http://schemas.microsoft.com/office/powerpoint/2010/main" val="2890411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3A11501-2EEA-E2A5-34E5-1B7A942039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56DC6B-1A0A-8E02-37D9-7E35876AA635}"/>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9D36F246-C1BD-F009-F698-18C1B241A07C}"/>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Cleaned Dataset Preview: </a:t>
            </a:r>
          </a:p>
          <a:p>
            <a:pPr marL="0" indent="0">
              <a:buNone/>
            </a:pPr>
            <a:endParaRPr lang="en-US" sz="2800" dirty="0"/>
          </a:p>
        </p:txBody>
      </p:sp>
      <p:sp>
        <p:nvSpPr>
          <p:cNvPr id="25" name="Shape 23">
            <a:extLst>
              <a:ext uri="{FF2B5EF4-FFF2-40B4-BE49-F238E27FC236}">
                <a16:creationId xmlns:a16="http://schemas.microsoft.com/office/drawing/2014/main" id="{C706BE60-32BB-258A-B977-5F22374A3A52}"/>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8C5020FA-404D-A749-3E9B-23815BF51928}"/>
              </a:ext>
            </a:extLst>
          </p:cNvPr>
          <p:cNvPicPr>
            <a:picLocks noChangeAspect="1"/>
          </p:cNvPicPr>
          <p:nvPr/>
        </p:nvPicPr>
        <p:blipFill>
          <a:blip r:embed="rId3"/>
          <a:stretch>
            <a:fillRect/>
          </a:stretch>
        </p:blipFill>
        <p:spPr>
          <a:xfrm>
            <a:off x="1384069" y="1361328"/>
            <a:ext cx="6347361" cy="3393502"/>
          </a:xfrm>
          <a:prstGeom prst="rect">
            <a:avLst/>
          </a:prstGeom>
        </p:spPr>
      </p:pic>
    </p:spTree>
    <p:extLst>
      <p:ext uri="{BB962C8B-B14F-4D97-AF65-F5344CB8AC3E}">
        <p14:creationId xmlns:p14="http://schemas.microsoft.com/office/powerpoint/2010/main" val="3701883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62A41"/>
          </a:solidFill>
          <a:ln w="12700">
            <a:solidFill>
              <a:srgbClr val="162A41"/>
            </a:solidFill>
            <a:prstDash val="solid"/>
          </a:ln>
        </p:spPr>
        <p:txBody>
          <a:bodyPr/>
          <a:lstStyle/>
          <a:p>
            <a:endParaRPr lang="en-IN"/>
          </a:p>
        </p:txBody>
      </p:sp>
      <p:sp>
        <p:nvSpPr>
          <p:cNvPr id="3" name="Shape 1"/>
          <p:cNvSpPr/>
          <p:nvPr/>
        </p:nvSpPr>
        <p:spPr>
          <a:xfrm>
            <a:off x="4114800" y="0"/>
            <a:ext cx="54864" cy="5143500"/>
          </a:xfrm>
          <a:prstGeom prst="rect">
            <a:avLst/>
          </a:prstGeom>
          <a:solidFill>
            <a:srgbClr val="38BDF8"/>
          </a:solidFill>
          <a:ln w="12700">
            <a:solidFill>
              <a:srgbClr val="38BDF8"/>
            </a:solidFill>
            <a:prstDash val="solid"/>
          </a:ln>
        </p:spPr>
        <p:txBody>
          <a:bodyPr/>
          <a:lstStyle/>
          <a:p>
            <a:endParaRPr lang="en-IN"/>
          </a:p>
        </p:txBody>
      </p:sp>
      <p:sp>
        <p:nvSpPr>
          <p:cNvPr id="4" name="Text 2"/>
          <p:cNvSpPr/>
          <p:nvPr/>
        </p:nvSpPr>
        <p:spPr>
          <a:xfrm>
            <a:off x="274320" y="1097280"/>
            <a:ext cx="3566160" cy="1371600"/>
          </a:xfrm>
          <a:prstGeom prst="rect">
            <a:avLst/>
          </a:prstGeom>
          <a:noFill/>
          <a:ln/>
        </p:spPr>
        <p:txBody>
          <a:bodyPr wrap="square" rtlCol="0" anchor="ctr"/>
          <a:lstStyle/>
          <a:p>
            <a:pPr marL="0" indent="0" algn="ctr">
              <a:buNone/>
            </a:pPr>
            <a:r>
              <a:rPr lang="en-US" sz="9600" b="1" dirty="0">
                <a:solidFill>
                  <a:srgbClr val="38BDF8">
                    <a:alpha val="70000"/>
                  </a:srgbClr>
                </a:solidFill>
                <a:latin typeface="Calibri" pitchFamily="34" charset="0"/>
                <a:ea typeface="Calibri" pitchFamily="34" charset="-122"/>
                <a:cs typeface="Calibri" pitchFamily="34" charset="-120"/>
              </a:rPr>
              <a:t>02</a:t>
            </a:r>
            <a:endParaRPr lang="en-US" sz="9600" dirty="0"/>
          </a:p>
        </p:txBody>
      </p:sp>
      <p:sp>
        <p:nvSpPr>
          <p:cNvPr id="5" name="Text 3"/>
          <p:cNvSpPr/>
          <p:nvPr/>
        </p:nvSpPr>
        <p:spPr>
          <a:xfrm>
            <a:off x="274320" y="2560320"/>
            <a:ext cx="356616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Milestone 2</a:t>
            </a:r>
            <a:endParaRPr lang="en-US" sz="2200" dirty="0"/>
          </a:p>
        </p:txBody>
      </p:sp>
      <p:sp>
        <p:nvSpPr>
          <p:cNvPr id="6" name="Text 4"/>
          <p:cNvSpPr/>
          <p:nvPr/>
        </p:nvSpPr>
        <p:spPr>
          <a:xfrm>
            <a:off x="274320" y="3063240"/>
            <a:ext cx="3566160" cy="731520"/>
          </a:xfrm>
          <a:prstGeom prst="rect">
            <a:avLst/>
          </a:prstGeom>
          <a:noFill/>
          <a:ln/>
        </p:spPr>
        <p:txBody>
          <a:bodyPr wrap="square" rtlCol="0" anchor="ctr"/>
          <a:lstStyle/>
          <a:p>
            <a:pPr marL="0" indent="0" algn="ctr">
              <a:buNone/>
            </a:pPr>
            <a:r>
              <a:rPr lang="en-US" sz="1400" dirty="0">
                <a:solidFill>
                  <a:srgbClr val="7A9ABB"/>
                </a:solidFill>
                <a:latin typeface="Calibri" pitchFamily="34" charset="0"/>
                <a:ea typeface="Calibri" pitchFamily="34" charset="-122"/>
                <a:cs typeface="Calibri" pitchFamily="34" charset="-120"/>
              </a:rPr>
              <a:t>Feature Extraction</a:t>
            </a:r>
            <a:endParaRPr lang="en-US" sz="1400" dirty="0"/>
          </a:p>
          <a:p>
            <a:pPr marL="0" indent="0" algn="ctr">
              <a:buNone/>
            </a:pPr>
            <a:r>
              <a:rPr lang="en-US" sz="1400" dirty="0">
                <a:solidFill>
                  <a:srgbClr val="7A9ABB"/>
                </a:solidFill>
                <a:latin typeface="Calibri" pitchFamily="34" charset="0"/>
                <a:ea typeface="Calibri" pitchFamily="34" charset="-122"/>
                <a:cs typeface="Calibri" pitchFamily="34" charset="-120"/>
              </a:rPr>
              <a:t>&amp; Modelling</a:t>
            </a:r>
            <a:endParaRPr lang="en-US" sz="1400" dirty="0"/>
          </a:p>
        </p:txBody>
      </p:sp>
      <p:sp>
        <p:nvSpPr>
          <p:cNvPr id="7" name="Shape 5"/>
          <p:cNvSpPr/>
          <p:nvPr/>
        </p:nvSpPr>
        <p:spPr>
          <a:xfrm>
            <a:off x="4572000" y="457200"/>
            <a:ext cx="502920" cy="502920"/>
          </a:xfrm>
          <a:prstGeom prst="rect">
            <a:avLst/>
          </a:prstGeom>
          <a:solidFill>
            <a:srgbClr val="38BDF8"/>
          </a:solidFill>
          <a:ln w="12700">
            <a:solidFill>
              <a:srgbClr val="38BDF8"/>
            </a:solidFill>
            <a:prstDash val="solid"/>
          </a:ln>
        </p:spPr>
        <p:txBody>
          <a:bodyPr/>
          <a:lstStyle/>
          <a:p>
            <a:endParaRPr lang="en-IN"/>
          </a:p>
        </p:txBody>
      </p:sp>
      <p:sp>
        <p:nvSpPr>
          <p:cNvPr id="8" name="Text 6"/>
          <p:cNvSpPr/>
          <p:nvPr/>
        </p:nvSpPr>
        <p:spPr>
          <a:xfrm>
            <a:off x="4572000" y="45720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5212080" y="47548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5 Files Merged</a:t>
            </a:r>
            <a:endParaRPr lang="en-US" sz="1400" dirty="0"/>
          </a:p>
        </p:txBody>
      </p:sp>
      <p:sp>
        <p:nvSpPr>
          <p:cNvPr id="10" name="Text 8"/>
          <p:cNvSpPr/>
          <p:nvPr/>
        </p:nvSpPr>
        <p:spPr>
          <a:xfrm>
            <a:off x="5212080" y="71323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Daily activity, heart rate, sleep, steps, intensity</a:t>
            </a:r>
            <a:endParaRPr lang="en-US" sz="1100" dirty="0"/>
          </a:p>
        </p:txBody>
      </p:sp>
      <p:sp>
        <p:nvSpPr>
          <p:cNvPr id="11" name="Shape 9"/>
          <p:cNvSpPr/>
          <p:nvPr/>
        </p:nvSpPr>
        <p:spPr>
          <a:xfrm>
            <a:off x="4572000" y="1554480"/>
            <a:ext cx="502920" cy="502920"/>
          </a:xfrm>
          <a:prstGeom prst="rect">
            <a:avLst/>
          </a:prstGeom>
          <a:solidFill>
            <a:srgbClr val="38BDF8"/>
          </a:solidFill>
          <a:ln w="12700">
            <a:solidFill>
              <a:srgbClr val="38BDF8"/>
            </a:solidFill>
            <a:prstDash val="solid"/>
          </a:ln>
        </p:spPr>
        <p:txBody>
          <a:bodyPr/>
          <a:lstStyle/>
          <a:p>
            <a:endParaRPr lang="en-IN"/>
          </a:p>
        </p:txBody>
      </p:sp>
      <p:sp>
        <p:nvSpPr>
          <p:cNvPr id="12" name="Text 10"/>
          <p:cNvSpPr/>
          <p:nvPr/>
        </p:nvSpPr>
        <p:spPr>
          <a:xfrm>
            <a:off x="4572000" y="155448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212080" y="157276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TSFresh</a:t>
            </a:r>
            <a:endParaRPr lang="en-US" sz="1400" dirty="0"/>
          </a:p>
        </p:txBody>
      </p:sp>
      <p:sp>
        <p:nvSpPr>
          <p:cNvPr id="14" name="Text 12"/>
          <p:cNvSpPr/>
          <p:nvPr/>
        </p:nvSpPr>
        <p:spPr>
          <a:xfrm>
            <a:off x="5212080" y="181051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Extract 10 features from 196K+ heart rate readings</a:t>
            </a:r>
            <a:endParaRPr lang="en-US" sz="1100" dirty="0"/>
          </a:p>
        </p:txBody>
      </p:sp>
      <p:sp>
        <p:nvSpPr>
          <p:cNvPr id="15" name="Shape 13"/>
          <p:cNvSpPr/>
          <p:nvPr/>
        </p:nvSpPr>
        <p:spPr>
          <a:xfrm>
            <a:off x="4572000" y="2651760"/>
            <a:ext cx="502920" cy="502920"/>
          </a:xfrm>
          <a:prstGeom prst="rect">
            <a:avLst/>
          </a:prstGeom>
          <a:solidFill>
            <a:srgbClr val="38BDF8"/>
          </a:solidFill>
          <a:ln w="12700">
            <a:solidFill>
              <a:srgbClr val="38BDF8"/>
            </a:solidFill>
            <a:prstDash val="solid"/>
          </a:ln>
        </p:spPr>
        <p:txBody>
          <a:bodyPr/>
          <a:lstStyle/>
          <a:p>
            <a:endParaRPr lang="en-IN"/>
          </a:p>
        </p:txBody>
      </p:sp>
      <p:sp>
        <p:nvSpPr>
          <p:cNvPr id="16" name="Text 14"/>
          <p:cNvSpPr/>
          <p:nvPr/>
        </p:nvSpPr>
        <p:spPr>
          <a:xfrm>
            <a:off x="4572000" y="265176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5212080" y="267004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Prophet Forecast</a:t>
            </a:r>
            <a:endParaRPr lang="en-US" sz="1400" dirty="0"/>
          </a:p>
        </p:txBody>
      </p:sp>
      <p:sp>
        <p:nvSpPr>
          <p:cNvPr id="18" name="Text 16"/>
          <p:cNvSpPr/>
          <p:nvPr/>
        </p:nvSpPr>
        <p:spPr>
          <a:xfrm>
            <a:off x="5212080" y="290779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Predict next 30 days — heart rate, steps, sleep</a:t>
            </a:r>
            <a:endParaRPr lang="en-US" sz="1100" dirty="0"/>
          </a:p>
        </p:txBody>
      </p:sp>
      <p:sp>
        <p:nvSpPr>
          <p:cNvPr id="19" name="Shape 17"/>
          <p:cNvSpPr/>
          <p:nvPr/>
        </p:nvSpPr>
        <p:spPr>
          <a:xfrm>
            <a:off x="4572000" y="3749040"/>
            <a:ext cx="502920" cy="502920"/>
          </a:xfrm>
          <a:prstGeom prst="rect">
            <a:avLst/>
          </a:prstGeom>
          <a:solidFill>
            <a:srgbClr val="38BDF8"/>
          </a:solidFill>
          <a:ln w="12700">
            <a:solidFill>
              <a:srgbClr val="38BDF8"/>
            </a:solidFill>
            <a:prstDash val="solid"/>
          </a:ln>
        </p:spPr>
        <p:txBody>
          <a:bodyPr/>
          <a:lstStyle/>
          <a:p>
            <a:endParaRPr lang="en-IN"/>
          </a:p>
        </p:txBody>
      </p:sp>
      <p:sp>
        <p:nvSpPr>
          <p:cNvPr id="20" name="Text 18"/>
          <p:cNvSpPr/>
          <p:nvPr/>
        </p:nvSpPr>
        <p:spPr>
          <a:xfrm>
            <a:off x="4572000" y="374904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12080" y="376732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Clustering</a:t>
            </a:r>
            <a:endParaRPr lang="en-US" sz="1400" dirty="0"/>
          </a:p>
        </p:txBody>
      </p:sp>
      <p:sp>
        <p:nvSpPr>
          <p:cNvPr id="22" name="Text 20"/>
          <p:cNvSpPr/>
          <p:nvPr/>
        </p:nvSpPr>
        <p:spPr>
          <a:xfrm>
            <a:off x="5212080" y="400507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KMeans + DBSCAN + PCA + t-SNE group visualisation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8BDF8"/>
          </a:solidFill>
          <a:ln w="12700">
            <a:solidFill>
              <a:srgbClr val="38BDF8"/>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Milestone 2 — Data Pipeline &amp; Feature Extraction</a:t>
            </a:r>
            <a:endParaRPr lang="en-US" sz="2400" dirty="0"/>
          </a:p>
        </p:txBody>
      </p:sp>
      <p:sp>
        <p:nvSpPr>
          <p:cNvPr id="4" name="Text 2"/>
          <p:cNvSpPr/>
          <p:nvPr/>
        </p:nvSpPr>
        <p:spPr>
          <a:xfrm>
            <a:off x="365760" y="777240"/>
            <a:ext cx="4114800" cy="320040"/>
          </a:xfrm>
          <a:prstGeom prst="rect">
            <a:avLst/>
          </a:prstGeom>
          <a:noFill/>
          <a:ln/>
        </p:spPr>
        <p:txBody>
          <a:bodyPr wrap="square" lIns="0" tIns="0" rIns="0" bIns="0"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5 Input Files</a:t>
            </a:r>
            <a:endParaRPr lang="en-US" sz="1400" dirty="0"/>
          </a:p>
        </p:txBody>
      </p:sp>
      <p:sp>
        <p:nvSpPr>
          <p:cNvPr id="5" name="Shape 3"/>
          <p:cNvSpPr/>
          <p:nvPr/>
        </p:nvSpPr>
        <p:spPr>
          <a:xfrm>
            <a:off x="274320" y="1143000"/>
            <a:ext cx="73152" cy="457200"/>
          </a:xfrm>
          <a:prstGeom prst="rect">
            <a:avLst/>
          </a:prstGeom>
          <a:solidFill>
            <a:srgbClr val="A78BFA"/>
          </a:solidFill>
          <a:ln w="12700">
            <a:solidFill>
              <a:srgbClr val="A78BFA"/>
            </a:solidFill>
            <a:prstDash val="solid"/>
          </a:ln>
        </p:spPr>
        <p:txBody>
          <a:bodyPr/>
          <a:lstStyle/>
          <a:p>
            <a:endParaRPr lang="en-IN"/>
          </a:p>
        </p:txBody>
      </p:sp>
      <p:sp>
        <p:nvSpPr>
          <p:cNvPr id="6" name="Shape 4"/>
          <p:cNvSpPr/>
          <p:nvPr/>
        </p:nvSpPr>
        <p:spPr>
          <a:xfrm>
            <a:off x="411480" y="1143000"/>
            <a:ext cx="3749040" cy="457200"/>
          </a:xfrm>
          <a:prstGeom prst="rect">
            <a:avLst/>
          </a:prstGeom>
          <a:solidFill>
            <a:srgbClr val="162A41"/>
          </a:solidFill>
          <a:ln w="12700">
            <a:solidFill>
              <a:srgbClr val="1E3A5F"/>
            </a:solidFill>
            <a:prstDash val="solid"/>
          </a:ln>
        </p:spPr>
        <p:txBody>
          <a:bodyPr/>
          <a:lstStyle/>
          <a:p>
            <a:endParaRPr lang="en-IN"/>
          </a:p>
        </p:txBody>
      </p:sp>
      <p:sp>
        <p:nvSpPr>
          <p:cNvPr id="7" name="Text 5"/>
          <p:cNvSpPr/>
          <p:nvPr/>
        </p:nvSpPr>
        <p:spPr>
          <a:xfrm>
            <a:off x="548640" y="1179576"/>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Daily Activity</a:t>
            </a:r>
            <a:endParaRPr lang="en-US" sz="1200" dirty="0"/>
          </a:p>
        </p:txBody>
      </p:sp>
      <p:sp>
        <p:nvSpPr>
          <p:cNvPr id="8" name="Text 6"/>
          <p:cNvSpPr/>
          <p:nvPr/>
        </p:nvSpPr>
        <p:spPr>
          <a:xfrm>
            <a:off x="548640" y="1371600"/>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Steps, calories, distance per day</a:t>
            </a:r>
            <a:endParaRPr lang="en-US" sz="1000" dirty="0"/>
          </a:p>
        </p:txBody>
      </p:sp>
      <p:sp>
        <p:nvSpPr>
          <p:cNvPr id="9" name="Shape 7"/>
          <p:cNvSpPr/>
          <p:nvPr/>
        </p:nvSpPr>
        <p:spPr>
          <a:xfrm>
            <a:off x="274320" y="1892808"/>
            <a:ext cx="73152" cy="457200"/>
          </a:xfrm>
          <a:prstGeom prst="rect">
            <a:avLst/>
          </a:prstGeom>
          <a:solidFill>
            <a:srgbClr val="38BDF8"/>
          </a:solidFill>
          <a:ln w="12700">
            <a:solidFill>
              <a:srgbClr val="38BDF8"/>
            </a:solidFill>
            <a:prstDash val="solid"/>
          </a:ln>
        </p:spPr>
        <p:txBody>
          <a:bodyPr/>
          <a:lstStyle/>
          <a:p>
            <a:endParaRPr lang="en-IN"/>
          </a:p>
        </p:txBody>
      </p:sp>
      <p:sp>
        <p:nvSpPr>
          <p:cNvPr id="10" name="Shape 8"/>
          <p:cNvSpPr/>
          <p:nvPr/>
        </p:nvSpPr>
        <p:spPr>
          <a:xfrm>
            <a:off x="411480" y="1892808"/>
            <a:ext cx="3749040" cy="457200"/>
          </a:xfrm>
          <a:prstGeom prst="rect">
            <a:avLst/>
          </a:prstGeom>
          <a:solidFill>
            <a:srgbClr val="162A41"/>
          </a:solidFill>
          <a:ln w="12700">
            <a:solidFill>
              <a:srgbClr val="1E3A5F"/>
            </a:solidFill>
            <a:prstDash val="solid"/>
          </a:ln>
        </p:spPr>
        <p:txBody>
          <a:bodyPr/>
          <a:lstStyle/>
          <a:p>
            <a:endParaRPr lang="en-IN"/>
          </a:p>
        </p:txBody>
      </p:sp>
      <p:sp>
        <p:nvSpPr>
          <p:cNvPr id="11" name="Text 9"/>
          <p:cNvSpPr/>
          <p:nvPr/>
        </p:nvSpPr>
        <p:spPr>
          <a:xfrm>
            <a:off x="548640" y="1929384"/>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Heart Rate</a:t>
            </a:r>
            <a:endParaRPr lang="en-US" sz="1200" dirty="0"/>
          </a:p>
        </p:txBody>
      </p:sp>
      <p:sp>
        <p:nvSpPr>
          <p:cNvPr id="12" name="Text 10"/>
          <p:cNvSpPr/>
          <p:nvPr/>
        </p:nvSpPr>
        <p:spPr>
          <a:xfrm>
            <a:off x="548640" y="2121408"/>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Readings every few seconds</a:t>
            </a:r>
            <a:endParaRPr lang="en-US" sz="1000" dirty="0"/>
          </a:p>
        </p:txBody>
      </p:sp>
      <p:sp>
        <p:nvSpPr>
          <p:cNvPr id="13" name="Shape 11"/>
          <p:cNvSpPr/>
          <p:nvPr/>
        </p:nvSpPr>
        <p:spPr>
          <a:xfrm>
            <a:off x="274320" y="2642616"/>
            <a:ext cx="73152" cy="457200"/>
          </a:xfrm>
          <a:prstGeom prst="rect">
            <a:avLst/>
          </a:prstGeom>
          <a:solidFill>
            <a:srgbClr val="10B981"/>
          </a:solidFill>
          <a:ln w="12700">
            <a:solidFill>
              <a:srgbClr val="10B981"/>
            </a:solidFill>
            <a:prstDash val="solid"/>
          </a:ln>
        </p:spPr>
        <p:txBody>
          <a:bodyPr/>
          <a:lstStyle/>
          <a:p>
            <a:endParaRPr lang="en-IN"/>
          </a:p>
        </p:txBody>
      </p:sp>
      <p:sp>
        <p:nvSpPr>
          <p:cNvPr id="14" name="Shape 12"/>
          <p:cNvSpPr/>
          <p:nvPr/>
        </p:nvSpPr>
        <p:spPr>
          <a:xfrm>
            <a:off x="411480" y="2642616"/>
            <a:ext cx="3749040" cy="457200"/>
          </a:xfrm>
          <a:prstGeom prst="rect">
            <a:avLst/>
          </a:prstGeom>
          <a:solidFill>
            <a:srgbClr val="162A41"/>
          </a:solidFill>
          <a:ln w="12700">
            <a:solidFill>
              <a:srgbClr val="1E3A5F"/>
            </a:solidFill>
            <a:prstDash val="solid"/>
          </a:ln>
        </p:spPr>
        <p:txBody>
          <a:bodyPr/>
          <a:lstStyle/>
          <a:p>
            <a:endParaRPr lang="en-IN"/>
          </a:p>
        </p:txBody>
      </p:sp>
      <p:sp>
        <p:nvSpPr>
          <p:cNvPr id="15" name="Text 13"/>
          <p:cNvSpPr/>
          <p:nvPr/>
        </p:nvSpPr>
        <p:spPr>
          <a:xfrm>
            <a:off x="548640" y="2679192"/>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Hourly Intensities</a:t>
            </a:r>
            <a:endParaRPr lang="en-US" sz="1200" dirty="0"/>
          </a:p>
        </p:txBody>
      </p:sp>
      <p:sp>
        <p:nvSpPr>
          <p:cNvPr id="16" name="Text 14"/>
          <p:cNvSpPr/>
          <p:nvPr/>
        </p:nvSpPr>
        <p:spPr>
          <a:xfrm>
            <a:off x="548640" y="2871216"/>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Activity intensity each hour</a:t>
            </a:r>
            <a:endParaRPr lang="en-US" sz="1000" dirty="0"/>
          </a:p>
        </p:txBody>
      </p:sp>
      <p:sp>
        <p:nvSpPr>
          <p:cNvPr id="17" name="Shape 15"/>
          <p:cNvSpPr/>
          <p:nvPr/>
        </p:nvSpPr>
        <p:spPr>
          <a:xfrm>
            <a:off x="274320" y="3392424"/>
            <a:ext cx="73152" cy="457200"/>
          </a:xfrm>
          <a:prstGeom prst="rect">
            <a:avLst/>
          </a:prstGeom>
          <a:solidFill>
            <a:srgbClr val="F59E0B"/>
          </a:solidFill>
          <a:ln w="12700">
            <a:solidFill>
              <a:srgbClr val="F59E0B"/>
            </a:solidFill>
            <a:prstDash val="solid"/>
          </a:ln>
        </p:spPr>
        <p:txBody>
          <a:bodyPr/>
          <a:lstStyle/>
          <a:p>
            <a:endParaRPr lang="en-IN"/>
          </a:p>
        </p:txBody>
      </p:sp>
      <p:sp>
        <p:nvSpPr>
          <p:cNvPr id="18" name="Shape 16"/>
          <p:cNvSpPr/>
          <p:nvPr/>
        </p:nvSpPr>
        <p:spPr>
          <a:xfrm>
            <a:off x="411480" y="3392424"/>
            <a:ext cx="3749040" cy="457200"/>
          </a:xfrm>
          <a:prstGeom prst="rect">
            <a:avLst/>
          </a:prstGeom>
          <a:solidFill>
            <a:srgbClr val="162A41"/>
          </a:solidFill>
          <a:ln w="12700">
            <a:solidFill>
              <a:srgbClr val="1E3A5F"/>
            </a:solidFill>
            <a:prstDash val="solid"/>
          </a:ln>
        </p:spPr>
        <p:txBody>
          <a:bodyPr/>
          <a:lstStyle/>
          <a:p>
            <a:endParaRPr lang="en-IN"/>
          </a:p>
        </p:txBody>
      </p:sp>
      <p:sp>
        <p:nvSpPr>
          <p:cNvPr id="19" name="Text 17"/>
          <p:cNvSpPr/>
          <p:nvPr/>
        </p:nvSpPr>
        <p:spPr>
          <a:xfrm>
            <a:off x="548640" y="3429000"/>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Hourly Steps</a:t>
            </a:r>
            <a:endParaRPr lang="en-US" sz="1200" dirty="0"/>
          </a:p>
        </p:txBody>
      </p:sp>
      <p:sp>
        <p:nvSpPr>
          <p:cNvPr id="20" name="Text 18"/>
          <p:cNvSpPr/>
          <p:nvPr/>
        </p:nvSpPr>
        <p:spPr>
          <a:xfrm>
            <a:off x="548640" y="3621024"/>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Step count each hour</a:t>
            </a:r>
            <a:endParaRPr lang="en-US" sz="1000" dirty="0"/>
          </a:p>
        </p:txBody>
      </p:sp>
      <p:sp>
        <p:nvSpPr>
          <p:cNvPr id="21" name="Shape 19"/>
          <p:cNvSpPr/>
          <p:nvPr/>
        </p:nvSpPr>
        <p:spPr>
          <a:xfrm>
            <a:off x="274320" y="4142232"/>
            <a:ext cx="73152" cy="457200"/>
          </a:xfrm>
          <a:prstGeom prst="rect">
            <a:avLst/>
          </a:prstGeom>
          <a:solidFill>
            <a:srgbClr val="6366F1"/>
          </a:solidFill>
          <a:ln w="12700">
            <a:solidFill>
              <a:srgbClr val="6366F1"/>
            </a:solidFill>
            <a:prstDash val="solid"/>
          </a:ln>
        </p:spPr>
        <p:txBody>
          <a:bodyPr/>
          <a:lstStyle/>
          <a:p>
            <a:endParaRPr lang="en-IN"/>
          </a:p>
        </p:txBody>
      </p:sp>
      <p:sp>
        <p:nvSpPr>
          <p:cNvPr id="22" name="Shape 20"/>
          <p:cNvSpPr/>
          <p:nvPr/>
        </p:nvSpPr>
        <p:spPr>
          <a:xfrm>
            <a:off x="411480" y="4142232"/>
            <a:ext cx="3749040" cy="457200"/>
          </a:xfrm>
          <a:prstGeom prst="rect">
            <a:avLst/>
          </a:prstGeom>
          <a:solidFill>
            <a:srgbClr val="162A41"/>
          </a:solidFill>
          <a:ln w="12700">
            <a:solidFill>
              <a:srgbClr val="1E3A5F"/>
            </a:solidFill>
            <a:prstDash val="solid"/>
          </a:ln>
        </p:spPr>
        <p:txBody>
          <a:bodyPr/>
          <a:lstStyle/>
          <a:p>
            <a:endParaRPr lang="en-IN"/>
          </a:p>
        </p:txBody>
      </p:sp>
      <p:sp>
        <p:nvSpPr>
          <p:cNvPr id="23" name="Text 21"/>
          <p:cNvSpPr/>
          <p:nvPr/>
        </p:nvSpPr>
        <p:spPr>
          <a:xfrm>
            <a:off x="548640" y="4178808"/>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Minute Sleep</a:t>
            </a:r>
            <a:endParaRPr lang="en-US" sz="1200" dirty="0"/>
          </a:p>
        </p:txBody>
      </p:sp>
      <p:sp>
        <p:nvSpPr>
          <p:cNvPr id="24" name="Text 22"/>
          <p:cNvSpPr/>
          <p:nvPr/>
        </p:nvSpPr>
        <p:spPr>
          <a:xfrm>
            <a:off x="548640" y="4370832"/>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Sleep state every minute</a:t>
            </a:r>
            <a:endParaRPr lang="en-US" sz="1000" dirty="0"/>
          </a:p>
        </p:txBody>
      </p:sp>
      <p:sp>
        <p:nvSpPr>
          <p:cNvPr id="25" name="Shape 23"/>
          <p:cNvSpPr/>
          <p:nvPr/>
        </p:nvSpPr>
        <p:spPr>
          <a:xfrm>
            <a:off x="4572000" y="777240"/>
            <a:ext cx="4297680" cy="411480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4"/>
          <p:cNvSpPr/>
          <p:nvPr/>
        </p:nvSpPr>
        <p:spPr>
          <a:xfrm>
            <a:off x="4572000" y="777240"/>
            <a:ext cx="4297680" cy="384048"/>
          </a:xfrm>
          <a:prstGeom prst="rect">
            <a:avLst/>
          </a:prstGeom>
          <a:solidFill>
            <a:srgbClr val="38BDF8"/>
          </a:solidFill>
          <a:ln w="12700">
            <a:solidFill>
              <a:srgbClr val="38BDF8"/>
            </a:solidFill>
            <a:prstDash val="solid"/>
          </a:ln>
        </p:spPr>
        <p:txBody>
          <a:bodyPr/>
          <a:lstStyle/>
          <a:p>
            <a:endParaRPr lang="en-IN"/>
          </a:p>
        </p:txBody>
      </p:sp>
      <p:sp>
        <p:nvSpPr>
          <p:cNvPr id="27" name="Text 25"/>
          <p:cNvSpPr/>
          <p:nvPr/>
        </p:nvSpPr>
        <p:spPr>
          <a:xfrm>
            <a:off x="4663440" y="777240"/>
            <a:ext cx="411480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TSFresh Feature Extraction</a:t>
            </a:r>
            <a:endParaRPr lang="en-US" sz="1300" dirty="0"/>
          </a:p>
        </p:txBody>
      </p:sp>
      <p:sp>
        <p:nvSpPr>
          <p:cNvPr id="28" name="Text 26"/>
          <p:cNvSpPr/>
          <p:nvPr/>
        </p:nvSpPr>
        <p:spPr>
          <a:xfrm>
            <a:off x="4709160" y="12618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196,537 heart rate readings → 10 features per user</a:t>
            </a:r>
            <a:endParaRPr lang="en-US" sz="1100" dirty="0"/>
          </a:p>
        </p:txBody>
      </p:sp>
      <p:sp>
        <p:nvSpPr>
          <p:cNvPr id="29" name="Text 27"/>
          <p:cNvSpPr/>
          <p:nvPr/>
        </p:nvSpPr>
        <p:spPr>
          <a:xfrm>
            <a:off x="4709160" y="19476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Features: Mean, Median, Variance, Max, Min, Standard Deviation, Root Mean Square, Sum, Absolute Max, Length</a:t>
            </a:r>
            <a:endParaRPr lang="en-US" sz="1100" dirty="0"/>
          </a:p>
        </p:txBody>
      </p:sp>
      <p:sp>
        <p:nvSpPr>
          <p:cNvPr id="30" name="Text 28"/>
          <p:cNvSpPr/>
          <p:nvPr/>
        </p:nvSpPr>
        <p:spPr>
          <a:xfrm>
            <a:off x="4709160" y="26334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MinimalFCParameters used for speed</a:t>
            </a:r>
            <a:endParaRPr lang="en-US" sz="1100" dirty="0"/>
          </a:p>
        </p:txBody>
      </p:sp>
      <p:sp>
        <p:nvSpPr>
          <p:cNvPr id="31" name="Text 29"/>
          <p:cNvSpPr/>
          <p:nvPr/>
        </p:nvSpPr>
        <p:spPr>
          <a:xfrm>
            <a:off x="4709160" y="33192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Results shown as normalised heatmap (0 = lowest, 1 = highest among all users)</a:t>
            </a:r>
            <a:endParaRPr lang="en-US" sz="1100" dirty="0"/>
          </a:p>
        </p:txBody>
      </p:sp>
      <p:sp>
        <p:nvSpPr>
          <p:cNvPr id="32" name="Text 30"/>
          <p:cNvSpPr/>
          <p:nvPr/>
        </p:nvSpPr>
        <p:spPr>
          <a:xfrm>
            <a:off x="4709160" y="40050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Why heart rate only? Steps &amp; sleep are already 1 number per day. Heart rate has 50,000+ raw readings that need summarising.</a:t>
            </a:r>
            <a:endParaRPr lang="en-US" sz="1100" dirty="0"/>
          </a:p>
        </p:txBody>
      </p:sp>
      <p:sp>
        <p:nvSpPr>
          <p:cNvPr id="33" name="Shape 31"/>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F59E0B"/>
                </a:solidFill>
                <a:latin typeface="Calibri" pitchFamily="34" charset="0"/>
                <a:ea typeface="Calibri" pitchFamily="34" charset="-122"/>
                <a:cs typeface="Calibri" pitchFamily="34" charset="-120"/>
              </a:rPr>
              <a:t>Prophet Forecasting</a:t>
            </a:r>
            <a:endParaRPr lang="en-US" sz="2800" dirty="0"/>
          </a:p>
        </p:txBody>
      </p:sp>
      <p:sp>
        <p:nvSpPr>
          <p:cNvPr id="4" name="Text 2"/>
          <p:cNvSpPr/>
          <p:nvPr/>
        </p:nvSpPr>
        <p:spPr>
          <a:xfrm>
            <a:off x="365760" y="777240"/>
            <a:ext cx="8229600" cy="320040"/>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What is Prophet?</a:t>
            </a:r>
            <a:endParaRPr lang="en-US" sz="1400" dirty="0"/>
          </a:p>
        </p:txBody>
      </p:sp>
      <p:sp>
        <p:nvSpPr>
          <p:cNvPr id="5" name="Text 3"/>
          <p:cNvSpPr/>
          <p:nvPr/>
        </p:nvSpPr>
        <p:spPr>
          <a:xfrm>
            <a:off x="365760" y="1097280"/>
            <a:ext cx="8229600" cy="502920"/>
          </a:xfrm>
          <a:prstGeom prst="rect">
            <a:avLst/>
          </a:prstGeom>
          <a:noFill/>
          <a:ln/>
        </p:spPr>
        <p:txBody>
          <a:bodyPr wrap="square" lIns="0" tIns="0" rIns="0" bIns="0" rtlCol="0" anchor="ctr"/>
          <a:lstStyle/>
          <a:p>
            <a:pPr marL="0" indent="0">
              <a:buNone/>
            </a:pPr>
            <a:r>
              <a:rPr lang="en-US" sz="1200" dirty="0">
                <a:solidFill>
                  <a:srgbClr val="7A9ABB"/>
                </a:solidFill>
                <a:latin typeface="Calibri" pitchFamily="34" charset="0"/>
                <a:ea typeface="Calibri" pitchFamily="34" charset="-122"/>
                <a:cs typeface="Calibri" pitchFamily="34" charset="-120"/>
              </a:rPr>
              <a:t>Prophet is a Facebook-developed time series forecasting tool. It looks at historical data and predicts future values while accounting for weekly seasonality and uncertainty.</a:t>
            </a:r>
            <a:endParaRPr lang="en-US" sz="1200" dirty="0"/>
          </a:p>
        </p:txBody>
      </p:sp>
      <p:sp>
        <p:nvSpPr>
          <p:cNvPr id="6" name="Shape 4"/>
          <p:cNvSpPr/>
          <p:nvPr/>
        </p:nvSpPr>
        <p:spPr>
          <a:xfrm>
            <a:off x="274320" y="1737360"/>
            <a:ext cx="2743200" cy="256032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1737360"/>
            <a:ext cx="2743200" cy="384048"/>
          </a:xfrm>
          <a:prstGeom prst="rect">
            <a:avLst/>
          </a:prstGeom>
          <a:solidFill>
            <a:srgbClr val="38BDF8"/>
          </a:solidFill>
          <a:ln w="12700">
            <a:solidFill>
              <a:srgbClr val="38BDF8"/>
            </a:solidFill>
            <a:prstDash val="solid"/>
          </a:ln>
        </p:spPr>
        <p:txBody>
          <a:bodyPr/>
          <a:lstStyle/>
          <a:p>
            <a:endParaRPr lang="en-IN"/>
          </a:p>
        </p:txBody>
      </p:sp>
      <p:sp>
        <p:nvSpPr>
          <p:cNvPr id="8" name="Text 6"/>
          <p:cNvSpPr/>
          <p:nvPr/>
        </p:nvSpPr>
        <p:spPr>
          <a:xfrm>
            <a:off x="36576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Heart Rate</a:t>
            </a:r>
            <a:endParaRPr lang="en-US" sz="1300" dirty="0"/>
          </a:p>
        </p:txBody>
      </p:sp>
      <p:sp>
        <p:nvSpPr>
          <p:cNvPr id="9" name="Text 7"/>
          <p:cNvSpPr/>
          <p:nvPr/>
        </p:nvSpPr>
        <p:spPr>
          <a:xfrm>
            <a:off x="36576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Daily average heart rate</a:t>
            </a:r>
            <a:endParaRPr lang="en-US" sz="1100" dirty="0"/>
          </a:p>
        </p:txBody>
      </p:sp>
      <p:sp>
        <p:nvSpPr>
          <p:cNvPr id="10" name="Text 8"/>
          <p:cNvSpPr/>
          <p:nvPr/>
        </p:nvSpPr>
        <p:spPr>
          <a:xfrm>
            <a:off x="36576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Teal dots = actual values</a:t>
            </a:r>
            <a:endParaRPr lang="en-US" sz="1100" dirty="0"/>
          </a:p>
        </p:txBody>
      </p:sp>
      <p:sp>
        <p:nvSpPr>
          <p:cNvPr id="11" name="Text 9"/>
          <p:cNvSpPr/>
          <p:nvPr/>
        </p:nvSpPr>
        <p:spPr>
          <a:xfrm>
            <a:off x="36576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Teal shaded band = 80% CI</a:t>
            </a:r>
            <a:endParaRPr lang="en-US" sz="1100" dirty="0"/>
          </a:p>
        </p:txBody>
      </p:sp>
      <p:sp>
        <p:nvSpPr>
          <p:cNvPr id="12" name="Shape 10"/>
          <p:cNvSpPr/>
          <p:nvPr/>
        </p:nvSpPr>
        <p:spPr>
          <a:xfrm>
            <a:off x="3200400" y="1737360"/>
            <a:ext cx="2743200" cy="256032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200400" y="1737360"/>
            <a:ext cx="2743200" cy="384048"/>
          </a:xfrm>
          <a:prstGeom prst="rect">
            <a:avLst/>
          </a:prstGeom>
          <a:solidFill>
            <a:srgbClr val="10B981"/>
          </a:solidFill>
          <a:ln w="12700">
            <a:solidFill>
              <a:srgbClr val="10B981"/>
            </a:solidFill>
            <a:prstDash val="solid"/>
          </a:ln>
        </p:spPr>
        <p:txBody>
          <a:bodyPr/>
          <a:lstStyle/>
          <a:p>
            <a:endParaRPr lang="en-IN"/>
          </a:p>
        </p:txBody>
      </p:sp>
      <p:sp>
        <p:nvSpPr>
          <p:cNvPr id="14" name="Text 12"/>
          <p:cNvSpPr/>
          <p:nvPr/>
        </p:nvSpPr>
        <p:spPr>
          <a:xfrm>
            <a:off x="329184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Daily Steps</a:t>
            </a:r>
            <a:endParaRPr lang="en-US" sz="1300" dirty="0"/>
          </a:p>
        </p:txBody>
      </p:sp>
      <p:sp>
        <p:nvSpPr>
          <p:cNvPr id="15" name="Text 13"/>
          <p:cNvSpPr/>
          <p:nvPr/>
        </p:nvSpPr>
        <p:spPr>
          <a:xfrm>
            <a:off x="329184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Average steps per day</a:t>
            </a:r>
            <a:endParaRPr lang="en-US" sz="1100" dirty="0"/>
          </a:p>
        </p:txBody>
      </p:sp>
      <p:sp>
        <p:nvSpPr>
          <p:cNvPr id="16" name="Text 14"/>
          <p:cNvSpPr/>
          <p:nvPr/>
        </p:nvSpPr>
        <p:spPr>
          <a:xfrm>
            <a:off x="329184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Green dots = actual values</a:t>
            </a:r>
            <a:endParaRPr lang="en-US" sz="1100" dirty="0"/>
          </a:p>
        </p:txBody>
      </p:sp>
      <p:sp>
        <p:nvSpPr>
          <p:cNvPr id="17" name="Text 15"/>
          <p:cNvSpPr/>
          <p:nvPr/>
        </p:nvSpPr>
        <p:spPr>
          <a:xfrm>
            <a:off x="329184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Green shaded band = 80% CI</a:t>
            </a:r>
            <a:endParaRPr lang="en-US" sz="1100" dirty="0"/>
          </a:p>
        </p:txBody>
      </p:sp>
      <p:sp>
        <p:nvSpPr>
          <p:cNvPr id="18" name="Shape 16"/>
          <p:cNvSpPr/>
          <p:nvPr/>
        </p:nvSpPr>
        <p:spPr>
          <a:xfrm>
            <a:off x="6126480" y="1737360"/>
            <a:ext cx="2743200" cy="256032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6126480" y="1737360"/>
            <a:ext cx="2743200" cy="384048"/>
          </a:xfrm>
          <a:prstGeom prst="rect">
            <a:avLst/>
          </a:prstGeom>
          <a:solidFill>
            <a:srgbClr val="A78BFA"/>
          </a:solidFill>
          <a:ln w="12700">
            <a:solidFill>
              <a:srgbClr val="A78BFA"/>
            </a:solidFill>
            <a:prstDash val="solid"/>
          </a:ln>
        </p:spPr>
        <p:txBody>
          <a:bodyPr/>
          <a:lstStyle/>
          <a:p>
            <a:endParaRPr lang="en-IN"/>
          </a:p>
        </p:txBody>
      </p:sp>
      <p:sp>
        <p:nvSpPr>
          <p:cNvPr id="20" name="Text 18"/>
          <p:cNvSpPr/>
          <p:nvPr/>
        </p:nvSpPr>
        <p:spPr>
          <a:xfrm>
            <a:off x="621792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Sleep</a:t>
            </a:r>
            <a:endParaRPr lang="en-US" sz="1300" dirty="0"/>
          </a:p>
        </p:txBody>
      </p:sp>
      <p:sp>
        <p:nvSpPr>
          <p:cNvPr id="21" name="Text 19"/>
          <p:cNvSpPr/>
          <p:nvPr/>
        </p:nvSpPr>
        <p:spPr>
          <a:xfrm>
            <a:off x="621792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Total sleep in minutes/day</a:t>
            </a:r>
            <a:endParaRPr lang="en-US" sz="1100" dirty="0"/>
          </a:p>
        </p:txBody>
      </p:sp>
      <p:sp>
        <p:nvSpPr>
          <p:cNvPr id="22" name="Text 20"/>
          <p:cNvSpPr/>
          <p:nvPr/>
        </p:nvSpPr>
        <p:spPr>
          <a:xfrm>
            <a:off x="621792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Purple dots = actual values</a:t>
            </a:r>
            <a:endParaRPr lang="en-US" sz="1100" dirty="0"/>
          </a:p>
        </p:txBody>
      </p:sp>
      <p:sp>
        <p:nvSpPr>
          <p:cNvPr id="23" name="Text 21"/>
          <p:cNvSpPr/>
          <p:nvPr/>
        </p:nvSpPr>
        <p:spPr>
          <a:xfrm>
            <a:off x="621792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Purple shaded band = 80% CI</a:t>
            </a:r>
            <a:endParaRPr lang="en-US" sz="1100" dirty="0"/>
          </a:p>
        </p:txBody>
      </p:sp>
      <p:sp>
        <p:nvSpPr>
          <p:cNvPr id="24" name="Shape 22"/>
          <p:cNvSpPr/>
          <p:nvPr/>
        </p:nvSpPr>
        <p:spPr>
          <a:xfrm>
            <a:off x="274320" y="4434840"/>
            <a:ext cx="8595360" cy="548640"/>
          </a:xfrm>
          <a:prstGeom prst="rect">
            <a:avLst/>
          </a:prstGeom>
          <a:solidFill>
            <a:srgbClr val="162A41"/>
          </a:solidFill>
          <a:ln w="12700">
            <a:solidFill>
              <a:srgbClr val="F59E0B"/>
            </a:solidFill>
            <a:prstDash val="solid"/>
          </a:ln>
        </p:spPr>
        <p:txBody>
          <a:bodyPr/>
          <a:lstStyle/>
          <a:p>
            <a:endParaRPr lang="en-IN"/>
          </a:p>
        </p:txBody>
      </p:sp>
      <p:sp>
        <p:nvSpPr>
          <p:cNvPr id="25" name="Text 23"/>
          <p:cNvSpPr/>
          <p:nvPr/>
        </p:nvSpPr>
        <p:spPr>
          <a:xfrm>
            <a:off x="457200" y="4434840"/>
            <a:ext cx="8229600" cy="54864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30-day forecast  ·  80% Confidence Interval shown  ·  CI Upper &amp; Lower visible on hover  ·  Orange dashed line = forecast start</a:t>
            </a:r>
            <a:endParaRPr lang="en-US" sz="1200" dirty="0"/>
          </a:p>
        </p:txBody>
      </p:sp>
      <p:sp>
        <p:nvSpPr>
          <p:cNvPr id="26" name="Shape 24"/>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10B981"/>
                </a:solidFill>
                <a:latin typeface="Calibri" pitchFamily="34" charset="0"/>
                <a:ea typeface="Calibri" pitchFamily="34" charset="-122"/>
                <a:cs typeface="Calibri" pitchFamily="34" charset="-120"/>
              </a:rPr>
              <a:t>User Clustering &amp; Visualisation</a:t>
            </a:r>
            <a:endParaRPr lang="en-US" sz="2800" dirty="0"/>
          </a:p>
        </p:txBody>
      </p:sp>
      <p:sp>
        <p:nvSpPr>
          <p:cNvPr id="4" name="Shape 2"/>
          <p:cNvSpPr/>
          <p:nvPr/>
        </p:nvSpPr>
        <p:spPr>
          <a:xfrm>
            <a:off x="274320" y="822960"/>
            <a:ext cx="4114800" cy="192024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822960"/>
            <a:ext cx="4114800" cy="365760"/>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65760" y="822960"/>
            <a:ext cx="393192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KMeans</a:t>
            </a:r>
            <a:endParaRPr lang="en-US" sz="1400" dirty="0"/>
          </a:p>
        </p:txBody>
      </p:sp>
      <p:sp>
        <p:nvSpPr>
          <p:cNvPr id="7" name="Text 5"/>
          <p:cNvSpPr/>
          <p:nvPr/>
        </p:nvSpPr>
        <p:spPr>
          <a:xfrm>
            <a:off x="411480" y="1261872"/>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You choose number of groups (k)</a:t>
            </a:r>
            <a:endParaRPr lang="en-US" sz="1050" dirty="0"/>
          </a:p>
        </p:txBody>
      </p:sp>
      <p:sp>
        <p:nvSpPr>
          <p:cNvPr id="8" name="Text 6"/>
          <p:cNvSpPr/>
          <p:nvPr/>
        </p:nvSpPr>
        <p:spPr>
          <a:xfrm>
            <a:off x="411480" y="1618488"/>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Use Elbow Chart to find best k</a:t>
            </a:r>
            <a:endParaRPr lang="en-US" sz="1050" dirty="0"/>
          </a:p>
        </p:txBody>
      </p:sp>
      <p:sp>
        <p:nvSpPr>
          <p:cNvPr id="9" name="Text 7"/>
          <p:cNvSpPr/>
          <p:nvPr/>
        </p:nvSpPr>
        <p:spPr>
          <a:xfrm>
            <a:off x="411480" y="1975104"/>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Every user forced into exactly one group</a:t>
            </a:r>
            <a:endParaRPr lang="en-US" sz="1050" dirty="0"/>
          </a:p>
        </p:txBody>
      </p:sp>
      <p:sp>
        <p:nvSpPr>
          <p:cNvPr id="10" name="Text 8"/>
          <p:cNvSpPr/>
          <p:nvPr/>
        </p:nvSpPr>
        <p:spPr>
          <a:xfrm>
            <a:off x="411480" y="2331720"/>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Groups: Highly Active / Moderate / Sedentary</a:t>
            </a:r>
            <a:endParaRPr lang="en-US" sz="1050" dirty="0"/>
          </a:p>
        </p:txBody>
      </p:sp>
      <p:sp>
        <p:nvSpPr>
          <p:cNvPr id="11" name="Shape 9"/>
          <p:cNvSpPr/>
          <p:nvPr/>
        </p:nvSpPr>
        <p:spPr>
          <a:xfrm>
            <a:off x="274320" y="2926080"/>
            <a:ext cx="4114800" cy="192024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10"/>
          <p:cNvSpPr/>
          <p:nvPr/>
        </p:nvSpPr>
        <p:spPr>
          <a:xfrm>
            <a:off x="274320" y="2926080"/>
            <a:ext cx="4114800" cy="365760"/>
          </a:xfrm>
          <a:prstGeom prst="rect">
            <a:avLst/>
          </a:prstGeom>
          <a:solidFill>
            <a:srgbClr val="38BDF8"/>
          </a:solidFill>
          <a:ln w="12700">
            <a:solidFill>
              <a:srgbClr val="38BDF8"/>
            </a:solidFill>
            <a:prstDash val="solid"/>
          </a:ln>
        </p:spPr>
        <p:txBody>
          <a:bodyPr/>
          <a:lstStyle/>
          <a:p>
            <a:endParaRPr lang="en-IN"/>
          </a:p>
        </p:txBody>
      </p:sp>
      <p:sp>
        <p:nvSpPr>
          <p:cNvPr id="13" name="Text 11"/>
          <p:cNvSpPr/>
          <p:nvPr/>
        </p:nvSpPr>
        <p:spPr>
          <a:xfrm>
            <a:off x="365760" y="2926080"/>
            <a:ext cx="393192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DBSCAN</a:t>
            </a:r>
            <a:endParaRPr lang="en-US" sz="1400" dirty="0"/>
          </a:p>
        </p:txBody>
      </p:sp>
      <p:sp>
        <p:nvSpPr>
          <p:cNvPr id="14" name="Text 12"/>
          <p:cNvSpPr/>
          <p:nvPr/>
        </p:nvSpPr>
        <p:spPr>
          <a:xfrm>
            <a:off x="411480" y="3364992"/>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Auto-detects number of groups</a:t>
            </a:r>
            <a:endParaRPr lang="en-US" sz="1050" dirty="0"/>
          </a:p>
        </p:txBody>
      </p:sp>
      <p:sp>
        <p:nvSpPr>
          <p:cNvPr id="15" name="Text 13"/>
          <p:cNvSpPr/>
          <p:nvPr/>
        </p:nvSpPr>
        <p:spPr>
          <a:xfrm>
            <a:off x="411480" y="3721608"/>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eps = friendship radius between users</a:t>
            </a:r>
            <a:endParaRPr lang="en-US" sz="1050" dirty="0"/>
          </a:p>
        </p:txBody>
      </p:sp>
      <p:sp>
        <p:nvSpPr>
          <p:cNvPr id="16" name="Text 14"/>
          <p:cNvSpPr/>
          <p:nvPr/>
        </p:nvSpPr>
        <p:spPr>
          <a:xfrm>
            <a:off x="411480" y="4078224"/>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Outliers = users who don't fit any group</a:t>
            </a:r>
            <a:endParaRPr lang="en-US" sz="1050" dirty="0"/>
          </a:p>
        </p:txBody>
      </p:sp>
      <p:sp>
        <p:nvSpPr>
          <p:cNvPr id="17" name="Text 15"/>
          <p:cNvSpPr/>
          <p:nvPr/>
        </p:nvSpPr>
        <p:spPr>
          <a:xfrm>
            <a:off x="411480" y="4434840"/>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Grey dots = outliers on the chart</a:t>
            </a:r>
            <a:endParaRPr lang="en-US" sz="1050" dirty="0"/>
          </a:p>
        </p:txBody>
      </p:sp>
      <p:sp>
        <p:nvSpPr>
          <p:cNvPr id="18" name="Text 16"/>
          <p:cNvSpPr/>
          <p:nvPr/>
        </p:nvSpPr>
        <p:spPr>
          <a:xfrm>
            <a:off x="4663440" y="777240"/>
            <a:ext cx="420624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Visualisation Methods</a:t>
            </a:r>
            <a:endParaRPr lang="en-US" sz="1400" dirty="0"/>
          </a:p>
        </p:txBody>
      </p:sp>
      <p:sp>
        <p:nvSpPr>
          <p:cNvPr id="19" name="Shape 17"/>
          <p:cNvSpPr/>
          <p:nvPr/>
        </p:nvSpPr>
        <p:spPr>
          <a:xfrm>
            <a:off x="4663440" y="1188720"/>
            <a:ext cx="54864" cy="1005840"/>
          </a:xfrm>
          <a:prstGeom prst="rect">
            <a:avLst/>
          </a:prstGeom>
          <a:solidFill>
            <a:srgbClr val="A78BFA"/>
          </a:solidFill>
          <a:ln w="12700">
            <a:solidFill>
              <a:srgbClr val="A78BFA"/>
            </a:solidFill>
            <a:prstDash val="solid"/>
          </a:ln>
        </p:spPr>
        <p:txBody>
          <a:bodyPr/>
          <a:lstStyle/>
          <a:p>
            <a:endParaRPr lang="en-IN"/>
          </a:p>
        </p:txBody>
      </p:sp>
      <p:sp>
        <p:nvSpPr>
          <p:cNvPr id="20" name="Shape 18"/>
          <p:cNvSpPr/>
          <p:nvPr/>
        </p:nvSpPr>
        <p:spPr>
          <a:xfrm>
            <a:off x="4773168" y="1188720"/>
            <a:ext cx="4114800" cy="1005840"/>
          </a:xfrm>
          <a:prstGeom prst="rect">
            <a:avLst/>
          </a:prstGeom>
          <a:solidFill>
            <a:srgbClr val="162A41"/>
          </a:solidFill>
          <a:ln w="12700">
            <a:solidFill>
              <a:srgbClr val="1E3A5F"/>
            </a:solidFill>
            <a:prstDash val="solid"/>
          </a:ln>
        </p:spPr>
        <p:txBody>
          <a:bodyPr/>
          <a:lstStyle/>
          <a:p>
            <a:endParaRPr lang="en-IN"/>
          </a:p>
        </p:txBody>
      </p:sp>
      <p:sp>
        <p:nvSpPr>
          <p:cNvPr id="21" name="Text 19"/>
          <p:cNvSpPr/>
          <p:nvPr/>
        </p:nvSpPr>
        <p:spPr>
          <a:xfrm>
            <a:off x="4892040" y="1261872"/>
            <a:ext cx="3840480" cy="27432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PCA</a:t>
            </a:r>
            <a:endParaRPr lang="en-US" sz="1300" dirty="0"/>
          </a:p>
        </p:txBody>
      </p:sp>
      <p:sp>
        <p:nvSpPr>
          <p:cNvPr id="22" name="Text 20"/>
          <p:cNvSpPr/>
          <p:nvPr/>
        </p:nvSpPr>
        <p:spPr>
          <a:xfrm>
            <a:off x="4892040" y="153619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Squashes 20+ columns into 2 dimensions so we can plot users on a chart. Dimension 1 = 50% info.</a:t>
            </a:r>
            <a:endParaRPr lang="en-US" sz="1100" dirty="0"/>
          </a:p>
        </p:txBody>
      </p:sp>
      <p:sp>
        <p:nvSpPr>
          <p:cNvPr id="23" name="Shape 21"/>
          <p:cNvSpPr/>
          <p:nvPr/>
        </p:nvSpPr>
        <p:spPr>
          <a:xfrm>
            <a:off x="4663440" y="2468880"/>
            <a:ext cx="54864" cy="1005840"/>
          </a:xfrm>
          <a:prstGeom prst="rect">
            <a:avLst/>
          </a:prstGeom>
          <a:solidFill>
            <a:srgbClr val="F59E0B"/>
          </a:solidFill>
          <a:ln w="12700">
            <a:solidFill>
              <a:srgbClr val="F59E0B"/>
            </a:solidFill>
            <a:prstDash val="solid"/>
          </a:ln>
        </p:spPr>
        <p:txBody>
          <a:bodyPr/>
          <a:lstStyle/>
          <a:p>
            <a:endParaRPr lang="en-IN"/>
          </a:p>
        </p:txBody>
      </p:sp>
      <p:sp>
        <p:nvSpPr>
          <p:cNvPr id="24" name="Shape 22"/>
          <p:cNvSpPr/>
          <p:nvPr/>
        </p:nvSpPr>
        <p:spPr>
          <a:xfrm>
            <a:off x="4773168" y="2468880"/>
            <a:ext cx="4114800" cy="1005840"/>
          </a:xfrm>
          <a:prstGeom prst="rect">
            <a:avLst/>
          </a:prstGeom>
          <a:solidFill>
            <a:srgbClr val="162A41"/>
          </a:solidFill>
          <a:ln w="12700">
            <a:solidFill>
              <a:srgbClr val="1E3A5F"/>
            </a:solidFill>
            <a:prstDash val="solid"/>
          </a:ln>
        </p:spPr>
        <p:txBody>
          <a:bodyPr/>
          <a:lstStyle/>
          <a:p>
            <a:endParaRPr lang="en-IN"/>
          </a:p>
        </p:txBody>
      </p:sp>
      <p:sp>
        <p:nvSpPr>
          <p:cNvPr id="25" name="Text 23"/>
          <p:cNvSpPr/>
          <p:nvPr/>
        </p:nvSpPr>
        <p:spPr>
          <a:xfrm>
            <a:off x="4892040" y="2542032"/>
            <a:ext cx="384048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t-SNE</a:t>
            </a:r>
            <a:endParaRPr lang="en-US" sz="1300" dirty="0"/>
          </a:p>
        </p:txBody>
      </p:sp>
      <p:sp>
        <p:nvSpPr>
          <p:cNvPr id="26" name="Text 24"/>
          <p:cNvSpPr/>
          <p:nvPr/>
        </p:nvSpPr>
        <p:spPr>
          <a:xfrm>
            <a:off x="4892040" y="281635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Better than PCA at separating close groups visually. Takes ~20 seconds to compute.</a:t>
            </a:r>
            <a:endParaRPr lang="en-US" sz="1100" dirty="0"/>
          </a:p>
        </p:txBody>
      </p:sp>
      <p:sp>
        <p:nvSpPr>
          <p:cNvPr id="27" name="Shape 25"/>
          <p:cNvSpPr/>
          <p:nvPr/>
        </p:nvSpPr>
        <p:spPr>
          <a:xfrm>
            <a:off x="4663440" y="3749040"/>
            <a:ext cx="54864" cy="1005840"/>
          </a:xfrm>
          <a:prstGeom prst="rect">
            <a:avLst/>
          </a:prstGeom>
          <a:solidFill>
            <a:srgbClr val="10B981"/>
          </a:solidFill>
          <a:ln w="12700">
            <a:solidFill>
              <a:srgbClr val="10B981"/>
            </a:solidFill>
            <a:prstDash val="solid"/>
          </a:ln>
        </p:spPr>
        <p:txBody>
          <a:bodyPr/>
          <a:lstStyle/>
          <a:p>
            <a:endParaRPr lang="en-IN"/>
          </a:p>
        </p:txBody>
      </p:sp>
      <p:sp>
        <p:nvSpPr>
          <p:cNvPr id="28" name="Shape 26"/>
          <p:cNvSpPr/>
          <p:nvPr/>
        </p:nvSpPr>
        <p:spPr>
          <a:xfrm>
            <a:off x="4773168" y="3749040"/>
            <a:ext cx="4114800" cy="1005840"/>
          </a:xfrm>
          <a:prstGeom prst="rect">
            <a:avLst/>
          </a:prstGeom>
          <a:solidFill>
            <a:srgbClr val="162A41"/>
          </a:solidFill>
          <a:ln w="12700">
            <a:solidFill>
              <a:srgbClr val="1E3A5F"/>
            </a:solidFill>
            <a:prstDash val="solid"/>
          </a:ln>
        </p:spPr>
        <p:txBody>
          <a:bodyPr/>
          <a:lstStyle/>
          <a:p>
            <a:endParaRPr lang="en-IN"/>
          </a:p>
        </p:txBody>
      </p:sp>
      <p:sp>
        <p:nvSpPr>
          <p:cNvPr id="29" name="Text 27"/>
          <p:cNvSpPr/>
          <p:nvPr/>
        </p:nvSpPr>
        <p:spPr>
          <a:xfrm>
            <a:off x="4892040" y="3822192"/>
            <a:ext cx="3840480" cy="27432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Group Profiles</a:t>
            </a:r>
            <a:endParaRPr lang="en-US" sz="1300" dirty="0"/>
          </a:p>
        </p:txBody>
      </p:sp>
      <p:sp>
        <p:nvSpPr>
          <p:cNvPr id="30" name="Text 28"/>
          <p:cNvSpPr/>
          <p:nvPr/>
        </p:nvSpPr>
        <p:spPr>
          <a:xfrm>
            <a:off x="4892040" y="409651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Bar chart showing average steps, sleep, calories, heart rate per group side by side.</a:t>
            </a:r>
            <a:endParaRPr lang="en-US" sz="1100" dirty="0"/>
          </a:p>
        </p:txBody>
      </p:sp>
      <p:sp>
        <p:nvSpPr>
          <p:cNvPr id="31" name="Shape 29"/>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Technology Stack</a:t>
            </a:r>
            <a:endParaRPr lang="en-US" sz="2800" dirty="0"/>
          </a:p>
        </p:txBody>
      </p:sp>
      <p:sp>
        <p:nvSpPr>
          <p:cNvPr id="4" name="Shape 2"/>
          <p:cNvSpPr/>
          <p:nvPr/>
        </p:nvSpPr>
        <p:spPr>
          <a:xfrm>
            <a:off x="274320" y="914400"/>
            <a:ext cx="2011680" cy="1554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914400"/>
            <a:ext cx="2011680" cy="73152"/>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65760" y="1051560"/>
            <a:ext cx="1828800" cy="411480"/>
          </a:xfrm>
          <a:prstGeom prst="rect">
            <a:avLst/>
          </a:prstGeom>
          <a:noFill/>
          <a:ln/>
        </p:spPr>
        <p:txBody>
          <a:bodyPr wrap="square"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Streamlit</a:t>
            </a:r>
            <a:endParaRPr lang="en-US" sz="1400" dirty="0"/>
          </a:p>
        </p:txBody>
      </p:sp>
      <p:sp>
        <p:nvSpPr>
          <p:cNvPr id="7" name="Text 5"/>
          <p:cNvSpPr/>
          <p:nvPr/>
        </p:nvSpPr>
        <p:spPr>
          <a:xfrm>
            <a:off x="365760"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Web application framework</a:t>
            </a:r>
            <a:endParaRPr lang="en-US" sz="1050" dirty="0"/>
          </a:p>
        </p:txBody>
      </p:sp>
      <p:sp>
        <p:nvSpPr>
          <p:cNvPr id="8" name="Shape 6"/>
          <p:cNvSpPr/>
          <p:nvPr/>
        </p:nvSpPr>
        <p:spPr>
          <a:xfrm>
            <a:off x="2450592" y="914400"/>
            <a:ext cx="2011680" cy="1554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2450592" y="914400"/>
            <a:ext cx="2011680" cy="73152"/>
          </a:xfrm>
          <a:prstGeom prst="rect">
            <a:avLst/>
          </a:prstGeom>
          <a:solidFill>
            <a:srgbClr val="38BDF8"/>
          </a:solidFill>
          <a:ln w="12700">
            <a:solidFill>
              <a:srgbClr val="38BDF8"/>
            </a:solidFill>
            <a:prstDash val="solid"/>
          </a:ln>
        </p:spPr>
        <p:txBody>
          <a:bodyPr/>
          <a:lstStyle/>
          <a:p>
            <a:endParaRPr lang="en-IN"/>
          </a:p>
        </p:txBody>
      </p:sp>
      <p:sp>
        <p:nvSpPr>
          <p:cNvPr id="10" name="Text 8"/>
          <p:cNvSpPr/>
          <p:nvPr/>
        </p:nvSpPr>
        <p:spPr>
          <a:xfrm>
            <a:off x="2542032" y="1051560"/>
            <a:ext cx="1828800" cy="411480"/>
          </a:xfrm>
          <a:prstGeom prst="rect">
            <a:avLst/>
          </a:prstGeom>
          <a:noFill/>
          <a:ln/>
        </p:spPr>
        <p:txBody>
          <a:bodyPr wrap="square"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Pandas</a:t>
            </a:r>
            <a:endParaRPr lang="en-US" sz="1400" dirty="0"/>
          </a:p>
        </p:txBody>
      </p:sp>
      <p:sp>
        <p:nvSpPr>
          <p:cNvPr id="11" name="Text 9"/>
          <p:cNvSpPr/>
          <p:nvPr/>
        </p:nvSpPr>
        <p:spPr>
          <a:xfrm>
            <a:off x="2542032"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Data loading, cleaning &amp; merging</a:t>
            </a:r>
            <a:endParaRPr lang="en-US" sz="1050" dirty="0"/>
          </a:p>
        </p:txBody>
      </p:sp>
      <p:sp>
        <p:nvSpPr>
          <p:cNvPr id="12" name="Shape 10"/>
          <p:cNvSpPr/>
          <p:nvPr/>
        </p:nvSpPr>
        <p:spPr>
          <a:xfrm>
            <a:off x="4626864" y="914400"/>
            <a:ext cx="2011680" cy="1554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4626864" y="914400"/>
            <a:ext cx="2011680" cy="73152"/>
          </a:xfrm>
          <a:prstGeom prst="rect">
            <a:avLst/>
          </a:prstGeom>
          <a:solidFill>
            <a:srgbClr val="10B981"/>
          </a:solidFill>
          <a:ln w="12700">
            <a:solidFill>
              <a:srgbClr val="10B981"/>
            </a:solidFill>
            <a:prstDash val="solid"/>
          </a:ln>
        </p:spPr>
        <p:txBody>
          <a:bodyPr/>
          <a:lstStyle/>
          <a:p>
            <a:endParaRPr lang="en-IN"/>
          </a:p>
        </p:txBody>
      </p:sp>
      <p:sp>
        <p:nvSpPr>
          <p:cNvPr id="14" name="Text 12"/>
          <p:cNvSpPr/>
          <p:nvPr/>
        </p:nvSpPr>
        <p:spPr>
          <a:xfrm>
            <a:off x="4718304" y="1051560"/>
            <a:ext cx="1828800" cy="411480"/>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NumPy</a:t>
            </a:r>
            <a:endParaRPr lang="en-US" sz="1400" dirty="0"/>
          </a:p>
        </p:txBody>
      </p:sp>
      <p:sp>
        <p:nvSpPr>
          <p:cNvPr id="15" name="Text 13"/>
          <p:cNvSpPr/>
          <p:nvPr/>
        </p:nvSpPr>
        <p:spPr>
          <a:xfrm>
            <a:off x="4718304"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Numerical computing</a:t>
            </a:r>
            <a:endParaRPr lang="en-US" sz="1050" dirty="0"/>
          </a:p>
        </p:txBody>
      </p:sp>
      <p:sp>
        <p:nvSpPr>
          <p:cNvPr id="16" name="Shape 14"/>
          <p:cNvSpPr/>
          <p:nvPr/>
        </p:nvSpPr>
        <p:spPr>
          <a:xfrm>
            <a:off x="6803136" y="914400"/>
            <a:ext cx="2011680" cy="155448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6803136" y="914400"/>
            <a:ext cx="2011680" cy="73152"/>
          </a:xfrm>
          <a:prstGeom prst="rect">
            <a:avLst/>
          </a:prstGeom>
          <a:solidFill>
            <a:srgbClr val="F59E0B"/>
          </a:solidFill>
          <a:ln w="12700">
            <a:solidFill>
              <a:srgbClr val="F59E0B"/>
            </a:solidFill>
            <a:prstDash val="solid"/>
          </a:ln>
        </p:spPr>
        <p:txBody>
          <a:bodyPr/>
          <a:lstStyle/>
          <a:p>
            <a:endParaRPr lang="en-IN"/>
          </a:p>
        </p:txBody>
      </p:sp>
      <p:sp>
        <p:nvSpPr>
          <p:cNvPr id="18" name="Text 16"/>
          <p:cNvSpPr/>
          <p:nvPr/>
        </p:nvSpPr>
        <p:spPr>
          <a:xfrm>
            <a:off x="6894576" y="1051560"/>
            <a:ext cx="1828800" cy="41148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Plotly</a:t>
            </a:r>
            <a:endParaRPr lang="en-US" sz="1400" dirty="0"/>
          </a:p>
        </p:txBody>
      </p:sp>
      <p:sp>
        <p:nvSpPr>
          <p:cNvPr id="19" name="Text 17"/>
          <p:cNvSpPr/>
          <p:nvPr/>
        </p:nvSpPr>
        <p:spPr>
          <a:xfrm>
            <a:off x="6894576"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Interactive charts &amp; visualisations</a:t>
            </a:r>
            <a:endParaRPr lang="en-US" sz="1050" dirty="0"/>
          </a:p>
        </p:txBody>
      </p:sp>
      <p:sp>
        <p:nvSpPr>
          <p:cNvPr id="20" name="Shape 18"/>
          <p:cNvSpPr/>
          <p:nvPr/>
        </p:nvSpPr>
        <p:spPr>
          <a:xfrm>
            <a:off x="274320" y="2743200"/>
            <a:ext cx="2011680" cy="1554480"/>
          </a:xfrm>
          <a:prstGeom prst="rect">
            <a:avLst/>
          </a:prstGeom>
          <a:solidFill>
            <a:srgbClr val="162A41"/>
          </a:solidFill>
          <a:ln w="12700">
            <a:solidFill>
              <a:srgbClr val="6366F1"/>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274320" y="2743200"/>
            <a:ext cx="2011680" cy="73152"/>
          </a:xfrm>
          <a:prstGeom prst="rect">
            <a:avLst/>
          </a:prstGeom>
          <a:solidFill>
            <a:srgbClr val="6366F1"/>
          </a:solidFill>
          <a:ln w="12700">
            <a:solidFill>
              <a:srgbClr val="6366F1"/>
            </a:solidFill>
            <a:prstDash val="solid"/>
          </a:ln>
        </p:spPr>
        <p:txBody>
          <a:bodyPr/>
          <a:lstStyle/>
          <a:p>
            <a:endParaRPr lang="en-IN"/>
          </a:p>
        </p:txBody>
      </p:sp>
      <p:sp>
        <p:nvSpPr>
          <p:cNvPr id="22" name="Text 20"/>
          <p:cNvSpPr/>
          <p:nvPr/>
        </p:nvSpPr>
        <p:spPr>
          <a:xfrm>
            <a:off x="365760" y="2880360"/>
            <a:ext cx="1828800" cy="411480"/>
          </a:xfrm>
          <a:prstGeom prst="rect">
            <a:avLst/>
          </a:prstGeom>
          <a:noFill/>
          <a:ln/>
        </p:spPr>
        <p:txBody>
          <a:bodyPr wrap="square" rtlCol="0" anchor="ctr"/>
          <a:lstStyle/>
          <a:p>
            <a:pPr marL="0" indent="0">
              <a:buNone/>
            </a:pPr>
            <a:r>
              <a:rPr lang="en-US" sz="1400" b="1" dirty="0">
                <a:solidFill>
                  <a:srgbClr val="6366F1"/>
                </a:solidFill>
                <a:latin typeface="Calibri" pitchFamily="34" charset="0"/>
                <a:ea typeface="Calibri" pitchFamily="34" charset="-122"/>
                <a:cs typeface="Calibri" pitchFamily="34" charset="-120"/>
              </a:rPr>
              <a:t>Scikit-learn</a:t>
            </a:r>
            <a:endParaRPr lang="en-US" sz="1400" dirty="0"/>
          </a:p>
        </p:txBody>
      </p:sp>
      <p:sp>
        <p:nvSpPr>
          <p:cNvPr id="23" name="Text 21"/>
          <p:cNvSpPr/>
          <p:nvPr/>
        </p:nvSpPr>
        <p:spPr>
          <a:xfrm>
            <a:off x="365760"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KMeans, DBSCAN, PCA, t-SNE</a:t>
            </a:r>
            <a:endParaRPr lang="en-US" sz="1050" dirty="0"/>
          </a:p>
        </p:txBody>
      </p:sp>
      <p:sp>
        <p:nvSpPr>
          <p:cNvPr id="24" name="Shape 22"/>
          <p:cNvSpPr/>
          <p:nvPr/>
        </p:nvSpPr>
        <p:spPr>
          <a:xfrm>
            <a:off x="2450592" y="2743200"/>
            <a:ext cx="2011680" cy="1554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2450592" y="2743200"/>
            <a:ext cx="2011680" cy="73152"/>
          </a:xfrm>
          <a:prstGeom prst="rect">
            <a:avLst/>
          </a:prstGeom>
          <a:solidFill>
            <a:srgbClr val="A78BFA"/>
          </a:solidFill>
          <a:ln w="12700">
            <a:solidFill>
              <a:srgbClr val="A78BFA"/>
            </a:solidFill>
            <a:prstDash val="solid"/>
          </a:ln>
        </p:spPr>
        <p:txBody>
          <a:bodyPr/>
          <a:lstStyle/>
          <a:p>
            <a:endParaRPr lang="en-IN"/>
          </a:p>
        </p:txBody>
      </p:sp>
      <p:sp>
        <p:nvSpPr>
          <p:cNvPr id="26" name="Text 24"/>
          <p:cNvSpPr/>
          <p:nvPr/>
        </p:nvSpPr>
        <p:spPr>
          <a:xfrm>
            <a:off x="2542032" y="2880360"/>
            <a:ext cx="1828800" cy="411480"/>
          </a:xfrm>
          <a:prstGeom prst="rect">
            <a:avLst/>
          </a:prstGeom>
          <a:noFill/>
          <a:ln/>
        </p:spPr>
        <p:txBody>
          <a:bodyPr wrap="square"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TSFresh</a:t>
            </a:r>
            <a:endParaRPr lang="en-US" sz="1400" dirty="0"/>
          </a:p>
        </p:txBody>
      </p:sp>
      <p:sp>
        <p:nvSpPr>
          <p:cNvPr id="27" name="Text 25"/>
          <p:cNvSpPr/>
          <p:nvPr/>
        </p:nvSpPr>
        <p:spPr>
          <a:xfrm>
            <a:off x="2542032"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Automated time series feature extraction</a:t>
            </a:r>
            <a:endParaRPr lang="en-US" sz="1050" dirty="0"/>
          </a:p>
        </p:txBody>
      </p:sp>
      <p:sp>
        <p:nvSpPr>
          <p:cNvPr id="28" name="Shape 26"/>
          <p:cNvSpPr/>
          <p:nvPr/>
        </p:nvSpPr>
        <p:spPr>
          <a:xfrm>
            <a:off x="4626864" y="2743200"/>
            <a:ext cx="2011680" cy="1554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4626864" y="2743200"/>
            <a:ext cx="2011680" cy="73152"/>
          </a:xfrm>
          <a:prstGeom prst="rect">
            <a:avLst/>
          </a:prstGeom>
          <a:solidFill>
            <a:srgbClr val="38BDF8"/>
          </a:solidFill>
          <a:ln w="12700">
            <a:solidFill>
              <a:srgbClr val="38BDF8"/>
            </a:solidFill>
            <a:prstDash val="solid"/>
          </a:ln>
        </p:spPr>
        <p:txBody>
          <a:bodyPr/>
          <a:lstStyle/>
          <a:p>
            <a:endParaRPr lang="en-IN"/>
          </a:p>
        </p:txBody>
      </p:sp>
      <p:sp>
        <p:nvSpPr>
          <p:cNvPr id="30" name="Text 28"/>
          <p:cNvSpPr/>
          <p:nvPr/>
        </p:nvSpPr>
        <p:spPr>
          <a:xfrm>
            <a:off x="4718304" y="2880360"/>
            <a:ext cx="1828800" cy="411480"/>
          </a:xfrm>
          <a:prstGeom prst="rect">
            <a:avLst/>
          </a:prstGeom>
          <a:noFill/>
          <a:ln/>
        </p:spPr>
        <p:txBody>
          <a:bodyPr wrap="square"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Prophet</a:t>
            </a:r>
            <a:endParaRPr lang="en-US" sz="1400" dirty="0"/>
          </a:p>
        </p:txBody>
      </p:sp>
      <p:sp>
        <p:nvSpPr>
          <p:cNvPr id="31" name="Text 29"/>
          <p:cNvSpPr/>
          <p:nvPr/>
        </p:nvSpPr>
        <p:spPr>
          <a:xfrm>
            <a:off x="4718304"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Time series forecasting</a:t>
            </a:r>
            <a:endParaRPr lang="en-US" sz="1050" dirty="0"/>
          </a:p>
        </p:txBody>
      </p:sp>
      <p:sp>
        <p:nvSpPr>
          <p:cNvPr id="32" name="Shape 30"/>
          <p:cNvSpPr/>
          <p:nvPr/>
        </p:nvSpPr>
        <p:spPr>
          <a:xfrm>
            <a:off x="6803136" y="2743200"/>
            <a:ext cx="2011680" cy="1554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33" name="Shape 31"/>
          <p:cNvSpPr/>
          <p:nvPr/>
        </p:nvSpPr>
        <p:spPr>
          <a:xfrm>
            <a:off x="6803136" y="2743200"/>
            <a:ext cx="2011680" cy="73152"/>
          </a:xfrm>
          <a:prstGeom prst="rect">
            <a:avLst/>
          </a:prstGeom>
          <a:solidFill>
            <a:srgbClr val="10B981"/>
          </a:solidFill>
          <a:ln w="12700">
            <a:solidFill>
              <a:srgbClr val="10B981"/>
            </a:solidFill>
            <a:prstDash val="solid"/>
          </a:ln>
        </p:spPr>
        <p:txBody>
          <a:bodyPr/>
          <a:lstStyle/>
          <a:p>
            <a:endParaRPr lang="en-IN"/>
          </a:p>
        </p:txBody>
      </p:sp>
      <p:sp>
        <p:nvSpPr>
          <p:cNvPr id="34" name="Text 32"/>
          <p:cNvSpPr/>
          <p:nvPr/>
        </p:nvSpPr>
        <p:spPr>
          <a:xfrm>
            <a:off x="6894576" y="2880360"/>
            <a:ext cx="1828800" cy="411480"/>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Matplotlib</a:t>
            </a:r>
            <a:endParaRPr lang="en-US" sz="1400" dirty="0"/>
          </a:p>
        </p:txBody>
      </p:sp>
      <p:sp>
        <p:nvSpPr>
          <p:cNvPr id="35" name="Text 33"/>
          <p:cNvSpPr/>
          <p:nvPr/>
        </p:nvSpPr>
        <p:spPr>
          <a:xfrm>
            <a:off x="6894576"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Static chart rendering</a:t>
            </a:r>
            <a:endParaRPr lang="en-US" sz="1050" dirty="0"/>
          </a:p>
        </p:txBody>
      </p:sp>
      <p:sp>
        <p:nvSpPr>
          <p:cNvPr id="36" name="Shape 34"/>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lgn="ctr">
              <a:buNone/>
            </a:pPr>
            <a:r>
              <a:rPr lang="en-US" sz="3200" b="1" dirty="0">
                <a:solidFill>
                  <a:srgbClr val="A78BFA"/>
                </a:solidFill>
                <a:latin typeface="Calibri" pitchFamily="34" charset="0"/>
                <a:ea typeface="Calibri" pitchFamily="34" charset="-122"/>
                <a:cs typeface="Calibri" pitchFamily="34" charset="-120"/>
              </a:rPr>
              <a:t>Summary</a:t>
            </a:r>
            <a:endParaRPr lang="en-US" sz="3200" dirty="0"/>
          </a:p>
        </p:txBody>
      </p:sp>
      <p:sp>
        <p:nvSpPr>
          <p:cNvPr id="4" name="Shape 2"/>
          <p:cNvSpPr/>
          <p:nvPr/>
        </p:nvSpPr>
        <p:spPr>
          <a:xfrm>
            <a:off x="365760" y="914400"/>
            <a:ext cx="4114800" cy="105156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5" name="Text 3"/>
          <p:cNvSpPr/>
          <p:nvPr/>
        </p:nvSpPr>
        <p:spPr>
          <a:xfrm>
            <a:off x="457200" y="100584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914400" y="105156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Loaded and cleaned 5 Fitbit sensor files</a:t>
            </a:r>
            <a:endParaRPr lang="en-US" sz="1200" dirty="0"/>
          </a:p>
        </p:txBody>
      </p:sp>
      <p:sp>
        <p:nvSpPr>
          <p:cNvPr id="7" name="Shape 5"/>
          <p:cNvSpPr/>
          <p:nvPr/>
        </p:nvSpPr>
        <p:spPr>
          <a:xfrm>
            <a:off x="4754880" y="914400"/>
            <a:ext cx="4114800" cy="105156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8" name="Text 6"/>
          <p:cNvSpPr/>
          <p:nvPr/>
        </p:nvSpPr>
        <p:spPr>
          <a:xfrm>
            <a:off x="4846320" y="100584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5303520" y="105156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Built a merged master dataset (one row per user per day)</a:t>
            </a:r>
            <a:endParaRPr lang="en-US" sz="1200" dirty="0"/>
          </a:p>
        </p:txBody>
      </p:sp>
      <p:sp>
        <p:nvSpPr>
          <p:cNvPr id="10" name="Shape 8"/>
          <p:cNvSpPr/>
          <p:nvPr/>
        </p:nvSpPr>
        <p:spPr>
          <a:xfrm>
            <a:off x="365760" y="2194560"/>
            <a:ext cx="4114800" cy="105156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1" name="Text 9"/>
          <p:cNvSpPr/>
          <p:nvPr/>
        </p:nvSpPr>
        <p:spPr>
          <a:xfrm>
            <a:off x="457200" y="228600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914400" y="233172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TSFresh extracted 10 features from 196K+ heart rate readings</a:t>
            </a:r>
            <a:endParaRPr lang="en-US" sz="1200" dirty="0"/>
          </a:p>
        </p:txBody>
      </p:sp>
      <p:sp>
        <p:nvSpPr>
          <p:cNvPr id="13" name="Shape 11"/>
          <p:cNvSpPr/>
          <p:nvPr/>
        </p:nvSpPr>
        <p:spPr>
          <a:xfrm>
            <a:off x="4754880" y="2194560"/>
            <a:ext cx="4114800" cy="105156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4" name="Text 12"/>
          <p:cNvSpPr/>
          <p:nvPr/>
        </p:nvSpPr>
        <p:spPr>
          <a:xfrm>
            <a:off x="4846320" y="228600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5303520" y="233172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Prophet forecasted Heart Rate, Steps &amp; Sleep for 30 days</a:t>
            </a:r>
            <a:endParaRPr lang="en-US" sz="1200" dirty="0"/>
          </a:p>
        </p:txBody>
      </p:sp>
      <p:sp>
        <p:nvSpPr>
          <p:cNvPr id="16" name="Shape 14"/>
          <p:cNvSpPr/>
          <p:nvPr/>
        </p:nvSpPr>
        <p:spPr>
          <a:xfrm>
            <a:off x="365760" y="3474720"/>
            <a:ext cx="4114800" cy="105156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17" name="Text 15"/>
          <p:cNvSpPr/>
          <p:nvPr/>
        </p:nvSpPr>
        <p:spPr>
          <a:xfrm>
            <a:off x="457200" y="356616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914400" y="361188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KMeans and DBSCAN clustered users by fitness behaviour</a:t>
            </a:r>
            <a:endParaRPr lang="en-US" sz="1200" dirty="0"/>
          </a:p>
        </p:txBody>
      </p:sp>
      <p:sp>
        <p:nvSpPr>
          <p:cNvPr id="19" name="Shape 17"/>
          <p:cNvSpPr/>
          <p:nvPr/>
        </p:nvSpPr>
        <p:spPr>
          <a:xfrm>
            <a:off x="4754880" y="3474720"/>
            <a:ext cx="4114800" cy="1051560"/>
          </a:xfrm>
          <a:prstGeom prst="rect">
            <a:avLst/>
          </a:prstGeom>
          <a:solidFill>
            <a:srgbClr val="162A41"/>
          </a:solidFill>
          <a:ln w="12700">
            <a:solidFill>
              <a:srgbClr val="6366F1"/>
            </a:solidFill>
            <a:prstDash val="solid"/>
          </a:ln>
          <a:effectLst>
            <a:outerShdw blurRad="101600" dist="38100" dir="8100000" algn="bl" rotWithShape="0">
              <a:srgbClr val="000000">
                <a:alpha val="25000"/>
              </a:srgbClr>
            </a:outerShdw>
          </a:effectLst>
        </p:spPr>
        <p:txBody>
          <a:bodyPr/>
          <a:lstStyle/>
          <a:p>
            <a:endParaRPr lang="en-IN"/>
          </a:p>
        </p:txBody>
      </p:sp>
      <p:sp>
        <p:nvSpPr>
          <p:cNvPr id="20" name="Text 18"/>
          <p:cNvSpPr/>
          <p:nvPr/>
        </p:nvSpPr>
        <p:spPr>
          <a:xfrm>
            <a:off x="4846320" y="356616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5303520" y="361188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PCA and t-SNE visualised groups in 2D plots</a:t>
            </a:r>
            <a:endParaRPr lang="en-US" sz="1200" dirty="0"/>
          </a:p>
        </p:txBody>
      </p:sp>
      <p:sp>
        <p:nvSpPr>
          <p:cNvPr id="24" name="Shape 22"/>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A841F48-A957-A590-D8AA-8B83448E36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63A372-E9AB-E1F4-0F72-0CE865CBB3A3}"/>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93455A88-15ED-4B50-131E-5488191CDD99}"/>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File Upload</a:t>
            </a:r>
          </a:p>
          <a:p>
            <a:pPr marL="0" indent="0">
              <a:buNone/>
            </a:pPr>
            <a:endParaRPr lang="en-US" sz="2800" dirty="0"/>
          </a:p>
        </p:txBody>
      </p:sp>
      <p:sp>
        <p:nvSpPr>
          <p:cNvPr id="25" name="Shape 23">
            <a:extLst>
              <a:ext uri="{FF2B5EF4-FFF2-40B4-BE49-F238E27FC236}">
                <a16:creationId xmlns:a16="http://schemas.microsoft.com/office/drawing/2014/main" id="{045FC27E-A2F5-C9F3-9000-FDA5FA74831F}"/>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B4B71926-ABA7-BB99-BD33-94D68F6BE5E9}"/>
              </a:ext>
            </a:extLst>
          </p:cNvPr>
          <p:cNvPicPr>
            <a:picLocks noChangeAspect="1"/>
          </p:cNvPicPr>
          <p:nvPr/>
        </p:nvPicPr>
        <p:blipFill>
          <a:blip r:embed="rId3"/>
          <a:stretch>
            <a:fillRect/>
          </a:stretch>
        </p:blipFill>
        <p:spPr>
          <a:xfrm>
            <a:off x="1556261" y="1323310"/>
            <a:ext cx="6002977" cy="3294356"/>
          </a:xfrm>
          <a:prstGeom prst="rect">
            <a:avLst/>
          </a:prstGeom>
        </p:spPr>
      </p:pic>
    </p:spTree>
    <p:extLst>
      <p:ext uri="{BB962C8B-B14F-4D97-AF65-F5344CB8AC3E}">
        <p14:creationId xmlns:p14="http://schemas.microsoft.com/office/powerpoint/2010/main" val="1161236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042C124-8932-33D1-48B2-BC62746AE0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93AB38-CB8F-3BE0-7C18-B3585F055E5A}"/>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C934DC51-5F1B-3C9B-51D0-0179C8C7A8AD}"/>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TSFresh – Heatmap </a:t>
            </a:r>
          </a:p>
          <a:p>
            <a:pPr marL="0" indent="0">
              <a:buNone/>
            </a:pPr>
            <a:endParaRPr lang="en-US" sz="2800" dirty="0"/>
          </a:p>
        </p:txBody>
      </p:sp>
      <p:sp>
        <p:nvSpPr>
          <p:cNvPr id="25" name="Shape 23">
            <a:extLst>
              <a:ext uri="{FF2B5EF4-FFF2-40B4-BE49-F238E27FC236}">
                <a16:creationId xmlns:a16="http://schemas.microsoft.com/office/drawing/2014/main" id="{6DAD33DD-F1E2-43A1-6C1D-000CAB3E0CA4}"/>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857DFFD3-4B6E-E53F-5A23-624190DDEE3F}"/>
              </a:ext>
            </a:extLst>
          </p:cNvPr>
          <p:cNvPicPr>
            <a:picLocks noChangeAspect="1"/>
          </p:cNvPicPr>
          <p:nvPr/>
        </p:nvPicPr>
        <p:blipFill>
          <a:blip r:embed="rId3"/>
          <a:stretch>
            <a:fillRect/>
          </a:stretch>
        </p:blipFill>
        <p:spPr>
          <a:xfrm>
            <a:off x="1816924" y="1335155"/>
            <a:ext cx="5883710" cy="3416458"/>
          </a:xfrm>
          <a:prstGeom prst="rect">
            <a:avLst/>
          </a:prstGeom>
        </p:spPr>
      </p:pic>
    </p:spTree>
    <p:extLst>
      <p:ext uri="{BB962C8B-B14F-4D97-AF65-F5344CB8AC3E}">
        <p14:creationId xmlns:p14="http://schemas.microsoft.com/office/powerpoint/2010/main" val="362804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BC99055-336C-F2F4-A4B6-1B48DA0D93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6BA3A6-158A-47F8-68BA-7BC7E150301A}"/>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0A30507D-A3BB-B292-8941-9B7F0969D936}"/>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Prophet Analysis : Trend forecasting </a:t>
            </a:r>
          </a:p>
          <a:p>
            <a:pPr marL="0" indent="0">
              <a:buNone/>
            </a:pPr>
            <a:endParaRPr lang="en-US" sz="2800" dirty="0"/>
          </a:p>
        </p:txBody>
      </p:sp>
      <p:sp>
        <p:nvSpPr>
          <p:cNvPr id="25" name="Shape 23">
            <a:extLst>
              <a:ext uri="{FF2B5EF4-FFF2-40B4-BE49-F238E27FC236}">
                <a16:creationId xmlns:a16="http://schemas.microsoft.com/office/drawing/2014/main" id="{D1A14730-2E36-689A-6EF2-CFAC33A3A081}"/>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4D33B52E-A3EA-77E1-7E00-47C30CAD8A72}"/>
              </a:ext>
            </a:extLst>
          </p:cNvPr>
          <p:cNvPicPr>
            <a:picLocks noChangeAspect="1"/>
          </p:cNvPicPr>
          <p:nvPr/>
        </p:nvPicPr>
        <p:blipFill>
          <a:blip r:embed="rId3"/>
          <a:stretch>
            <a:fillRect/>
          </a:stretch>
        </p:blipFill>
        <p:spPr>
          <a:xfrm>
            <a:off x="1562792" y="1413164"/>
            <a:ext cx="6150231" cy="3234290"/>
          </a:xfrm>
          <a:prstGeom prst="rect">
            <a:avLst/>
          </a:prstGeom>
        </p:spPr>
      </p:pic>
    </p:spTree>
    <p:extLst>
      <p:ext uri="{BB962C8B-B14F-4D97-AF65-F5344CB8AC3E}">
        <p14:creationId xmlns:p14="http://schemas.microsoft.com/office/powerpoint/2010/main" val="2407287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7CF9A20-4B56-58B8-7F10-9E578F52D91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E020D5-06F8-079B-398F-30937B95BD0F}"/>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E4276AC4-FEB1-DC6D-E2B2-5014F59DBA30}"/>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Clustering – K-means and DBSCAN</a:t>
            </a:r>
          </a:p>
          <a:p>
            <a:pPr marL="0" indent="0">
              <a:buNone/>
            </a:pPr>
            <a:endParaRPr lang="en-US" sz="2800" dirty="0"/>
          </a:p>
        </p:txBody>
      </p:sp>
      <p:sp>
        <p:nvSpPr>
          <p:cNvPr id="25" name="Shape 23">
            <a:extLst>
              <a:ext uri="{FF2B5EF4-FFF2-40B4-BE49-F238E27FC236}">
                <a16:creationId xmlns:a16="http://schemas.microsoft.com/office/drawing/2014/main" id="{4C944FEE-FBE0-8392-9D23-D5A4A0E03D5E}"/>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66870FEA-0229-1861-BE23-C5FC54D44DA9}"/>
              </a:ext>
            </a:extLst>
          </p:cNvPr>
          <p:cNvPicPr>
            <a:picLocks noChangeAspect="1"/>
          </p:cNvPicPr>
          <p:nvPr/>
        </p:nvPicPr>
        <p:blipFill>
          <a:blip r:embed="rId3"/>
          <a:stretch>
            <a:fillRect/>
          </a:stretch>
        </p:blipFill>
        <p:spPr>
          <a:xfrm>
            <a:off x="1187450" y="1327668"/>
            <a:ext cx="6769100" cy="3363385"/>
          </a:xfrm>
          <a:prstGeom prst="rect">
            <a:avLst/>
          </a:prstGeom>
        </p:spPr>
      </p:pic>
    </p:spTree>
    <p:extLst>
      <p:ext uri="{BB962C8B-B14F-4D97-AF65-F5344CB8AC3E}">
        <p14:creationId xmlns:p14="http://schemas.microsoft.com/office/powerpoint/2010/main" val="390608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877</Words>
  <Application>Microsoft Office PowerPoint</Application>
  <PresentationFormat>On-screen Show (16:9)</PresentationFormat>
  <Paragraphs>188</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FitPulse — Health Anomaly Detection</dc:title>
  <dc:subject>PptxGenJS Presentation</dc:subject>
  <dc:creator>PptxGenJS</dc:creator>
  <cp:lastModifiedBy>Thejomayie K</cp:lastModifiedBy>
  <cp:revision>3</cp:revision>
  <dcterms:created xsi:type="dcterms:W3CDTF">2026-03-26T12:34:38Z</dcterms:created>
  <dcterms:modified xsi:type="dcterms:W3CDTF">2026-03-26T12:55:11Z</dcterms:modified>
</cp:coreProperties>
</file>