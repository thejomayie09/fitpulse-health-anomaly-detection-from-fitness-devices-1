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7" r:id="rId6"/>
    <p:sldId id="268" r:id="rId7"/>
    <p:sldId id="298" r:id="rId8"/>
    <p:sldId id="260" r:id="rId9"/>
    <p:sldId id="261" r:id="rId10"/>
    <p:sldId id="301" r:id="rId11"/>
    <p:sldId id="262" r:id="rId12"/>
    <p:sldId id="300" r:id="rId13"/>
    <p:sldId id="263" r:id="rId14"/>
    <p:sldId id="272" r:id="rId15"/>
    <p:sldId id="297" r:id="rId16"/>
    <p:sldId id="265" r:id="rId17"/>
    <p:sldId id="273" r:id="rId18"/>
    <p:sldId id="274" r:id="rId19"/>
    <p:sldId id="275" r:id="rId20"/>
    <p:sldId id="276" r:id="rId21"/>
    <p:sldId id="277" r:id="rId22"/>
    <p:sldId id="279" r:id="rId23"/>
    <p:sldId id="280" r:id="rId24"/>
    <p:sldId id="299" r:id="rId25"/>
    <p:sldId id="281" r:id="rId26"/>
    <p:sldId id="282" r:id="rId27"/>
    <p:sldId id="278" r:id="rId28"/>
    <p:sldId id="291" r:id="rId29"/>
    <p:sldId id="284" r:id="rId30"/>
    <p:sldId id="285" r:id="rId31"/>
    <p:sldId id="302" r:id="rId32"/>
    <p:sldId id="303" r:id="rId33"/>
    <p:sldId id="286" r:id="rId34"/>
    <p:sldId id="289" r:id="rId35"/>
    <p:sldId id="288" r:id="rId36"/>
    <p:sldId id="290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849" autoAdjust="0"/>
  </p:normalViewPr>
  <p:slideViewPr>
    <p:cSldViewPr snapToGrid="0" snapToObjects="1">
      <p:cViewPr varScale="1">
        <p:scale>
          <a:sx n="107" d="100"/>
          <a:sy n="107" d="100"/>
        </p:scale>
        <p:origin x="1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7506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BF224-8988-FE19-F98D-BE1616AFA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D34646-9A46-A35C-836A-2FFB8E996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1B4814-E34C-E0E1-E4B9-FFDB93EDC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2673A-2123-74B8-F5D5-992BA57C81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263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5C45E-5A26-8126-B42F-F1A99FBE0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40369-220B-EFF4-E9B3-787D1FD78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819A00-B785-B4DF-62EF-65FAE45C0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3B680-61C1-0DC2-2D76-F8D4272F05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652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422C0-A7EF-03A6-74BD-72E171630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DCE40-9487-BDCB-BC2C-41E85CF2A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455BB9-B798-906D-7A77-C64392A68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2CEB2-6B30-09C6-33D9-6E9DE9C069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303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458D1-7498-2AA2-AACF-58B82F177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24E10-98BE-24DE-0450-36C62FFF0B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CAA9D3-DA82-C415-2C2D-26D88A504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681EA-AC6E-7794-6704-717F5E6649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36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58D63-B22B-2A6F-06B2-00D3E0C3B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76B044-9103-F31B-2877-3ED31C7C41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42F36F-C57B-B3ED-8F4F-008C3C55E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79E30-D228-6A44-8E6A-F0AD85D19A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17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59B9B-C0EA-B884-68A0-90BE7E70B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CBDE22-8557-CBFD-DC56-D8C20ACC0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9B4E2-8B0D-3AC1-D342-677533E41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483C9-4A61-563F-5C57-DA23A4C042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357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717DF-2367-4745-D569-87FBDB9C2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6479E-9F6D-57A3-D0EF-56F6F819D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2C0826-4ED0-28DF-850B-0B52BAAC1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3374D-9585-8F30-E6B6-96F05E2426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4210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CA779-0BD3-2085-8298-0849C28FD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9A6B4E-C366-4B56-6840-E07AEB894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E15119-0A45-E342-6E12-B790754F2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001D2-BEA3-F659-AED8-3DE1C3A83C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278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95FDF-73A5-1018-565A-BE030978A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BDA45-8321-EE57-AF59-217B5AE40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AEB53F-40A3-5FAC-414B-84BC0D0493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7BF08-D764-4383-27CB-864108A541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14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8B170-779D-A426-FE67-F037AC580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D1C61A-7ECB-8F4B-C137-5EBEE0CCD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6C7447-64AA-98C1-EED9-290E5665D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3650D-0808-A9F8-A4B3-FD506FA8F4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053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7DF4-06F1-FFC1-A061-D1962C11F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3738E2-9622-1BBF-856D-F0C47D5E5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A3A17-F4AD-BB58-9E8F-98DD38197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963B7-E1B9-4B83-F9C6-83647CAFAE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8411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F1712-B9D9-3F8F-2E3B-D74718620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8803E-CA0C-26FA-DDC7-71C83482C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AE9B07-0AD0-6568-F139-7B290B640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C81A3-B6DF-5BB0-6B53-78A068CA9B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6317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586A4-DCE1-F089-B318-B0FB98A6C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84491-3E77-4C2A-829C-AC2992693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8014C6-1B58-DB00-A1B0-AA18FA0A4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65F2E-8090-E54D-F442-213E6E2087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1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FitPulse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Anomaly Detection from Fitness Devices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1"/>
          <p:cNvSpPr/>
          <p:nvPr/>
        </p:nvSpPr>
        <p:spPr>
          <a:xfrm>
            <a:off x="6118166" y="3733038"/>
            <a:ext cx="207580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Thejomayie K</a:t>
            </a:r>
          </a:p>
          <a:p>
            <a:pPr algn="ctr"/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13</a:t>
            </a:r>
            <a:endParaRPr lang="en-US"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FitPulse?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460666"/>
            <a:ext cx="8412480" cy="1698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0" i="0" dirty="0">
                <a:solidFill>
                  <a:srgbClr val="FAF9F5"/>
                </a:solidFill>
                <a:effectLst/>
                <a:latin typeface="Anthropic Sans"/>
              </a:rPr>
              <a:t>With the surge in wearable fitness devices, a vast amount of health-related time-series data is generated daily. Yet, users and healthcare providers often fail to notice subtle early warning signs of health anomalies like irregular heartbeats, sleep disturbances, or abnormal activity levels. </a:t>
            </a:r>
          </a:p>
          <a:p>
            <a:endParaRPr lang="en-US" sz="1600" dirty="0">
              <a:solidFill>
                <a:srgbClr val="FAF9F5"/>
              </a:solidFill>
              <a:latin typeface="Anthropic Sans"/>
            </a:endParaRP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Anthropic Sans"/>
              </a:rPr>
              <a:t>This project leverages AI-based anomaly detection to intelligently analyze fitness watch data and flag unusual health patterns. By enabling proactive health monitoring, it supports preventive healthcare and personalized wellness insights.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62A41"/>
          </a:solidFill>
          <a:ln w="12700">
            <a:solidFill>
              <a:srgbClr val="162A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A78BF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74320" y="25603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30632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457200"/>
            <a:ext cx="502920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0" y="475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0" y="713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a fitness tracking CSV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554480"/>
            <a:ext cx="502920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810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raw data, check missing values &amp; types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651760"/>
            <a:ext cx="502920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2670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907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dates, interpolate numbers, fill categories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3749040"/>
            <a:ext cx="502920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0" y="3767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4005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outliers with Box Plot &amp; Histogram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834640" cy="3840480"/>
          </a:xfrm>
          <a:prstGeom prst="rect">
            <a:avLst/>
          </a:prstGeom>
          <a:solidFill>
            <a:srgbClr val="162A41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834640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Data Cleaning Engine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14173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date columns to proper format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207568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 missing numeric values (linear method)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2734056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empty text columns with 'Unknown'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3392424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cleaned CSV after processing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834640" cy="3840480"/>
          </a:xfrm>
          <a:prstGeom prst="rect">
            <a:avLst/>
          </a:prstGeom>
          <a:solidFill>
            <a:srgbClr val="162A41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2834640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91840" y="914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Data Inspection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4173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 preview — first 10 rows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207568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bar chart per column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0128" y="2734056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table for all columns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3392424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summary metrics — rows, columns, missing, completeness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914400"/>
            <a:ext cx="2834640" cy="3840480"/>
          </a:xfrm>
          <a:prstGeom prst="rect">
            <a:avLst/>
          </a:prstGeom>
          <a:solidFill>
            <a:srgbClr val="162A4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172200" y="914400"/>
            <a:ext cx="283464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63640" y="914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Outlier Detection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81928" y="14173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— Q1, Q3, and 1.5×IQR rule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81928" y="207568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— shows normal range and outlier dots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81928" y="2734056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— frequency distribution with outlier zones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81928" y="3392424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and Median reference lines on histogram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F6C618-3A7C-A3EC-7D50-B7264155C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6E785BE-203D-6220-879F-C3C9D9044EC3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487EF7-E813-5FA0-EC59-DCDEF0576945}"/>
              </a:ext>
            </a:extLst>
          </p:cNvPr>
          <p:cNvSpPr/>
          <p:nvPr/>
        </p:nvSpPr>
        <p:spPr>
          <a:xfrm>
            <a:off x="351510" y="731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Screenshots: </a:t>
            </a:r>
          </a:p>
          <a:p>
            <a:pPr marL="0" indent="0">
              <a:buNone/>
            </a:pPr>
            <a:endParaRPr lang="en-US" sz="1200" b="1" dirty="0">
              <a:solidFill>
                <a:srgbClr val="A78BF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Upload: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7A8E021-6AAF-F62A-2317-993376FCBC3C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C4E322A-13D5-7943-2F68-7E5EFC774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664" y="1365422"/>
            <a:ext cx="6412675" cy="343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411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A11501-2EEA-E2A5-34E5-1B7A94203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56DC6B-1A0A-8E02-37D9-7E35876AA635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36F246-C1BD-F009-F698-18C1B241A07C}"/>
              </a:ext>
            </a:extLst>
          </p:cNvPr>
          <p:cNvSpPr/>
          <p:nvPr/>
        </p:nvSpPr>
        <p:spPr>
          <a:xfrm>
            <a:off x="351510" y="731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Screenshots: </a:t>
            </a:r>
          </a:p>
          <a:p>
            <a:pPr marL="0" indent="0">
              <a:buNone/>
            </a:pPr>
            <a:endParaRPr lang="en-US" sz="1200" b="1" dirty="0">
              <a:solidFill>
                <a:srgbClr val="A78BF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 Preview: 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706BE60-32BB-258A-B977-5F22374A3A52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5020FA-404D-A749-3E9B-23815BF51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069" y="1361328"/>
            <a:ext cx="6347361" cy="339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883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23E50E-7F44-3148-82DA-A6101B4CB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F974067-E1E9-A34D-C5BA-B06E323327E0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1DEF981-95D6-5136-624A-F3BC1C22613F}"/>
              </a:ext>
            </a:extLst>
          </p:cNvPr>
          <p:cNvSpPr/>
          <p:nvPr/>
        </p:nvSpPr>
        <p:spPr>
          <a:xfrm>
            <a:off x="351510" y="731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Screenshots: </a:t>
            </a:r>
          </a:p>
          <a:p>
            <a:pPr marL="0" indent="0">
              <a:buNone/>
            </a:pPr>
            <a:endParaRPr lang="en-US" sz="1200" b="1" dirty="0">
              <a:solidFill>
                <a:srgbClr val="A78BF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and Histogram 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2333C5A-BC82-5B58-9404-0C6644F6A3D6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0D6ABA-FA9E-3B1B-DC5E-119143742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569" y="1280160"/>
            <a:ext cx="6394862" cy="355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459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62A41"/>
          </a:solidFill>
          <a:ln w="12700">
            <a:solidFill>
              <a:srgbClr val="162A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38BDF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74320" y="25603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30632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Modelling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457200"/>
            <a:ext cx="502920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0" y="475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Files Merged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0" y="713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activity, heart rate, sleep, steps, hourly intensity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554480"/>
            <a:ext cx="502920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TSFresh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810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10 features from 196K+ heart rate readings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651760"/>
            <a:ext cx="502920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2670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Forecast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907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next 30 days — heart rate, steps, sleep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3749040"/>
            <a:ext cx="502920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0" y="3767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4005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+ DBSCAN + PCA + t-SNE group visualisation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— Data Pipeline &amp; Feature Extraction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5430794" y="777240"/>
            <a:ext cx="3438885" cy="3822192"/>
          </a:xfrm>
          <a:prstGeom prst="rect">
            <a:avLst/>
          </a:prstGeom>
          <a:solidFill>
            <a:srgbClr val="162A41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430794" y="777240"/>
            <a:ext cx="3438885" cy="35673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5690" y="777240"/>
            <a:ext cx="3292549" cy="356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TSFresh Feature Extraction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22274" y="1261872"/>
            <a:ext cx="3255966" cy="552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196,537 heart rate readings → 10 features per user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22274" y="1947672"/>
            <a:ext cx="3255966" cy="552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Mean, Median, Variance, Max, Min, Standard Deviation, Root Mean Square, Sum, Absolute Max, Length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22274" y="2633472"/>
            <a:ext cx="3255966" cy="552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MinimalFCParameters used for speed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22274" y="3319272"/>
            <a:ext cx="3255966" cy="552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shown as normalised heatmap (0 = lowest, 1 = highest among all users)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22274" y="4005072"/>
            <a:ext cx="3255966" cy="552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heart rate only? Steps &amp; sleep are already 1 number per day. Heart rate has 50,000+ raw readings that need summarising.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B6108F1-729C-CFE5-3559-3BBFD206D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33" y="1188720"/>
            <a:ext cx="5073854" cy="29462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8F4E6B-1DB1-C665-77FF-A0D7E94EA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9809C5-F345-ABD5-DC10-8AD74F546A3B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BC975C-E97E-03BA-973C-AD732C107026}"/>
              </a:ext>
            </a:extLst>
          </p:cNvPr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Forecasting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A7F49B7-53F9-7F01-96FD-1E7F05096700}"/>
              </a:ext>
            </a:extLst>
          </p:cNvPr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Prophet?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5C2C71-8FD6-3102-563C-32220893E425}"/>
              </a:ext>
            </a:extLst>
          </p:cNvPr>
          <p:cNvSpPr/>
          <p:nvPr/>
        </p:nvSpPr>
        <p:spPr>
          <a:xfrm>
            <a:off x="36576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is a Facebook-developed time series forecasting tool. It looks at historical data and predicts future values while accounting for weekly seasonality and uncertainty.</a:t>
            </a:r>
            <a:endParaRPr lang="en-US" sz="1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495BCA7-734A-0BF7-902E-31D589277BBE}"/>
              </a:ext>
            </a:extLst>
          </p:cNvPr>
          <p:cNvSpPr/>
          <p:nvPr/>
        </p:nvSpPr>
        <p:spPr>
          <a:xfrm>
            <a:off x="274320" y="1737360"/>
            <a:ext cx="2743200" cy="2560320"/>
          </a:xfrm>
          <a:prstGeom prst="rect">
            <a:avLst/>
          </a:prstGeom>
          <a:solidFill>
            <a:srgbClr val="162A41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A6A7638-A910-9FA0-AD53-2A386412B1E1}"/>
              </a:ext>
            </a:extLst>
          </p:cNvPr>
          <p:cNvSpPr/>
          <p:nvPr/>
        </p:nvSpPr>
        <p:spPr>
          <a:xfrm>
            <a:off x="274320" y="1737360"/>
            <a:ext cx="274320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483FCD1-8CC7-40C3-2F11-BA5F59292A3A}"/>
              </a:ext>
            </a:extLst>
          </p:cNvPr>
          <p:cNvSpPr/>
          <p:nvPr/>
        </p:nvSpPr>
        <p:spPr>
          <a:xfrm>
            <a:off x="365760" y="1737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💓  Heart Rate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0D0ACB3-DFB2-283E-4943-ECA717CDCE96}"/>
              </a:ext>
            </a:extLst>
          </p:cNvPr>
          <p:cNvSpPr/>
          <p:nvPr/>
        </p:nvSpPr>
        <p:spPr>
          <a:xfrm>
            <a:off x="365760" y="2194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average heart rate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26B7D9D-C057-C0E6-DD60-FC0C44D1090F}"/>
              </a:ext>
            </a:extLst>
          </p:cNvPr>
          <p:cNvSpPr/>
          <p:nvPr/>
        </p:nvSpPr>
        <p:spPr>
          <a:xfrm>
            <a:off x="365760" y="2834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dots = actual values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0DFA6E6-9C55-C2E6-220E-D5CC24B1EC8C}"/>
              </a:ext>
            </a:extLst>
          </p:cNvPr>
          <p:cNvSpPr/>
          <p:nvPr/>
        </p:nvSpPr>
        <p:spPr>
          <a:xfrm>
            <a:off x="36576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shaded band = 80% CI</a:t>
            </a:r>
            <a:endParaRPr lang="en-US" sz="11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60C0C5D-D070-1451-0140-CEA9926A55AD}"/>
              </a:ext>
            </a:extLst>
          </p:cNvPr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solidFill>
            <a:srgbClr val="162A41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52C6829-D038-34A1-89C4-C67BA41CC1DE}"/>
              </a:ext>
            </a:extLst>
          </p:cNvPr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forecast  ·  80% Confidence Interval shown  ·  CI Upper &amp; Lower visible on hover  ·  Orange dashed line = forecast start</a:t>
            </a:r>
            <a:endParaRPr lang="en-US" sz="12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B2551FF-4F4E-EB8D-576E-8378678AE942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E87F665-DA05-6437-66CE-641738053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778" y="1815327"/>
            <a:ext cx="5480462" cy="229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462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Forecasting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65760" y="1106424"/>
            <a:ext cx="2743200" cy="2560320"/>
          </a:xfrm>
          <a:prstGeom prst="rect">
            <a:avLst/>
          </a:prstGeom>
          <a:solidFill>
            <a:srgbClr val="162A4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1106424"/>
            <a:ext cx="27432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11064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👟  Daily Steps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156362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steps per day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20370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dots = actual values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84378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shaded band = 80% CI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solidFill>
            <a:srgbClr val="162A41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forecast  ·  80% Confidence Interval shown  ·  CI Upper &amp; Lower visible on hover  ·  Orange dashed line = forecast start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21023A1-B618-BA69-421D-26A939FAE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935" y="1281299"/>
            <a:ext cx="5504213" cy="23305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F1057E-D96D-3E73-644E-354749A03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789E8D-A063-52AF-D97F-4E9334102066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EDB4DC-A7CF-3F31-9CB3-3DD4F392321B}"/>
              </a:ext>
            </a:extLst>
          </p:cNvPr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Forecasting</a:t>
            </a:r>
            <a:endParaRPr lang="en-US" sz="28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CE90F29-D271-DA40-5052-572A6371CD95}"/>
              </a:ext>
            </a:extLst>
          </p:cNvPr>
          <p:cNvSpPr/>
          <p:nvPr/>
        </p:nvSpPr>
        <p:spPr>
          <a:xfrm>
            <a:off x="365760" y="1072341"/>
            <a:ext cx="2743200" cy="2560320"/>
          </a:xfrm>
          <a:prstGeom prst="rect">
            <a:avLst/>
          </a:prstGeom>
          <a:solidFill>
            <a:srgbClr val="162A41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BF87823-96DB-CD37-C72C-D5AC45729AA6}"/>
              </a:ext>
            </a:extLst>
          </p:cNvPr>
          <p:cNvSpPr/>
          <p:nvPr/>
        </p:nvSpPr>
        <p:spPr>
          <a:xfrm>
            <a:off x="365760" y="1072341"/>
            <a:ext cx="2743200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A4E7A81-A02B-8820-7B4B-B6CC770D4131}"/>
              </a:ext>
            </a:extLst>
          </p:cNvPr>
          <p:cNvSpPr/>
          <p:nvPr/>
        </p:nvSpPr>
        <p:spPr>
          <a:xfrm>
            <a:off x="457200" y="1072341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 Sleep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0D227DA-1C6A-464C-0215-FC876571D8D9}"/>
              </a:ext>
            </a:extLst>
          </p:cNvPr>
          <p:cNvSpPr/>
          <p:nvPr/>
        </p:nvSpPr>
        <p:spPr>
          <a:xfrm>
            <a:off x="457200" y="1529541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sleep in minutes/day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10B8379-D5BC-E081-C565-4D973B4F9F23}"/>
              </a:ext>
            </a:extLst>
          </p:cNvPr>
          <p:cNvSpPr/>
          <p:nvPr/>
        </p:nvSpPr>
        <p:spPr>
          <a:xfrm>
            <a:off x="457200" y="2169621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dots = actual values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C4530E2-A1DE-4781-9C27-6D46325BA347}"/>
              </a:ext>
            </a:extLst>
          </p:cNvPr>
          <p:cNvSpPr/>
          <p:nvPr/>
        </p:nvSpPr>
        <p:spPr>
          <a:xfrm>
            <a:off x="457200" y="2809701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shaded band = 80% CI</a:t>
            </a:r>
            <a:endParaRPr lang="en-US" sz="11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71288EB-E224-36E7-6FF6-D39824723165}"/>
              </a:ext>
            </a:extLst>
          </p:cNvPr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solidFill>
            <a:srgbClr val="162A41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3F7B502-BC3C-1622-F011-3E4F26D76220}"/>
              </a:ext>
            </a:extLst>
          </p:cNvPr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forecast  ·  80% Confidence Interval shown  ·  CI Upper &amp; Lower visible on hover  ·  Orange dashed line = forecast start</a:t>
            </a:r>
            <a:endParaRPr lang="en-US" sz="12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3F7D493-822D-32F0-4500-95B59023EBDE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CF242E1-B712-A6DB-CAE4-F66402514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466" y="1264365"/>
            <a:ext cx="5581403" cy="234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415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Clustering &amp; Visualisation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920240"/>
          </a:xfrm>
          <a:prstGeom prst="rect">
            <a:avLst/>
          </a:prstGeom>
          <a:solidFill>
            <a:srgbClr val="162A41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number of groups (k)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6184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Elbow Chart to find best 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97510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forced into exactly one group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Groups: Highly Active / Moderate / Sedentary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926080"/>
            <a:ext cx="4114800" cy="1920240"/>
          </a:xfrm>
          <a:prstGeom prst="rect">
            <a:avLst/>
          </a:prstGeom>
          <a:solidFill>
            <a:srgbClr val="162A41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14800" cy="3657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336499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number of groups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372160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= friendship radius between users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07822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= users who don't fit any group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443484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dots = outliers on the chart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63440" y="777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Methods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188720"/>
            <a:ext cx="54864" cy="10058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73168" y="1188720"/>
            <a:ext cx="4114800" cy="1005840"/>
          </a:xfrm>
          <a:prstGeom prst="rect">
            <a:avLst/>
          </a:prstGeom>
          <a:solidFill>
            <a:srgbClr val="162A41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92040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15361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Squashes 20+ columns into 2 dimensions so we can plot users on a chart. Dimension 1 = 50% info.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468880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73168" y="2468880"/>
            <a:ext cx="4114800" cy="1005840"/>
          </a:xfrm>
          <a:prstGeom prst="rect">
            <a:avLst/>
          </a:prstGeom>
          <a:solidFill>
            <a:srgbClr val="162A41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92040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28163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PCA at separating close groups visually. Takes ~20 seconds to compute.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749040"/>
            <a:ext cx="54864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773168" y="3749040"/>
            <a:ext cx="4114800" cy="1005840"/>
          </a:xfrm>
          <a:prstGeom prst="rect">
            <a:avLst/>
          </a:prstGeom>
          <a:solidFill>
            <a:srgbClr val="162A41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92040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Profiles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409651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showing average steps, sleep, calories, heart rate per group side by side.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CF9A20-4B56-58B8-7F10-9E578F52D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E020D5-06F8-079B-398F-30937B95BD0F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276AC4-FEB1-DC6D-E2B2-5014F59DBA30}"/>
              </a:ext>
            </a:extLst>
          </p:cNvPr>
          <p:cNvSpPr/>
          <p:nvPr/>
        </p:nvSpPr>
        <p:spPr>
          <a:xfrm>
            <a:off x="351510" y="731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Screenshots: </a:t>
            </a:r>
          </a:p>
          <a:p>
            <a:pPr marL="0" indent="0">
              <a:buNone/>
            </a:pPr>
            <a:endParaRPr lang="en-US" sz="1200" b="1" dirty="0">
              <a:solidFill>
                <a:srgbClr val="A78BF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– K-means and DBSCAN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C944FEE-FBE0-8392-9D23-D5A4A0E03D5E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870FEA-0229-1861-BE23-C5FC54D44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450" y="1327668"/>
            <a:ext cx="6769100" cy="336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086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F072B0-C046-34A2-D216-0CF51BDEC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4DB04E-C568-94FC-246D-EB95BA9F7416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50B5EA-5483-80CB-F8A0-6A66C877C386}"/>
              </a:ext>
            </a:extLst>
          </p:cNvPr>
          <p:cNvSpPr/>
          <p:nvPr/>
        </p:nvSpPr>
        <p:spPr>
          <a:xfrm>
            <a:off x="351510" y="731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Screenshots: </a:t>
            </a:r>
          </a:p>
          <a:p>
            <a:pPr marL="0" indent="0">
              <a:buNone/>
            </a:pPr>
            <a:endParaRPr lang="en-US" sz="1200" b="1" dirty="0">
              <a:solidFill>
                <a:srgbClr val="A78BF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values of groups – Bar Graph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8C3B71A-4969-9373-1B6F-E16A43290E83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CA5500-8DD8-7320-1645-612049451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607" y="1280160"/>
            <a:ext cx="5330285" cy="340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658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051560"/>
          </a:xfrm>
          <a:prstGeom prst="rect">
            <a:avLst/>
          </a:prstGeom>
          <a:solidFill>
            <a:srgbClr val="162A4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and cleaned 5 Fitbit sensor files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14800" cy="1051560"/>
          </a:xfrm>
          <a:prstGeom prst="rect">
            <a:avLst/>
          </a:prstGeom>
          <a:solidFill>
            <a:srgbClr val="162A4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846320" y="100584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03520" y="10515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merged master dataset (one row per user per day)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4114800" cy="1051560"/>
          </a:xfrm>
          <a:prstGeom prst="rect">
            <a:avLst/>
          </a:prstGeom>
          <a:solidFill>
            <a:srgbClr val="162A41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TSFresh extracted 10 features from 196K+ heart rate readings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114800" cy="1051560"/>
          </a:xfrm>
          <a:prstGeom prst="rect">
            <a:avLst/>
          </a:prstGeom>
          <a:solidFill>
            <a:srgbClr val="162A41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46320" y="228600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03520" y="23317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forecasted Heart Rate, Steps &amp; Sleep for 30 days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4114800" cy="1051560"/>
          </a:xfrm>
          <a:prstGeom prst="rect">
            <a:avLst/>
          </a:prstGeom>
          <a:solidFill>
            <a:srgbClr val="162A41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36118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and DBSCAN clustered users by fitness behaviour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114800" cy="1051560"/>
          </a:xfrm>
          <a:prstGeom prst="rect">
            <a:avLst/>
          </a:prstGeom>
          <a:solidFill>
            <a:srgbClr val="162A41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46320" y="35661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03520" y="36118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and t-SNE visualised groups in 2D plots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62A41"/>
          </a:solidFill>
          <a:ln w="12700">
            <a:solidFill>
              <a:srgbClr val="162A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EF444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74320" y="25603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30632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Visualization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457200"/>
            <a:ext cx="50292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0" y="475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5 CSV files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0" y="713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M3 pipeline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554480"/>
            <a:ext cx="50292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Violations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810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limits on HR, Steps &amp; Sleep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651760"/>
            <a:ext cx="50292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2670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Residual-Based Detection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907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median ±2σ baseline anomalies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3749040"/>
            <a:ext cx="50292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0" y="3767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Structural Outliers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4005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abnormal profiles across all metrics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Three Anomaly Detection Methods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2834640" cy="4114800"/>
          </a:xfrm>
          <a:prstGeom prst="rect">
            <a:avLst/>
          </a:prstGeom>
          <a:solidFill>
            <a:srgbClr val="162A41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28346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92608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Threshold Violations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" y="1371600"/>
            <a:ext cx="261518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upper and lower limits on Heart Rate, Steps, and Sleep. Simple, fast, and interpretable. Flags absolute out-of-range values immediately.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10896" y="265176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" y="2944368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Rate: 40 – 120 bpm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" y="3282696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Steps: 1,000 – 25,000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" y="3621024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Sleep: 180 – 720 minutes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78608" y="8686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72968" y="822960"/>
            <a:ext cx="2834640" cy="4114800"/>
          </a:xfrm>
          <a:prstGeom prst="rect">
            <a:avLst/>
          </a:prstGeom>
          <a:solidFill>
            <a:srgbClr val="162A41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172968" y="822960"/>
            <a:ext cx="2834640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64408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Residual-Based Detection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82696" y="1371600"/>
            <a:ext cx="261518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7-day rolling median is computed as the expected baseline. Any day where the actual value deviates by more than ±2 standard deviations is flagged as a statistical anomaly.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82696" y="265176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82696" y="2944368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Window: 7-day rolling median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82696" y="3282696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±2 standard deviations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82696" y="3621024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sudden spikes / drops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50408" y="8686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44768" y="822960"/>
            <a:ext cx="2834640" cy="4114800"/>
          </a:xfrm>
          <a:prstGeom prst="rect">
            <a:avLst/>
          </a:prstGeom>
          <a:solidFill>
            <a:srgbClr val="162A41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144768" y="822960"/>
            <a:ext cx="2834640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36208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DBSCAN Outlier Detection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54496" y="1371600"/>
            <a:ext cx="261518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clustering on aggregated user profiles. Users labelled -1 (do not fit any cluster) are structural outliers across all health dimensions.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54496" y="265176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54496" y="2944368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= 2.5, min_samples = 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54496" y="3282696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average profile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54496" y="3621024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-1 = structural outlier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22208" y="8686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— Threshold Violations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150" dirty="0" err="1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choosen</a:t>
            </a:r>
            <a:r>
              <a:rPr lang="en-US" sz="115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clinical upper and lower bounds are applied to each health metric. Any daily average that exceeds these limits is immediately flagged as a threshold violation. This method is the most interpretable — a doctor or analyst can instantly understand why a day was flagged.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01168" y="1920240"/>
            <a:ext cx="2834640" cy="2834640"/>
          </a:xfrm>
          <a:prstGeom prst="rect">
            <a:avLst/>
          </a:prstGeom>
          <a:solidFill>
            <a:srgbClr val="162A41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01168" y="1920240"/>
            <a:ext cx="283464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92608" y="1920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💓 Heart Rate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" y="242316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(Lower Bound)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" y="265176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bpm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" y="301752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(Upper Bound)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0896" y="324612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bpm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" y="361188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40 = bradycardia risk. Above 120 = tachycardia concern.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72968" y="1920240"/>
            <a:ext cx="2834640" cy="2834640"/>
          </a:xfrm>
          <a:prstGeom prst="rect">
            <a:avLst/>
          </a:prstGeom>
          <a:solidFill>
            <a:srgbClr val="162A4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172968" y="1920240"/>
            <a:ext cx="283464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64408" y="1920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👟 Daily Steps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82696" y="242316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(Lower Bound)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82696" y="265176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steps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82696" y="301752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(Upper Bound)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82696" y="324612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 steps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82696" y="361188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1,000 = inactivity/sensor error. Above 25,000 = unrealistic.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44768" y="1920240"/>
            <a:ext cx="2834640" cy="2834640"/>
          </a:xfrm>
          <a:prstGeom prst="rect">
            <a:avLst/>
          </a:prstGeom>
          <a:solidFill>
            <a:srgbClr val="162A41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144768" y="1920240"/>
            <a:ext cx="2834640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36208" y="1920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Sleep Duration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54496" y="242316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(Lower Bound)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54496" y="265176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min (3h)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54496" y="301752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(Upper Bound)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54496" y="324612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 min (12h)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54496" y="361188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3h = insufficient rest. Above 12h = hypersomnia flag.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— Residual-Based Detection (Rolling Median ± 2σ)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rolling 7-day median is computed as the expected baseline for each metric. Any day where the actual value deviates by more than ±2 standard deviations from this baseline is flagged as a statistical anomaly.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method detects sudden, unexpected changes relative to the user's recent pattern — even if the absolute value is technically within normal range.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Steps: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383280"/>
            <a:ext cx="256032" cy="2560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3383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3383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7-day rolling median for each metric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3694176"/>
            <a:ext cx="256032" cy="2560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36941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6941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7-day rolling standard deviation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4005072"/>
            <a:ext cx="256032" cy="2560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40050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4005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daily residual: | actual − median |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4315968"/>
            <a:ext cx="256032" cy="2560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43159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43159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residual by standard deviation → Z-score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626864"/>
            <a:ext cx="256032" cy="2560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46268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46268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days where Z-score &gt; 2.0 as anomalous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777240"/>
            <a:ext cx="4114800" cy="4114800"/>
          </a:xfrm>
          <a:prstGeom prst="rect">
            <a:avLst/>
          </a:prstGeom>
          <a:solidFill>
            <a:srgbClr val="162A41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54880" y="777240"/>
            <a:ext cx="411480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46320" y="7772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this method?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1261872"/>
            <a:ext cx="3931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56048" y="1298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Baseline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56048" y="14904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each user's own recent history, not population averages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1828800"/>
            <a:ext cx="3931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56048" y="18653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Relative Change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56048" y="20574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sudden drops/spikes even if absolute value looks normal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2395728"/>
            <a:ext cx="3931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56048" y="24323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Noise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56048" y="26243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median is less affected by single extreme days vs rolling mean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2962656"/>
            <a:ext cx="3931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56048" y="29992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Z-Score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56048" y="31912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&gt; 2 means the day was more than 2 std deviations unusual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3529584"/>
            <a:ext cx="3931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956048" y="35661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3 Metrics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56048" y="37581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rate, daily steps, and sleep duration — independently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 — DBSCAN Structural Outlier Detection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clustering (DBSCAN) is applied to aggregated user profiles — one row per user, averaging all their daily metrics. Users who do not fit into any cluster are labelled -1 by DBSCAN and identified as structural outliers. These users have an unusual combination of health metrics that doesn't match any other user group.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Data Flow: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267712"/>
            <a:ext cx="5029200" cy="320040"/>
          </a:xfrm>
          <a:prstGeom prst="rect">
            <a:avLst/>
          </a:prstGeom>
          <a:solidFill>
            <a:srgbClr val="162A41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Fitbit CSVs (5 files)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51760" y="25786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724912"/>
            <a:ext cx="5029200" cy="320040"/>
          </a:xfrm>
          <a:prstGeom prst="rect">
            <a:avLst/>
          </a:prstGeom>
          <a:solidFill>
            <a:srgbClr val="162A41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7249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→ Master DataFrame (one row per user per day)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51760" y="30358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182112"/>
            <a:ext cx="5029200" cy="320040"/>
          </a:xfrm>
          <a:prstGeom prst="rect">
            <a:avLst/>
          </a:prstGeom>
          <a:solidFill>
            <a:srgbClr val="162A41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31821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User ID → Average all daily metrics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51760" y="34930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639312"/>
            <a:ext cx="5029200" cy="320040"/>
          </a:xfrm>
          <a:prstGeom prst="rect">
            <a:avLst/>
          </a:prstGeom>
          <a:solidFill>
            <a:srgbClr val="162A41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36393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→ Normalise feature values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51760" y="39502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4096512"/>
            <a:ext cx="5029200" cy="320040"/>
          </a:xfrm>
          <a:prstGeom prst="rect">
            <a:avLst/>
          </a:prstGeom>
          <a:solidFill>
            <a:srgbClr val="162A41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40965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(eps=2.5, min_samples=2) → Cluster labels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51760" y="44074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553712"/>
            <a:ext cx="5029200" cy="320040"/>
          </a:xfrm>
          <a:prstGeom prst="rect">
            <a:avLst/>
          </a:prstGeom>
          <a:solidFill>
            <a:srgbClr val="162A41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4553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label -1 → Structural Outliers flagged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760720" y="1828800"/>
            <a:ext cx="3154680" cy="3108960"/>
          </a:xfrm>
          <a:prstGeom prst="rect">
            <a:avLst/>
          </a:prstGeom>
          <a:solidFill>
            <a:srgbClr val="162A41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760720" y="1828800"/>
            <a:ext cx="3154680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852160" y="182880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Parameters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70448" y="23317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= 2.5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70448" y="252374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radius for clustering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70448" y="27432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 = 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70448" y="293522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users to form a group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70448" y="31546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= -1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70448" y="33467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 a structural outlier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70448" y="35661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70448" y="37581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Normalises features before clustering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70448" y="3977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(2D)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70448" y="416966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Visualises outliers vs groups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70448" y="43891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× marker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70448" y="458114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shown on PCA plot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768E6E-2587-5557-3A01-94F59D6F8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F78846-624B-CFD7-250F-096A7EB7C754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C87119-6D98-655A-D04E-22943D4ABFEE}"/>
              </a:ext>
            </a:extLst>
          </p:cNvPr>
          <p:cNvSpPr/>
          <p:nvPr/>
        </p:nvSpPr>
        <p:spPr>
          <a:xfrm>
            <a:off x="351510" y="731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Screenshots: </a:t>
            </a:r>
          </a:p>
          <a:p>
            <a:pPr marL="0" indent="0">
              <a:buNone/>
            </a:pPr>
            <a:endParaRPr lang="en-US" sz="1200" b="1" dirty="0">
              <a:solidFill>
                <a:srgbClr val="A78BF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in Heart Rate 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5E32511-F8B4-CE9A-0E93-EF03061653FA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4979A3-BFAB-7BD8-2E88-9CFF879FA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670" y="1280160"/>
            <a:ext cx="4978159" cy="334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488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36BE4-4258-33F2-0C0C-1E64D6E28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9720F0F-0E38-AF16-E60A-A317ED680CA5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10F598-FFD2-B188-5C7D-E99B15FAC520}"/>
              </a:ext>
            </a:extLst>
          </p:cNvPr>
          <p:cNvSpPr/>
          <p:nvPr/>
        </p:nvSpPr>
        <p:spPr>
          <a:xfrm>
            <a:off x="351510" y="731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Screenshots: </a:t>
            </a:r>
          </a:p>
          <a:p>
            <a:pPr marL="0" indent="0">
              <a:buNone/>
            </a:pPr>
            <a:endParaRPr lang="en-US" sz="1200" b="1" dirty="0">
              <a:solidFill>
                <a:srgbClr val="A78BF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in Sleep Rate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07A2AF2-E3A3-445D-E4A4-F75E82A89708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6C6E65-D8EC-D018-9C67-AA7947D84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121" y="1280160"/>
            <a:ext cx="4503097" cy="322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1491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24B61-125F-23D1-0869-EF52C554D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BFB493A-1158-3C56-D627-F827DFB04CB0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A5A0FD-9078-4482-DB2F-DF0BE8E0CEED}"/>
              </a:ext>
            </a:extLst>
          </p:cNvPr>
          <p:cNvSpPr/>
          <p:nvPr/>
        </p:nvSpPr>
        <p:spPr>
          <a:xfrm>
            <a:off x="351510" y="731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Screenshots: </a:t>
            </a:r>
          </a:p>
          <a:p>
            <a:pPr marL="0" indent="0">
              <a:buNone/>
            </a:pPr>
            <a:endParaRPr lang="en-US" sz="1200" b="1" dirty="0">
              <a:solidFill>
                <a:srgbClr val="A78BF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in Steps 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AC09207-0A55-47CF-3ABC-A5E1BE7D5F6C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DF6D6C-E2FA-0B47-7867-5BA2A8DDF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560" y="1346239"/>
            <a:ext cx="5136380" cy="357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205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E08C4D-74E2-AEDC-F1ED-420E06322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CCC1DF-9067-457A-ACC8-3242AAD2F393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812C8AB-4680-C2D3-24E5-20F968FCE4FE}"/>
              </a:ext>
            </a:extLst>
          </p:cNvPr>
          <p:cNvSpPr/>
          <p:nvPr/>
        </p:nvSpPr>
        <p:spPr>
          <a:xfrm>
            <a:off x="351510" y="731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Screenshots: </a:t>
            </a:r>
          </a:p>
          <a:p>
            <a:pPr marL="0" indent="0">
              <a:buNone/>
            </a:pPr>
            <a:endParaRPr lang="en-US" sz="1200" b="1" dirty="0">
              <a:solidFill>
                <a:srgbClr val="A78BF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Outliers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548707C-7E9D-6918-C3C0-F5E27F3170D3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01AB84-500B-BB91-C0AD-120B3F852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919" y="1280160"/>
            <a:ext cx="5050161" cy="351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5382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A95BA9-209E-3A5B-66FE-BDC50295A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A1462C-54B0-99A0-050E-E084842523B6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D51505-9FD7-C3D8-E48A-9995ACADED7A}"/>
              </a:ext>
            </a:extLst>
          </p:cNvPr>
          <p:cNvSpPr/>
          <p:nvPr/>
        </p:nvSpPr>
        <p:spPr>
          <a:xfrm>
            <a:off x="351510" y="731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Screenshots: </a:t>
            </a:r>
          </a:p>
          <a:p>
            <a:pPr marL="0" indent="0">
              <a:buNone/>
            </a:pPr>
            <a:endParaRPr lang="en-US" sz="1200" b="1" dirty="0">
              <a:solidFill>
                <a:srgbClr val="A78BF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Report Summary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A6F0EC0-DF55-0E34-8677-7DA6D2BA9A8F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5AE973-DEB0-9C6E-4250-356CEDDC8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77" y="1356481"/>
            <a:ext cx="7595846" cy="285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673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06240" cy="1051560"/>
          </a:xfrm>
          <a:prstGeom prst="rect">
            <a:avLst/>
          </a:prstGeom>
          <a:solidFill>
            <a:srgbClr val="162A4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11430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violations: HR, Steps, Sleep vs hard-coded clinical limits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206240" cy="1051560"/>
          </a:xfrm>
          <a:prstGeom prst="rect">
            <a:avLst/>
          </a:prstGeom>
          <a:solidFill>
            <a:srgbClr val="162A41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846320" y="10972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03520" y="11430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detection: 7-day rolling median ±2σ for all 3 metrics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267712"/>
            <a:ext cx="4206240" cy="1051560"/>
          </a:xfrm>
          <a:prstGeom prst="rect">
            <a:avLst/>
          </a:prstGeom>
          <a:solidFill>
            <a:srgbClr val="162A41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2359152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240487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outliers: per-user profile clustering, label -1 = anomalous user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2267712"/>
            <a:ext cx="4206240" cy="1051560"/>
          </a:xfrm>
          <a:prstGeom prst="rect">
            <a:avLst/>
          </a:prstGeom>
          <a:solidFill>
            <a:srgbClr val="162A41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46320" y="2359152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03520" y="240487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anomaly heatmap — days with multiple simultaneous alerts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529584"/>
            <a:ext cx="4206240" cy="1051560"/>
          </a:xfrm>
          <a:prstGeom prst="rect">
            <a:avLst/>
          </a:prstGeom>
          <a:solidFill>
            <a:srgbClr val="162A41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3621024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3666744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anomaly report CSV with date, metric, value, method, and note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3529584"/>
            <a:ext cx="4206240" cy="1051560"/>
          </a:xfrm>
          <a:prstGeom prst="rect">
            <a:avLst/>
          </a:prstGeom>
          <a:solidFill>
            <a:srgbClr val="162A41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46320" y="3621024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03520" y="3666744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visualisation of structural outliers vs normal user clusters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BE7D89-8E09-4FC9-5EA9-C50E6E0B6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90062D-470F-A081-A41C-77007462F878}"/>
              </a:ext>
            </a:extLst>
          </p:cNvPr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62A41"/>
          </a:solidFill>
          <a:ln w="12700">
            <a:solidFill>
              <a:srgbClr val="162A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4C3A488-80E6-69DB-6FD5-BACD4B2C215C}"/>
              </a:ext>
            </a:extLst>
          </p:cNvPr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352CAD6-BDE0-8B29-287C-DC859A6CD622}"/>
              </a:ext>
            </a:extLst>
          </p:cNvPr>
          <p:cNvSpPr/>
          <p:nvPr/>
        </p:nvSpPr>
        <p:spPr>
          <a:xfrm>
            <a:off x="274320" y="10972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A78BF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CDB95DC-AB5C-BA06-F719-4DA3C4988C5D}"/>
              </a:ext>
            </a:extLst>
          </p:cNvPr>
          <p:cNvSpPr/>
          <p:nvPr/>
        </p:nvSpPr>
        <p:spPr>
          <a:xfrm>
            <a:off x="274320" y="25603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587E46C-E00A-799E-5443-9E9777DC9DB1}"/>
              </a:ext>
            </a:extLst>
          </p:cNvPr>
          <p:cNvSpPr/>
          <p:nvPr/>
        </p:nvSpPr>
        <p:spPr>
          <a:xfrm>
            <a:off x="274320" y="30632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Dashboard</a:t>
            </a:r>
            <a:endParaRPr lang="en-US"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EA2140F-6A6E-BE85-851C-50DBD371C479}"/>
              </a:ext>
            </a:extLst>
          </p:cNvPr>
          <p:cNvSpPr/>
          <p:nvPr/>
        </p:nvSpPr>
        <p:spPr>
          <a:xfrm>
            <a:off x="4572000" y="457200"/>
            <a:ext cx="502920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B5F022C-12C4-65EE-0FDE-20C09F51BAE0}"/>
              </a:ext>
            </a:extLst>
          </p:cNvPr>
          <p:cNvSpPr/>
          <p:nvPr/>
        </p:nvSpPr>
        <p:spPr>
          <a:xfrm>
            <a:off x="45720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0EBA5F5-A335-44F2-15C5-29EAA7E06068}"/>
              </a:ext>
            </a:extLst>
          </p:cNvPr>
          <p:cNvSpPr/>
          <p:nvPr/>
        </p:nvSpPr>
        <p:spPr>
          <a:xfrm>
            <a:off x="5212080" y="475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142B826-0499-210D-F324-AB8C7568D7FC}"/>
              </a:ext>
            </a:extLst>
          </p:cNvPr>
          <p:cNvSpPr/>
          <p:nvPr/>
        </p:nvSpPr>
        <p:spPr>
          <a:xfrm>
            <a:off x="5212080" y="713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a fitness tracking CSV file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FEB7E33-3268-82E3-9FEF-65C23D52A462}"/>
              </a:ext>
            </a:extLst>
          </p:cNvPr>
          <p:cNvSpPr/>
          <p:nvPr/>
        </p:nvSpPr>
        <p:spPr>
          <a:xfrm>
            <a:off x="4572000" y="1554480"/>
            <a:ext cx="502920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B4B7C45-96EE-67A2-1789-DA54E87AD882}"/>
              </a:ext>
            </a:extLst>
          </p:cNvPr>
          <p:cNvSpPr/>
          <p:nvPr/>
        </p:nvSpPr>
        <p:spPr>
          <a:xfrm>
            <a:off x="457200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B07FC16-2A54-25C8-15BF-F66AD82C8E01}"/>
              </a:ext>
            </a:extLst>
          </p:cNvPr>
          <p:cNvSpPr/>
          <p:nvPr/>
        </p:nvSpPr>
        <p:spPr>
          <a:xfrm>
            <a:off x="521208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B53127B-34DB-1539-42E2-26806D04BEB5}"/>
              </a:ext>
            </a:extLst>
          </p:cNvPr>
          <p:cNvSpPr/>
          <p:nvPr/>
        </p:nvSpPr>
        <p:spPr>
          <a:xfrm>
            <a:off x="5212080" y="1810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anomaly timeline and log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BADF4D6-3C8C-8696-B0C3-3377B978F5C2}"/>
              </a:ext>
            </a:extLst>
          </p:cNvPr>
          <p:cNvSpPr/>
          <p:nvPr/>
        </p:nvSpPr>
        <p:spPr>
          <a:xfrm>
            <a:off x="4572000" y="2651760"/>
            <a:ext cx="502920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11A9BC1-D3E9-5264-1409-258811D32E14}"/>
              </a:ext>
            </a:extLst>
          </p:cNvPr>
          <p:cNvSpPr/>
          <p:nvPr/>
        </p:nvSpPr>
        <p:spPr>
          <a:xfrm>
            <a:off x="457200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B324738-3C9C-BEE1-0D60-6347A67FEC6B}"/>
              </a:ext>
            </a:extLst>
          </p:cNvPr>
          <p:cNvSpPr/>
          <p:nvPr/>
        </p:nvSpPr>
        <p:spPr>
          <a:xfrm>
            <a:off x="5212080" y="2670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Dashboard</a:t>
            </a: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05BE7A8-5D95-0370-81F8-E74FFF00B52E}"/>
              </a:ext>
            </a:extLst>
          </p:cNvPr>
          <p:cNvSpPr/>
          <p:nvPr/>
        </p:nvSpPr>
        <p:spPr>
          <a:xfrm>
            <a:off x="5212080" y="2907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and anomaly record</a:t>
            </a:r>
            <a:endParaRPr lang="en-US" sz="11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2829E68-AE82-1E12-7986-4ACF7BC3EE29}"/>
              </a:ext>
            </a:extLst>
          </p:cNvPr>
          <p:cNvSpPr/>
          <p:nvPr/>
        </p:nvSpPr>
        <p:spPr>
          <a:xfrm>
            <a:off x="4572000" y="3749040"/>
            <a:ext cx="502920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88B4278-F7F2-4620-A250-5D0E63C0B703}"/>
              </a:ext>
            </a:extLst>
          </p:cNvPr>
          <p:cNvSpPr/>
          <p:nvPr/>
        </p:nvSpPr>
        <p:spPr>
          <a:xfrm>
            <a:off x="457200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A1FA6CD-F6F3-A678-8C85-C1A419D3D076}"/>
              </a:ext>
            </a:extLst>
          </p:cNvPr>
          <p:cNvSpPr/>
          <p:nvPr/>
        </p:nvSpPr>
        <p:spPr>
          <a:xfrm>
            <a:off x="5212080" y="3767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Export</a:t>
            </a:r>
            <a:endParaRPr lang="en-US" sz="1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2BB401C-72D9-88E2-293F-52AD0BF80773}"/>
              </a:ext>
            </a:extLst>
          </p:cNvPr>
          <p:cNvSpPr/>
          <p:nvPr/>
        </p:nvSpPr>
        <p:spPr>
          <a:xfrm>
            <a:off x="5212080" y="4005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anomaly record from three signals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47304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Title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</a:rPr>
              <a:t>Milestone 4 — Interactive Dashboard</a:t>
            </a:r>
          </a:p>
        </p:txBody>
      </p:sp>
      <p:sp>
        <p:nvSpPr>
          <p:cNvPr id="4" name="Card1"/>
          <p:cNvSpPr/>
          <p:nvPr/>
        </p:nvSpPr>
        <p:spPr>
          <a:xfrm>
            <a:off x="320040" y="1005840"/>
            <a:ext cx="4206240" cy="1051560"/>
          </a:xfrm>
          <a:prstGeom prst="rect">
            <a:avLst/>
          </a:prstGeom>
          <a:solidFill>
            <a:srgbClr val="162A41"/>
          </a:solidFill>
          <a:ln w="12700">
            <a:solidFill>
              <a:srgbClr val="10B981"/>
            </a:solidFill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Icon1"/>
          <p:cNvSpPr/>
          <p:nvPr/>
        </p:nvSpPr>
        <p:spPr>
          <a:xfrm>
            <a:off x="411480" y="10972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</a:rPr>
              <a:t>✅</a:t>
            </a:r>
          </a:p>
        </p:txBody>
      </p:sp>
      <p:sp>
        <p:nvSpPr>
          <p:cNvPr id="6" name="Text1"/>
          <p:cNvSpPr/>
          <p:nvPr/>
        </p:nvSpPr>
        <p:spPr>
          <a:xfrm>
            <a:off x="868680" y="109728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</a:rPr>
              <a:t>Auto-Detect File Upload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DCE8F5"/>
                </a:solidFill>
                <a:latin typeface="Calibri" pitchFamily="34" charset="0"/>
              </a:rPr>
              <a:t>All 5 CSV files auto-detected by column structure. One-click pipeline trigger builds master dataset.</a:t>
            </a:r>
          </a:p>
        </p:txBody>
      </p:sp>
      <p:sp>
        <p:nvSpPr>
          <p:cNvPr id="7" name="Card2"/>
          <p:cNvSpPr/>
          <p:nvPr/>
        </p:nvSpPr>
        <p:spPr>
          <a:xfrm>
            <a:off x="4754880" y="1005840"/>
            <a:ext cx="4206240" cy="1051560"/>
          </a:xfrm>
          <a:prstGeom prst="rect">
            <a:avLst/>
          </a:prstGeom>
          <a:solidFill>
            <a:srgbClr val="162A41"/>
          </a:solidFill>
          <a:ln w="12700">
            <a:solidFill>
              <a:srgbClr val="38BDF8"/>
            </a:solidFill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Icon2"/>
          <p:cNvSpPr/>
          <p:nvPr/>
        </p:nvSpPr>
        <p:spPr>
          <a:xfrm>
            <a:off x="4846320" y="10972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</a:rPr>
              <a:t>✅</a:t>
            </a:r>
          </a:p>
        </p:txBody>
      </p:sp>
      <p:sp>
        <p:nvSpPr>
          <p:cNvPr id="9" name="Text2"/>
          <p:cNvSpPr/>
          <p:nvPr/>
        </p:nvSpPr>
        <p:spPr>
          <a:xfrm>
            <a:off x="5303520" y="109728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</a:rPr>
              <a:t>Live KPI Dashboard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DCE8F5"/>
                </a:solidFill>
                <a:latin typeface="Calibri" pitchFamily="34" charset="0"/>
              </a:rPr>
              <a:t>6 KPI cards: total flags, HR / Steps / Sleep anomalies, users, peak HR day.</a:t>
            </a:r>
          </a:p>
        </p:txBody>
      </p:sp>
      <p:sp>
        <p:nvSpPr>
          <p:cNvPr id="10" name="Card3"/>
          <p:cNvSpPr/>
          <p:nvPr/>
        </p:nvSpPr>
        <p:spPr>
          <a:xfrm>
            <a:off x="320040" y="2267712"/>
            <a:ext cx="4206240" cy="1051560"/>
          </a:xfrm>
          <a:prstGeom prst="rect">
            <a:avLst/>
          </a:prstGeom>
          <a:solidFill>
            <a:srgbClr val="162A41"/>
          </a:solidFill>
          <a:ln w="12700">
            <a:solidFill>
              <a:srgbClr val="A78BFA"/>
            </a:solidFill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Icon3"/>
          <p:cNvSpPr/>
          <p:nvPr/>
        </p:nvSpPr>
        <p:spPr>
          <a:xfrm>
            <a:off x="411480" y="2359152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78BFA"/>
                </a:solidFill>
                <a:latin typeface="Calibri" pitchFamily="34" charset="0"/>
              </a:rPr>
              <a:t>✅</a:t>
            </a:r>
          </a:p>
        </p:txBody>
      </p:sp>
      <p:sp>
        <p:nvSpPr>
          <p:cNvPr id="12" name="Text3"/>
          <p:cNvSpPr/>
          <p:nvPr/>
        </p:nvSpPr>
        <p:spPr>
          <a:xfrm>
            <a:off x="868680" y="2359152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</a:rPr>
              <a:t>Date &amp; User Filters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DCE8F5"/>
                </a:solidFill>
                <a:latin typeface="Calibri" pitchFamily="34" charset="0"/>
              </a:rPr>
              <a:t>Sidebar date-range picker and per-user selector. All charts and tables update instantly.</a:t>
            </a:r>
          </a:p>
        </p:txBody>
      </p:sp>
      <p:sp>
        <p:nvSpPr>
          <p:cNvPr id="13" name="Card4"/>
          <p:cNvSpPr/>
          <p:nvPr/>
        </p:nvSpPr>
        <p:spPr>
          <a:xfrm>
            <a:off x="4754880" y="2267712"/>
            <a:ext cx="4206240" cy="1051560"/>
          </a:xfrm>
          <a:prstGeom prst="rect">
            <a:avLst/>
          </a:prstGeom>
          <a:solidFill>
            <a:srgbClr val="162A41"/>
          </a:solidFill>
          <a:ln w="12700">
            <a:solidFill>
              <a:srgbClr val="F59E0B"/>
            </a:solidFill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Icon4"/>
          <p:cNvSpPr/>
          <p:nvPr/>
        </p:nvSpPr>
        <p:spPr>
          <a:xfrm>
            <a:off x="4846320" y="2359152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</a:rPr>
              <a:t>✅</a:t>
            </a:r>
          </a:p>
        </p:txBody>
      </p:sp>
      <p:sp>
        <p:nvSpPr>
          <p:cNvPr id="15" name="Text4"/>
          <p:cNvSpPr/>
          <p:nvPr/>
        </p:nvSpPr>
        <p:spPr>
          <a:xfrm>
            <a:off x="5303520" y="2359152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</a:rPr>
              <a:t>Combined Anomaly Timeline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DCE8F5"/>
                </a:solidFill>
                <a:latin typeface="Calibri" pitchFamily="34" charset="0"/>
              </a:rPr>
              <a:t>Interactive scatter timeline showing all HR, Steps, Sleep anomaly events in one chart.</a:t>
            </a:r>
          </a:p>
        </p:txBody>
      </p:sp>
      <p:sp>
        <p:nvSpPr>
          <p:cNvPr id="16" name="Card5"/>
          <p:cNvSpPr/>
          <p:nvPr/>
        </p:nvSpPr>
        <p:spPr>
          <a:xfrm>
            <a:off x="320040" y="3529584"/>
            <a:ext cx="4206240" cy="1051560"/>
          </a:xfrm>
          <a:prstGeom prst="rect">
            <a:avLst/>
          </a:prstGeom>
          <a:solidFill>
            <a:srgbClr val="162A41"/>
          </a:solidFill>
          <a:ln w="12700">
            <a:solidFill>
              <a:srgbClr val="EF4444"/>
            </a:solidFill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Icon5"/>
          <p:cNvSpPr/>
          <p:nvPr/>
        </p:nvSpPr>
        <p:spPr>
          <a:xfrm>
            <a:off x="411480" y="3621024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F4444"/>
                </a:solidFill>
                <a:latin typeface="Calibri" pitchFamily="34" charset="0"/>
              </a:rPr>
              <a:t>✅</a:t>
            </a:r>
          </a:p>
        </p:txBody>
      </p:sp>
      <p:sp>
        <p:nvSpPr>
          <p:cNvPr id="18" name="Text5"/>
          <p:cNvSpPr/>
          <p:nvPr/>
        </p:nvSpPr>
        <p:spPr>
          <a:xfrm>
            <a:off x="868680" y="3621024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</a:rPr>
              <a:t>PDF Report Export (ReportLab)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DCE8F5"/>
                </a:solidFill>
                <a:latin typeface="Calibri" pitchFamily="34" charset="0"/>
              </a:rPr>
              <a:t>9-section PDF with anomaly tables, user profiles, methodology, and conclusions.</a:t>
            </a:r>
          </a:p>
        </p:txBody>
      </p:sp>
      <p:sp>
        <p:nvSpPr>
          <p:cNvPr id="19" name="Card6"/>
          <p:cNvSpPr/>
          <p:nvPr/>
        </p:nvSpPr>
        <p:spPr>
          <a:xfrm>
            <a:off x="4754880" y="3529584"/>
            <a:ext cx="4206240" cy="1051560"/>
          </a:xfrm>
          <a:prstGeom prst="rect">
            <a:avLst/>
          </a:prstGeom>
          <a:solidFill>
            <a:srgbClr val="162A41"/>
          </a:solidFill>
          <a:ln w="12700">
            <a:solidFill>
              <a:srgbClr val="6366F1"/>
            </a:solidFill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Icon6"/>
          <p:cNvSpPr/>
          <p:nvPr/>
        </p:nvSpPr>
        <p:spPr>
          <a:xfrm>
            <a:off x="4846320" y="3621024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366F1"/>
                </a:solidFill>
                <a:latin typeface="Calibri" pitchFamily="34" charset="0"/>
              </a:rPr>
              <a:t>✅</a:t>
            </a:r>
          </a:p>
        </p:txBody>
      </p:sp>
      <p:sp>
        <p:nvSpPr>
          <p:cNvPr id="21" name="Text6"/>
          <p:cNvSpPr/>
          <p:nvPr/>
        </p:nvSpPr>
        <p:spPr>
          <a:xfrm>
            <a:off x="5303520" y="3621024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</a:rPr>
              <a:t>CSV Anomaly Export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DCE8F5"/>
                </a:solidFill>
                <a:latin typeface="Calibri" pitchFamily="34" charset="0"/>
              </a:rPr>
              <a:t>All anomaly records (signal, date, value, expected, deviation, reason) in one CSV.</a:t>
            </a:r>
          </a:p>
        </p:txBody>
      </p:sp>
      <p:sp>
        <p:nvSpPr>
          <p:cNvPr id="22" name="BotBar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Title"/>
          <p:cNvSpPr/>
          <p:nvPr/>
        </p:nvSpPr>
        <p:spPr>
          <a:xfrm>
            <a:off x="365760" y="1200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</a:rPr>
              <a:t>Milestone 4 — Dashboard Deep Dive</a:t>
            </a:r>
          </a:p>
        </p:txBody>
      </p:sp>
      <p:sp>
        <p:nvSpPr>
          <p:cNvPr id="4" name="ColHead1"/>
          <p:cNvSpPr/>
          <p:nvPr/>
        </p:nvSpPr>
        <p:spPr>
          <a:xfrm>
            <a:off x="365760" y="791194"/>
            <a:ext cx="2103813" cy="472827"/>
          </a:xfrm>
          <a:prstGeom prst="rect">
            <a:avLst/>
          </a:prstGeom>
          <a:solidFill>
            <a:srgbClr val="162A41"/>
          </a:solidFill>
          <a:ln w="12700">
            <a:solidFill>
              <a:srgbClr val="38BDF8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</a:rPr>
              <a:t>📊  Overview Tab</a:t>
            </a:r>
          </a:p>
        </p:txBody>
      </p:sp>
      <p:sp>
        <p:nvSpPr>
          <p:cNvPr id="5" name="ColContent1"/>
          <p:cNvSpPr/>
          <p:nvPr/>
        </p:nvSpPr>
        <p:spPr>
          <a:xfrm>
            <a:off x="365760" y="1191195"/>
            <a:ext cx="2103813" cy="3400580"/>
          </a:xfrm>
          <a:prstGeom prst="rect">
            <a:avLst/>
          </a:prstGeom>
          <a:solidFill>
            <a:srgbClr val="111F30"/>
          </a:solidFill>
          <a:ln w="12700">
            <a:solidFill>
              <a:srgbClr val="1E3A5F"/>
            </a:solidFill>
          </a:ln>
        </p:spPr>
        <p:txBody>
          <a:bodyPr wrap="square" lIns="160000" tIns="120000" rIns="120000" bIns="1200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CE8F5"/>
                </a:solidFill>
                <a:latin typeface="Calibri" pitchFamily="34" charset="0"/>
              </a:rPr>
              <a:t>Combined Anomaly Timeline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</a:rPr>
              <a:t>Scatter plot (KPI Strips) showing HR (blue), Steps (green), Sleep (purple) anomaly events side by side on a shared timeline. Hover for date and reason.</a:t>
            </a:r>
          </a:p>
          <a:p>
            <a:pPr marL="0" indent="0">
              <a:buNone/>
            </a:pPr>
            <a:endParaRPr lang="en-US" sz="950" dirty="0">
              <a:solidFill>
                <a:srgbClr val="5A7A9A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n-US" sz="100" dirty="0">
                <a:solidFill>
                  <a:srgbClr val="0D1B2A"/>
                </a:solidFill>
                <a:latin typeface="Calibri"/>
              </a:rPr>
              <a:t>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DCE8F5"/>
                </a:solidFill>
                <a:latin typeface="Calibri" pitchFamily="34" charset="0"/>
              </a:rPr>
              <a:t>Recent Anomaly Log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</a:rPr>
              <a:t>Last 15 anomaly events (newest first) in a live feed-style log with signal, date, and reason.</a:t>
            </a:r>
          </a:p>
          <a:p>
            <a:pPr marL="0" indent="0">
              <a:buNone/>
            </a:pPr>
            <a:endParaRPr lang="en-US" sz="950" dirty="0">
              <a:solidFill>
                <a:srgbClr val="5A7A9A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n-US" sz="100" dirty="0">
                <a:solidFill>
                  <a:srgbClr val="0D1B2A"/>
                </a:solidFill>
                <a:latin typeface="Calibri"/>
              </a:rPr>
              <a:t>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DCE8F5"/>
                </a:solidFill>
                <a:latin typeface="Calibri" pitchFamily="34" charset="0"/>
              </a:rPr>
              <a:t>Deep-Dive Tabs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</a:rPr>
              <a:t>Separate tabs for Heart Rate, Steps, and Sleep with statistics panel + full anomaly records table.</a:t>
            </a:r>
          </a:p>
        </p:txBody>
      </p:sp>
      <p:sp>
        <p:nvSpPr>
          <p:cNvPr id="8" name="BotBar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26573CE-52EC-7A46-C47C-7DA5C6486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336" y="885947"/>
            <a:ext cx="6214076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9F503-853D-CCE5-1E25-67705DD05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>
            <a:extLst>
              <a:ext uri="{FF2B5EF4-FFF2-40B4-BE49-F238E27FC236}">
                <a16:creationId xmlns:a16="http://schemas.microsoft.com/office/drawing/2014/main" id="{512C29BB-BD12-66CF-0757-A5AB789B79A5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EA4897D-8D0F-EF77-B342-9CF5182E1BEE}"/>
              </a:ext>
            </a:extLst>
          </p:cNvPr>
          <p:cNvSpPr/>
          <p:nvPr/>
        </p:nvSpPr>
        <p:spPr>
          <a:xfrm>
            <a:off x="365760" y="1200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</a:rPr>
              <a:t>Milestone 4 — Dashboard Deep Dive</a:t>
            </a:r>
          </a:p>
        </p:txBody>
      </p:sp>
      <p:sp>
        <p:nvSpPr>
          <p:cNvPr id="8" name="BotBar">
            <a:extLst>
              <a:ext uri="{FF2B5EF4-FFF2-40B4-BE49-F238E27FC236}">
                <a16:creationId xmlns:a16="http://schemas.microsoft.com/office/drawing/2014/main" id="{2C864947-4036-D658-13EC-DCD4E27E5EB1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ColHead1">
            <a:extLst>
              <a:ext uri="{FF2B5EF4-FFF2-40B4-BE49-F238E27FC236}">
                <a16:creationId xmlns:a16="http://schemas.microsoft.com/office/drawing/2014/main" id="{700424D0-7C6E-0F0F-2B7D-CC0B1EFAD0CA}"/>
              </a:ext>
            </a:extLst>
          </p:cNvPr>
          <p:cNvSpPr/>
          <p:nvPr/>
        </p:nvSpPr>
        <p:spPr>
          <a:xfrm>
            <a:off x="365760" y="811402"/>
            <a:ext cx="2436322" cy="493052"/>
          </a:xfrm>
          <a:prstGeom prst="rect">
            <a:avLst/>
          </a:prstGeom>
          <a:solidFill>
            <a:srgbClr val="162A41"/>
          </a:solidFill>
          <a:ln w="12700">
            <a:solidFill>
              <a:srgbClr val="38BDF8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</a:rPr>
              <a:t>📊  Anomaly Detection Tab</a:t>
            </a:r>
          </a:p>
        </p:txBody>
      </p:sp>
      <p:sp>
        <p:nvSpPr>
          <p:cNvPr id="10" name="ColContent1">
            <a:extLst>
              <a:ext uri="{FF2B5EF4-FFF2-40B4-BE49-F238E27FC236}">
                <a16:creationId xmlns:a16="http://schemas.microsoft.com/office/drawing/2014/main" id="{409A8902-E0FC-D6AE-46E6-E118DCF5F015}"/>
              </a:ext>
            </a:extLst>
          </p:cNvPr>
          <p:cNvSpPr/>
          <p:nvPr/>
        </p:nvSpPr>
        <p:spPr>
          <a:xfrm>
            <a:off x="365760" y="1211402"/>
            <a:ext cx="2436322" cy="854904"/>
          </a:xfrm>
          <a:prstGeom prst="rect">
            <a:avLst/>
          </a:prstGeom>
          <a:solidFill>
            <a:srgbClr val="111F30"/>
          </a:solidFill>
          <a:ln w="12700">
            <a:solidFill>
              <a:srgbClr val="1E3A5F"/>
            </a:solidFill>
          </a:ln>
        </p:spPr>
        <p:txBody>
          <a:bodyPr wrap="square" lIns="160000" tIns="120000" rIns="120000" bIns="1200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CE8F5"/>
                </a:solidFill>
                <a:latin typeface="Calibri" pitchFamily="34" charset="0"/>
              </a:rPr>
              <a:t>Individual Statistics and Anomaly Records – For Heart Rate, Steps Count, Sleep Rate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AD5B00-814C-5C9B-4821-1A16D4FFC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480" y="811402"/>
            <a:ext cx="4310741" cy="17242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F2E40B-681E-6C08-5B34-704E0BAED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935698"/>
            <a:ext cx="3942608" cy="16886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918DD29-C11A-5D3B-B2B8-B88BB62CCD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977" y="2966163"/>
            <a:ext cx="4396837" cy="174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0716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85D7F9-61C1-AEC5-7CBE-452E05E49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>
            <a:extLst>
              <a:ext uri="{FF2B5EF4-FFF2-40B4-BE49-F238E27FC236}">
                <a16:creationId xmlns:a16="http://schemas.microsoft.com/office/drawing/2014/main" id="{CEEBDBD1-BEBB-69B9-6873-5D56121B3BB5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4A7EA58-0C59-828F-35ED-452BCE6378DE}"/>
              </a:ext>
            </a:extLst>
          </p:cNvPr>
          <p:cNvSpPr/>
          <p:nvPr/>
        </p:nvSpPr>
        <p:spPr>
          <a:xfrm>
            <a:off x="365760" y="1200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</a:rPr>
              <a:t>Milestone 4 — Dashboard Deep Dive</a:t>
            </a:r>
          </a:p>
        </p:txBody>
      </p:sp>
      <p:sp>
        <p:nvSpPr>
          <p:cNvPr id="6" name="ColHead2">
            <a:extLst>
              <a:ext uri="{FF2B5EF4-FFF2-40B4-BE49-F238E27FC236}">
                <a16:creationId xmlns:a16="http://schemas.microsoft.com/office/drawing/2014/main" id="{D50F4345-E64A-0CC7-172D-42B39D601E3C}"/>
              </a:ext>
            </a:extLst>
          </p:cNvPr>
          <p:cNvSpPr/>
          <p:nvPr/>
        </p:nvSpPr>
        <p:spPr>
          <a:xfrm>
            <a:off x="365760" y="750000"/>
            <a:ext cx="2133996" cy="431224"/>
          </a:xfrm>
          <a:prstGeom prst="rect">
            <a:avLst/>
          </a:prstGeom>
          <a:solidFill>
            <a:srgbClr val="162A41"/>
          </a:solidFill>
          <a:ln w="12700">
            <a:solidFill>
              <a:srgbClr val="10B981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</a:rPr>
              <a:t>📥  Export Tab</a:t>
            </a:r>
          </a:p>
        </p:txBody>
      </p:sp>
      <p:sp>
        <p:nvSpPr>
          <p:cNvPr id="7" name="ColContent2">
            <a:extLst>
              <a:ext uri="{FF2B5EF4-FFF2-40B4-BE49-F238E27FC236}">
                <a16:creationId xmlns:a16="http://schemas.microsoft.com/office/drawing/2014/main" id="{4FD34148-36C8-7CE6-5D9C-85BE332C4FA7}"/>
              </a:ext>
            </a:extLst>
          </p:cNvPr>
          <p:cNvSpPr/>
          <p:nvPr/>
        </p:nvSpPr>
        <p:spPr>
          <a:xfrm>
            <a:off x="365760" y="1150000"/>
            <a:ext cx="2133996" cy="3600130"/>
          </a:xfrm>
          <a:prstGeom prst="rect">
            <a:avLst/>
          </a:prstGeom>
          <a:solidFill>
            <a:srgbClr val="111F30"/>
          </a:solidFill>
          <a:ln w="12700">
            <a:solidFill>
              <a:srgbClr val="1E3A5F"/>
            </a:solidFill>
          </a:ln>
        </p:spPr>
        <p:txBody>
          <a:bodyPr wrap="square" lIns="160000" tIns="120000" rIns="120000" bIns="1200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CE8F5"/>
                </a:solidFill>
                <a:latin typeface="Calibri" pitchFamily="34" charset="0"/>
              </a:rPr>
              <a:t>PDF Report (9 Sections)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</a:rPr>
              <a:t>Dataset overview  ·  Anomaly summary  ·  Thresholds  ·  Methodology  ·  HR / Steps / Sleep tables  ·  User profiles  ·  Conclusion</a:t>
            </a:r>
          </a:p>
          <a:p>
            <a:pPr marL="0" indent="0">
              <a:buNone/>
            </a:pPr>
            <a:endParaRPr lang="en-US" sz="950" dirty="0">
              <a:solidFill>
                <a:srgbClr val="5A7A9A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n-US" sz="100" dirty="0">
                <a:solidFill>
                  <a:srgbClr val="0D1B2A"/>
                </a:solidFill>
                <a:latin typeface="Calibri"/>
              </a:rPr>
              <a:t>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DCE8F5"/>
                </a:solidFill>
                <a:latin typeface="Calibri" pitchFamily="34" charset="0"/>
              </a:rPr>
              <a:t>Built with ReportLab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</a:rPr>
              <a:t>No kaleido or chart image rendering required. Works on any server. Dark-themed pages, styled tables, page headers, and footer.</a:t>
            </a:r>
          </a:p>
          <a:p>
            <a:pPr marL="0" indent="0">
              <a:buNone/>
            </a:pPr>
            <a:endParaRPr lang="en-US" sz="950" dirty="0">
              <a:solidFill>
                <a:srgbClr val="5A7A9A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n-US" sz="100" dirty="0">
                <a:solidFill>
                  <a:srgbClr val="0D1B2A"/>
                </a:solidFill>
                <a:latin typeface="Calibri"/>
              </a:rPr>
              <a:t>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DCE8F5"/>
                </a:solidFill>
                <a:latin typeface="Calibri" pitchFamily="34" charset="0"/>
              </a:rPr>
              <a:t>CSV Anomaly Export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</a:rPr>
              <a:t>Combined file: signal, date, actual value, expected baseline, residual deviation, anomaly reason. Filtered by sidebar selection.</a:t>
            </a:r>
          </a:p>
          <a:p>
            <a:pPr marL="0" indent="0">
              <a:buNone/>
            </a:pPr>
            <a:endParaRPr lang="en-US" sz="950" dirty="0">
              <a:solidFill>
                <a:srgbClr val="5A7A9A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n-US" sz="100" dirty="0">
                <a:solidFill>
                  <a:srgbClr val="0D1B2A"/>
                </a:solidFill>
                <a:latin typeface="Calibri"/>
              </a:rPr>
              <a:t>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DCE8F5"/>
                </a:solidFill>
                <a:latin typeface="Calibri" pitchFamily="34" charset="0"/>
              </a:rPr>
              <a:t>Completion Checklist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</a:rPr>
              <a:t>13-item verified checklist confirming all Milestone 4 deliverables completed.</a:t>
            </a:r>
          </a:p>
        </p:txBody>
      </p:sp>
      <p:sp>
        <p:nvSpPr>
          <p:cNvPr id="8" name="BotBar">
            <a:extLst>
              <a:ext uri="{FF2B5EF4-FFF2-40B4-BE49-F238E27FC236}">
                <a16:creationId xmlns:a16="http://schemas.microsoft.com/office/drawing/2014/main" id="{3C4B956C-7653-DD78-7113-7539A911CEE7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C80E8E-CB8F-C51F-80EA-CC19684E0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458" y="1226827"/>
            <a:ext cx="6233318" cy="310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3178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Title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</a:rPr>
              <a:t>Milestone 4 — Summary</a:t>
            </a:r>
          </a:p>
        </p:txBody>
      </p:sp>
      <p:sp>
        <p:nvSpPr>
          <p:cNvPr id="4" name="C1bg"/>
          <p:cNvSpPr/>
          <p:nvPr/>
        </p:nvSpPr>
        <p:spPr>
          <a:xfrm>
            <a:off x="320040" y="1005840"/>
            <a:ext cx="4206240" cy="1051560"/>
          </a:xfrm>
          <a:prstGeom prst="rect">
            <a:avLst/>
          </a:prstGeom>
          <a:solidFill>
            <a:srgbClr val="162A41"/>
          </a:solidFill>
          <a:ln w="12700">
            <a:solidFill>
              <a:srgbClr val="10B981"/>
            </a:solidFill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I1"/>
          <p:cNvSpPr/>
          <p:nvPr/>
        </p:nvSpPr>
        <p:spPr>
          <a:xfrm>
            <a:off x="411480" y="10972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</a:rPr>
              <a:t>✅</a:t>
            </a:r>
          </a:p>
        </p:txBody>
      </p:sp>
      <p:sp>
        <p:nvSpPr>
          <p:cNvPr id="6" name="T1"/>
          <p:cNvSpPr/>
          <p:nvPr/>
        </p:nvSpPr>
        <p:spPr>
          <a:xfrm>
            <a:off x="868680" y="11430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8F5"/>
                </a:solidFill>
                <a:latin typeface="Calibri" pitchFamily="34" charset="0"/>
              </a:rPr>
              <a:t>5 Fitbit CSV files loaded, merged, and cleaned automatically</a:t>
            </a:r>
          </a:p>
        </p:txBody>
      </p:sp>
      <p:sp>
        <p:nvSpPr>
          <p:cNvPr id="7" name="C2bg"/>
          <p:cNvSpPr/>
          <p:nvPr/>
        </p:nvSpPr>
        <p:spPr>
          <a:xfrm>
            <a:off x="4754880" y="1005840"/>
            <a:ext cx="4206240" cy="1051560"/>
          </a:xfrm>
          <a:prstGeom prst="rect">
            <a:avLst/>
          </a:prstGeom>
          <a:solidFill>
            <a:srgbClr val="162A41"/>
          </a:solidFill>
          <a:ln w="12700">
            <a:solidFill>
              <a:srgbClr val="38BDF8"/>
            </a:solidFill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I2"/>
          <p:cNvSpPr/>
          <p:nvPr/>
        </p:nvSpPr>
        <p:spPr>
          <a:xfrm>
            <a:off x="4846320" y="10972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</a:rPr>
              <a:t>✅</a:t>
            </a:r>
          </a:p>
        </p:txBody>
      </p:sp>
      <p:sp>
        <p:nvSpPr>
          <p:cNvPr id="9" name="T2"/>
          <p:cNvSpPr/>
          <p:nvPr/>
        </p:nvSpPr>
        <p:spPr>
          <a:xfrm>
            <a:off x="5303520" y="11430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8F5"/>
                </a:solidFill>
                <a:latin typeface="Calibri" pitchFamily="34" charset="0"/>
              </a:rPr>
              <a:t>6-KPI summary strip (flags, HR, Steps, Sleep, users, peak day)</a:t>
            </a:r>
          </a:p>
        </p:txBody>
      </p:sp>
      <p:sp>
        <p:nvSpPr>
          <p:cNvPr id="10" name="C3bg"/>
          <p:cNvSpPr/>
          <p:nvPr/>
        </p:nvSpPr>
        <p:spPr>
          <a:xfrm>
            <a:off x="320040" y="2267712"/>
            <a:ext cx="4206240" cy="1051560"/>
          </a:xfrm>
          <a:prstGeom prst="rect">
            <a:avLst/>
          </a:prstGeom>
          <a:solidFill>
            <a:srgbClr val="162A41"/>
          </a:solidFill>
          <a:ln w="12700">
            <a:solidFill>
              <a:srgbClr val="A78BFA"/>
            </a:solidFill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I3"/>
          <p:cNvSpPr/>
          <p:nvPr/>
        </p:nvSpPr>
        <p:spPr>
          <a:xfrm>
            <a:off x="411480" y="2359152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</a:rPr>
              <a:t>✅</a:t>
            </a:r>
          </a:p>
        </p:txBody>
      </p:sp>
      <p:sp>
        <p:nvSpPr>
          <p:cNvPr id="12" name="T3"/>
          <p:cNvSpPr/>
          <p:nvPr/>
        </p:nvSpPr>
        <p:spPr>
          <a:xfrm>
            <a:off x="868680" y="240487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8F5"/>
                </a:solidFill>
                <a:latin typeface="Calibri" pitchFamily="34" charset="0"/>
              </a:rPr>
              <a:t>Combined anomaly timeline, log, and per-metric deep-dive tabs</a:t>
            </a:r>
          </a:p>
        </p:txBody>
      </p:sp>
      <p:sp>
        <p:nvSpPr>
          <p:cNvPr id="13" name="C4bg"/>
          <p:cNvSpPr/>
          <p:nvPr/>
        </p:nvSpPr>
        <p:spPr>
          <a:xfrm>
            <a:off x="4754880" y="2267712"/>
            <a:ext cx="4206240" cy="1051560"/>
          </a:xfrm>
          <a:prstGeom prst="rect">
            <a:avLst/>
          </a:prstGeom>
          <a:solidFill>
            <a:srgbClr val="162A41"/>
          </a:solidFill>
          <a:ln w="12700">
            <a:solidFill>
              <a:srgbClr val="F59E0B"/>
            </a:solidFill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I4"/>
          <p:cNvSpPr/>
          <p:nvPr/>
        </p:nvSpPr>
        <p:spPr>
          <a:xfrm>
            <a:off x="4846320" y="2359152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</a:rPr>
              <a:t>✅</a:t>
            </a:r>
          </a:p>
        </p:txBody>
      </p:sp>
      <p:sp>
        <p:nvSpPr>
          <p:cNvPr id="15" name="T4"/>
          <p:cNvSpPr/>
          <p:nvPr/>
        </p:nvSpPr>
        <p:spPr>
          <a:xfrm>
            <a:off x="5303520" y="240487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8F5"/>
                </a:solidFill>
                <a:latin typeface="Calibri" pitchFamily="34" charset="0"/>
              </a:rPr>
              <a:t>Date range + per-user filter; all views update dynamically</a:t>
            </a:r>
          </a:p>
        </p:txBody>
      </p:sp>
      <p:sp>
        <p:nvSpPr>
          <p:cNvPr id="16" name="C5bg"/>
          <p:cNvSpPr/>
          <p:nvPr/>
        </p:nvSpPr>
        <p:spPr>
          <a:xfrm>
            <a:off x="320040" y="3529584"/>
            <a:ext cx="4206240" cy="1051560"/>
          </a:xfrm>
          <a:prstGeom prst="rect">
            <a:avLst/>
          </a:prstGeom>
          <a:solidFill>
            <a:srgbClr val="162A41"/>
          </a:solidFill>
          <a:ln w="12700">
            <a:solidFill>
              <a:srgbClr val="EF4444"/>
            </a:solidFill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I5"/>
          <p:cNvSpPr/>
          <p:nvPr/>
        </p:nvSpPr>
        <p:spPr>
          <a:xfrm>
            <a:off x="411480" y="3621024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</a:rPr>
              <a:t>✅</a:t>
            </a:r>
          </a:p>
        </p:txBody>
      </p:sp>
      <p:sp>
        <p:nvSpPr>
          <p:cNvPr id="18" name="T5"/>
          <p:cNvSpPr/>
          <p:nvPr/>
        </p:nvSpPr>
        <p:spPr>
          <a:xfrm>
            <a:off x="868680" y="3666744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8F5"/>
                </a:solidFill>
                <a:latin typeface="Calibri" pitchFamily="34" charset="0"/>
              </a:rPr>
              <a:t>PDF report (9 sections, ReportLab) — one-click download</a:t>
            </a:r>
          </a:p>
        </p:txBody>
      </p:sp>
      <p:sp>
        <p:nvSpPr>
          <p:cNvPr id="19" name="C6bg"/>
          <p:cNvSpPr/>
          <p:nvPr/>
        </p:nvSpPr>
        <p:spPr>
          <a:xfrm>
            <a:off x="4754880" y="3529584"/>
            <a:ext cx="4206240" cy="1051560"/>
          </a:xfrm>
          <a:prstGeom prst="rect">
            <a:avLst/>
          </a:prstGeom>
          <a:solidFill>
            <a:srgbClr val="162A41"/>
          </a:solidFill>
          <a:ln w="12700">
            <a:solidFill>
              <a:srgbClr val="6366F1"/>
            </a:solidFill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I6"/>
          <p:cNvSpPr/>
          <p:nvPr/>
        </p:nvSpPr>
        <p:spPr>
          <a:xfrm>
            <a:off x="4846320" y="3621024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</a:rPr>
              <a:t>✅</a:t>
            </a:r>
          </a:p>
        </p:txBody>
      </p:sp>
      <p:sp>
        <p:nvSpPr>
          <p:cNvPr id="21" name="T6"/>
          <p:cNvSpPr/>
          <p:nvPr/>
        </p:nvSpPr>
        <p:spPr>
          <a:xfrm>
            <a:off x="5303520" y="3666744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8F5"/>
                </a:solidFill>
                <a:latin typeface="Calibri" pitchFamily="34" charset="0"/>
              </a:rPr>
              <a:t>CSV export of all anomaly records with full metadata</a:t>
            </a:r>
          </a:p>
        </p:txBody>
      </p:sp>
      <p:sp>
        <p:nvSpPr>
          <p:cNvPr id="22" name="BotBar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Title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</a:rPr>
              <a:t>What Did We Build? — Use Case &amp; Value</a:t>
            </a:r>
          </a:p>
        </p:txBody>
      </p:sp>
      <p:sp>
        <p:nvSpPr>
          <p:cNvPr id="4" name="WhatHdr"/>
          <p:cNvSpPr/>
          <p:nvPr/>
        </p:nvSpPr>
        <p:spPr>
          <a:xfrm>
            <a:off x="200000" y="820000"/>
            <a:ext cx="4100000" cy="380000"/>
          </a:xfrm>
          <a:prstGeom prst="rect">
            <a:avLst/>
          </a:prstGeom>
          <a:solidFill>
            <a:srgbClr val="162A41"/>
          </a:solidFill>
          <a:ln w="12700">
            <a:solidFill>
              <a:srgbClr val="A78BFA"/>
            </a:solidFill>
          </a:ln>
        </p:spPr>
        <p:txBody>
          <a:bodyPr wrap="square" lIns="91440" tIns="60000" rIns="91440" bIns="60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</a:rPr>
              <a:t>📌  What We Did</a:t>
            </a:r>
          </a:p>
        </p:txBody>
      </p:sp>
      <p:sp>
        <p:nvSpPr>
          <p:cNvPr id="5" name="WhatBody"/>
          <p:cNvSpPr/>
          <p:nvPr/>
        </p:nvSpPr>
        <p:spPr>
          <a:xfrm>
            <a:off x="200000" y="1230000"/>
            <a:ext cx="4100000" cy="3750000"/>
          </a:xfrm>
          <a:prstGeom prst="rect">
            <a:avLst/>
          </a:prstGeom>
          <a:solidFill>
            <a:srgbClr val="111F30"/>
          </a:solidFill>
          <a:ln w="12700">
            <a:solidFill>
              <a:srgbClr val="1E3A5F"/>
            </a:solidFill>
          </a:ln>
        </p:spPr>
        <p:txBody>
          <a:bodyPr wrap="square" lIns="180000" tIns="160000" rIns="120000" bIns="16000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DCE8F5"/>
                </a:solidFill>
                <a:latin typeface="Calibri" pitchFamily="34" charset="0"/>
              </a:rPr>
              <a:t>M1 — Data Preprocessing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</a:rPr>
              <a:t>Loaded, cleaned and normalised real Fitbit CSV data from 30 users. Fixed timestamps, interpolated gaps, exported clean dataset.</a:t>
            </a:r>
          </a:p>
          <a:p>
            <a:pPr marL="0" indent="0">
              <a:buNone/>
            </a:pPr>
            <a:r>
              <a:rPr lang="en-US" sz="200" dirty="0">
                <a:solidFill>
                  <a:srgbClr val="0D1B2A"/>
                </a:solidFill>
                <a:latin typeface="Calibri"/>
              </a:rPr>
              <a:t> </a:t>
            </a:r>
          </a:p>
          <a:p>
            <a:pPr marL="0" indent="0">
              <a:buNone/>
            </a:pPr>
            <a:endParaRPr lang="en-US" sz="1050" b="1" dirty="0">
              <a:solidFill>
                <a:srgbClr val="DCE8F5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DCE8F5"/>
                </a:solidFill>
                <a:latin typeface="Calibri" pitchFamily="34" charset="0"/>
              </a:rPr>
              <a:t>M2 — Feature Extraction &amp; Modelling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</a:rPr>
              <a:t>Extracted 10 TSFresh features from 196K+ HR readings, ran Prophet forecasts for 30 days, clustered users with KMeans + DBSCAN, visualised with PCA + t-SNE.</a:t>
            </a:r>
          </a:p>
          <a:p>
            <a:pPr marL="0" indent="0">
              <a:buNone/>
            </a:pPr>
            <a:endParaRPr lang="en-US" sz="1000" dirty="0">
              <a:solidFill>
                <a:srgbClr val="5A7A9A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n-US" sz="200" dirty="0">
                <a:solidFill>
                  <a:srgbClr val="0D1B2A"/>
                </a:solidFill>
                <a:latin typeface="Calibri"/>
              </a:rPr>
              <a:t> 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DCE8F5"/>
                </a:solidFill>
                <a:latin typeface="Calibri" pitchFamily="34" charset="0"/>
              </a:rPr>
              <a:t>M3 — Anomaly Detection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</a:rPr>
              <a:t>Applied threshold rules, rolling-median residuals, and DBSCAN structural outliers to flag abnormal HR, step, and sleep patterns across 30 days.</a:t>
            </a:r>
          </a:p>
          <a:p>
            <a:pPr marL="0" indent="0">
              <a:buNone/>
            </a:pPr>
            <a:endParaRPr lang="en-US" sz="1000" dirty="0">
              <a:solidFill>
                <a:srgbClr val="5A7A9A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n-US" sz="200" dirty="0">
                <a:solidFill>
                  <a:srgbClr val="0D1B2A"/>
                </a:solidFill>
                <a:latin typeface="Calibri"/>
              </a:rPr>
              <a:t> 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DCE8F5"/>
                </a:solidFill>
                <a:latin typeface="Calibri" pitchFamily="34" charset="0"/>
              </a:rPr>
              <a:t>M4 — Insights Dashboard &amp; Export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</a:rPr>
              <a:t>Built an interactive Streamlit dashboard with KPI strip, anomaly timeline, per-metric deep-dive tabs, date/user filters, PDF report export and CSV download</a:t>
            </a:r>
            <a:r>
              <a:rPr lang="en-US" sz="920" dirty="0">
                <a:solidFill>
                  <a:srgbClr val="5A7A9A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6" name="WhyHdr"/>
          <p:cNvSpPr/>
          <p:nvPr/>
        </p:nvSpPr>
        <p:spPr>
          <a:xfrm>
            <a:off x="4644000" y="820000"/>
            <a:ext cx="4300000" cy="380000"/>
          </a:xfrm>
          <a:prstGeom prst="rect">
            <a:avLst/>
          </a:prstGeom>
          <a:solidFill>
            <a:srgbClr val="162A41"/>
          </a:solidFill>
          <a:ln w="12700">
            <a:solidFill>
              <a:srgbClr val="10B981"/>
            </a:solidFill>
          </a:ln>
        </p:spPr>
        <p:txBody>
          <a:bodyPr wrap="square" lIns="91440" tIns="60000" rIns="91440" bIns="60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</a:rPr>
              <a:t>✨  Why You Should Use This App</a:t>
            </a:r>
          </a:p>
        </p:txBody>
      </p:sp>
      <p:sp>
        <p:nvSpPr>
          <p:cNvPr id="7" name="W1"/>
          <p:cNvSpPr/>
          <p:nvPr/>
        </p:nvSpPr>
        <p:spPr>
          <a:xfrm>
            <a:off x="4644000" y="1230000"/>
            <a:ext cx="4300000" cy="830000"/>
          </a:xfrm>
          <a:prstGeom prst="rect">
            <a:avLst/>
          </a:prstGeom>
          <a:solidFill>
            <a:srgbClr val="111F30"/>
          </a:solidFill>
          <a:ln w="12700">
            <a:solidFill>
              <a:srgbClr val="A78BFA"/>
            </a:solidFill>
          </a:ln>
        </p:spPr>
        <p:txBody>
          <a:bodyPr wrap="square" lIns="160000" tIns="100000" rIns="120000" bIns="8000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</a:rPr>
              <a:t>💪  Catch Health Problems Early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</a:rPr>
              <a:t>Flags subtle anomalies in HR, sleep, and activity before they escalate into serious conditions.</a:t>
            </a:r>
          </a:p>
        </p:txBody>
      </p:sp>
      <p:sp>
        <p:nvSpPr>
          <p:cNvPr id="8" name="W2"/>
          <p:cNvSpPr/>
          <p:nvPr/>
        </p:nvSpPr>
        <p:spPr>
          <a:xfrm>
            <a:off x="4644000" y="2110000"/>
            <a:ext cx="4300000" cy="830000"/>
          </a:xfrm>
          <a:prstGeom prst="rect">
            <a:avLst/>
          </a:prstGeom>
          <a:solidFill>
            <a:srgbClr val="111F30"/>
          </a:solidFill>
          <a:ln w="12700">
            <a:solidFill>
              <a:srgbClr val="38BDF8"/>
            </a:solidFill>
          </a:ln>
        </p:spPr>
        <p:txBody>
          <a:bodyPr wrap="square" lIns="160000" tIns="100000" rIns="120000" bIns="8000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</a:rPr>
              <a:t>🧠  No Data Science Degree Needed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</a:rPr>
              <a:t>Upload CSVs, click one button. Results explained in plain English with visual indicators and anomaly reasons.</a:t>
            </a:r>
          </a:p>
        </p:txBody>
      </p:sp>
      <p:sp>
        <p:nvSpPr>
          <p:cNvPr id="9" name="W3"/>
          <p:cNvSpPr/>
          <p:nvPr/>
        </p:nvSpPr>
        <p:spPr>
          <a:xfrm>
            <a:off x="4644000" y="2990000"/>
            <a:ext cx="4300000" cy="830000"/>
          </a:xfrm>
          <a:prstGeom prst="rect">
            <a:avLst/>
          </a:prstGeom>
          <a:solidFill>
            <a:srgbClr val="111F30"/>
          </a:solidFill>
          <a:ln w="12700">
            <a:solidFill>
              <a:srgbClr val="10B981"/>
            </a:solidFill>
          </a:ln>
        </p:spPr>
        <p:txBody>
          <a:bodyPr wrap="square" lIns="160000" tIns="100000" rIns="120000" bIns="8000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</a:rPr>
              <a:t>📄  Shareable Reports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</a:rPr>
              <a:t>One-click PDF and CSV exports ready to hand to doctors, coaches, or health teams.</a:t>
            </a:r>
          </a:p>
        </p:txBody>
      </p:sp>
      <p:sp>
        <p:nvSpPr>
          <p:cNvPr id="10" name="W4"/>
          <p:cNvSpPr/>
          <p:nvPr/>
        </p:nvSpPr>
        <p:spPr>
          <a:xfrm>
            <a:off x="4644000" y="3870000"/>
            <a:ext cx="4300000" cy="830000"/>
          </a:xfrm>
          <a:prstGeom prst="rect">
            <a:avLst/>
          </a:prstGeom>
          <a:solidFill>
            <a:srgbClr val="111F30"/>
          </a:solidFill>
          <a:ln w="12700">
            <a:solidFill>
              <a:srgbClr val="F59E0B"/>
            </a:solidFill>
          </a:ln>
        </p:spPr>
        <p:txBody>
          <a:bodyPr wrap="square" lIns="160000" tIns="100000" rIns="120000" bIns="8000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</a:rPr>
              <a:t>📊  Real Data, Real Insights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</a:rPr>
              <a:t>Trained and tested on real consented Fitbit data from 30 users. Not synthetic — not simulated.</a:t>
            </a:r>
          </a:p>
        </p:txBody>
      </p:sp>
      <p:sp>
        <p:nvSpPr>
          <p:cNvPr id="11" name="BotBar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Title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</a:rPr>
              <a:t>Full Technology Stack — All 4 Milestones</a:t>
            </a:r>
          </a:p>
        </p:txBody>
      </p:sp>
      <p:sp>
        <p:nvSpPr>
          <p:cNvPr id="4" name="Tech1"/>
          <p:cNvSpPr/>
          <p:nvPr/>
        </p:nvSpPr>
        <p:spPr>
          <a:xfrm>
            <a:off x="200000" y="820000"/>
            <a:ext cx="2000000" cy="820000"/>
          </a:xfrm>
          <a:prstGeom prst="rect">
            <a:avLst/>
          </a:prstGeom>
          <a:solidFill>
            <a:srgbClr val="162A41"/>
          </a:solidFill>
          <a:ln w="12700">
            <a:solidFill>
              <a:srgbClr val="A78BFA"/>
            </a:solidFill>
          </a:ln>
        </p:spPr>
        <p:txBody>
          <a:bodyPr wrap="square" lIns="120000" tIns="80000" rIns="80000" bIns="80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</a:rPr>
              <a:t>Streamlit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</a:rPr>
              <a:t>Web app framework</a:t>
            </a:r>
          </a:p>
        </p:txBody>
      </p:sp>
      <p:sp>
        <p:nvSpPr>
          <p:cNvPr id="5" name="Tech2"/>
          <p:cNvSpPr/>
          <p:nvPr/>
        </p:nvSpPr>
        <p:spPr>
          <a:xfrm>
            <a:off x="2350000" y="820000"/>
            <a:ext cx="2000000" cy="820000"/>
          </a:xfrm>
          <a:prstGeom prst="rect">
            <a:avLst/>
          </a:prstGeom>
          <a:solidFill>
            <a:srgbClr val="162A41"/>
          </a:solidFill>
          <a:ln w="12700">
            <a:solidFill>
              <a:srgbClr val="38BDF8"/>
            </a:solidFill>
          </a:ln>
        </p:spPr>
        <p:txBody>
          <a:bodyPr wrap="square" lIns="120000" tIns="80000" rIns="80000" bIns="80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</a:rPr>
              <a:t>Pandas / NumPy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</a:rPr>
              <a:t>Data loading, cleaning, merging</a:t>
            </a:r>
          </a:p>
        </p:txBody>
      </p:sp>
      <p:sp>
        <p:nvSpPr>
          <p:cNvPr id="6" name="Tech3"/>
          <p:cNvSpPr/>
          <p:nvPr/>
        </p:nvSpPr>
        <p:spPr>
          <a:xfrm>
            <a:off x="4500000" y="820000"/>
            <a:ext cx="2000000" cy="820000"/>
          </a:xfrm>
          <a:prstGeom prst="rect">
            <a:avLst/>
          </a:prstGeom>
          <a:solidFill>
            <a:srgbClr val="162A41"/>
          </a:solidFill>
          <a:ln w="12700">
            <a:solidFill>
              <a:srgbClr val="10B981"/>
            </a:solidFill>
          </a:ln>
        </p:spPr>
        <p:txBody>
          <a:bodyPr wrap="square" lIns="120000" tIns="80000" rIns="80000" bIns="80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</a:rPr>
              <a:t>Plotly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</a:rPr>
              <a:t>Interactive charts &amp; subplots</a:t>
            </a:r>
          </a:p>
        </p:txBody>
      </p:sp>
      <p:sp>
        <p:nvSpPr>
          <p:cNvPr id="7" name="Tech4"/>
          <p:cNvSpPr/>
          <p:nvPr/>
        </p:nvSpPr>
        <p:spPr>
          <a:xfrm>
            <a:off x="6650000" y="820000"/>
            <a:ext cx="2200000" cy="820000"/>
          </a:xfrm>
          <a:prstGeom prst="rect">
            <a:avLst/>
          </a:prstGeom>
          <a:solidFill>
            <a:srgbClr val="162A41"/>
          </a:solidFill>
          <a:ln w="12700">
            <a:solidFill>
              <a:srgbClr val="F59E0B"/>
            </a:solidFill>
          </a:ln>
        </p:spPr>
        <p:txBody>
          <a:bodyPr wrap="square" lIns="120000" tIns="80000" rIns="80000" bIns="80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</a:rPr>
              <a:t>Scikit-learn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</a:rPr>
              <a:t>KMeans, DBSCAN, PCA, t-SNE</a:t>
            </a:r>
          </a:p>
        </p:txBody>
      </p:sp>
      <p:sp>
        <p:nvSpPr>
          <p:cNvPr id="8" name="Tech5"/>
          <p:cNvSpPr/>
          <p:nvPr/>
        </p:nvSpPr>
        <p:spPr>
          <a:xfrm>
            <a:off x="200000" y="1800000"/>
            <a:ext cx="2000000" cy="820000"/>
          </a:xfrm>
          <a:prstGeom prst="rect">
            <a:avLst/>
          </a:prstGeom>
          <a:solidFill>
            <a:srgbClr val="162A41"/>
          </a:solidFill>
          <a:ln w="12700">
            <a:solidFill>
              <a:srgbClr val="EF4444"/>
            </a:solidFill>
          </a:ln>
        </p:spPr>
        <p:txBody>
          <a:bodyPr wrap="square" lIns="120000" tIns="80000" rIns="80000" bIns="80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</a:rPr>
              <a:t>TSFresh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</a:rPr>
              <a:t>Automated feature extraction</a:t>
            </a:r>
          </a:p>
        </p:txBody>
      </p:sp>
      <p:sp>
        <p:nvSpPr>
          <p:cNvPr id="9" name="Tech6"/>
          <p:cNvSpPr/>
          <p:nvPr/>
        </p:nvSpPr>
        <p:spPr>
          <a:xfrm>
            <a:off x="2350000" y="1800000"/>
            <a:ext cx="2000000" cy="820000"/>
          </a:xfrm>
          <a:prstGeom prst="rect">
            <a:avLst/>
          </a:prstGeom>
          <a:solidFill>
            <a:srgbClr val="162A41"/>
          </a:solidFill>
          <a:ln w="12700">
            <a:solidFill>
              <a:srgbClr val="6366F1"/>
            </a:solidFill>
          </a:ln>
        </p:spPr>
        <p:txBody>
          <a:bodyPr wrap="square" lIns="120000" tIns="80000" rIns="80000" bIns="80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</a:rPr>
              <a:t>Prophet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</a:rPr>
              <a:t>Time series forecasting</a:t>
            </a:r>
          </a:p>
        </p:txBody>
      </p:sp>
      <p:sp>
        <p:nvSpPr>
          <p:cNvPr id="10" name="Tech7"/>
          <p:cNvSpPr/>
          <p:nvPr/>
        </p:nvSpPr>
        <p:spPr>
          <a:xfrm>
            <a:off x="4500000" y="1800000"/>
            <a:ext cx="2000000" cy="820000"/>
          </a:xfrm>
          <a:prstGeom prst="rect">
            <a:avLst/>
          </a:prstGeom>
          <a:solidFill>
            <a:srgbClr val="162A41"/>
          </a:solidFill>
          <a:ln w="12700">
            <a:solidFill>
              <a:srgbClr val="F472B6"/>
            </a:solidFill>
          </a:ln>
        </p:spPr>
        <p:txBody>
          <a:bodyPr wrap="square" lIns="120000" tIns="80000" rIns="80000" bIns="80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</a:rPr>
              <a:t>ReportLab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</a:rPr>
              <a:t>PDF report generation</a:t>
            </a:r>
          </a:p>
        </p:txBody>
      </p:sp>
      <p:sp>
        <p:nvSpPr>
          <p:cNvPr id="11" name="Tech8"/>
          <p:cNvSpPr/>
          <p:nvPr/>
        </p:nvSpPr>
        <p:spPr>
          <a:xfrm>
            <a:off x="6650000" y="1800000"/>
            <a:ext cx="2200000" cy="820000"/>
          </a:xfrm>
          <a:prstGeom prst="rect">
            <a:avLst/>
          </a:prstGeom>
          <a:solidFill>
            <a:srgbClr val="162A41"/>
          </a:solidFill>
          <a:ln w="12700">
            <a:solidFill>
              <a:srgbClr val="10B981"/>
            </a:solidFill>
          </a:ln>
        </p:spPr>
        <p:txBody>
          <a:bodyPr wrap="square" lIns="120000" tIns="80000" rIns="80000" bIns="80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</a:rPr>
              <a:t>Preprocessing.py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</a:rPr>
              <a:t>Custom shared pipeline module</a:t>
            </a:r>
          </a:p>
        </p:txBody>
      </p:sp>
      <p:sp>
        <p:nvSpPr>
          <p:cNvPr id="12" name="ArchBox"/>
          <p:cNvSpPr/>
          <p:nvPr/>
        </p:nvSpPr>
        <p:spPr>
          <a:xfrm>
            <a:off x="200000" y="2800000"/>
            <a:ext cx="8740000" cy="2100000"/>
          </a:xfrm>
          <a:prstGeom prst="rect">
            <a:avLst/>
          </a:prstGeom>
          <a:solidFill>
            <a:srgbClr val="111F30"/>
          </a:solidFill>
          <a:ln w="12700">
            <a:solidFill>
              <a:srgbClr val="1E3A5F"/>
            </a:solidFill>
          </a:ln>
        </p:spPr>
        <p:txBody>
          <a:bodyPr wrap="square" lIns="200000" tIns="160000" rIns="200000" bIns="16000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</a:rPr>
              <a:t>End-to-End Pipeline Architecture</a:t>
            </a:r>
          </a:p>
          <a:p>
            <a:pPr marL="0" indent="0">
              <a:buNone/>
            </a:pPr>
            <a:endParaRPr lang="en-US" sz="1200" b="1" dirty="0">
              <a:solidFill>
                <a:srgbClr val="A78BFA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n-US" sz="100" dirty="0">
                <a:solidFill>
                  <a:srgbClr val="0D1B2A"/>
                </a:solidFill>
                <a:latin typeface="Calibri"/>
              </a:rPr>
              <a:t>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</a:rPr>
              <a:t>Raw CSVs (5 files)  →  Load &amp; Clean (preprocessing.py)  →  Merge Master DataFrame  →  Feature Extraction (TSFresh)  →  Forecasting (Prophet)  →  Clustering (KMeans + DBSCAN)  →  Anomaly Detection (Threshold + Residual)  →  Dashboard (Streamlit)  →  Export (PDF + CSV)</a:t>
            </a:r>
          </a:p>
          <a:p>
            <a:pPr marL="0" indent="0">
              <a:buNone/>
            </a:pPr>
            <a:endParaRPr lang="en-US" sz="1000" dirty="0">
              <a:solidFill>
                <a:srgbClr val="0D1B2A"/>
              </a:solidFill>
              <a:latin typeface="Calibri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5A7A9A"/>
                </a:solidFill>
                <a:latin typeface="Calibri" pitchFamily="34" charset="0"/>
              </a:rPr>
              <a:t>All 4 milestones are integrated into a single multi-page Streamlit application. One unified app.py file with milestone selector in the sidebar. preprocessing.py is the shared data pipeline used by all milestones.</a:t>
            </a:r>
          </a:p>
        </p:txBody>
      </p:sp>
      <p:sp>
        <p:nvSpPr>
          <p:cNvPr id="13" name="BotBar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Panel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BotBar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Circle1"/>
          <p:cNvSpPr/>
          <p:nvPr/>
        </p:nvSpPr>
        <p:spPr>
          <a:xfrm>
            <a:off x="6800000" y="400000"/>
            <a:ext cx="3000000" cy="3000000"/>
          </a:xfrm>
          <a:prstGeom prst="ellipse">
            <a:avLst/>
          </a:prstGeom>
          <a:solidFill>
            <a:srgbClr val="162A41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Circle2"/>
          <p:cNvSpPr/>
          <p:nvPr/>
        </p:nvSpPr>
        <p:spPr>
          <a:xfrm>
            <a:off x="7200000" y="800000"/>
            <a:ext cx="2200000" cy="2200000"/>
          </a:xfrm>
          <a:prstGeom prst="ellipse">
            <a:avLst/>
          </a:prstGeom>
          <a:solidFill>
            <a:srgbClr val="A78BFA">
              <a:alpha val="8000"/>
            </a:srgbClr>
          </a:solidFill>
          <a:ln w="19050">
            <a:solidFill>
              <a:srgbClr val="A78BFA">
                <a:alpha val="25000"/>
              </a:srgb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7" name="Brand"/>
          <p:cNvSpPr/>
          <p:nvPr/>
        </p:nvSpPr>
        <p:spPr>
          <a:xfrm>
            <a:off x="365760" y="600000"/>
            <a:ext cx="65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</a:rPr>
              <a:t>FitPulse  ·  Health Anomaly Detection Platform</a:t>
            </a:r>
          </a:p>
        </p:txBody>
      </p:sp>
      <p:sp>
        <p:nvSpPr>
          <p:cNvPr id="8" name="ThankyouMain"/>
          <p:cNvSpPr/>
          <p:nvPr/>
        </p:nvSpPr>
        <p:spPr>
          <a:xfrm>
            <a:off x="365760" y="1300000"/>
            <a:ext cx="62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DCE8F5"/>
                </a:solidFill>
                <a:latin typeface="Calibri" pitchFamily="34" charset="0"/>
              </a:rPr>
              <a:t>Thank You</a:t>
            </a:r>
          </a:p>
        </p:txBody>
      </p:sp>
      <p:sp>
        <p:nvSpPr>
          <p:cNvPr id="9" name="Subtitle"/>
          <p:cNvSpPr/>
          <p:nvPr/>
        </p:nvSpPr>
        <p:spPr>
          <a:xfrm>
            <a:off x="365760" y="2650000"/>
            <a:ext cx="62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7A9A"/>
                </a:solidFill>
                <a:latin typeface="Calibri" pitchFamily="34" charset="0"/>
              </a:rPr>
              <a:t>for your time, attention, and evaluation</a:t>
            </a:r>
          </a:p>
        </p:txBody>
      </p:sp>
      <p:sp>
        <p:nvSpPr>
          <p:cNvPr id="10" name="NameBatch"/>
          <p:cNvSpPr/>
          <p:nvPr/>
        </p:nvSpPr>
        <p:spPr>
          <a:xfrm>
            <a:off x="365760" y="3300000"/>
            <a:ext cx="62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</a:rPr>
              <a:t>Thejomayie K  ·  Batch 13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A6A8A"/>
                </a:solidFill>
                <a:latin typeface="Calibri" pitchFamily="34" charset="0"/>
              </a:rPr>
              <a:t>Infosys Springboard Virtual Internship</a:t>
            </a:r>
          </a:p>
        </p:txBody>
      </p:sp>
      <p:sp>
        <p:nvSpPr>
          <p:cNvPr id="11" name="B1"/>
          <p:cNvSpPr/>
          <p:nvPr/>
        </p:nvSpPr>
        <p:spPr>
          <a:xfrm>
            <a:off x="365760" y="4100000"/>
            <a:ext cx="1900000" cy="600000"/>
          </a:xfrm>
          <a:prstGeom prst="roundRect">
            <a:avLst>
              <a:gd name="adj" fmla="val 16667"/>
            </a:avLst>
          </a:prstGeom>
          <a:solidFill>
            <a:srgbClr val="162A41"/>
          </a:solidFill>
          <a:ln w="12700">
            <a:solidFill>
              <a:srgbClr val="A78BFA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</a:rPr>
              <a:t>M1 Preprocessing</a:t>
            </a:r>
          </a:p>
        </p:txBody>
      </p:sp>
      <p:sp>
        <p:nvSpPr>
          <p:cNvPr id="12" name="B2"/>
          <p:cNvSpPr/>
          <p:nvPr/>
        </p:nvSpPr>
        <p:spPr>
          <a:xfrm>
            <a:off x="2365760" y="4100000"/>
            <a:ext cx="1900000" cy="600000"/>
          </a:xfrm>
          <a:prstGeom prst="roundRect">
            <a:avLst>
              <a:gd name="adj" fmla="val 16667"/>
            </a:avLst>
          </a:prstGeom>
          <a:solidFill>
            <a:srgbClr val="162A41"/>
          </a:solidFill>
          <a:ln w="12700">
            <a:solidFill>
              <a:srgbClr val="38BDF8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</a:rPr>
              <a:t>M2 Modelling</a:t>
            </a:r>
          </a:p>
        </p:txBody>
      </p:sp>
      <p:sp>
        <p:nvSpPr>
          <p:cNvPr id="13" name="B3"/>
          <p:cNvSpPr/>
          <p:nvPr/>
        </p:nvSpPr>
        <p:spPr>
          <a:xfrm>
            <a:off x="4365760" y="4100000"/>
            <a:ext cx="1900000" cy="600000"/>
          </a:xfrm>
          <a:prstGeom prst="roundRect">
            <a:avLst>
              <a:gd name="adj" fmla="val 16667"/>
            </a:avLst>
          </a:prstGeom>
          <a:solidFill>
            <a:srgbClr val="162A41"/>
          </a:solidFill>
          <a:ln w="12700">
            <a:solidFill>
              <a:srgbClr val="EF444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</a:rPr>
              <a:t>M3 Anomaly Detection</a:t>
            </a:r>
          </a:p>
        </p:txBody>
      </p:sp>
      <p:sp>
        <p:nvSpPr>
          <p:cNvPr id="14" name="B4"/>
          <p:cNvSpPr/>
          <p:nvPr/>
        </p:nvSpPr>
        <p:spPr>
          <a:xfrm>
            <a:off x="6365760" y="4100000"/>
            <a:ext cx="1900000" cy="600000"/>
          </a:xfrm>
          <a:prstGeom prst="roundRect">
            <a:avLst>
              <a:gd name="adj" fmla="val 16667"/>
            </a:avLst>
          </a:prstGeom>
          <a:solidFill>
            <a:srgbClr val="162A41"/>
          </a:solidFill>
          <a:ln w="12700">
            <a:solidFill>
              <a:srgbClr val="10B981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</a:rPr>
              <a:t>M4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429</TotalTime>
  <Words>2582</Words>
  <Application>Microsoft Office PowerPoint</Application>
  <PresentationFormat>On-screen Show (16:9)</PresentationFormat>
  <Paragraphs>429</Paragraphs>
  <Slides>36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Anthropic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FitPulse — Health Anomaly Detection</dc:title>
  <dc:subject>PptxGenJS Presentation</dc:subject>
  <dc:creator>PptxGenJS</dc:creator>
  <cp:lastModifiedBy>Thejomayie K</cp:lastModifiedBy>
  <cp:revision>13</cp:revision>
  <dcterms:created xsi:type="dcterms:W3CDTF">2026-03-26T12:34:38Z</dcterms:created>
  <dcterms:modified xsi:type="dcterms:W3CDTF">2026-04-01T17:15:10Z</dcterms:modified>
</cp:coreProperties>
</file>