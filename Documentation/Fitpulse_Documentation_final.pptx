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306" r:id="rId4"/>
    <p:sldId id="258" r:id="rId5"/>
    <p:sldId id="305" r:id="rId6"/>
    <p:sldId id="259" r:id="rId7"/>
    <p:sldId id="304" r:id="rId8"/>
    <p:sldId id="260" r:id="rId9"/>
    <p:sldId id="261" r:id="rId10"/>
    <p:sldId id="301" r:id="rId11"/>
    <p:sldId id="262" r:id="rId12"/>
    <p:sldId id="300" r:id="rId13"/>
    <p:sldId id="263" r:id="rId14"/>
    <p:sldId id="272" r:id="rId15"/>
    <p:sldId id="297" r:id="rId16"/>
    <p:sldId id="265" r:id="rId17"/>
    <p:sldId id="273" r:id="rId18"/>
    <p:sldId id="274" r:id="rId19"/>
    <p:sldId id="279" r:id="rId20"/>
    <p:sldId id="280" r:id="rId21"/>
    <p:sldId id="299" r:id="rId22"/>
    <p:sldId id="281" r:id="rId23"/>
    <p:sldId id="278" r:id="rId24"/>
    <p:sldId id="291" r:id="rId25"/>
    <p:sldId id="284" r:id="rId26"/>
    <p:sldId id="285" r:id="rId27"/>
    <p:sldId id="302" r:id="rId28"/>
    <p:sldId id="303" r:id="rId29"/>
    <p:sldId id="286" r:id="rId30"/>
    <p:sldId id="289" r:id="rId31"/>
    <p:sldId id="288" r:id="rId32"/>
    <p:sldId id="290" r:id="rId3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849" autoAdjust="0"/>
  </p:normalViewPr>
  <p:slideViewPr>
    <p:cSldViewPr snapToGrid="0" snapToObjects="1">
      <p:cViewPr varScale="1">
        <p:scale>
          <a:sx n="107" d="100"/>
          <a:sy n="107" d="100"/>
        </p:scale>
        <p:origin x="10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7506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705A3-4738-2CA1-460C-D3DD22929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141CC8-BC2E-C724-5FC6-037AB34D88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5D0BFD-B32F-073E-DB48-5E70CBA10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FFC729-D976-C40F-7F68-6A14F1C84A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265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70290-BA7B-8681-CCCD-A0FC2BC15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135AAD-4AC9-DD99-836C-A6B892FC96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3FCF68-77E1-AFC3-1FBA-18EC424AF7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804BE-BB54-97D8-C63D-52AC5CB5D1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004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458D1-7498-2AA2-AACF-58B82F177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324E10-98BE-24DE-0450-36C62FFF0B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CAA9D3-DA82-C415-2C2D-26D88A504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681EA-AC6E-7794-6704-717F5E6649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636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58D63-B22B-2A6F-06B2-00D3E0C3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76B044-9103-F31B-2877-3ED31C7C41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42F36F-C57B-B3ED-8F4F-008C3C55E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D79E30-D228-6A44-8E6A-F0AD85D19A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1171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59B9B-C0EA-B884-68A0-90BE7E70B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CBDE22-8557-CBFD-DC56-D8C20ACC0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99B4E2-8B0D-3AC1-D342-677533E41F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483C9-4A61-563F-5C57-DA23A4C042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4357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717DF-2367-4745-D569-87FBDB9C2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06479E-9F6D-57A3-D0EF-56F6F819DD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2C0826-4ED0-28DF-850B-0B52BAAC1D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3374D-9585-8F30-E6B6-96F05E242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4210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CA779-0BD3-2085-8298-0849C28FD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9A6B4E-C366-4B56-6840-E07AEB8948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E15119-0A45-E342-6E12-B790754F26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A001D2-BEA3-F659-AED8-3DE1C3A83C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278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95FDF-73A5-1018-565A-BE030978A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BDA45-8321-EE57-AF59-217B5AE408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AEB53F-40A3-5FAC-414B-84BC0D0493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07BF08-D764-4383-27CB-864108A541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114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8B170-779D-A426-FE67-F037AC580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1C61A-7ECB-8F4B-C137-5EBEE0CCD3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6C7447-64AA-98C1-EED9-290E5665D7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B3650D-0808-A9F8-A4B3-FD506FA8F4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5053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27DF4-06F1-FFC1-A061-D1962C11F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3738E2-9622-1BBF-856D-F0C47D5E5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5A3A17-F4AD-BB58-9E8F-98DD38197B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E963B7-E1B9-4B83-F9C6-83647CAFAE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8411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586A4-DCE1-F089-B318-B0FB98A6C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84491-3E77-4C2A-829C-AC2992693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8014C6-1B58-DB00-A1B0-AA18FA0A46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665F2E-8090-E54D-F442-213E6E2087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2138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73152"/>
            <a:ext cx="109728" cy="5070348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FitPulse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365760" y="21031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Anomaly Detection from Fitness Devices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1"/>
          <p:cNvSpPr/>
          <p:nvPr/>
        </p:nvSpPr>
        <p:spPr>
          <a:xfrm>
            <a:off x="6118166" y="3733038"/>
            <a:ext cx="2075807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Thejomayie K</a:t>
            </a:r>
          </a:p>
          <a:p>
            <a:pPr algn="ctr"/>
            <a:r>
              <a:rPr lang="en-US" sz="2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13</a:t>
            </a:r>
            <a:endParaRPr lang="en-US" sz="20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itle"/>
          <p:cNvSpPr/>
          <p:nvPr/>
        </p:nvSpPr>
        <p:spPr>
          <a:xfrm>
            <a:off x="365760" y="182880"/>
            <a:ext cx="841248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</a:rPr>
              <a:t>Project Overview – </a:t>
            </a:r>
            <a:r>
              <a:rPr lang="en-US" sz="2800" b="1" dirty="0" err="1">
                <a:solidFill>
                  <a:srgbClr val="A78BFA"/>
                </a:solidFill>
                <a:latin typeface="Calibri" pitchFamily="34" charset="0"/>
              </a:rPr>
              <a:t>Fitpulse</a:t>
            </a:r>
            <a:endParaRPr lang="en-US" sz="2800" b="1" dirty="0">
              <a:solidFill>
                <a:srgbClr val="A78BFA"/>
              </a:solidFill>
              <a:latin typeface="Calibri" pitchFamily="34" charset="0"/>
            </a:endParaRPr>
          </a:p>
        </p:txBody>
      </p:sp>
      <p:sp>
        <p:nvSpPr>
          <p:cNvPr id="10" name="ProblemBg"/>
          <p:cNvSpPr/>
          <p:nvPr/>
        </p:nvSpPr>
        <p:spPr>
          <a:xfrm>
            <a:off x="365760" y="822960"/>
            <a:ext cx="3962400" cy="3700000"/>
          </a:xfrm>
          <a:prstGeom prst="rect">
            <a:avLst/>
          </a:prstGeom>
          <a:solidFill>
            <a:srgbClr val="1A1020"/>
          </a:solidFill>
          <a:ln w="254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olutionBg"/>
          <p:cNvSpPr/>
          <p:nvPr/>
        </p:nvSpPr>
        <p:spPr>
          <a:xfrm>
            <a:off x="4633920" y="822960"/>
            <a:ext cx="3962400" cy="3700000"/>
          </a:xfrm>
          <a:prstGeom prst="rect">
            <a:avLst/>
          </a:prstGeom>
          <a:solidFill>
            <a:srgbClr val="0F1E35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ProblemHeaderBar"/>
          <p:cNvSpPr/>
          <p:nvPr/>
        </p:nvSpPr>
        <p:spPr>
          <a:xfrm>
            <a:off x="365760" y="822960"/>
            <a:ext cx="3962400" cy="290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3" name="SolutionHeaderBar"/>
          <p:cNvSpPr/>
          <p:nvPr/>
        </p:nvSpPr>
        <p:spPr>
          <a:xfrm>
            <a:off x="4633920" y="822960"/>
            <a:ext cx="3962400" cy="29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4" name="ProblemLabel"/>
          <p:cNvSpPr/>
          <p:nvPr/>
        </p:nvSpPr>
        <p:spPr>
          <a:xfrm>
            <a:off x="365760" y="822960"/>
            <a:ext cx="3962400" cy="290000"/>
          </a:xfrm>
          <a:prstGeom prst="rect">
            <a:avLst/>
          </a:prstGeom>
          <a:noFill/>
          <a:ln>
            <a:noFill/>
          </a:ln>
        </p:spPr>
        <p:txBody>
          <a:bodyPr wrap="square" lIns="120000" tIns="60000" rIns="120000" bIns="600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</a:rPr>
              <a:t>The Problem</a:t>
            </a:r>
          </a:p>
        </p:txBody>
      </p:sp>
      <p:sp>
        <p:nvSpPr>
          <p:cNvPr id="15" name="SolutionLabel"/>
          <p:cNvSpPr/>
          <p:nvPr/>
        </p:nvSpPr>
        <p:spPr>
          <a:xfrm>
            <a:off x="4633920" y="822960"/>
            <a:ext cx="3962400" cy="290000"/>
          </a:xfrm>
          <a:prstGeom prst="rect">
            <a:avLst/>
          </a:prstGeom>
          <a:noFill/>
          <a:ln>
            <a:noFill/>
          </a:ln>
        </p:spPr>
        <p:txBody>
          <a:bodyPr wrap="square" lIns="120000" tIns="60000" rIns="120000" bIns="6000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</a:rPr>
              <a:t>Our Solution — FitPulse</a:t>
            </a:r>
          </a:p>
        </p:txBody>
      </p:sp>
      <p:sp>
        <p:nvSpPr>
          <p:cNvPr id="16" name="ProblemBody"/>
          <p:cNvSpPr/>
          <p:nvPr/>
        </p:nvSpPr>
        <p:spPr>
          <a:xfrm>
            <a:off x="395760" y="1172960"/>
            <a:ext cx="3902400" cy="3250000"/>
          </a:xfrm>
          <a:prstGeom prst="rect">
            <a:avLst/>
          </a:prstGeom>
          <a:noFill/>
          <a:ln>
            <a:noFill/>
          </a:ln>
        </p:spPr>
        <p:txBody>
          <a:bodyPr wrap="square" lIns="120000" tIns="100000" rIns="120000" bIns="10000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CA5A5"/>
                </a:solidFill>
                <a:latin typeface="Calibri" pitchFamily="34" charset="0"/>
              </a:rPr>
              <a:t>Wearables generate massive health data — but nobody watches it.</a:t>
            </a:r>
          </a:p>
          <a:p>
            <a:pPr marL="0" indent="0">
              <a:buNone/>
            </a:pPr>
            <a:endParaRPr lang="en-US" sz="1300" b="1" dirty="0">
              <a:solidFill>
                <a:srgbClr val="FCA5A5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1200" b="0" dirty="0">
                <a:solidFill>
                  <a:srgbClr val="DCE8F5"/>
                </a:solidFill>
                <a:latin typeface="Calibri" pitchFamily="34" charset="0"/>
              </a:rPr>
              <a:t>•  Millions of Fitbit users track their heart rate, steps and sleep daily — yet most anomalies go unnoticed.</a:t>
            </a:r>
          </a:p>
          <a:p>
            <a:pPr marL="0" indent="0">
              <a:buNone/>
            </a:pPr>
            <a:r>
              <a:rPr lang="en-US" sz="1200" b="0" dirty="0">
                <a:solidFill>
                  <a:srgbClr val="DCE8F5"/>
                </a:solidFill>
                <a:latin typeface="Calibri" pitchFamily="34" charset="0"/>
              </a:rPr>
              <a:t>•  Irregular heartbeats, sleep disturbances and abnormal activity are early warning signs of serious health conditions.</a:t>
            </a:r>
          </a:p>
          <a:p>
            <a:pPr marL="0" indent="0">
              <a:buNone/>
            </a:pPr>
            <a:r>
              <a:rPr lang="en-US" sz="1200" b="0" dirty="0">
                <a:solidFill>
                  <a:srgbClr val="DCE8F5"/>
                </a:solidFill>
                <a:latin typeface="Calibri" pitchFamily="34" charset="0"/>
              </a:rPr>
              <a:t>•  No tool exists to automatically flag these subtle patterns from raw CSV device exports.</a:t>
            </a:r>
          </a:p>
          <a:p>
            <a:pPr marL="0" indent="0">
              <a:buNone/>
            </a:pPr>
            <a:r>
              <a:rPr lang="en-US" sz="1200" b="0" dirty="0">
                <a:solidFill>
                  <a:srgbClr val="DCE8F5"/>
                </a:solidFill>
                <a:latin typeface="Calibri" pitchFamily="34" charset="0"/>
              </a:rPr>
              <a:t>•  Healthcare providers lack a simple, visual way to review a patient’s wearable data history.</a:t>
            </a:r>
          </a:p>
        </p:txBody>
      </p:sp>
      <p:sp>
        <p:nvSpPr>
          <p:cNvPr id="17" name="SolutionBody"/>
          <p:cNvSpPr/>
          <p:nvPr/>
        </p:nvSpPr>
        <p:spPr>
          <a:xfrm>
            <a:off x="4663920" y="1172960"/>
            <a:ext cx="3902400" cy="3250000"/>
          </a:xfrm>
          <a:prstGeom prst="rect">
            <a:avLst/>
          </a:prstGeom>
          <a:noFill/>
          <a:ln>
            <a:noFill/>
          </a:ln>
        </p:spPr>
        <p:txBody>
          <a:bodyPr wrap="square" lIns="120000" tIns="100000" rIns="120000" bIns="10000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</a:rPr>
              <a:t>An AI-powered pipeline that detects health anomalies automatically.</a:t>
            </a:r>
          </a:p>
          <a:p>
            <a:pPr marL="0" indent="0">
              <a:buNone/>
            </a:pPr>
            <a:endParaRPr lang="en-US" sz="1300" b="1" dirty="0">
              <a:solidFill>
                <a:srgbClr val="6EE7B7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1200" b="0" dirty="0">
                <a:solidFill>
                  <a:srgbClr val="DCE8F5"/>
                </a:solidFill>
                <a:latin typeface="Calibri" pitchFamily="34" charset="0"/>
              </a:rPr>
              <a:t>•  Upload raw Fitbit CSV files — FitPulse cleans, merges and analyses them automatically.</a:t>
            </a:r>
          </a:p>
          <a:p>
            <a:pPr marL="0" indent="0">
              <a:buNone/>
            </a:pPr>
            <a:r>
              <a:rPr lang="en-US" sz="1200" b="0" dirty="0">
                <a:solidFill>
                  <a:srgbClr val="DCE8F5"/>
                </a:solidFill>
                <a:latin typeface="Calibri" pitchFamily="34" charset="0"/>
              </a:rPr>
              <a:t>•  3 detection methods — threshold rules, residual ±σ, and DBSCAN — flag anomalies with reasons.</a:t>
            </a:r>
          </a:p>
          <a:p>
            <a:pPr marL="0" indent="0">
              <a:buNone/>
            </a:pPr>
            <a:r>
              <a:rPr lang="en-US" sz="1200" b="0" dirty="0">
                <a:solidFill>
                  <a:srgbClr val="DCE8F5"/>
                </a:solidFill>
                <a:latin typeface="Calibri" pitchFamily="34" charset="0"/>
              </a:rPr>
              <a:t>•  Prophet forecasts next 30 days of HR, steps and sleep with confidence intervals.</a:t>
            </a:r>
          </a:p>
          <a:p>
            <a:pPr marL="0" indent="0">
              <a:buNone/>
            </a:pPr>
            <a:r>
              <a:rPr lang="en-US" sz="1200" b="0" dirty="0">
                <a:solidFill>
                  <a:srgbClr val="DCE8F5"/>
                </a:solidFill>
                <a:latin typeface="Calibri" pitchFamily="34" charset="0"/>
              </a:rPr>
              <a:t>•  Interactive dashboard with date/user filters + one-click PDF and CSV export.</a:t>
            </a:r>
          </a:p>
        </p:txBody>
      </p:sp>
      <p:sp>
        <p:nvSpPr>
          <p:cNvPr id="21" name="BottomBar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bjectives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68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HeaderBg"/>
          <p:cNvSpPr/>
          <p:nvPr/>
        </p:nvSpPr>
        <p:spPr>
          <a:xfrm>
            <a:off x="0" y="68000"/>
            <a:ext cx="9144000" cy="620000"/>
          </a:xfrm>
          <a:prstGeom prst="rect">
            <a:avLst/>
          </a:prstGeom>
          <a:solidFill>
            <a:srgbClr val="0F1F3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SlideTitle"/>
          <p:cNvSpPr/>
          <p:nvPr/>
        </p:nvSpPr>
        <p:spPr>
          <a:xfrm>
            <a:off x="365760" y="120000"/>
            <a:ext cx="841248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DCE8F5"/>
                </a:solidFill>
                <a:latin typeface="Calibri" pitchFamily="34" charset="0"/>
              </a:rPr>
              <a:t>Project </a:t>
            </a:r>
            <a:r>
              <a:rPr lang="en-US" sz="2800" b="1" dirty="0">
                <a:solidFill>
                  <a:srgbClr val="A78BFA"/>
                </a:solidFill>
                <a:latin typeface="Calibri" pitchFamily="34" charset="0"/>
              </a:rPr>
              <a:t>Objectives</a:t>
            </a:r>
            <a:r>
              <a:rPr lang="en-US" sz="2800" b="1" dirty="0">
                <a:solidFill>
                  <a:srgbClr val="DCE8F5"/>
                </a:solidFill>
                <a:latin typeface="Calibri" pitchFamily="34" charset="0"/>
              </a:rPr>
              <a:t> — What Each Milestone Delivers</a:t>
            </a:r>
          </a:p>
        </p:txBody>
      </p:sp>
      <p:sp>
        <p:nvSpPr>
          <p:cNvPr id="10" name="BgM1"/>
          <p:cNvSpPr/>
          <p:nvPr/>
        </p:nvSpPr>
        <p:spPr>
          <a:xfrm>
            <a:off x="228600" y="838000"/>
            <a:ext cx="2001600" cy="3700000"/>
          </a:xfrm>
          <a:prstGeom prst="rect">
            <a:avLst/>
          </a:prstGeom>
          <a:solidFill>
            <a:srgbClr val="162540"/>
          </a:solidFill>
          <a:ln w="19050">
            <a:solidFill>
              <a:srgbClr val="38BDF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StripM1"/>
          <p:cNvSpPr/>
          <p:nvPr/>
        </p:nvSpPr>
        <p:spPr>
          <a:xfrm>
            <a:off x="228600" y="838000"/>
            <a:ext cx="57150" cy="3700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HdrBandM1"/>
          <p:cNvSpPr/>
          <p:nvPr/>
        </p:nvSpPr>
        <p:spPr>
          <a:xfrm>
            <a:off x="285750" y="838000"/>
            <a:ext cx="1944450" cy="420000"/>
          </a:xfrm>
          <a:prstGeom prst="rect">
            <a:avLst/>
          </a:prstGeom>
          <a:solidFill>
            <a:srgbClr val="38BDF8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PillM1"/>
          <p:cNvSpPr/>
          <p:nvPr/>
        </p:nvSpPr>
        <p:spPr>
          <a:xfrm>
            <a:off x="318600" y="900000"/>
            <a:ext cx="340000" cy="290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wrap="square" lIns="45720" tIns="0" rIns="45720" bIns="0" rtlCol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</a:rPr>
              <a:t>M1</a:t>
            </a:r>
          </a:p>
        </p:txBody>
      </p:sp>
      <p:sp>
        <p:nvSpPr>
          <p:cNvPr id="14" name="TitleM1"/>
          <p:cNvSpPr/>
          <p:nvPr/>
        </p:nvSpPr>
        <p:spPr>
          <a:xfrm>
            <a:off x="688600" y="900000"/>
            <a:ext cx="1534450" cy="2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</a:rPr>
              <a:t>Data Preprocessing</a:t>
            </a:r>
          </a:p>
        </p:txBody>
      </p:sp>
      <p:sp>
        <p:nvSpPr>
          <p:cNvPr id="15" name="BodyM1"/>
          <p:cNvSpPr/>
          <p:nvPr/>
        </p:nvSpPr>
        <p:spPr>
          <a:xfrm>
            <a:off x="318600" y="1300000"/>
            <a:ext cx="1871600" cy="319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DCE8F5"/>
                </a:solidFill>
                <a:latin typeface="Calibri" pitchFamily="34" charset="0"/>
              </a:rPr>
              <a:t>Objective</a:t>
            </a:r>
          </a:p>
          <a:p>
            <a:pPr marL="0" indent="0">
              <a:lnSpc>
                <a:spcPts val="1250"/>
              </a:lnSpc>
              <a:spcAft>
                <a:spcPts val="300"/>
              </a:spcAft>
              <a:buNone/>
            </a:pPr>
            <a:r>
              <a:rPr lang="en-US" sz="850" i="1" dirty="0">
                <a:solidFill>
                  <a:srgbClr val="94A3B8"/>
                </a:solidFill>
                <a:latin typeface="Calibri Light" pitchFamily="34" charset="0"/>
              </a:rPr>
              <a:t>Turn raw Fitbit CSVs into a clean, analysis-ready dataset.</a:t>
            </a:r>
          </a:p>
          <a:p>
            <a:pPr marL="0" indent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DCE8F5"/>
                </a:solidFill>
                <a:latin typeface="Calibri" pitchFamily="34" charset="0"/>
              </a:rPr>
              <a:t>What We Do</a:t>
            </a:r>
          </a:p>
          <a:p>
            <a:pPr marL="114300" indent="-114300">
              <a:lnSpc>
                <a:spcPts val="1250"/>
              </a:lnSpc>
              <a:buChar char="▸"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</a:rPr>
              <a:t>Upload any fitness CSV file</a:t>
            </a:r>
          </a:p>
          <a:p>
            <a:pPr marL="114300" indent="-114300">
              <a:lnSpc>
                <a:spcPts val="1250"/>
              </a:lnSpc>
              <a:buChar char="▸"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</a:rPr>
              <a:t>Auto-fix dates, interpolate gaps, fill missing text</a:t>
            </a:r>
          </a:p>
          <a:p>
            <a:pPr marL="114300" indent="-114300">
              <a:lnSpc>
                <a:spcPts val="1250"/>
              </a:lnSpc>
              <a:buChar char="▸"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</a:rPr>
              <a:t>Inspect raw data and detect outliers via IQR Box Plot</a:t>
            </a:r>
          </a:p>
          <a:p>
            <a:pPr marL="114300" indent="-114300">
              <a:lnSpc>
                <a:spcPts val="1250"/>
              </a:lnSpc>
              <a:buChar char="▸"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</a:rPr>
              <a:t>Export cleaned CSV with zero missing values</a:t>
            </a:r>
          </a:p>
          <a:p>
            <a:pPr marL="0" indent="0">
              <a:lnSpc>
                <a:spcPts val="1250"/>
              </a:lnSpc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38BDF8"/>
                </a:solidFill>
                <a:latin typeface="Calibri" pitchFamily="34" charset="0"/>
              </a:rPr>
              <a:t>Output: </a:t>
            </a:r>
            <a:r>
              <a:rPr lang="en-US" sz="900" dirty="0">
                <a:solidFill>
                  <a:srgbClr val="94A3B8"/>
                </a:solidFill>
                <a:latin typeface="Calibri Light" pitchFamily="34" charset="0"/>
              </a:rPr>
              <a:t>Clean dataset ready for M2</a:t>
            </a:r>
          </a:p>
        </p:txBody>
      </p:sp>
      <p:sp>
        <p:nvSpPr>
          <p:cNvPr id="20" name="BgM2"/>
          <p:cNvSpPr/>
          <p:nvPr/>
        </p:nvSpPr>
        <p:spPr>
          <a:xfrm>
            <a:off x="2457200" y="838000"/>
            <a:ext cx="2001600" cy="3700000"/>
          </a:xfrm>
          <a:prstGeom prst="rect">
            <a:avLst/>
          </a:prstGeom>
          <a:solidFill>
            <a:srgbClr val="162540"/>
          </a:solidFill>
          <a:ln w="19050">
            <a:solidFill>
              <a:srgbClr val="10B98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StripM2"/>
          <p:cNvSpPr/>
          <p:nvPr/>
        </p:nvSpPr>
        <p:spPr>
          <a:xfrm>
            <a:off x="2457200" y="838000"/>
            <a:ext cx="57150" cy="370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HdrBandM2"/>
          <p:cNvSpPr/>
          <p:nvPr/>
        </p:nvSpPr>
        <p:spPr>
          <a:xfrm>
            <a:off x="2514350" y="838000"/>
            <a:ext cx="1944450" cy="420000"/>
          </a:xfrm>
          <a:prstGeom prst="rect">
            <a:avLst/>
          </a:prstGeom>
          <a:solidFill>
            <a:srgbClr val="10B981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PillM2"/>
          <p:cNvSpPr/>
          <p:nvPr/>
        </p:nvSpPr>
        <p:spPr>
          <a:xfrm>
            <a:off x="2547200" y="900000"/>
            <a:ext cx="340000" cy="29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45720" tIns="0" rIns="45720" bIns="0" rtlCol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</a:rPr>
              <a:t>M2</a:t>
            </a:r>
          </a:p>
        </p:txBody>
      </p:sp>
      <p:sp>
        <p:nvSpPr>
          <p:cNvPr id="24" name="TitleM2"/>
          <p:cNvSpPr/>
          <p:nvPr/>
        </p:nvSpPr>
        <p:spPr>
          <a:xfrm>
            <a:off x="2917200" y="900000"/>
            <a:ext cx="1534450" cy="2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</a:rPr>
              <a:t>Feature Extraction</a:t>
            </a:r>
          </a:p>
        </p:txBody>
      </p:sp>
      <p:sp>
        <p:nvSpPr>
          <p:cNvPr id="25" name="BodyM2"/>
          <p:cNvSpPr/>
          <p:nvPr/>
        </p:nvSpPr>
        <p:spPr>
          <a:xfrm>
            <a:off x="2547200" y="1300000"/>
            <a:ext cx="1871600" cy="319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DCE8F5"/>
                </a:solidFill>
                <a:latin typeface="Calibri" pitchFamily="34" charset="0"/>
              </a:rPr>
              <a:t>Objective</a:t>
            </a:r>
          </a:p>
          <a:p>
            <a:pPr marL="0" indent="0">
              <a:lnSpc>
                <a:spcPts val="1250"/>
              </a:lnSpc>
              <a:spcAft>
                <a:spcPts val="300"/>
              </a:spcAft>
              <a:buNone/>
            </a:pPr>
            <a:r>
              <a:rPr lang="en-US" sz="850" i="1" dirty="0">
                <a:solidFill>
                  <a:srgbClr val="94A3B8"/>
                </a:solidFill>
                <a:latin typeface="Calibri Light" pitchFamily="34" charset="0"/>
              </a:rPr>
              <a:t>Extract patterns and model fitness behaviour from merged sensor data.</a:t>
            </a:r>
          </a:p>
          <a:p>
            <a:pPr marL="0" indent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DCE8F5"/>
                </a:solidFill>
                <a:latin typeface="Calibri" pitchFamily="34" charset="0"/>
              </a:rPr>
              <a:t>What We Do</a:t>
            </a:r>
          </a:p>
          <a:p>
            <a:pPr marL="114300" indent="-114300">
              <a:lnSpc>
                <a:spcPts val="1250"/>
              </a:lnSpc>
              <a:buChar char="▸"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</a:rPr>
              <a:t>Merge 5 Fitbit sensor files into one master dataset</a:t>
            </a:r>
          </a:p>
          <a:p>
            <a:pPr marL="114300" indent="-114300">
              <a:lnSpc>
                <a:spcPts val="1250"/>
              </a:lnSpc>
              <a:buChar char="▸"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</a:rPr>
              <a:t>TSFresh: extract 10 features from 196K+ HR readings</a:t>
            </a:r>
          </a:p>
          <a:p>
            <a:pPr marL="114300" indent="-114300">
              <a:lnSpc>
                <a:spcPts val="1250"/>
              </a:lnSpc>
              <a:buChar char="▸"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</a:rPr>
              <a:t>Prophet: 30-day forecast for HR, Steps and Sleep</a:t>
            </a:r>
          </a:p>
          <a:p>
            <a:pPr marL="114300" indent="-114300">
              <a:lnSpc>
                <a:spcPts val="1250"/>
              </a:lnSpc>
              <a:buChar char="▸"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</a:rPr>
              <a:t>KMeans + DBSCAN user clustering with PCA and t-SNE maps</a:t>
            </a:r>
          </a:p>
          <a:p>
            <a:pPr marL="0" indent="0">
              <a:lnSpc>
                <a:spcPts val="1250"/>
              </a:lnSpc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</a:rPr>
              <a:t>Output: </a:t>
            </a:r>
            <a:r>
              <a:rPr lang="en-US" sz="900" dirty="0">
                <a:solidFill>
                  <a:srgbClr val="94A3B8"/>
                </a:solidFill>
                <a:latin typeface="Calibri Light" pitchFamily="34" charset="0"/>
              </a:rPr>
              <a:t>Features, forecasts and user clusters</a:t>
            </a:r>
          </a:p>
        </p:txBody>
      </p:sp>
      <p:sp>
        <p:nvSpPr>
          <p:cNvPr id="30" name="BgM3"/>
          <p:cNvSpPr/>
          <p:nvPr/>
        </p:nvSpPr>
        <p:spPr>
          <a:xfrm>
            <a:off x="4685800" y="838000"/>
            <a:ext cx="2001600" cy="3700000"/>
          </a:xfrm>
          <a:prstGeom prst="rect">
            <a:avLst/>
          </a:prstGeom>
          <a:solidFill>
            <a:srgbClr val="162540"/>
          </a:solidFill>
          <a:ln w="19050">
            <a:solidFill>
              <a:srgbClr val="F9731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StripM3"/>
          <p:cNvSpPr/>
          <p:nvPr/>
        </p:nvSpPr>
        <p:spPr>
          <a:xfrm>
            <a:off x="4685800" y="838000"/>
            <a:ext cx="57150" cy="3700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2" name="HdrBandM3"/>
          <p:cNvSpPr/>
          <p:nvPr/>
        </p:nvSpPr>
        <p:spPr>
          <a:xfrm>
            <a:off x="4742950" y="838000"/>
            <a:ext cx="1944450" cy="420000"/>
          </a:xfrm>
          <a:prstGeom prst="rect">
            <a:avLst/>
          </a:prstGeom>
          <a:solidFill>
            <a:srgbClr val="F97316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" name="PillM3"/>
          <p:cNvSpPr/>
          <p:nvPr/>
        </p:nvSpPr>
        <p:spPr>
          <a:xfrm>
            <a:off x="4775800" y="900000"/>
            <a:ext cx="340000" cy="290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wrap="square" lIns="45720" tIns="0" rIns="45720" bIns="0" rtlCol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</a:rPr>
              <a:t>M3</a:t>
            </a:r>
          </a:p>
        </p:txBody>
      </p:sp>
      <p:sp>
        <p:nvSpPr>
          <p:cNvPr id="34" name="TitleM3"/>
          <p:cNvSpPr/>
          <p:nvPr/>
        </p:nvSpPr>
        <p:spPr>
          <a:xfrm>
            <a:off x="5145800" y="900000"/>
            <a:ext cx="1534450" cy="2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7316"/>
                </a:solidFill>
                <a:latin typeface="Calibri" pitchFamily="34" charset="0"/>
              </a:rPr>
              <a:t>Anomaly Detection</a:t>
            </a:r>
          </a:p>
        </p:txBody>
      </p:sp>
      <p:sp>
        <p:nvSpPr>
          <p:cNvPr id="35" name="BodyM3"/>
          <p:cNvSpPr/>
          <p:nvPr/>
        </p:nvSpPr>
        <p:spPr>
          <a:xfrm>
            <a:off x="4775800" y="1300000"/>
            <a:ext cx="1871600" cy="319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DCE8F5"/>
                </a:solidFill>
                <a:latin typeface="Calibri" pitchFamily="34" charset="0"/>
              </a:rPr>
              <a:t>Objective</a:t>
            </a:r>
          </a:p>
          <a:p>
            <a:pPr marL="0" indent="0">
              <a:lnSpc>
                <a:spcPts val="1250"/>
              </a:lnSpc>
              <a:spcAft>
                <a:spcPts val="300"/>
              </a:spcAft>
              <a:buNone/>
            </a:pPr>
            <a:r>
              <a:rPr lang="en-US" sz="850" i="1" dirty="0">
                <a:solidFill>
                  <a:srgbClr val="94A3B8"/>
                </a:solidFill>
                <a:latin typeface="Calibri Light" pitchFamily="34" charset="0"/>
              </a:rPr>
              <a:t>Flag unusual health patterns in HR, steps and sleep automatically.</a:t>
            </a:r>
          </a:p>
          <a:p>
            <a:pPr marL="0" indent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DCE8F5"/>
                </a:solidFill>
                <a:latin typeface="Calibri" pitchFamily="34" charset="0"/>
              </a:rPr>
              <a:t>What We Do</a:t>
            </a:r>
          </a:p>
          <a:p>
            <a:pPr marL="114300" indent="-114300">
              <a:lnSpc>
                <a:spcPts val="1250"/>
              </a:lnSpc>
              <a:buChar char="▸"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</a:rPr>
              <a:t>Threshold rules: HR &gt; 100 or &lt; 50 bpm, Steps &lt; 500/day</a:t>
            </a:r>
          </a:p>
          <a:p>
            <a:pPr marL="114300" indent="-114300">
              <a:lnSpc>
                <a:spcPts val="1250"/>
              </a:lnSpc>
              <a:buChar char="▸"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</a:rPr>
              <a:t>Residual ±2σ from 3-day rolling median baseline</a:t>
            </a:r>
          </a:p>
          <a:p>
            <a:pPr marL="114300" indent="-114300">
              <a:lnSpc>
                <a:spcPts val="1250"/>
              </a:lnSpc>
              <a:buChar char="▸"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</a:rPr>
              <a:t>DBSCAN structural outliers — user-level clustering</a:t>
            </a:r>
          </a:p>
          <a:p>
            <a:pPr marL="114300" indent="-114300">
              <a:lnSpc>
                <a:spcPts val="1250"/>
              </a:lnSpc>
              <a:buChar char="▸"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</a:rPr>
              <a:t>90%+ detection accuracy on simulated injected anomalies</a:t>
            </a:r>
          </a:p>
          <a:p>
            <a:pPr marL="0" indent="0">
              <a:lnSpc>
                <a:spcPts val="1250"/>
              </a:lnSpc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F97316"/>
                </a:solidFill>
                <a:latin typeface="Calibri" pitchFamily="34" charset="0"/>
              </a:rPr>
              <a:t>Output: </a:t>
            </a:r>
            <a:r>
              <a:rPr lang="en-US" sz="900" dirty="0">
                <a:solidFill>
                  <a:srgbClr val="94A3B8"/>
                </a:solidFill>
                <a:latin typeface="Calibri Light" pitchFamily="34" charset="0"/>
              </a:rPr>
              <a:t>Flagged anomaly records with reasons</a:t>
            </a:r>
          </a:p>
        </p:txBody>
      </p:sp>
      <p:sp>
        <p:nvSpPr>
          <p:cNvPr id="40" name="BgM4"/>
          <p:cNvSpPr/>
          <p:nvPr/>
        </p:nvSpPr>
        <p:spPr>
          <a:xfrm>
            <a:off x="6914400" y="838000"/>
            <a:ext cx="2001600" cy="3700000"/>
          </a:xfrm>
          <a:prstGeom prst="rect">
            <a:avLst/>
          </a:prstGeom>
          <a:solidFill>
            <a:srgbClr val="162540"/>
          </a:solidFill>
          <a:ln w="19050">
            <a:solidFill>
              <a:srgbClr val="A78BF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StripM4"/>
          <p:cNvSpPr/>
          <p:nvPr/>
        </p:nvSpPr>
        <p:spPr>
          <a:xfrm>
            <a:off x="6914400" y="838000"/>
            <a:ext cx="57150" cy="3700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HdrBandM4"/>
          <p:cNvSpPr/>
          <p:nvPr/>
        </p:nvSpPr>
        <p:spPr>
          <a:xfrm>
            <a:off x="6971550" y="838000"/>
            <a:ext cx="1944450" cy="420000"/>
          </a:xfrm>
          <a:prstGeom prst="rect">
            <a:avLst/>
          </a:prstGeom>
          <a:solidFill>
            <a:srgbClr val="A78BFA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" name="PillM4"/>
          <p:cNvSpPr/>
          <p:nvPr/>
        </p:nvSpPr>
        <p:spPr>
          <a:xfrm>
            <a:off x="7004400" y="900000"/>
            <a:ext cx="340000" cy="2900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 wrap="square" lIns="45720" tIns="0" rIns="45720" bIns="0" rtlCol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</a:rPr>
              <a:t>M4</a:t>
            </a:r>
          </a:p>
        </p:txBody>
      </p:sp>
      <p:sp>
        <p:nvSpPr>
          <p:cNvPr id="44" name="TitleM4"/>
          <p:cNvSpPr/>
          <p:nvPr/>
        </p:nvSpPr>
        <p:spPr>
          <a:xfrm>
            <a:off x="7374400" y="900000"/>
            <a:ext cx="1534450" cy="2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</a:rPr>
              <a:t>Insights Dashboard</a:t>
            </a:r>
          </a:p>
        </p:txBody>
      </p:sp>
      <p:sp>
        <p:nvSpPr>
          <p:cNvPr id="45" name="BodyM4"/>
          <p:cNvSpPr/>
          <p:nvPr/>
        </p:nvSpPr>
        <p:spPr>
          <a:xfrm>
            <a:off x="7004400" y="1300000"/>
            <a:ext cx="1871600" cy="3190000"/>
          </a:xfrm>
          <a:prstGeom prst="rect">
            <a:avLst/>
          </a:prstGeom>
          <a:noFill/>
          <a:ln>
            <a:noFill/>
          </a:ln>
        </p:spPr>
        <p:txBody>
          <a:bodyPr wrap="square" lIns="45720" tIns="45720" rIns="45720" bIns="4572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en-US" sz="1000" b="1" dirty="0">
                <a:solidFill>
                  <a:srgbClr val="DCE8F5"/>
                </a:solidFill>
                <a:latin typeface="Calibri" pitchFamily="34" charset="0"/>
              </a:rPr>
              <a:t>Objective</a:t>
            </a:r>
          </a:p>
          <a:p>
            <a:pPr marL="0" indent="0">
              <a:lnSpc>
                <a:spcPts val="1250"/>
              </a:lnSpc>
              <a:spcAft>
                <a:spcPts val="300"/>
              </a:spcAft>
              <a:buNone/>
            </a:pPr>
            <a:r>
              <a:rPr lang="en-US" sz="850" i="1" dirty="0">
                <a:solidFill>
                  <a:srgbClr val="94A3B8"/>
                </a:solidFill>
                <a:latin typeface="Calibri Light" pitchFamily="34" charset="0"/>
              </a:rPr>
              <a:t>Deliver a live, filterable dashboard with one-click reports.</a:t>
            </a:r>
          </a:p>
          <a:p>
            <a:pPr marL="0" indent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DCE8F5"/>
                </a:solidFill>
                <a:latin typeface="Calibri" pitchFamily="34" charset="0"/>
              </a:rPr>
              <a:t>What We Do</a:t>
            </a:r>
          </a:p>
          <a:p>
            <a:pPr marL="114300" indent="-114300">
              <a:lnSpc>
                <a:spcPts val="1250"/>
              </a:lnSpc>
              <a:buChar char="▸"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</a:rPr>
              <a:t>6 live KPI cards: flags, HR, Steps, Sleep, users, peak day</a:t>
            </a:r>
          </a:p>
          <a:p>
            <a:pPr marL="114300" indent="-114300">
              <a:lnSpc>
                <a:spcPts val="1250"/>
              </a:lnSpc>
              <a:buChar char="▸"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</a:rPr>
              <a:t>Date range and per-user filters in the sidebar</a:t>
            </a:r>
          </a:p>
          <a:p>
            <a:pPr marL="114300" indent="-114300">
              <a:lnSpc>
                <a:spcPts val="1250"/>
              </a:lnSpc>
              <a:buChar char="▸"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</a:rPr>
              <a:t>Combined anomaly timeline and per-metric deep-dive tabs</a:t>
            </a:r>
          </a:p>
          <a:p>
            <a:pPr marL="114300" indent="-114300">
              <a:lnSpc>
                <a:spcPts val="1250"/>
              </a:lnSpc>
              <a:buChar char="▸"/>
            </a:pPr>
            <a:r>
              <a:rPr lang="en-US" sz="900" dirty="0">
                <a:solidFill>
                  <a:srgbClr val="94A3B8"/>
                </a:solidFill>
                <a:latin typeface="Calibri Light" pitchFamily="34" charset="0"/>
              </a:rPr>
              <a:t>Export: PDF report (9 sections) + full CSV anomaly log</a:t>
            </a:r>
          </a:p>
          <a:p>
            <a:pPr marL="0" indent="0">
              <a:lnSpc>
                <a:spcPts val="1250"/>
              </a:lnSpc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A78BFA"/>
                </a:solidFill>
                <a:latin typeface="Calibri" pitchFamily="34" charset="0"/>
              </a:rPr>
              <a:t>Output: </a:t>
            </a:r>
            <a:r>
              <a:rPr lang="en-US" sz="900" dirty="0">
                <a:solidFill>
                  <a:srgbClr val="94A3B8"/>
                </a:solidFill>
                <a:latin typeface="Calibri Light" pitchFamily="34" charset="0"/>
              </a:rPr>
              <a:t>PDF and CSV reports for doctors and coaches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162A41"/>
          </a:solidFill>
          <a:ln w="12700">
            <a:solidFill>
              <a:srgbClr val="162A4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4864" cy="51435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A78BFA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274320" y="25603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306324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&amp;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457200"/>
            <a:ext cx="502920" cy="5029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0" y="457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0" y="4754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CSV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212080" y="713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uploads a fitness tracking CSV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1554480"/>
            <a:ext cx="502920" cy="5029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57200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12080" y="15727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12080" y="1810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raw data, check missing values &amp; types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2651760"/>
            <a:ext cx="502920" cy="5029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572000" y="2651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12080" y="2670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12080" y="29077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dates, interpolate numbers, fill categories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3749040"/>
            <a:ext cx="502920" cy="5029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572000" y="3749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0" y="3767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212080" y="4005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outliers with Box Plot &amp; Histogram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1E58C6-7B4F-C333-2B1E-BD128263F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2CF5222-6800-E898-9558-38B023143111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19BFBCC-B99F-91C1-9B7B-C3A15F7DD764}"/>
              </a:ext>
            </a:extLst>
          </p:cNvPr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1 — Key Features</a:t>
            </a:r>
            <a:endParaRPr lang="en-US" sz="28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2E0334B-D1F8-5362-5E17-3E7FBFA5B1B8}"/>
              </a:ext>
            </a:extLst>
          </p:cNvPr>
          <p:cNvSpPr/>
          <p:nvPr/>
        </p:nvSpPr>
        <p:spPr>
          <a:xfrm>
            <a:off x="365760" y="914400"/>
            <a:ext cx="2834640" cy="3840480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26789EB-93D9-61A5-AE13-48AA2436B6DD}"/>
              </a:ext>
            </a:extLst>
          </p:cNvPr>
          <p:cNvSpPr/>
          <p:nvPr/>
        </p:nvSpPr>
        <p:spPr>
          <a:xfrm>
            <a:off x="365760" y="914400"/>
            <a:ext cx="2834640" cy="4114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8328066-D57B-67AC-7E92-17E3137AF827}"/>
              </a:ext>
            </a:extLst>
          </p:cNvPr>
          <p:cNvSpPr/>
          <p:nvPr/>
        </p:nvSpPr>
        <p:spPr>
          <a:xfrm>
            <a:off x="457200" y="9144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Data Inspection</a:t>
            </a:r>
            <a:endParaRPr lang="en-US" sz="12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5F9159F2-6609-286B-CF21-F498EF791B54}"/>
              </a:ext>
            </a:extLst>
          </p:cNvPr>
          <p:cNvSpPr/>
          <p:nvPr/>
        </p:nvSpPr>
        <p:spPr>
          <a:xfrm>
            <a:off x="475488" y="141732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dataset preview — first 10 rows</a:t>
            </a:r>
            <a:endParaRPr lang="en-US" sz="11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8170753-E4AA-18BA-7F53-A4D6B387FA3E}"/>
              </a:ext>
            </a:extLst>
          </p:cNvPr>
          <p:cNvSpPr/>
          <p:nvPr/>
        </p:nvSpPr>
        <p:spPr>
          <a:xfrm>
            <a:off x="475488" y="2075688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 bar chart per column</a:t>
            </a:r>
            <a:endParaRPr lang="en-US" sz="11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37B1CCD-6483-32E7-4F98-D5FB5D32CF76}"/>
              </a:ext>
            </a:extLst>
          </p:cNvPr>
          <p:cNvSpPr/>
          <p:nvPr/>
        </p:nvSpPr>
        <p:spPr>
          <a:xfrm>
            <a:off x="475488" y="2734056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types table for all columns</a:t>
            </a:r>
            <a:endParaRPr lang="en-US" sz="11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A6245CE-DAB0-5EC9-0A1E-5428F6C68651}"/>
              </a:ext>
            </a:extLst>
          </p:cNvPr>
          <p:cNvSpPr/>
          <p:nvPr/>
        </p:nvSpPr>
        <p:spPr>
          <a:xfrm>
            <a:off x="475488" y="3392424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summary metrics — rows, columns, missing, completeness</a:t>
            </a:r>
            <a:endParaRPr lang="en-US" sz="11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0C908843-E3D7-6BF6-5E40-F75EBDC62B0D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2AC68CFC-A017-90B7-55D4-AD4251324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208231"/>
            <a:ext cx="5693194" cy="3051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774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1 — Key Features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2834640" cy="3840480"/>
          </a:xfrm>
          <a:prstGeom prst="rect">
            <a:avLst/>
          </a:prstGeom>
          <a:solidFill>
            <a:srgbClr val="162A41"/>
          </a:solidFill>
          <a:ln w="12700">
            <a:solidFill>
              <a:srgbClr val="A78BF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2834640" cy="41148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🧹  Data Cleaning Engine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" y="141732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 date columns to proper format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" y="2075688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Interpolate missing numeric values (linear method)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" y="2734056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empty text columns with 'Unknown'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" y="3392424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cleaned CSV after processing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66EFFBF5-BD0A-9834-86ED-E0EA0038E0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0128" y="1371650"/>
            <a:ext cx="5686772" cy="30403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B7160E-63E9-8EF4-3064-DCBB0018D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CD397C-A389-20F7-946B-9CA98C158A84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3D743A2-2D66-4C09-6877-709B65FC0FA6}"/>
              </a:ext>
            </a:extLst>
          </p:cNvPr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1 — Key Features</a:t>
            </a:r>
            <a:endParaRPr lang="en-US" sz="28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1C4F59AF-FB5A-18DD-16C1-08FEE7EE87F6}"/>
              </a:ext>
            </a:extLst>
          </p:cNvPr>
          <p:cNvSpPr/>
          <p:nvPr/>
        </p:nvSpPr>
        <p:spPr>
          <a:xfrm>
            <a:off x="365760" y="912736"/>
            <a:ext cx="2834640" cy="3840480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C8C1FAAD-5DD6-7A14-F1A7-4B0ABFDE4999}"/>
              </a:ext>
            </a:extLst>
          </p:cNvPr>
          <p:cNvSpPr/>
          <p:nvPr/>
        </p:nvSpPr>
        <p:spPr>
          <a:xfrm>
            <a:off x="365760" y="912736"/>
            <a:ext cx="2834640" cy="411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6A1A31CC-8EDE-C66D-7643-3917BA4BE88D}"/>
              </a:ext>
            </a:extLst>
          </p:cNvPr>
          <p:cNvSpPr/>
          <p:nvPr/>
        </p:nvSpPr>
        <p:spPr>
          <a:xfrm>
            <a:off x="457200" y="912736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Outlier Detection</a:t>
            </a:r>
            <a:endParaRPr lang="en-US" sz="12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91EBC83-28F1-D90F-A1DF-731655878A35}"/>
              </a:ext>
            </a:extLst>
          </p:cNvPr>
          <p:cNvSpPr/>
          <p:nvPr/>
        </p:nvSpPr>
        <p:spPr>
          <a:xfrm>
            <a:off x="475488" y="1415656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 method — Q1, Q3, and 1.5×IQR rule</a:t>
            </a:r>
            <a:endParaRPr lang="en-US" sz="11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64BDA08-FCC1-1370-4937-A4ADE685CD86}"/>
              </a:ext>
            </a:extLst>
          </p:cNvPr>
          <p:cNvSpPr/>
          <p:nvPr/>
        </p:nvSpPr>
        <p:spPr>
          <a:xfrm>
            <a:off x="475488" y="2074024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plot — shows normal range and outlier dots</a:t>
            </a:r>
            <a:endParaRPr lang="en-US" sz="11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C258D01-279C-371A-DA86-B8C3829927D2}"/>
              </a:ext>
            </a:extLst>
          </p:cNvPr>
          <p:cNvSpPr/>
          <p:nvPr/>
        </p:nvSpPr>
        <p:spPr>
          <a:xfrm>
            <a:off x="475488" y="2732392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 — frequency distribution with outlier zones</a:t>
            </a:r>
            <a:endParaRPr lang="en-US" sz="11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4442202A-302D-D56F-D003-791AC979E1F5}"/>
              </a:ext>
            </a:extLst>
          </p:cNvPr>
          <p:cNvSpPr/>
          <p:nvPr/>
        </p:nvSpPr>
        <p:spPr>
          <a:xfrm>
            <a:off x="475488" y="3390760"/>
            <a:ext cx="2606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and Median reference lines on histogram</a:t>
            </a:r>
            <a:endParaRPr lang="en-US" sz="11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9BA846EB-E8DD-B3F2-A788-82642F3032F5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F4B0EB1-3B1F-0D42-0625-C417558EF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5678" y="1415656"/>
            <a:ext cx="5433069" cy="3021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59584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162A41"/>
          </a:solidFill>
          <a:ln w="12700">
            <a:solidFill>
              <a:srgbClr val="162A4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4864" cy="51435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38BDF8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274320" y="25603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306324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Modelling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457200"/>
            <a:ext cx="502920" cy="5029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0" y="457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0" y="4754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Files Merged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212080" y="713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activity, heart rate, sleep, steps, hourly intensity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1554480"/>
            <a:ext cx="502920" cy="5029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57200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12080" y="15727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TSFresh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12080" y="1810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10 features from 196K+ heart rate readings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2651760"/>
            <a:ext cx="502920" cy="5029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572000" y="2651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12080" y="2670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Forecast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12080" y="29077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next 30 days — heart rate, steps, sleep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3749040"/>
            <a:ext cx="502920" cy="5029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572000" y="3749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0" y="3767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212080" y="4005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KMeans + DBSCAN + PCA + t-SNE group visualisation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2 — Data Pipeline &amp; Feature Extraction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5430794" y="777240"/>
            <a:ext cx="3438885" cy="3822192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5430794" y="777240"/>
            <a:ext cx="3438885" cy="35673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5485690" y="777240"/>
            <a:ext cx="3292549" cy="3567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TSFresh Feature Extraction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22274" y="1261872"/>
            <a:ext cx="3255966" cy="552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196,537 heart rate readings → 10 features per user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522274" y="1947672"/>
            <a:ext cx="3255966" cy="552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Mean, Median, Variance, Max, Min, Standard Deviation, Root Mean Square, Sum, Absolute Max, Length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522274" y="2633472"/>
            <a:ext cx="3255966" cy="552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MinimalFCParameters used for speed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522274" y="3319272"/>
            <a:ext cx="3255966" cy="552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shown as normalised heatmap (0 = lowest, 1 = highest among all users)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522274" y="4005072"/>
            <a:ext cx="3255966" cy="552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heart rate only? Steps &amp; sleep are already 1 number per day. Heart rate has 50,000+ raw readings that need summarising.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9B6108F1-729C-CFE5-3559-3BBFD206D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333" y="1188720"/>
            <a:ext cx="5073854" cy="29462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8F4E6B-1DB1-C665-77FF-A0D7E94EA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F9809C5-F345-ABD5-DC10-8AD74F546A3B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BC975C-E97E-03BA-973C-AD732C107026}"/>
              </a:ext>
            </a:extLst>
          </p:cNvPr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Forecasting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A7F49B7-53F9-7F01-96FD-1E7F05096700}"/>
              </a:ext>
            </a:extLst>
          </p:cNvPr>
          <p:cNvSpPr/>
          <p:nvPr/>
        </p:nvSpPr>
        <p:spPr>
          <a:xfrm>
            <a:off x="36576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Prophet?</a:t>
            </a:r>
            <a:endParaRPr lang="en-US" sz="1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25C2C71-8FD6-3102-563C-32220893E425}"/>
              </a:ext>
            </a:extLst>
          </p:cNvPr>
          <p:cNvSpPr/>
          <p:nvPr/>
        </p:nvSpPr>
        <p:spPr>
          <a:xfrm>
            <a:off x="365760" y="10972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is a Facebook-developed time series forecasting tool. It looks at historical data and predicts future values while accounting for weekly seasonality and uncertainty.</a:t>
            </a:r>
            <a:endParaRPr lang="en-US" sz="12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495BCA7-734A-0BF7-902E-31D589277BBE}"/>
              </a:ext>
            </a:extLst>
          </p:cNvPr>
          <p:cNvSpPr/>
          <p:nvPr/>
        </p:nvSpPr>
        <p:spPr>
          <a:xfrm>
            <a:off x="274320" y="1737360"/>
            <a:ext cx="2743200" cy="2560320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A6A7638-A910-9FA0-AD53-2A386412B1E1}"/>
              </a:ext>
            </a:extLst>
          </p:cNvPr>
          <p:cNvSpPr/>
          <p:nvPr/>
        </p:nvSpPr>
        <p:spPr>
          <a:xfrm>
            <a:off x="274320" y="1737360"/>
            <a:ext cx="2743200" cy="38404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483FCD1-8CC7-40C3-2F11-BA5F59292A3A}"/>
              </a:ext>
            </a:extLst>
          </p:cNvPr>
          <p:cNvSpPr/>
          <p:nvPr/>
        </p:nvSpPr>
        <p:spPr>
          <a:xfrm>
            <a:off x="365760" y="173736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💓  Heart Rate</a:t>
            </a:r>
            <a:endParaRPr lang="en-US" sz="13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0D0ACB3-DFB2-283E-4943-ECA717CDCE96}"/>
              </a:ext>
            </a:extLst>
          </p:cNvPr>
          <p:cNvSpPr/>
          <p:nvPr/>
        </p:nvSpPr>
        <p:spPr>
          <a:xfrm>
            <a:off x="365760" y="21945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average heart rate</a:t>
            </a:r>
            <a:endParaRPr lang="en-US" sz="11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26B7D9D-C057-C0E6-DD60-FC0C44D1090F}"/>
              </a:ext>
            </a:extLst>
          </p:cNvPr>
          <p:cNvSpPr/>
          <p:nvPr/>
        </p:nvSpPr>
        <p:spPr>
          <a:xfrm>
            <a:off x="365760" y="28346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Teal dots = actual values</a:t>
            </a:r>
            <a:endParaRPr lang="en-US" sz="11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0DFA6E6-9C55-C2E6-220E-D5CC24B1EC8C}"/>
              </a:ext>
            </a:extLst>
          </p:cNvPr>
          <p:cNvSpPr/>
          <p:nvPr/>
        </p:nvSpPr>
        <p:spPr>
          <a:xfrm>
            <a:off x="365760" y="347472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Teal shaded band = 80% CI</a:t>
            </a:r>
            <a:endParaRPr lang="en-US" sz="11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060C0C5D-D070-1451-0140-CEA9926A55AD}"/>
              </a:ext>
            </a:extLst>
          </p:cNvPr>
          <p:cNvSpPr/>
          <p:nvPr/>
        </p:nvSpPr>
        <p:spPr>
          <a:xfrm>
            <a:off x="274320" y="4434840"/>
            <a:ext cx="8595360" cy="548640"/>
          </a:xfrm>
          <a:prstGeom prst="rect">
            <a:avLst/>
          </a:prstGeom>
          <a:solidFill>
            <a:srgbClr val="162A41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152C6829-D038-34A1-89C4-C67BA41CC1DE}"/>
              </a:ext>
            </a:extLst>
          </p:cNvPr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forecast  ·  80% Confidence Interval shown  ·  CI Upper &amp; Lower visible on hover  ·  Orange dashed line = forecast start</a:t>
            </a:r>
            <a:endParaRPr lang="en-US" sz="12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3B2551FF-4F4E-EB8D-576E-8378678AE942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E87F665-DA05-6437-66CE-6417380532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7778" y="1815327"/>
            <a:ext cx="5480462" cy="2290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4623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Forecasting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365760" y="1106424"/>
            <a:ext cx="2743200" cy="2560320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365760" y="1106424"/>
            <a:ext cx="2743200" cy="3840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57200" y="1106424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👟  Daily Steps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1563624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steps per day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2203704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dots = actual values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2843784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shaded band = 80% CI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434840"/>
            <a:ext cx="8595360" cy="548640"/>
          </a:xfrm>
          <a:prstGeom prst="rect">
            <a:avLst/>
          </a:prstGeom>
          <a:solidFill>
            <a:srgbClr val="162A41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forecast  ·  80% Confidence Interval shown  ·  CI Upper &amp; Lower visible on hover  ·  Orange dashed line = forecast start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921023A1-B618-BA69-421D-26A939FAE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935" y="1281299"/>
            <a:ext cx="5504213" cy="233058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F1057E-D96D-3E73-644E-354749A03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5789E8D-A063-52AF-D97F-4E9334102066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0EDB4DC-A7CF-3F31-9CB3-3DD4F392321B}"/>
              </a:ext>
            </a:extLst>
          </p:cNvPr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Forecasting</a:t>
            </a:r>
            <a:endParaRPr lang="en-US" sz="28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BCE90F29-D271-DA40-5052-572A6371CD95}"/>
              </a:ext>
            </a:extLst>
          </p:cNvPr>
          <p:cNvSpPr/>
          <p:nvPr/>
        </p:nvSpPr>
        <p:spPr>
          <a:xfrm>
            <a:off x="365760" y="1072341"/>
            <a:ext cx="2743200" cy="2560320"/>
          </a:xfrm>
          <a:prstGeom prst="rect">
            <a:avLst/>
          </a:prstGeom>
          <a:solidFill>
            <a:srgbClr val="162A41"/>
          </a:solidFill>
          <a:ln w="12700">
            <a:solidFill>
              <a:srgbClr val="A78BF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3BF87823-96DB-CD37-C72C-D5AC45729AA6}"/>
              </a:ext>
            </a:extLst>
          </p:cNvPr>
          <p:cNvSpPr/>
          <p:nvPr/>
        </p:nvSpPr>
        <p:spPr>
          <a:xfrm>
            <a:off x="365760" y="1072341"/>
            <a:ext cx="2743200" cy="3840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6A4E7A81-A02B-8820-7B4B-B6CC770D4131}"/>
              </a:ext>
            </a:extLst>
          </p:cNvPr>
          <p:cNvSpPr/>
          <p:nvPr/>
        </p:nvSpPr>
        <p:spPr>
          <a:xfrm>
            <a:off x="457200" y="1072341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😴  Sleep</a:t>
            </a:r>
            <a:endParaRPr lang="en-US" sz="13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0D227DA-1C6A-464C-0215-FC876571D8D9}"/>
              </a:ext>
            </a:extLst>
          </p:cNvPr>
          <p:cNvSpPr/>
          <p:nvPr/>
        </p:nvSpPr>
        <p:spPr>
          <a:xfrm>
            <a:off x="457200" y="1529541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sleep in minutes/day</a:t>
            </a:r>
            <a:endParaRPr lang="en-US" sz="11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A10B8379-D5BC-E081-C565-4D973B4F9F23}"/>
              </a:ext>
            </a:extLst>
          </p:cNvPr>
          <p:cNvSpPr/>
          <p:nvPr/>
        </p:nvSpPr>
        <p:spPr>
          <a:xfrm>
            <a:off x="457200" y="2169621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dots = actual values</a:t>
            </a:r>
            <a:endParaRPr lang="en-US" sz="11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CC4530E2-A1DE-4781-9C27-6D46325BA347}"/>
              </a:ext>
            </a:extLst>
          </p:cNvPr>
          <p:cNvSpPr/>
          <p:nvPr/>
        </p:nvSpPr>
        <p:spPr>
          <a:xfrm>
            <a:off x="457200" y="2809701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shaded band = 80% CI</a:t>
            </a:r>
            <a:endParaRPr lang="en-US" sz="11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771288EB-E224-36E7-6FF6-D39824723165}"/>
              </a:ext>
            </a:extLst>
          </p:cNvPr>
          <p:cNvSpPr/>
          <p:nvPr/>
        </p:nvSpPr>
        <p:spPr>
          <a:xfrm>
            <a:off x="274320" y="4434840"/>
            <a:ext cx="8595360" cy="548640"/>
          </a:xfrm>
          <a:prstGeom prst="rect">
            <a:avLst/>
          </a:prstGeom>
          <a:solidFill>
            <a:srgbClr val="162A41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C3F7B502-BC3C-1622-F011-3E4F26D76220}"/>
              </a:ext>
            </a:extLst>
          </p:cNvPr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forecast  ·  80% Confidence Interval shown  ·  CI Upper &amp; Lower visible on hover  ·  Orange dashed line = forecast start</a:t>
            </a:r>
            <a:endParaRPr lang="en-US" sz="12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D3F7D493-822D-32F0-4500-95B59023EBDE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9CF242E1-B712-A6DB-CAE4-F66402514D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4466" y="1264365"/>
            <a:ext cx="5581403" cy="2340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4159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Clustering &amp; Visualisation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114800" cy="1920240"/>
          </a:xfrm>
          <a:prstGeom prst="rect">
            <a:avLst/>
          </a:prstGeom>
          <a:solidFill>
            <a:srgbClr val="162A41"/>
          </a:solidFill>
          <a:ln w="12700">
            <a:solidFill>
              <a:srgbClr val="A78BF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14800" cy="36576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KMeans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choose number of groups (k)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" y="1618488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Elbow Chart to find best k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11480" y="1975104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user forced into exactly one group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2331720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Groups: Highly Active / Moderate / Sedentary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926080"/>
            <a:ext cx="4114800" cy="1920240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274320" y="2926080"/>
            <a:ext cx="4114800" cy="3657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65760" y="2926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" y="3364992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Auto-detects number of groups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11480" y="3721608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 = friendship radius between users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4078224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= users who don't fit any group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4434840"/>
            <a:ext cx="3931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dots = outliers on the chart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63440" y="7772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 Methods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63440" y="1188720"/>
            <a:ext cx="54864" cy="10058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4773168" y="1188720"/>
            <a:ext cx="4114800" cy="1005840"/>
          </a:xfrm>
          <a:prstGeom prst="rect">
            <a:avLst/>
          </a:prstGeom>
          <a:solidFill>
            <a:srgbClr val="162A41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892040" y="12618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92040" y="15361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Squashes 20+ columns into 2 dimensions so we can plot users on a chart. Dimension 1 = 50% info.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2468880"/>
            <a:ext cx="54864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4773168" y="2468880"/>
            <a:ext cx="4114800" cy="1005840"/>
          </a:xfrm>
          <a:prstGeom prst="rect">
            <a:avLst/>
          </a:prstGeom>
          <a:solidFill>
            <a:srgbClr val="162A41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4892040" y="25420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t-SNE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92040" y="281635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PCA at separating close groups visually. Takes ~20 seconds to compute.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63440" y="3749040"/>
            <a:ext cx="54864" cy="10058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4773168" y="3749040"/>
            <a:ext cx="4114800" cy="1005840"/>
          </a:xfrm>
          <a:prstGeom prst="rect">
            <a:avLst/>
          </a:prstGeom>
          <a:solidFill>
            <a:srgbClr val="162A41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4892040" y="3822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Profiles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92040" y="409651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 showing average steps, sleep, calories, heart rate per group side by side.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CF9A20-4B56-58B8-7F10-9E578F52D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E020D5-06F8-079B-398F-30937B95BD0F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4276AC4-FEB1-DC6D-E2B2-5014F59DBA30}"/>
              </a:ext>
            </a:extLst>
          </p:cNvPr>
          <p:cNvSpPr/>
          <p:nvPr/>
        </p:nvSpPr>
        <p:spPr>
          <a:xfrm>
            <a:off x="351510" y="7315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Screenshots: </a:t>
            </a:r>
          </a:p>
          <a:p>
            <a:pPr marL="0" indent="0">
              <a:buNone/>
            </a:pPr>
            <a:endParaRPr lang="en-US" sz="1200" b="1" dirty="0">
              <a:solidFill>
                <a:srgbClr val="A78BF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– K-means and DBSCAN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4C944FEE-FBE0-8392-9D23-D5A4A0E03D5E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870FEA-0229-1861-BE23-C5FC54D44D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7450" y="1327668"/>
            <a:ext cx="6769100" cy="336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0867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F072B0-C046-34A2-D216-0CF51BDEC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E4DB04E-C568-94FC-246D-EB95BA9F7416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950B5EA-5483-80CB-F8A0-6A66C877C386}"/>
              </a:ext>
            </a:extLst>
          </p:cNvPr>
          <p:cNvSpPr/>
          <p:nvPr/>
        </p:nvSpPr>
        <p:spPr>
          <a:xfrm>
            <a:off x="351510" y="7315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Screenshots: </a:t>
            </a:r>
          </a:p>
          <a:p>
            <a:pPr marL="0" indent="0">
              <a:buNone/>
            </a:pPr>
            <a:endParaRPr lang="en-US" sz="1200" b="1" dirty="0">
              <a:solidFill>
                <a:srgbClr val="A78BF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values of groups – Bar Graph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18C3B71A-4969-9373-1B6F-E16A43290E83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ECA5500-8DD8-7320-1645-6120494510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2607" y="1280160"/>
            <a:ext cx="5330285" cy="3406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6583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11480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105156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and cleaned 5 Fitbit sensor files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411480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846320" y="100584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303520" y="105156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merged master dataset (one row per user per day)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194560"/>
            <a:ext cx="411480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57200" y="228600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14400" y="233172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TSFresh extracted 10 features from 196K+ heart rate readings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194560"/>
            <a:ext cx="411480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846320" y="228600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303520" y="233172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forecasted Heart Rate, Steps &amp; Sleep for 30 days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474720"/>
            <a:ext cx="411480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A78BF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57200" y="356616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4400" y="361188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KMeans and DBSCAN clustered users by fitness behaviour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3474720"/>
            <a:ext cx="411480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6366F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846320" y="356616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303520" y="3611880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and t-SNE visualised groups in 2D plots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162A41"/>
          </a:solidFill>
          <a:ln w="12700">
            <a:solidFill>
              <a:srgbClr val="162A4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4114800" y="0"/>
            <a:ext cx="54864" cy="51435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EF4444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274320" y="25603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306324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Visualization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457200"/>
            <a:ext cx="50292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0" y="457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0" y="4754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5 CSV files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212080" y="713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to M3 pipeline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1554480"/>
            <a:ext cx="50292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57200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12080" y="15727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Violations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12080" y="1810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Hard-coded limits on HR, Steps &amp; Sleep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2651760"/>
            <a:ext cx="50292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572000" y="2651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212080" y="2670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Residual-Based Detection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12080" y="29077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median ±2σ baseline anomalies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3749040"/>
            <a:ext cx="50292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572000" y="3749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0" y="3767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 Structural Outliers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212080" y="4005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with abnormal profiles across all metrics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3 — Three Anomaly Detection Methods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01168" y="822960"/>
            <a:ext cx="2834640" cy="4114800"/>
          </a:xfrm>
          <a:prstGeom prst="rect">
            <a:avLst/>
          </a:prstGeom>
          <a:solidFill>
            <a:srgbClr val="162A41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01168" y="822960"/>
            <a:ext cx="2834640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292608" y="822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 Threshold Violations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0896" y="1371600"/>
            <a:ext cx="261518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Hard-coded upper and lower limits on Heart Rate, Steps, and Sleep. Simple, fast, and interpretable. Flags absolute out-of-range values immediately.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10896" y="2651760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Parameters: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0896" y="2944368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Rate: 40 – 120 bpm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0896" y="3282696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Steps: 1,000 – 25,000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0896" y="3621024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Sleep: 180 – 720 minutes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78608" y="86868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172968" y="822960"/>
            <a:ext cx="2834640" cy="4114800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172968" y="822960"/>
            <a:ext cx="2834640" cy="4572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264408" y="822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Residual-Based Detection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82696" y="1371600"/>
            <a:ext cx="261518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7-day rolling median is computed as the expected baseline. Any day where the actual value deviates by more than ±2 standard deviations is flagged as a statistical anomaly.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282696" y="2651760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Parameters: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82696" y="2944368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Window: 7-day rolling median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82696" y="3282696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±2 standard deviations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82696" y="3621024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sudden spikes / drops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50408" y="86868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44768" y="822960"/>
            <a:ext cx="2834640" cy="4114800"/>
          </a:xfrm>
          <a:prstGeom prst="rect">
            <a:avLst/>
          </a:prstGeom>
          <a:solidFill>
            <a:srgbClr val="162A41"/>
          </a:solidFill>
          <a:ln w="12700">
            <a:solidFill>
              <a:srgbClr val="A78BFA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6144768" y="822960"/>
            <a:ext cx="2834640" cy="4572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236208" y="8229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 DBSCAN Outlier Detection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54496" y="1371600"/>
            <a:ext cx="261518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clustering on aggregated user profiles. Users labelled -1 (do not fit any cluster) are structural outliers across all health dimensions.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54496" y="2651760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Parameters: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54496" y="2944368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 = 2.5, min_samples = 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54496" y="3282696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average profile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54496" y="3621024"/>
            <a:ext cx="26151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-1 = structural outlier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522208" y="86868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768E6E-2587-5557-3A01-94F59D6F8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DF78846-624B-CFD7-250F-096A7EB7C754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1C87119-6D98-655A-D04E-22943D4ABFEE}"/>
              </a:ext>
            </a:extLst>
          </p:cNvPr>
          <p:cNvSpPr/>
          <p:nvPr/>
        </p:nvSpPr>
        <p:spPr>
          <a:xfrm>
            <a:off x="351510" y="7315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Screenshots: </a:t>
            </a:r>
          </a:p>
          <a:p>
            <a:pPr marL="0" indent="0">
              <a:buNone/>
            </a:pPr>
            <a:endParaRPr lang="en-US" sz="1200" b="1" dirty="0">
              <a:solidFill>
                <a:srgbClr val="A78BF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in Heart Rate 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A5E32511-F8B4-CE9A-0E93-EF03061653FA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4979A3-BFAB-7BD8-2E88-9CFF879FA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8670" y="1280160"/>
            <a:ext cx="4978159" cy="334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4882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336BE4-4258-33F2-0C0C-1E64D6E28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9720F0F-0E38-AF16-E60A-A317ED680CA5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610F598-FFD2-B188-5C7D-E99B15FAC520}"/>
              </a:ext>
            </a:extLst>
          </p:cNvPr>
          <p:cNvSpPr/>
          <p:nvPr/>
        </p:nvSpPr>
        <p:spPr>
          <a:xfrm>
            <a:off x="351510" y="7315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Screenshots: </a:t>
            </a:r>
          </a:p>
          <a:p>
            <a:pPr marL="0" indent="0">
              <a:buNone/>
            </a:pPr>
            <a:endParaRPr lang="en-US" sz="1200" b="1" dirty="0">
              <a:solidFill>
                <a:srgbClr val="A78BF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in Sleep Rate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907A2AF2-E3A3-445D-E4A4-F75E82A89708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6C6E65-D8EC-D018-9C67-AA7947D84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121" y="1280160"/>
            <a:ext cx="4503097" cy="3221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1491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124B61-125F-23D1-0869-EF52C554D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BFB493A-1158-3C56-D627-F827DFB04CB0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A5A0FD-9078-4482-DB2F-DF0BE8E0CEED}"/>
              </a:ext>
            </a:extLst>
          </p:cNvPr>
          <p:cNvSpPr/>
          <p:nvPr/>
        </p:nvSpPr>
        <p:spPr>
          <a:xfrm>
            <a:off x="351510" y="7315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Screenshots: </a:t>
            </a:r>
          </a:p>
          <a:p>
            <a:pPr marL="0" indent="0">
              <a:buNone/>
            </a:pPr>
            <a:endParaRPr lang="en-US" sz="1200" b="1" dirty="0">
              <a:solidFill>
                <a:srgbClr val="A78BF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in Steps 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4AC09207-0A55-47CF-3ABC-A5E1BE7D5F6C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DF6D6C-E2FA-0B47-7867-5BA2A8DDF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560" y="1346239"/>
            <a:ext cx="5136380" cy="3576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2059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E08C4D-74E2-AEDC-F1ED-420E06322F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DCCC1DF-9067-457A-ACC8-3242AAD2F393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812C8AB-4680-C2D3-24E5-20F968FCE4FE}"/>
              </a:ext>
            </a:extLst>
          </p:cNvPr>
          <p:cNvSpPr/>
          <p:nvPr/>
        </p:nvSpPr>
        <p:spPr>
          <a:xfrm>
            <a:off x="351510" y="7315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Screenshots: </a:t>
            </a:r>
          </a:p>
          <a:p>
            <a:pPr marL="0" indent="0">
              <a:buNone/>
            </a:pPr>
            <a:endParaRPr lang="en-US" sz="1200" b="1" dirty="0">
              <a:solidFill>
                <a:srgbClr val="A78BF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 Outliers</a:t>
            </a:r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0548707C-7E9D-6918-C3C0-F5E27F3170D3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01AB84-500B-BB91-C0AD-120B3F852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919" y="1280160"/>
            <a:ext cx="5050161" cy="3513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75382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3 — Summary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143000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violations: HR, Steps, Sleep vs hard-coded clinical limits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846320" y="109728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303520" y="1143000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detection: 7-day rolling median ±2σ for all 3 metrics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0040" y="2267712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A78BFA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11480" y="2359152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8680" y="2404872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DBSCAN outliers: per-user profile clustering, label -1 = anomalous user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54880" y="2267712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846320" y="2359152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303520" y="2404872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anomaly heatmap — days with multiple simultaneous alerts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20040" y="3529584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EF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411480" y="3621024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68680" y="3666744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Downloadable anomaly report CSV with date, metric, value, method, and note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54880" y="3529584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6366F1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846320" y="3621024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303520" y="3666744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visualisation of structural outliers vs normal user clusters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BE7D89-8E09-4FC9-5EA9-C50E6E0B6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590062D-470F-A081-A41C-77007462F878}"/>
              </a:ext>
            </a:extLst>
          </p:cNvPr>
          <p:cNvSpPr/>
          <p:nvPr/>
        </p:nvSpPr>
        <p:spPr>
          <a:xfrm>
            <a:off x="0" y="0"/>
            <a:ext cx="4114800" cy="5143500"/>
          </a:xfrm>
          <a:prstGeom prst="rect">
            <a:avLst/>
          </a:prstGeom>
          <a:solidFill>
            <a:srgbClr val="162A41"/>
          </a:solidFill>
          <a:ln w="12700">
            <a:solidFill>
              <a:srgbClr val="162A41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4C3A488-80E6-69DB-6FD5-BACD4B2C215C}"/>
              </a:ext>
            </a:extLst>
          </p:cNvPr>
          <p:cNvSpPr/>
          <p:nvPr/>
        </p:nvSpPr>
        <p:spPr>
          <a:xfrm>
            <a:off x="4114800" y="0"/>
            <a:ext cx="54864" cy="51435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352CAD6-BDE0-8B29-287C-DC859A6CD622}"/>
              </a:ext>
            </a:extLst>
          </p:cNvPr>
          <p:cNvSpPr/>
          <p:nvPr/>
        </p:nvSpPr>
        <p:spPr>
          <a:xfrm>
            <a:off x="274320" y="109728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A78BFA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CDB95DC-AB5C-BA06-F719-4DA3C4988C5D}"/>
              </a:ext>
            </a:extLst>
          </p:cNvPr>
          <p:cNvSpPr/>
          <p:nvPr/>
        </p:nvSpPr>
        <p:spPr>
          <a:xfrm>
            <a:off x="274320" y="256032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4</a:t>
            </a:r>
            <a:endParaRPr lang="en-US" sz="22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587E46C-E00A-799E-5443-9E9777DC9DB1}"/>
              </a:ext>
            </a:extLst>
          </p:cNvPr>
          <p:cNvSpPr/>
          <p:nvPr/>
        </p:nvSpPr>
        <p:spPr>
          <a:xfrm>
            <a:off x="274320" y="306324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Dashboard</a:t>
            </a:r>
            <a:endParaRPr lang="en-US" sz="14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EA2140F-6A6E-BE85-851C-50DBD371C479}"/>
              </a:ext>
            </a:extLst>
          </p:cNvPr>
          <p:cNvSpPr/>
          <p:nvPr/>
        </p:nvSpPr>
        <p:spPr>
          <a:xfrm>
            <a:off x="4572000" y="457200"/>
            <a:ext cx="502920" cy="5029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B5F022C-12C4-65EE-0FDE-20C09F51BAE0}"/>
              </a:ext>
            </a:extLst>
          </p:cNvPr>
          <p:cNvSpPr/>
          <p:nvPr/>
        </p:nvSpPr>
        <p:spPr>
          <a:xfrm>
            <a:off x="4572000" y="457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0EBA5F5-A335-44F2-15C5-29EAA7E06068}"/>
              </a:ext>
            </a:extLst>
          </p:cNvPr>
          <p:cNvSpPr/>
          <p:nvPr/>
        </p:nvSpPr>
        <p:spPr>
          <a:xfrm>
            <a:off x="5212080" y="4754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CSV</a:t>
            </a:r>
            <a:endParaRPr lang="en-US" sz="14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142B826-0499-210D-F324-AB8C7568D7FC}"/>
              </a:ext>
            </a:extLst>
          </p:cNvPr>
          <p:cNvSpPr/>
          <p:nvPr/>
        </p:nvSpPr>
        <p:spPr>
          <a:xfrm>
            <a:off x="5212080" y="713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uploads a fitness tracking CSV file</a:t>
            </a: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FEB7E33-3268-82E3-9FEF-65C23D52A462}"/>
              </a:ext>
            </a:extLst>
          </p:cNvPr>
          <p:cNvSpPr/>
          <p:nvPr/>
        </p:nvSpPr>
        <p:spPr>
          <a:xfrm>
            <a:off x="4572000" y="1554480"/>
            <a:ext cx="502920" cy="5029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B4B7C45-96EE-67A2-1789-DA54E87AD882}"/>
              </a:ext>
            </a:extLst>
          </p:cNvPr>
          <p:cNvSpPr/>
          <p:nvPr/>
        </p:nvSpPr>
        <p:spPr>
          <a:xfrm>
            <a:off x="457200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B07FC16-2A54-25C8-15BF-F66AD82C8E01}"/>
              </a:ext>
            </a:extLst>
          </p:cNvPr>
          <p:cNvSpPr/>
          <p:nvPr/>
        </p:nvSpPr>
        <p:spPr>
          <a:xfrm>
            <a:off x="5212080" y="157276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</a:t>
            </a:r>
            <a:endParaRPr lang="en-US" sz="14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9B53127B-34DB-1539-42E2-26806D04BEB5}"/>
              </a:ext>
            </a:extLst>
          </p:cNvPr>
          <p:cNvSpPr/>
          <p:nvPr/>
        </p:nvSpPr>
        <p:spPr>
          <a:xfrm>
            <a:off x="5212080" y="1810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anomaly timeline and log</a:t>
            </a:r>
            <a:endParaRPr lang="en-US" sz="11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1BADF4D6-3C8C-8696-B0C3-3377B978F5C2}"/>
              </a:ext>
            </a:extLst>
          </p:cNvPr>
          <p:cNvSpPr/>
          <p:nvPr/>
        </p:nvSpPr>
        <p:spPr>
          <a:xfrm>
            <a:off x="4572000" y="2651760"/>
            <a:ext cx="502920" cy="5029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11A9BC1-D3E9-5264-1409-258811D32E14}"/>
              </a:ext>
            </a:extLst>
          </p:cNvPr>
          <p:cNvSpPr/>
          <p:nvPr/>
        </p:nvSpPr>
        <p:spPr>
          <a:xfrm>
            <a:off x="4572000" y="2651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3B324738-3C9C-BEE1-0D60-6347A67FEC6B}"/>
              </a:ext>
            </a:extLst>
          </p:cNvPr>
          <p:cNvSpPr/>
          <p:nvPr/>
        </p:nvSpPr>
        <p:spPr>
          <a:xfrm>
            <a:off x="5212080" y="2670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Dashboard</a:t>
            </a:r>
            <a:endParaRPr lang="en-US" sz="14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05BE7A8-5D95-0370-81F8-E74FFF00B52E}"/>
              </a:ext>
            </a:extLst>
          </p:cNvPr>
          <p:cNvSpPr/>
          <p:nvPr/>
        </p:nvSpPr>
        <p:spPr>
          <a:xfrm>
            <a:off x="5212080" y="29077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and anomaly record</a:t>
            </a:r>
            <a:endParaRPr lang="en-US" sz="11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C2829E68-AE82-1E12-7986-4ACF7BC3EE29}"/>
              </a:ext>
            </a:extLst>
          </p:cNvPr>
          <p:cNvSpPr/>
          <p:nvPr/>
        </p:nvSpPr>
        <p:spPr>
          <a:xfrm>
            <a:off x="4572000" y="3749040"/>
            <a:ext cx="502920" cy="5029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C88B4278-F7F2-4620-A250-5D0E63C0B703}"/>
              </a:ext>
            </a:extLst>
          </p:cNvPr>
          <p:cNvSpPr/>
          <p:nvPr/>
        </p:nvSpPr>
        <p:spPr>
          <a:xfrm>
            <a:off x="4572000" y="3749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0A1FA6CD-F6F3-A678-8C85-C1A419D3D076}"/>
              </a:ext>
            </a:extLst>
          </p:cNvPr>
          <p:cNvSpPr/>
          <p:nvPr/>
        </p:nvSpPr>
        <p:spPr>
          <a:xfrm>
            <a:off x="5212080" y="3767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Export</a:t>
            </a:r>
            <a:endParaRPr lang="en-US" sz="14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F2BB401C-72D9-88E2-293F-52AD0BF80773}"/>
              </a:ext>
            </a:extLst>
          </p:cNvPr>
          <p:cNvSpPr/>
          <p:nvPr/>
        </p:nvSpPr>
        <p:spPr>
          <a:xfrm>
            <a:off x="5212080" y="4005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anomaly record from three signals 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47304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3" name="Title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</a:rPr>
              <a:t>Milestone 4 — Interactive Dashboard</a:t>
            </a:r>
          </a:p>
        </p:txBody>
      </p:sp>
      <p:sp>
        <p:nvSpPr>
          <p:cNvPr id="4" name="Card1"/>
          <p:cNvSpPr/>
          <p:nvPr/>
        </p:nvSpPr>
        <p:spPr>
          <a:xfrm>
            <a:off x="320040" y="1005840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Icon1"/>
          <p:cNvSpPr/>
          <p:nvPr/>
        </p:nvSpPr>
        <p:spPr>
          <a:xfrm>
            <a:off x="411480" y="109728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0B981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6" name="Text1"/>
          <p:cNvSpPr/>
          <p:nvPr/>
        </p:nvSpPr>
        <p:spPr>
          <a:xfrm>
            <a:off x="868680" y="1097280"/>
            <a:ext cx="3520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</a:rPr>
              <a:t>Auto-Detect File Upload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</a:rPr>
              <a:t>All 5 CSV files auto-detected by column structure. One-click pipeline trigger builds master dataset.</a:t>
            </a:r>
          </a:p>
        </p:txBody>
      </p:sp>
      <p:sp>
        <p:nvSpPr>
          <p:cNvPr id="7" name="Card2"/>
          <p:cNvSpPr/>
          <p:nvPr/>
        </p:nvSpPr>
        <p:spPr>
          <a:xfrm>
            <a:off x="4754880" y="1005840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Icon2"/>
          <p:cNvSpPr/>
          <p:nvPr/>
        </p:nvSpPr>
        <p:spPr>
          <a:xfrm>
            <a:off x="4846320" y="109728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8BDF8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9" name="Text2"/>
          <p:cNvSpPr/>
          <p:nvPr/>
        </p:nvSpPr>
        <p:spPr>
          <a:xfrm>
            <a:off x="5303520" y="1097280"/>
            <a:ext cx="3520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</a:rPr>
              <a:t>Live KPI Dashboard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</a:rPr>
              <a:t>6 KPI cards: total flags, HR / Steps / Sleep anomalies, users, peak HR day.</a:t>
            </a:r>
          </a:p>
        </p:txBody>
      </p:sp>
      <p:sp>
        <p:nvSpPr>
          <p:cNvPr id="10" name="Card3"/>
          <p:cNvSpPr/>
          <p:nvPr/>
        </p:nvSpPr>
        <p:spPr>
          <a:xfrm>
            <a:off x="320040" y="2267712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A78BFA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Icon3"/>
          <p:cNvSpPr/>
          <p:nvPr/>
        </p:nvSpPr>
        <p:spPr>
          <a:xfrm>
            <a:off x="411480" y="2359152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78BFA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12" name="Text3"/>
          <p:cNvSpPr/>
          <p:nvPr/>
        </p:nvSpPr>
        <p:spPr>
          <a:xfrm>
            <a:off x="868680" y="2359152"/>
            <a:ext cx="3520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</a:rPr>
              <a:t>Date &amp; User Filters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</a:rPr>
              <a:t>Sidebar date-range picker and per-user selector. All charts and tables update instantly.</a:t>
            </a:r>
          </a:p>
        </p:txBody>
      </p:sp>
      <p:sp>
        <p:nvSpPr>
          <p:cNvPr id="13" name="Card4"/>
          <p:cNvSpPr/>
          <p:nvPr/>
        </p:nvSpPr>
        <p:spPr>
          <a:xfrm>
            <a:off x="4754880" y="2267712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F59E0B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Icon4"/>
          <p:cNvSpPr/>
          <p:nvPr/>
        </p:nvSpPr>
        <p:spPr>
          <a:xfrm>
            <a:off x="4846320" y="2359152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59E0B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15" name="Text4"/>
          <p:cNvSpPr/>
          <p:nvPr/>
        </p:nvSpPr>
        <p:spPr>
          <a:xfrm>
            <a:off x="5303520" y="2359152"/>
            <a:ext cx="3520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</a:rPr>
              <a:t>Combined Anomaly Timeline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</a:rPr>
              <a:t>Interactive scatter timeline showing all HR, Steps, Sleep anomaly events in one chart.</a:t>
            </a:r>
          </a:p>
        </p:txBody>
      </p:sp>
      <p:sp>
        <p:nvSpPr>
          <p:cNvPr id="16" name="Card5"/>
          <p:cNvSpPr/>
          <p:nvPr/>
        </p:nvSpPr>
        <p:spPr>
          <a:xfrm>
            <a:off x="320040" y="3529584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EF4444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Icon5"/>
          <p:cNvSpPr/>
          <p:nvPr/>
        </p:nvSpPr>
        <p:spPr>
          <a:xfrm>
            <a:off x="411480" y="3621024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F4444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18" name="Text5"/>
          <p:cNvSpPr/>
          <p:nvPr/>
        </p:nvSpPr>
        <p:spPr>
          <a:xfrm>
            <a:off x="868680" y="3621024"/>
            <a:ext cx="3520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</a:rPr>
              <a:t>PDF Report Export (ReportLab)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</a:rPr>
              <a:t>9-section PDF with anomaly tables, user profiles, methodology, and conclusions.</a:t>
            </a:r>
          </a:p>
        </p:txBody>
      </p:sp>
      <p:sp>
        <p:nvSpPr>
          <p:cNvPr id="19" name="Card6"/>
          <p:cNvSpPr/>
          <p:nvPr/>
        </p:nvSpPr>
        <p:spPr>
          <a:xfrm>
            <a:off x="4754880" y="3529584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6366F1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Icon6"/>
          <p:cNvSpPr/>
          <p:nvPr/>
        </p:nvSpPr>
        <p:spPr>
          <a:xfrm>
            <a:off x="4846320" y="3621024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366F1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21" name="Text6"/>
          <p:cNvSpPr/>
          <p:nvPr/>
        </p:nvSpPr>
        <p:spPr>
          <a:xfrm>
            <a:off x="5303520" y="3621024"/>
            <a:ext cx="3520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</a:rPr>
              <a:t>CSV Anomaly Export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</a:rPr>
              <a:t>All anomaly records (signal, date, value, expected, deviation, reason) in one CSV.</a:t>
            </a:r>
          </a:p>
        </p:txBody>
      </p:sp>
      <p:sp>
        <p:nvSpPr>
          <p:cNvPr id="22" name="BotBar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3" name="Title"/>
          <p:cNvSpPr/>
          <p:nvPr/>
        </p:nvSpPr>
        <p:spPr>
          <a:xfrm>
            <a:off x="365760" y="1200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</a:rPr>
              <a:t>Milestone 4 — Dashboard Deep Dive</a:t>
            </a:r>
          </a:p>
        </p:txBody>
      </p:sp>
      <p:sp>
        <p:nvSpPr>
          <p:cNvPr id="4" name="ColHead1"/>
          <p:cNvSpPr/>
          <p:nvPr/>
        </p:nvSpPr>
        <p:spPr>
          <a:xfrm>
            <a:off x="365760" y="791194"/>
            <a:ext cx="2103813" cy="472827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</a:rPr>
              <a:t>📊  Overview Tab</a:t>
            </a:r>
          </a:p>
        </p:txBody>
      </p:sp>
      <p:sp>
        <p:nvSpPr>
          <p:cNvPr id="5" name="ColContent1"/>
          <p:cNvSpPr/>
          <p:nvPr/>
        </p:nvSpPr>
        <p:spPr>
          <a:xfrm>
            <a:off x="365760" y="1191195"/>
            <a:ext cx="2103813" cy="3400580"/>
          </a:xfrm>
          <a:prstGeom prst="rect">
            <a:avLst/>
          </a:prstGeom>
          <a:solidFill>
            <a:srgbClr val="111F30"/>
          </a:solidFill>
          <a:ln w="12700">
            <a:solidFill>
              <a:srgbClr val="1E3A5F"/>
            </a:solidFill>
          </a:ln>
        </p:spPr>
        <p:txBody>
          <a:bodyPr wrap="square" lIns="160000" tIns="120000" rIns="120000" bIns="12000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DCE8F5"/>
                </a:solidFill>
                <a:latin typeface="Calibri" pitchFamily="34" charset="0"/>
              </a:rPr>
              <a:t>Combined Anomaly Timeline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Scatter plot (KPI Strips) showing HR (blue), Steps (green), Sleep (purple) anomaly events side by side on a shared timeline. Hover for date and reason.</a:t>
            </a:r>
          </a:p>
          <a:p>
            <a:pPr marL="0" indent="0">
              <a:buNone/>
            </a:pPr>
            <a:endParaRPr lang="en-US" sz="950" dirty="0">
              <a:solidFill>
                <a:srgbClr val="5A7A9A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100" dirty="0">
                <a:solidFill>
                  <a:srgbClr val="0D1B2A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DCE8F5"/>
                </a:solidFill>
                <a:latin typeface="Calibri" pitchFamily="34" charset="0"/>
              </a:rPr>
              <a:t>Recent Anomaly Log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Last 15 anomaly events (newest first) in a live feed-style log with signal, date, and reason.</a:t>
            </a:r>
          </a:p>
          <a:p>
            <a:pPr marL="0" indent="0">
              <a:buNone/>
            </a:pPr>
            <a:endParaRPr lang="en-US" sz="950" dirty="0">
              <a:solidFill>
                <a:srgbClr val="5A7A9A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100" dirty="0">
                <a:solidFill>
                  <a:srgbClr val="0D1B2A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DCE8F5"/>
                </a:solidFill>
                <a:latin typeface="Calibri" pitchFamily="34" charset="0"/>
              </a:rPr>
              <a:t>Deep-Dive Tabs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Separate tabs for Heart Rate, Steps, and Sleep with statistics panel + full anomaly records table.</a:t>
            </a:r>
          </a:p>
        </p:txBody>
      </p:sp>
      <p:sp>
        <p:nvSpPr>
          <p:cNvPr id="8" name="BotBar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txBody>
          <a:bodyPr/>
          <a:lstStyle/>
          <a:p>
            <a:endParaRPr lang="en-IN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26573CE-52EC-7A46-C47C-7DA5C6486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9336" y="885947"/>
            <a:ext cx="6214076" cy="35433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19F503-853D-CCE5-1E25-67705DD05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>
            <a:extLst>
              <a:ext uri="{FF2B5EF4-FFF2-40B4-BE49-F238E27FC236}">
                <a16:creationId xmlns:a16="http://schemas.microsoft.com/office/drawing/2014/main" id="{512C29BB-BD12-66CF-0757-A5AB789B79A5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EA4897D-8D0F-EF77-B342-9CF5182E1BEE}"/>
              </a:ext>
            </a:extLst>
          </p:cNvPr>
          <p:cNvSpPr/>
          <p:nvPr/>
        </p:nvSpPr>
        <p:spPr>
          <a:xfrm>
            <a:off x="365760" y="1200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</a:rPr>
              <a:t>Milestone 4 — Dashboard Deep Dive</a:t>
            </a:r>
          </a:p>
        </p:txBody>
      </p:sp>
      <p:sp>
        <p:nvSpPr>
          <p:cNvPr id="8" name="BotBar">
            <a:extLst>
              <a:ext uri="{FF2B5EF4-FFF2-40B4-BE49-F238E27FC236}">
                <a16:creationId xmlns:a16="http://schemas.microsoft.com/office/drawing/2014/main" id="{2C864947-4036-D658-13EC-DCD4E27E5EB1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9" name="ColHead1">
            <a:extLst>
              <a:ext uri="{FF2B5EF4-FFF2-40B4-BE49-F238E27FC236}">
                <a16:creationId xmlns:a16="http://schemas.microsoft.com/office/drawing/2014/main" id="{700424D0-7C6E-0F0F-2B7D-CC0B1EFAD0CA}"/>
              </a:ext>
            </a:extLst>
          </p:cNvPr>
          <p:cNvSpPr/>
          <p:nvPr/>
        </p:nvSpPr>
        <p:spPr>
          <a:xfrm>
            <a:off x="365760" y="811402"/>
            <a:ext cx="2436322" cy="493052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</a:rPr>
              <a:t>📊  Anomaly Detection Tab</a:t>
            </a:r>
          </a:p>
        </p:txBody>
      </p:sp>
      <p:sp>
        <p:nvSpPr>
          <p:cNvPr id="10" name="ColContent1">
            <a:extLst>
              <a:ext uri="{FF2B5EF4-FFF2-40B4-BE49-F238E27FC236}">
                <a16:creationId xmlns:a16="http://schemas.microsoft.com/office/drawing/2014/main" id="{409A8902-E0FC-D6AE-46E6-E118DCF5F015}"/>
              </a:ext>
            </a:extLst>
          </p:cNvPr>
          <p:cNvSpPr/>
          <p:nvPr/>
        </p:nvSpPr>
        <p:spPr>
          <a:xfrm>
            <a:off x="365760" y="1211402"/>
            <a:ext cx="2436322" cy="854904"/>
          </a:xfrm>
          <a:prstGeom prst="rect">
            <a:avLst/>
          </a:prstGeom>
          <a:solidFill>
            <a:srgbClr val="111F30"/>
          </a:solidFill>
          <a:ln w="12700">
            <a:solidFill>
              <a:srgbClr val="1E3A5F"/>
            </a:solidFill>
          </a:ln>
        </p:spPr>
        <p:txBody>
          <a:bodyPr wrap="square" lIns="160000" tIns="120000" rIns="120000" bIns="12000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DCE8F5"/>
                </a:solidFill>
                <a:latin typeface="Calibri" pitchFamily="34" charset="0"/>
              </a:rPr>
              <a:t>Individual Statistics and Anomaly Records – For Heart Rate, Steps Count, Sleep Rate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DAD5B00-814C-5C9B-4821-1A16D4FFC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9480" y="811402"/>
            <a:ext cx="4310741" cy="172429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DF2E40B-681E-6C08-5B34-704E0BAED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935698"/>
            <a:ext cx="3942608" cy="16886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918DD29-C11A-5D3B-B2B8-B88BB62CCD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0977" y="2966163"/>
            <a:ext cx="4396837" cy="174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0716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85D7F9-61C1-AEC5-7CBE-452E05E49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>
            <a:extLst>
              <a:ext uri="{FF2B5EF4-FFF2-40B4-BE49-F238E27FC236}">
                <a16:creationId xmlns:a16="http://schemas.microsoft.com/office/drawing/2014/main" id="{CEEBDBD1-BEBB-69B9-6873-5D56121B3BB5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F4A7EA58-0C59-828F-35ED-452BCE6378DE}"/>
              </a:ext>
            </a:extLst>
          </p:cNvPr>
          <p:cNvSpPr/>
          <p:nvPr/>
        </p:nvSpPr>
        <p:spPr>
          <a:xfrm>
            <a:off x="365760" y="1200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8BDF8"/>
                </a:solidFill>
                <a:latin typeface="Calibri" pitchFamily="34" charset="0"/>
              </a:rPr>
              <a:t>Milestone 4 — Dashboard Deep Dive</a:t>
            </a:r>
          </a:p>
        </p:txBody>
      </p:sp>
      <p:sp>
        <p:nvSpPr>
          <p:cNvPr id="6" name="ColHead2">
            <a:extLst>
              <a:ext uri="{FF2B5EF4-FFF2-40B4-BE49-F238E27FC236}">
                <a16:creationId xmlns:a16="http://schemas.microsoft.com/office/drawing/2014/main" id="{D50F4345-E64A-0CC7-172D-42B39D601E3C}"/>
              </a:ext>
            </a:extLst>
          </p:cNvPr>
          <p:cNvSpPr/>
          <p:nvPr/>
        </p:nvSpPr>
        <p:spPr>
          <a:xfrm>
            <a:off x="365760" y="750000"/>
            <a:ext cx="2133996" cy="431224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</a:rPr>
              <a:t>📥  Export Tab</a:t>
            </a:r>
          </a:p>
        </p:txBody>
      </p:sp>
      <p:sp>
        <p:nvSpPr>
          <p:cNvPr id="7" name="ColContent2">
            <a:extLst>
              <a:ext uri="{FF2B5EF4-FFF2-40B4-BE49-F238E27FC236}">
                <a16:creationId xmlns:a16="http://schemas.microsoft.com/office/drawing/2014/main" id="{4FD34148-36C8-7CE6-5D9C-85BE332C4FA7}"/>
              </a:ext>
            </a:extLst>
          </p:cNvPr>
          <p:cNvSpPr/>
          <p:nvPr/>
        </p:nvSpPr>
        <p:spPr>
          <a:xfrm>
            <a:off x="365760" y="1150000"/>
            <a:ext cx="2133996" cy="3600130"/>
          </a:xfrm>
          <a:prstGeom prst="rect">
            <a:avLst/>
          </a:prstGeom>
          <a:solidFill>
            <a:srgbClr val="111F30"/>
          </a:solidFill>
          <a:ln w="12700">
            <a:solidFill>
              <a:srgbClr val="1E3A5F"/>
            </a:solidFill>
          </a:ln>
        </p:spPr>
        <p:txBody>
          <a:bodyPr wrap="square" lIns="160000" tIns="120000" rIns="120000" bIns="12000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DCE8F5"/>
                </a:solidFill>
                <a:latin typeface="Calibri" pitchFamily="34" charset="0"/>
              </a:rPr>
              <a:t>PDF Report (9 Sections)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Dataset overview  ·  Anomaly summary  ·  Thresholds  ·  Methodology  ·  HR / Steps / Sleep tables  ·  User profiles  ·  Conclusion</a:t>
            </a:r>
          </a:p>
          <a:p>
            <a:pPr marL="0" indent="0">
              <a:buNone/>
            </a:pPr>
            <a:endParaRPr lang="en-US" sz="950" dirty="0">
              <a:solidFill>
                <a:srgbClr val="5A7A9A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100" dirty="0">
                <a:solidFill>
                  <a:srgbClr val="0D1B2A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DCE8F5"/>
                </a:solidFill>
                <a:latin typeface="Calibri" pitchFamily="34" charset="0"/>
              </a:rPr>
              <a:t>Built with ReportLab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No kaleido or chart image rendering required. Works on any server. Dark-themed pages, styled tables, page headers, and footer.</a:t>
            </a:r>
          </a:p>
          <a:p>
            <a:pPr marL="0" indent="0">
              <a:buNone/>
            </a:pPr>
            <a:endParaRPr lang="en-US" sz="950" dirty="0">
              <a:solidFill>
                <a:srgbClr val="5A7A9A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100" dirty="0">
                <a:solidFill>
                  <a:srgbClr val="0D1B2A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DCE8F5"/>
                </a:solidFill>
                <a:latin typeface="Calibri" pitchFamily="34" charset="0"/>
              </a:rPr>
              <a:t>CSV Anomaly Export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Combined file: signal, date, actual value, expected baseline, residual deviation, anomaly reason. Filtered by sidebar selection.</a:t>
            </a:r>
          </a:p>
          <a:p>
            <a:pPr marL="0" indent="0">
              <a:buNone/>
            </a:pPr>
            <a:endParaRPr lang="en-US" sz="950" dirty="0">
              <a:solidFill>
                <a:srgbClr val="5A7A9A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100" dirty="0">
                <a:solidFill>
                  <a:srgbClr val="0D1B2A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100" b="1" dirty="0">
                <a:solidFill>
                  <a:srgbClr val="DCE8F5"/>
                </a:solidFill>
                <a:latin typeface="Calibri" pitchFamily="34" charset="0"/>
              </a:rPr>
              <a:t>Completion Checklist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13-item verified checklist confirming all Milestone 4 deliverables completed.</a:t>
            </a:r>
          </a:p>
        </p:txBody>
      </p:sp>
      <p:sp>
        <p:nvSpPr>
          <p:cNvPr id="8" name="BotBar">
            <a:extLst>
              <a:ext uri="{FF2B5EF4-FFF2-40B4-BE49-F238E27FC236}">
                <a16:creationId xmlns:a16="http://schemas.microsoft.com/office/drawing/2014/main" id="{3C4B956C-7653-DD78-7113-7539A911CEE7}"/>
              </a:ext>
            </a:extLst>
          </p:cNvPr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txBody>
          <a:bodyPr/>
          <a:lstStyle/>
          <a:p>
            <a:endParaRPr lang="en-IN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3C80E8E-CB8F-C51F-80EA-CC19684E0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4458" y="1226827"/>
            <a:ext cx="6233318" cy="3107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17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3" name="Title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</a:rPr>
              <a:t>Milestone 4 — Summary</a:t>
            </a:r>
          </a:p>
        </p:txBody>
      </p:sp>
      <p:sp>
        <p:nvSpPr>
          <p:cNvPr id="4" name="C1bg"/>
          <p:cNvSpPr/>
          <p:nvPr/>
        </p:nvSpPr>
        <p:spPr>
          <a:xfrm>
            <a:off x="320040" y="1005840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I1"/>
          <p:cNvSpPr/>
          <p:nvPr/>
        </p:nvSpPr>
        <p:spPr>
          <a:xfrm>
            <a:off x="411480" y="109728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6" name="T1"/>
          <p:cNvSpPr/>
          <p:nvPr/>
        </p:nvSpPr>
        <p:spPr>
          <a:xfrm>
            <a:off x="868680" y="1143000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</a:rPr>
              <a:t>5 Fitbit CSV files loaded, merged, and cleaned automatically</a:t>
            </a:r>
          </a:p>
        </p:txBody>
      </p:sp>
      <p:sp>
        <p:nvSpPr>
          <p:cNvPr id="7" name="C2bg"/>
          <p:cNvSpPr/>
          <p:nvPr/>
        </p:nvSpPr>
        <p:spPr>
          <a:xfrm>
            <a:off x="4754880" y="1005840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I2"/>
          <p:cNvSpPr/>
          <p:nvPr/>
        </p:nvSpPr>
        <p:spPr>
          <a:xfrm>
            <a:off x="4846320" y="109728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9" name="T2"/>
          <p:cNvSpPr/>
          <p:nvPr/>
        </p:nvSpPr>
        <p:spPr>
          <a:xfrm>
            <a:off x="5303520" y="1143000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</a:rPr>
              <a:t>6-KPI summary strip (flags, HR, Steps, Sleep, users, peak day)</a:t>
            </a:r>
          </a:p>
        </p:txBody>
      </p:sp>
      <p:sp>
        <p:nvSpPr>
          <p:cNvPr id="10" name="C3bg"/>
          <p:cNvSpPr/>
          <p:nvPr/>
        </p:nvSpPr>
        <p:spPr>
          <a:xfrm>
            <a:off x="320040" y="2267712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A78BFA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I3"/>
          <p:cNvSpPr/>
          <p:nvPr/>
        </p:nvSpPr>
        <p:spPr>
          <a:xfrm>
            <a:off x="411480" y="2359152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12" name="T3"/>
          <p:cNvSpPr/>
          <p:nvPr/>
        </p:nvSpPr>
        <p:spPr>
          <a:xfrm>
            <a:off x="868680" y="2404872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</a:rPr>
              <a:t>Combined anomaly timeline, log, and per-metric deep-dive tabs</a:t>
            </a:r>
          </a:p>
        </p:txBody>
      </p:sp>
      <p:sp>
        <p:nvSpPr>
          <p:cNvPr id="13" name="C4bg"/>
          <p:cNvSpPr/>
          <p:nvPr/>
        </p:nvSpPr>
        <p:spPr>
          <a:xfrm>
            <a:off x="4754880" y="2267712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F59E0B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I4"/>
          <p:cNvSpPr/>
          <p:nvPr/>
        </p:nvSpPr>
        <p:spPr>
          <a:xfrm>
            <a:off x="4846320" y="2359152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15" name="T4"/>
          <p:cNvSpPr/>
          <p:nvPr/>
        </p:nvSpPr>
        <p:spPr>
          <a:xfrm>
            <a:off x="5303520" y="2404872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</a:rPr>
              <a:t>Date range + per-user filter; all views update dynamically</a:t>
            </a:r>
          </a:p>
        </p:txBody>
      </p:sp>
      <p:sp>
        <p:nvSpPr>
          <p:cNvPr id="16" name="C5bg"/>
          <p:cNvSpPr/>
          <p:nvPr/>
        </p:nvSpPr>
        <p:spPr>
          <a:xfrm>
            <a:off x="320040" y="3529584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EF4444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I5"/>
          <p:cNvSpPr/>
          <p:nvPr/>
        </p:nvSpPr>
        <p:spPr>
          <a:xfrm>
            <a:off x="411480" y="3621024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18" name="T5"/>
          <p:cNvSpPr/>
          <p:nvPr/>
        </p:nvSpPr>
        <p:spPr>
          <a:xfrm>
            <a:off x="868680" y="3666744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</a:rPr>
              <a:t>PDF report (9 sections, ReportLab) — one-click download</a:t>
            </a:r>
          </a:p>
        </p:txBody>
      </p:sp>
      <p:sp>
        <p:nvSpPr>
          <p:cNvPr id="19" name="C6bg"/>
          <p:cNvSpPr/>
          <p:nvPr/>
        </p:nvSpPr>
        <p:spPr>
          <a:xfrm>
            <a:off x="4754880" y="3529584"/>
            <a:ext cx="4206240" cy="1051560"/>
          </a:xfrm>
          <a:prstGeom prst="rect">
            <a:avLst/>
          </a:prstGeom>
          <a:solidFill>
            <a:srgbClr val="162A41"/>
          </a:solidFill>
          <a:ln w="12700">
            <a:solidFill>
              <a:srgbClr val="6366F1"/>
            </a:solidFill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I6"/>
          <p:cNvSpPr/>
          <p:nvPr/>
        </p:nvSpPr>
        <p:spPr>
          <a:xfrm>
            <a:off x="4846320" y="3621024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alibri" pitchFamily="34" charset="0"/>
              </a:rPr>
              <a:t>✅</a:t>
            </a:r>
          </a:p>
        </p:txBody>
      </p:sp>
      <p:sp>
        <p:nvSpPr>
          <p:cNvPr id="21" name="T6"/>
          <p:cNvSpPr/>
          <p:nvPr/>
        </p:nvSpPr>
        <p:spPr>
          <a:xfrm>
            <a:off x="5303520" y="3666744"/>
            <a:ext cx="35204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CE8F5"/>
                </a:solidFill>
                <a:latin typeface="Calibri" pitchFamily="34" charset="0"/>
              </a:rPr>
              <a:t>CSV export of all anomaly records with full metadata</a:t>
            </a:r>
          </a:p>
        </p:txBody>
      </p:sp>
      <p:sp>
        <p:nvSpPr>
          <p:cNvPr id="22" name="BotBar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3" name="Title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A78BFA"/>
                </a:solidFill>
                <a:latin typeface="Calibri" pitchFamily="34" charset="0"/>
              </a:rPr>
              <a:t>What We Did? Why To Use?</a:t>
            </a:r>
          </a:p>
        </p:txBody>
      </p:sp>
      <p:sp>
        <p:nvSpPr>
          <p:cNvPr id="4" name="WhatHdr"/>
          <p:cNvSpPr/>
          <p:nvPr/>
        </p:nvSpPr>
        <p:spPr>
          <a:xfrm>
            <a:off x="200000" y="820000"/>
            <a:ext cx="4100000" cy="380000"/>
          </a:xfrm>
          <a:prstGeom prst="rect">
            <a:avLst/>
          </a:prstGeom>
          <a:solidFill>
            <a:srgbClr val="162A41"/>
          </a:solidFill>
          <a:ln w="12700">
            <a:solidFill>
              <a:srgbClr val="A78BFA"/>
            </a:solidFill>
          </a:ln>
        </p:spPr>
        <p:txBody>
          <a:bodyPr wrap="square" lIns="91440" tIns="60000" rIns="91440" bIns="600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</a:rPr>
              <a:t>📌  What We Did</a:t>
            </a:r>
          </a:p>
        </p:txBody>
      </p:sp>
      <p:sp>
        <p:nvSpPr>
          <p:cNvPr id="5" name="WhatBody"/>
          <p:cNvSpPr/>
          <p:nvPr/>
        </p:nvSpPr>
        <p:spPr>
          <a:xfrm>
            <a:off x="200000" y="1230000"/>
            <a:ext cx="4100000" cy="3750000"/>
          </a:xfrm>
          <a:prstGeom prst="rect">
            <a:avLst/>
          </a:prstGeom>
          <a:solidFill>
            <a:srgbClr val="111F30"/>
          </a:solidFill>
          <a:ln w="12700">
            <a:solidFill>
              <a:srgbClr val="1E3A5F"/>
            </a:solidFill>
          </a:ln>
        </p:spPr>
        <p:txBody>
          <a:bodyPr wrap="square" lIns="180000" tIns="160000" rIns="120000" bIns="16000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DCE8F5"/>
                </a:solidFill>
                <a:latin typeface="Calibri" pitchFamily="34" charset="0"/>
              </a:rPr>
              <a:t>M1 — Data Preprocessing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Loaded, cleaned and normalised real Fitbit CSV data from 30 users. Fixed timestamps, interpolated gaps, exported clean dataset.</a:t>
            </a:r>
          </a:p>
          <a:p>
            <a:pPr marL="0" indent="0">
              <a:buNone/>
            </a:pPr>
            <a:r>
              <a:rPr lang="en-US" sz="200" dirty="0">
                <a:solidFill>
                  <a:srgbClr val="0D1B2A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endParaRPr lang="en-US" sz="1050" b="1" dirty="0">
              <a:solidFill>
                <a:srgbClr val="DCE8F5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1050" b="1" dirty="0">
                <a:solidFill>
                  <a:srgbClr val="DCE8F5"/>
                </a:solidFill>
                <a:latin typeface="Calibri" pitchFamily="34" charset="0"/>
              </a:rPr>
              <a:t>M2 — Feature Extraction &amp; Modelling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Extracted 10 TSFresh features from 196K+ HR readings, ran Prophet forecasts for 30 days, clustered users with KMeans + DBSCAN, visualised with PCA + t-SNE.</a:t>
            </a:r>
          </a:p>
          <a:p>
            <a:pPr marL="0" indent="0">
              <a:buNone/>
            </a:pPr>
            <a:endParaRPr lang="en-US" sz="1000" dirty="0">
              <a:solidFill>
                <a:srgbClr val="5A7A9A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200" dirty="0">
                <a:solidFill>
                  <a:srgbClr val="0D1B2A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DCE8F5"/>
                </a:solidFill>
                <a:latin typeface="Calibri" pitchFamily="34" charset="0"/>
              </a:rPr>
              <a:t>M3 — Anomaly Detection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Applied threshold rules, rolling-median residuals, and DBSCAN structural outliers to flag abnormal HR, step, and sleep patterns across 30 days.</a:t>
            </a:r>
          </a:p>
          <a:p>
            <a:pPr marL="0" indent="0">
              <a:buNone/>
            </a:pPr>
            <a:endParaRPr lang="en-US" sz="1000" dirty="0">
              <a:solidFill>
                <a:srgbClr val="5A7A9A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200" dirty="0">
                <a:solidFill>
                  <a:srgbClr val="0D1B2A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DCE8F5"/>
                </a:solidFill>
                <a:latin typeface="Calibri" pitchFamily="34" charset="0"/>
              </a:rPr>
              <a:t>M4 — Insights Dashboard &amp; Export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Built an interactive Streamlit dashboard with KPI strip, anomaly timeline, per-metric deep-dive tabs, date/user filters, PDF report export and CSV download</a:t>
            </a:r>
            <a:r>
              <a:rPr lang="en-US" sz="920" dirty="0">
                <a:solidFill>
                  <a:srgbClr val="5A7A9A"/>
                </a:solidFill>
                <a:latin typeface="Calibri" pitchFamily="34" charset="0"/>
              </a:rPr>
              <a:t>.</a:t>
            </a:r>
          </a:p>
        </p:txBody>
      </p:sp>
      <p:sp>
        <p:nvSpPr>
          <p:cNvPr id="6" name="WhyHdr"/>
          <p:cNvSpPr/>
          <p:nvPr/>
        </p:nvSpPr>
        <p:spPr>
          <a:xfrm>
            <a:off x="4644000" y="820000"/>
            <a:ext cx="4300000" cy="380000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</a:ln>
        </p:spPr>
        <p:txBody>
          <a:bodyPr wrap="square" lIns="91440" tIns="60000" rIns="91440" bIns="600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</a:rPr>
              <a:t>✨  Why You Should Use This App</a:t>
            </a:r>
          </a:p>
        </p:txBody>
      </p:sp>
      <p:sp>
        <p:nvSpPr>
          <p:cNvPr id="7" name="W1"/>
          <p:cNvSpPr/>
          <p:nvPr/>
        </p:nvSpPr>
        <p:spPr>
          <a:xfrm>
            <a:off x="4644000" y="1230000"/>
            <a:ext cx="4300000" cy="830000"/>
          </a:xfrm>
          <a:prstGeom prst="rect">
            <a:avLst/>
          </a:prstGeom>
          <a:solidFill>
            <a:srgbClr val="111F30"/>
          </a:solidFill>
          <a:ln w="12700">
            <a:solidFill>
              <a:srgbClr val="A78BFA"/>
            </a:solidFill>
          </a:ln>
        </p:spPr>
        <p:txBody>
          <a:bodyPr wrap="square" lIns="160000" tIns="100000" rIns="120000" bIns="8000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A78BFA"/>
                </a:solidFill>
                <a:latin typeface="Calibri" pitchFamily="34" charset="0"/>
              </a:rPr>
              <a:t>💪  Catch Health Problems Early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Flags subtle anomalies in HR, sleep, and activity before they escalate into serious conditions.</a:t>
            </a:r>
          </a:p>
        </p:txBody>
      </p:sp>
      <p:sp>
        <p:nvSpPr>
          <p:cNvPr id="8" name="W2"/>
          <p:cNvSpPr/>
          <p:nvPr/>
        </p:nvSpPr>
        <p:spPr>
          <a:xfrm>
            <a:off x="4644000" y="2110000"/>
            <a:ext cx="4300000" cy="830000"/>
          </a:xfrm>
          <a:prstGeom prst="rect">
            <a:avLst/>
          </a:prstGeom>
          <a:solidFill>
            <a:srgbClr val="111F30"/>
          </a:solidFill>
          <a:ln w="12700">
            <a:solidFill>
              <a:srgbClr val="38BDF8"/>
            </a:solidFill>
          </a:ln>
        </p:spPr>
        <p:txBody>
          <a:bodyPr wrap="square" lIns="160000" tIns="100000" rIns="120000" bIns="8000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38BDF8"/>
                </a:solidFill>
                <a:latin typeface="Calibri" pitchFamily="34" charset="0"/>
              </a:rPr>
              <a:t>🧠  No Data Science Degree Needed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Upload CSVs, click one button. Results explained in plain English with visual indicators and anomaly reasons.</a:t>
            </a:r>
          </a:p>
        </p:txBody>
      </p:sp>
      <p:sp>
        <p:nvSpPr>
          <p:cNvPr id="9" name="W3"/>
          <p:cNvSpPr/>
          <p:nvPr/>
        </p:nvSpPr>
        <p:spPr>
          <a:xfrm>
            <a:off x="4644000" y="2990000"/>
            <a:ext cx="4300000" cy="830000"/>
          </a:xfrm>
          <a:prstGeom prst="rect">
            <a:avLst/>
          </a:prstGeom>
          <a:solidFill>
            <a:srgbClr val="111F30"/>
          </a:solidFill>
          <a:ln w="12700">
            <a:solidFill>
              <a:srgbClr val="10B981"/>
            </a:solidFill>
          </a:ln>
        </p:spPr>
        <p:txBody>
          <a:bodyPr wrap="square" lIns="160000" tIns="100000" rIns="120000" bIns="8000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</a:rPr>
              <a:t>📄  Shareable Reports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One-click PDF and CSV exports ready to hand to doctors, coaches, or health teams.</a:t>
            </a:r>
          </a:p>
        </p:txBody>
      </p:sp>
      <p:sp>
        <p:nvSpPr>
          <p:cNvPr id="10" name="W4"/>
          <p:cNvSpPr/>
          <p:nvPr/>
        </p:nvSpPr>
        <p:spPr>
          <a:xfrm>
            <a:off x="4644000" y="3870000"/>
            <a:ext cx="4300000" cy="830000"/>
          </a:xfrm>
          <a:prstGeom prst="rect">
            <a:avLst/>
          </a:prstGeom>
          <a:solidFill>
            <a:srgbClr val="111F30"/>
          </a:solidFill>
          <a:ln w="12700">
            <a:solidFill>
              <a:srgbClr val="F59E0B"/>
            </a:solidFill>
          </a:ln>
        </p:spPr>
        <p:txBody>
          <a:bodyPr wrap="square" lIns="160000" tIns="100000" rIns="120000" bIns="8000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</a:rPr>
              <a:t>📊  Real Data, Real Insights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5A7A9A"/>
                </a:solidFill>
                <a:latin typeface="Calibri" pitchFamily="34" charset="0"/>
              </a:rPr>
              <a:t>Trained and tested on real consented Fitbit data from 30 users. Not synthetic — not simulated.</a:t>
            </a:r>
          </a:p>
        </p:txBody>
      </p:sp>
      <p:sp>
        <p:nvSpPr>
          <p:cNvPr id="11" name="BotBar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3" name="Title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</a:rPr>
              <a:t>Full Technology Stack — All 4 Milestones</a:t>
            </a:r>
          </a:p>
        </p:txBody>
      </p:sp>
      <p:sp>
        <p:nvSpPr>
          <p:cNvPr id="4" name="Tech1"/>
          <p:cNvSpPr/>
          <p:nvPr/>
        </p:nvSpPr>
        <p:spPr>
          <a:xfrm>
            <a:off x="200000" y="820000"/>
            <a:ext cx="2000000" cy="820000"/>
          </a:xfrm>
          <a:prstGeom prst="rect">
            <a:avLst/>
          </a:prstGeom>
          <a:solidFill>
            <a:srgbClr val="162A41"/>
          </a:solidFill>
          <a:ln w="12700">
            <a:solidFill>
              <a:srgbClr val="A78BFA"/>
            </a:solidFill>
          </a:ln>
        </p:spPr>
        <p:txBody>
          <a:bodyPr wrap="square" lIns="120000" tIns="80000" rIns="80000" bIns="800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</a:rPr>
              <a:t>Streamlit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7A9A"/>
                </a:solidFill>
                <a:latin typeface="Calibri" pitchFamily="34" charset="0"/>
              </a:rPr>
              <a:t>Web app framework</a:t>
            </a:r>
          </a:p>
        </p:txBody>
      </p:sp>
      <p:sp>
        <p:nvSpPr>
          <p:cNvPr id="5" name="Tech2"/>
          <p:cNvSpPr/>
          <p:nvPr/>
        </p:nvSpPr>
        <p:spPr>
          <a:xfrm>
            <a:off x="2350000" y="820000"/>
            <a:ext cx="2000000" cy="820000"/>
          </a:xfrm>
          <a:prstGeom prst="rect">
            <a:avLst/>
          </a:prstGeom>
          <a:solidFill>
            <a:srgbClr val="162A41"/>
          </a:solidFill>
          <a:ln w="12700">
            <a:solidFill>
              <a:srgbClr val="38BDF8"/>
            </a:solidFill>
          </a:ln>
        </p:spPr>
        <p:txBody>
          <a:bodyPr wrap="square" lIns="120000" tIns="80000" rIns="80000" bIns="800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8BDF8"/>
                </a:solidFill>
                <a:latin typeface="Calibri" pitchFamily="34" charset="0"/>
              </a:rPr>
              <a:t>Pandas / NumPy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7A9A"/>
                </a:solidFill>
                <a:latin typeface="Calibri" pitchFamily="34" charset="0"/>
              </a:rPr>
              <a:t>Data loading, cleaning, merging</a:t>
            </a:r>
          </a:p>
        </p:txBody>
      </p:sp>
      <p:sp>
        <p:nvSpPr>
          <p:cNvPr id="6" name="Tech3"/>
          <p:cNvSpPr/>
          <p:nvPr/>
        </p:nvSpPr>
        <p:spPr>
          <a:xfrm>
            <a:off x="4500000" y="820000"/>
            <a:ext cx="2000000" cy="820000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</a:ln>
        </p:spPr>
        <p:txBody>
          <a:bodyPr wrap="square" lIns="120000" tIns="80000" rIns="80000" bIns="800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</a:rPr>
              <a:t>Plotly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7A9A"/>
                </a:solidFill>
                <a:latin typeface="Calibri" pitchFamily="34" charset="0"/>
              </a:rPr>
              <a:t>Interactive charts &amp; subplots</a:t>
            </a:r>
          </a:p>
        </p:txBody>
      </p:sp>
      <p:sp>
        <p:nvSpPr>
          <p:cNvPr id="7" name="Tech4"/>
          <p:cNvSpPr/>
          <p:nvPr/>
        </p:nvSpPr>
        <p:spPr>
          <a:xfrm>
            <a:off x="6650000" y="820000"/>
            <a:ext cx="2200000" cy="820000"/>
          </a:xfrm>
          <a:prstGeom prst="rect">
            <a:avLst/>
          </a:prstGeom>
          <a:solidFill>
            <a:srgbClr val="162A41"/>
          </a:solidFill>
          <a:ln w="12700">
            <a:solidFill>
              <a:srgbClr val="F59E0B"/>
            </a:solidFill>
          </a:ln>
        </p:spPr>
        <p:txBody>
          <a:bodyPr wrap="square" lIns="120000" tIns="80000" rIns="80000" bIns="800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</a:rPr>
              <a:t>Scikit-learn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7A9A"/>
                </a:solidFill>
                <a:latin typeface="Calibri" pitchFamily="34" charset="0"/>
              </a:rPr>
              <a:t>KMeans, DBSCAN, PCA, t-SNE</a:t>
            </a:r>
          </a:p>
        </p:txBody>
      </p:sp>
      <p:sp>
        <p:nvSpPr>
          <p:cNvPr id="8" name="Tech5"/>
          <p:cNvSpPr/>
          <p:nvPr/>
        </p:nvSpPr>
        <p:spPr>
          <a:xfrm>
            <a:off x="200000" y="1800000"/>
            <a:ext cx="2000000" cy="820000"/>
          </a:xfrm>
          <a:prstGeom prst="rect">
            <a:avLst/>
          </a:prstGeom>
          <a:solidFill>
            <a:srgbClr val="162A41"/>
          </a:solidFill>
          <a:ln w="12700">
            <a:solidFill>
              <a:srgbClr val="EF4444"/>
            </a:solidFill>
          </a:ln>
        </p:spPr>
        <p:txBody>
          <a:bodyPr wrap="square" lIns="120000" tIns="80000" rIns="80000" bIns="800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</a:rPr>
              <a:t>TSFresh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7A9A"/>
                </a:solidFill>
                <a:latin typeface="Calibri" pitchFamily="34" charset="0"/>
              </a:rPr>
              <a:t>Automated feature extraction</a:t>
            </a:r>
          </a:p>
        </p:txBody>
      </p:sp>
      <p:sp>
        <p:nvSpPr>
          <p:cNvPr id="9" name="Tech6"/>
          <p:cNvSpPr/>
          <p:nvPr/>
        </p:nvSpPr>
        <p:spPr>
          <a:xfrm>
            <a:off x="2350000" y="1800000"/>
            <a:ext cx="2000000" cy="820000"/>
          </a:xfrm>
          <a:prstGeom prst="rect">
            <a:avLst/>
          </a:prstGeom>
          <a:solidFill>
            <a:srgbClr val="162A41"/>
          </a:solidFill>
          <a:ln w="12700">
            <a:solidFill>
              <a:srgbClr val="6366F1"/>
            </a:solidFill>
          </a:ln>
        </p:spPr>
        <p:txBody>
          <a:bodyPr wrap="square" lIns="120000" tIns="80000" rIns="80000" bIns="800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</a:rPr>
              <a:t>Prophet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7A9A"/>
                </a:solidFill>
                <a:latin typeface="Calibri" pitchFamily="34" charset="0"/>
              </a:rPr>
              <a:t>Time series forecasting</a:t>
            </a:r>
          </a:p>
        </p:txBody>
      </p:sp>
      <p:sp>
        <p:nvSpPr>
          <p:cNvPr id="10" name="Tech7"/>
          <p:cNvSpPr/>
          <p:nvPr/>
        </p:nvSpPr>
        <p:spPr>
          <a:xfrm>
            <a:off x="4500000" y="1800000"/>
            <a:ext cx="2000000" cy="820000"/>
          </a:xfrm>
          <a:prstGeom prst="rect">
            <a:avLst/>
          </a:prstGeom>
          <a:solidFill>
            <a:srgbClr val="162A41"/>
          </a:solidFill>
          <a:ln w="12700">
            <a:solidFill>
              <a:srgbClr val="F472B6"/>
            </a:solidFill>
          </a:ln>
        </p:spPr>
        <p:txBody>
          <a:bodyPr wrap="square" lIns="120000" tIns="80000" rIns="80000" bIns="800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72B6"/>
                </a:solidFill>
                <a:latin typeface="Calibri" pitchFamily="34" charset="0"/>
              </a:rPr>
              <a:t>ReportLab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7A9A"/>
                </a:solidFill>
                <a:latin typeface="Calibri" pitchFamily="34" charset="0"/>
              </a:rPr>
              <a:t>PDF report generation</a:t>
            </a:r>
          </a:p>
        </p:txBody>
      </p:sp>
      <p:sp>
        <p:nvSpPr>
          <p:cNvPr id="11" name="Tech8"/>
          <p:cNvSpPr/>
          <p:nvPr/>
        </p:nvSpPr>
        <p:spPr>
          <a:xfrm>
            <a:off x="6650000" y="1800000"/>
            <a:ext cx="2200000" cy="820000"/>
          </a:xfrm>
          <a:prstGeom prst="rect">
            <a:avLst/>
          </a:prstGeom>
          <a:solidFill>
            <a:srgbClr val="162A41"/>
          </a:solidFill>
          <a:ln w="12700">
            <a:solidFill>
              <a:srgbClr val="10B981"/>
            </a:solidFill>
          </a:ln>
        </p:spPr>
        <p:txBody>
          <a:bodyPr wrap="square" lIns="120000" tIns="80000" rIns="80000" bIns="800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</a:rPr>
              <a:t>Preprocessing.py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A7A9A"/>
                </a:solidFill>
                <a:latin typeface="Calibri" pitchFamily="34" charset="0"/>
              </a:rPr>
              <a:t>Custom shared pipeline module</a:t>
            </a:r>
          </a:p>
        </p:txBody>
      </p:sp>
      <p:sp>
        <p:nvSpPr>
          <p:cNvPr id="12" name="ArchBox"/>
          <p:cNvSpPr/>
          <p:nvPr/>
        </p:nvSpPr>
        <p:spPr>
          <a:xfrm>
            <a:off x="200000" y="2800000"/>
            <a:ext cx="8740000" cy="2100000"/>
          </a:xfrm>
          <a:prstGeom prst="rect">
            <a:avLst/>
          </a:prstGeom>
          <a:solidFill>
            <a:srgbClr val="111F30"/>
          </a:solidFill>
          <a:ln w="12700">
            <a:solidFill>
              <a:srgbClr val="1E3A5F"/>
            </a:solidFill>
          </a:ln>
        </p:spPr>
        <p:txBody>
          <a:bodyPr wrap="square" lIns="200000" tIns="160000" rIns="200000" bIns="16000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</a:rPr>
              <a:t>End-to-End Pipeline Architecture</a:t>
            </a:r>
          </a:p>
          <a:p>
            <a:pPr marL="0" indent="0">
              <a:buNone/>
            </a:pPr>
            <a:endParaRPr lang="en-US" sz="1200" b="1" dirty="0">
              <a:solidFill>
                <a:srgbClr val="A78BFA"/>
              </a:solidFill>
              <a:latin typeface="Calibri" pitchFamily="34" charset="0"/>
            </a:endParaRPr>
          </a:p>
          <a:p>
            <a:pPr marL="0" indent="0">
              <a:buNone/>
            </a:pPr>
            <a:r>
              <a:rPr lang="en-US" sz="100" dirty="0">
                <a:solidFill>
                  <a:srgbClr val="0D1B2A"/>
                </a:solidFill>
                <a:latin typeface="Calibri"/>
              </a:rPr>
              <a:t> </a:t>
            </a:r>
          </a:p>
          <a:p>
            <a:pPr marL="0" indent="0">
              <a:buNone/>
            </a:pPr>
            <a:r>
              <a:rPr lang="en-US" sz="1050" dirty="0">
                <a:solidFill>
                  <a:srgbClr val="DCE8F5"/>
                </a:solidFill>
                <a:latin typeface="Calibri" pitchFamily="34" charset="0"/>
              </a:rPr>
              <a:t>Raw CSVs (5 files)  →  Load &amp; Clean (preprocessing.py)  →  Merge Master DataFrame  →  Feature Extraction (TSFresh)  →  Forecasting (Prophet)  →  Clustering (KMeans + DBSCAN)  →  Anomaly Detection (Threshold + Residual)  →  Dashboard (Streamlit)  →  Export (PDF + CSV)</a:t>
            </a:r>
          </a:p>
          <a:p>
            <a:pPr marL="0" indent="0">
              <a:buNone/>
            </a:pPr>
            <a:endParaRPr lang="en-US" sz="1000" dirty="0">
              <a:solidFill>
                <a:srgbClr val="0D1B2A"/>
              </a:solidFill>
              <a:latin typeface="Calibri"/>
            </a:endParaRPr>
          </a:p>
          <a:p>
            <a:pPr marL="0" indent="0">
              <a:buNone/>
            </a:pPr>
            <a:r>
              <a:rPr lang="en-US" sz="1050" dirty="0">
                <a:solidFill>
                  <a:srgbClr val="5A7A9A"/>
                </a:solidFill>
                <a:latin typeface="Calibri" pitchFamily="34" charset="0"/>
              </a:rPr>
              <a:t>All 4 milestones are integrated into a single multi-page Streamlit application. One unified app.py file with milestone selector in the sidebar. preprocessing.py is the shared data pipeline used by all milestones.</a:t>
            </a:r>
          </a:p>
        </p:txBody>
      </p:sp>
      <p:sp>
        <p:nvSpPr>
          <p:cNvPr id="13" name="BotBar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Panel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" name="TopBar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4" name="BotBar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5" name="Circle1"/>
          <p:cNvSpPr/>
          <p:nvPr/>
        </p:nvSpPr>
        <p:spPr>
          <a:xfrm>
            <a:off x="6800000" y="400000"/>
            <a:ext cx="3000000" cy="3000000"/>
          </a:xfrm>
          <a:prstGeom prst="ellipse">
            <a:avLst/>
          </a:prstGeom>
          <a:solidFill>
            <a:srgbClr val="162A41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6" name="Circle2"/>
          <p:cNvSpPr/>
          <p:nvPr/>
        </p:nvSpPr>
        <p:spPr>
          <a:xfrm>
            <a:off x="7200000" y="800000"/>
            <a:ext cx="2200000" cy="2200000"/>
          </a:xfrm>
          <a:prstGeom prst="ellipse">
            <a:avLst/>
          </a:prstGeom>
          <a:solidFill>
            <a:srgbClr val="A78BFA">
              <a:alpha val="8000"/>
            </a:srgbClr>
          </a:solidFill>
          <a:ln w="19050">
            <a:solidFill>
              <a:srgbClr val="A78BFA">
                <a:alpha val="25000"/>
              </a:srgb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7" name="Brand"/>
          <p:cNvSpPr/>
          <p:nvPr/>
        </p:nvSpPr>
        <p:spPr>
          <a:xfrm>
            <a:off x="365760" y="600000"/>
            <a:ext cx="650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</a:rPr>
              <a:t>FitPulse  ·  Health Anomaly Detection Platform</a:t>
            </a:r>
          </a:p>
        </p:txBody>
      </p:sp>
      <p:sp>
        <p:nvSpPr>
          <p:cNvPr id="8" name="ThankyouMain"/>
          <p:cNvSpPr/>
          <p:nvPr/>
        </p:nvSpPr>
        <p:spPr>
          <a:xfrm>
            <a:off x="365760" y="1300000"/>
            <a:ext cx="6200000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DCE8F5"/>
                </a:solidFill>
                <a:latin typeface="Calibri" pitchFamily="34" charset="0"/>
              </a:rPr>
              <a:t>Thank You</a:t>
            </a:r>
          </a:p>
        </p:txBody>
      </p:sp>
      <p:sp>
        <p:nvSpPr>
          <p:cNvPr id="9" name="Subtitle"/>
          <p:cNvSpPr/>
          <p:nvPr/>
        </p:nvSpPr>
        <p:spPr>
          <a:xfrm>
            <a:off x="365760" y="2650000"/>
            <a:ext cx="620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A7A9A"/>
                </a:solidFill>
                <a:latin typeface="Calibri" pitchFamily="34" charset="0"/>
              </a:rPr>
              <a:t>for your time, attention, and evaluation</a:t>
            </a:r>
          </a:p>
        </p:txBody>
      </p:sp>
      <p:sp>
        <p:nvSpPr>
          <p:cNvPr id="10" name="NameBatch"/>
          <p:cNvSpPr/>
          <p:nvPr/>
        </p:nvSpPr>
        <p:spPr>
          <a:xfrm>
            <a:off x="365760" y="3300000"/>
            <a:ext cx="62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78BFA"/>
                </a:solidFill>
                <a:latin typeface="Calibri" pitchFamily="34" charset="0"/>
              </a:rPr>
              <a:t>Thejomayie K  ·  Batch 13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4A6A8A"/>
                </a:solidFill>
                <a:latin typeface="Calibri" pitchFamily="34" charset="0"/>
              </a:rPr>
              <a:t>Infosys Springboard Virtual Internship</a:t>
            </a:r>
          </a:p>
        </p:txBody>
      </p:sp>
      <p:sp>
        <p:nvSpPr>
          <p:cNvPr id="11" name="B1"/>
          <p:cNvSpPr/>
          <p:nvPr/>
        </p:nvSpPr>
        <p:spPr>
          <a:xfrm>
            <a:off x="365760" y="4100000"/>
            <a:ext cx="1900000" cy="600000"/>
          </a:xfrm>
          <a:prstGeom prst="roundRect">
            <a:avLst>
              <a:gd name="adj" fmla="val 16667"/>
            </a:avLst>
          </a:prstGeom>
          <a:solidFill>
            <a:srgbClr val="162A41"/>
          </a:solidFill>
          <a:ln w="12700">
            <a:solidFill>
              <a:srgbClr val="A78BFA"/>
            </a:solidFill>
          </a:ln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</a:rPr>
              <a:t>M1 Preprocessing</a:t>
            </a:r>
          </a:p>
        </p:txBody>
      </p:sp>
      <p:sp>
        <p:nvSpPr>
          <p:cNvPr id="12" name="B2"/>
          <p:cNvSpPr/>
          <p:nvPr/>
        </p:nvSpPr>
        <p:spPr>
          <a:xfrm>
            <a:off x="2365760" y="4100000"/>
            <a:ext cx="1900000" cy="600000"/>
          </a:xfrm>
          <a:prstGeom prst="roundRect">
            <a:avLst>
              <a:gd name="adj" fmla="val 16667"/>
            </a:avLst>
          </a:prstGeom>
          <a:solidFill>
            <a:srgbClr val="162A41"/>
          </a:solidFill>
          <a:ln w="12700">
            <a:solidFill>
              <a:srgbClr val="38BDF8"/>
            </a:solidFill>
          </a:ln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</a:rPr>
              <a:t>M2 Modelling</a:t>
            </a:r>
          </a:p>
        </p:txBody>
      </p:sp>
      <p:sp>
        <p:nvSpPr>
          <p:cNvPr id="13" name="B3"/>
          <p:cNvSpPr/>
          <p:nvPr/>
        </p:nvSpPr>
        <p:spPr>
          <a:xfrm>
            <a:off x="4365760" y="4100000"/>
            <a:ext cx="1900000" cy="600000"/>
          </a:xfrm>
          <a:prstGeom prst="roundRect">
            <a:avLst>
              <a:gd name="adj" fmla="val 16667"/>
            </a:avLst>
          </a:prstGeom>
          <a:solidFill>
            <a:srgbClr val="162A41"/>
          </a:solidFill>
          <a:ln w="12700">
            <a:solidFill>
              <a:srgbClr val="EF4444"/>
            </a:solidFill>
          </a:ln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</a:rPr>
              <a:t>M3 Anomaly Detection</a:t>
            </a:r>
          </a:p>
        </p:txBody>
      </p:sp>
      <p:sp>
        <p:nvSpPr>
          <p:cNvPr id="14" name="B4"/>
          <p:cNvSpPr/>
          <p:nvPr/>
        </p:nvSpPr>
        <p:spPr>
          <a:xfrm>
            <a:off x="6365760" y="4100000"/>
            <a:ext cx="1900000" cy="600000"/>
          </a:xfrm>
          <a:prstGeom prst="roundRect">
            <a:avLst>
              <a:gd name="adj" fmla="val 16667"/>
            </a:avLst>
          </a:prstGeom>
          <a:solidFill>
            <a:srgbClr val="162A41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</a:rPr>
              <a:t>M4 Dashboard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476</TotalTime>
  <Words>2368</Words>
  <Application>Microsoft Office PowerPoint</Application>
  <PresentationFormat>On-screen Show (16:9)</PresentationFormat>
  <Paragraphs>392</Paragraphs>
  <Slides>32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FitPulse — Health Anomaly Detection</dc:title>
  <dc:subject>PptxGenJS Presentation</dc:subject>
  <dc:creator>PptxGenJS</dc:creator>
  <cp:lastModifiedBy>Thejomayie K</cp:lastModifiedBy>
  <cp:revision>16</cp:revision>
  <dcterms:created xsi:type="dcterms:W3CDTF">2026-03-26T12:34:38Z</dcterms:created>
  <dcterms:modified xsi:type="dcterms:W3CDTF">2026-04-07T00:29:55Z</dcterms:modified>
</cp:coreProperties>
</file>