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7" r:id="rId6"/>
    <p:sldId id="268" r:id="rId7"/>
    <p:sldId id="298" r:id="rId8"/>
    <p:sldId id="260" r:id="rId9"/>
    <p:sldId id="261" r:id="rId10"/>
    <p:sldId id="262" r:id="rId11"/>
    <p:sldId id="263" r:id="rId12"/>
    <p:sldId id="264" r:id="rId13"/>
    <p:sldId id="265" r:id="rId14"/>
    <p:sldId id="269" r:id="rId15"/>
    <p:sldId id="270" r:id="rId16"/>
    <p:sldId id="271" r:id="rId17"/>
    <p:sldId id="272" r:id="rId18"/>
    <p:sldId id="297" r:id="rId19"/>
    <p:sldId id="273" r:id="rId20"/>
    <p:sldId id="274" r:id="rId21"/>
    <p:sldId id="275" r:id="rId22"/>
    <p:sldId id="276" r:id="rId23"/>
    <p:sldId id="277" r:id="rId24"/>
    <p:sldId id="278" r:id="rId25"/>
    <p:sldId id="279" r:id="rId26"/>
    <p:sldId id="280" r:id="rId27"/>
    <p:sldId id="299" r:id="rId28"/>
    <p:sldId id="281" r:id="rId29"/>
    <p:sldId id="282" r:id="rId30"/>
    <p:sldId id="291" r:id="rId31"/>
    <p:sldId id="284" r:id="rId32"/>
    <p:sldId id="285" r:id="rId33"/>
    <p:sldId id="286" r:id="rId34"/>
    <p:sldId id="292" r:id="rId35"/>
    <p:sldId id="293" r:id="rId36"/>
    <p:sldId id="294" r:id="rId37"/>
    <p:sldId id="295" r:id="rId38"/>
    <p:sldId id="296" r:id="rId39"/>
    <p:sldId id="287" r:id="rId40"/>
    <p:sldId id="288" r:id="rId41"/>
    <p:sldId id="289" r:id="rId42"/>
    <p:sldId id="290" r:id="rId4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849" autoAdjust="0"/>
  </p:normalViewPr>
  <p:slideViewPr>
    <p:cSldViewPr snapToGrid="0" snapToObjects="1">
      <p:cViewPr>
        <p:scale>
          <a:sx n="107" d="100"/>
          <a:sy n="107" d="100"/>
        </p:scale>
        <p:origin x="100"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75060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BF224-8988-FE19-F98D-BE1616AFA1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D34646-9A46-A35C-836A-2FFB8E996E9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B1B4814-E34C-E0E1-E4B9-FFDB93EDCF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E2673A-2123-74B8-F5D5-992BA57C817A}"/>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41212630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5C45E-5A26-8126-B42F-F1A99FBE03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C40369-220B-EFF4-E9B3-787D1FD787E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C819A00-B785-B4DF-62EF-65FAE45C0C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03B680-61C1-0DC2-2D76-F8D4272F05BC}"/>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4786520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22C0-A7EF-03A6-74BD-72E171630A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1DCE40-9487-BDCB-BC2C-41E85CF2AC1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4455BB9-B798-906D-7A77-C64392A688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A2CEB2-6B30-09C6-33D9-6E9DE9C069B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103033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71B52-C70A-6560-701B-CCB0C075B2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A86836-EF8D-830B-34FF-6ED10ABA265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633E2F5-D141-6283-0D06-3A524AFEA4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1D436A-2F9F-3234-50E5-E7CC69A90780}"/>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3070116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68B51-706C-09C5-2116-D4415BEAF8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3424C-0AB3-2DB8-36C6-AD3EB14F259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F7E6764-636A-305C-0C93-320D5E7ADF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5BD734-66EC-C9FB-AAEC-174911603A1F}"/>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4797129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00621-36F3-49FB-FA3D-7F87691125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C662CF-A08A-439C-3E9E-E52898E9D79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D0430D8-9418-A1D0-9F6B-0E3928E66F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C0A2EF-9E6B-342A-3589-06C7F008F087}"/>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4489851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59B9B-C0EA-B884-68A0-90BE7E70BA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CBDE22-8557-CBFD-DC56-D8C20ACC08C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99B4E2-8B0D-3AC1-D342-677533E41F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A483C9-4A61-563F-5C57-DA23A4C04224}"/>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2364357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717DF-2367-4745-D569-87FBDB9C2A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06479E-9F6D-57A3-D0EF-56F6F819DD1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612C0826-4ED0-28DF-850B-0B52BAAC1D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A3374D-9585-8F30-E6B6-96F05E2426A1}"/>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6004210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CA779-0BD3-2085-8298-0849C28FD2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9A6B4E-C366-4B56-6840-E07AEB89482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83E15119-0A45-E342-6E12-B790754F26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A001D2-BEA3-F659-AED8-3DE1C3A83C4A}"/>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899278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95FDF-73A5-1018-565A-BE030978A5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9BDA45-8321-EE57-AF59-217B5AE4087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ACAEB53F-40A3-5FAC-414B-84BC0D0493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07BF08-D764-4383-27CB-864108A541B6}"/>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950114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8B170-779D-A426-FE67-F037AC580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D1C61A-7ECB-8F4B-C137-5EBEE0CCD31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26C7447-64AA-98C1-EED9-290E5665D7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B3650D-0808-A9F8-A4B3-FD506FA8F4B4}"/>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1865053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27DF4-06F1-FFC1-A061-D1962C11FC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3738E2-9622-1BBF-856D-F0C47D5E50B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5A3A17-F4AD-BB58-9E8F-98DD38197B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E963B7-E1B9-4B83-F9C6-83647CAFAE53}"/>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2788411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F1712-B9D9-3F8F-2E3B-D74718620A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B8803E-CA0C-26FA-DDC7-71C83482CD6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EAE9B07-0AD0-6568-F139-7B290B6400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CC81A3-B6DF-5BB0-6B53-78A068CA9B67}"/>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8686317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586A4-DCE1-F089-B318-B0FB98A6CE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F84491-3E77-4C2A-829C-AC299269333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68014C6-1B58-DB00-A1B0-AA18FA0A46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665F2E-8090-E54D-F442-213E6E2087EB}"/>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4892138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0ED26-CE03-FCFB-24D1-AE47ED17D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4CCD3-F7BA-E1A7-E88C-1700C246ABA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B316D5-902F-95DB-68EA-115C7054D3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6DBE44-2055-4940-A071-40EE015A1B7A}"/>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25028406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FE73A-CD40-095A-4F09-5D22739058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DF5047-AC7D-0D2D-15A0-1FF8C591C7B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1D148C51-C951-1CD5-9045-E5FD8E31D8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D149C8-201F-048B-E1E1-ECD1ACFC7E3F}"/>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8580564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32144-C7A5-C200-B174-C652539BD3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F76140-647B-1E33-C78F-C302BEF3787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B505633-DD75-180B-7AA2-5741E14BF9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853BAF-E6F0-6A15-DDC6-84A67EBBFDDF}"/>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7849826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7C7B4-4BB7-091E-E902-CBDD9344E9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0E5316-6507-5F3A-340B-EB77F1FC24C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3AB30F4-AF26-102C-3038-E4CBACBE61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5C911F-BE26-6565-B3F9-F8C82FD642B2}"/>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6823685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B9F1D-A1C3-CD95-E523-C641004F1F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0D6438-0432-0CFC-06AE-847F4B64829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546BC8A-5785-6FC1-28B9-2452FA8FF7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E032A1-C063-783C-5AD3-64B6C7D2EE52}"/>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522009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Shape 1"/>
          <p:cNvSpPr/>
          <p:nvPr/>
        </p:nvSpPr>
        <p:spPr>
          <a:xfrm>
            <a:off x="0" y="73152"/>
            <a:ext cx="109728" cy="5070348"/>
          </a:xfrm>
          <a:prstGeom prst="rect">
            <a:avLst/>
          </a:prstGeom>
          <a:solidFill>
            <a:srgbClr val="6366F1"/>
          </a:solidFill>
          <a:ln w="12700">
            <a:solidFill>
              <a:srgbClr val="6366F1"/>
            </a:solidFill>
            <a:prstDash val="solid"/>
          </a:ln>
        </p:spPr>
        <p:txBody>
          <a:bodyPr/>
          <a:lstStyle/>
          <a:p>
            <a:endParaRPr lang="en-IN"/>
          </a:p>
        </p:txBody>
      </p:sp>
      <p:sp>
        <p:nvSpPr>
          <p:cNvPr id="4" name="Text 2"/>
          <p:cNvSpPr/>
          <p:nvPr/>
        </p:nvSpPr>
        <p:spPr>
          <a:xfrm>
            <a:off x="365760" y="1097280"/>
            <a:ext cx="8412480" cy="1005840"/>
          </a:xfrm>
          <a:prstGeom prst="rect">
            <a:avLst/>
          </a:prstGeom>
          <a:noFill/>
          <a:ln/>
        </p:spPr>
        <p:txBody>
          <a:bodyPr wrap="square" lIns="0" tIns="0" rIns="0" bIns="0" rtlCol="0" anchor="ctr"/>
          <a:lstStyle/>
          <a:p>
            <a:pPr marL="0" indent="0" algn="ctr">
              <a:buNone/>
            </a:pPr>
            <a:r>
              <a:rPr lang="en-US" sz="5400" b="1" dirty="0">
                <a:solidFill>
                  <a:srgbClr val="A78BFA"/>
                </a:solidFill>
                <a:latin typeface="Calibri" pitchFamily="34" charset="0"/>
                <a:ea typeface="Calibri" pitchFamily="34" charset="-122"/>
                <a:cs typeface="Calibri" pitchFamily="34" charset="-120"/>
              </a:rPr>
              <a:t>FitPulse</a:t>
            </a:r>
            <a:endParaRPr lang="en-US" sz="5400" dirty="0"/>
          </a:p>
        </p:txBody>
      </p:sp>
      <p:sp>
        <p:nvSpPr>
          <p:cNvPr id="5" name="Text 3"/>
          <p:cNvSpPr/>
          <p:nvPr/>
        </p:nvSpPr>
        <p:spPr>
          <a:xfrm>
            <a:off x="365760" y="2103120"/>
            <a:ext cx="8412480" cy="640080"/>
          </a:xfrm>
          <a:prstGeom prst="rect">
            <a:avLst/>
          </a:prstGeom>
          <a:noFill/>
          <a:ln/>
        </p:spPr>
        <p:txBody>
          <a:bodyPr wrap="square" lIns="0" tIns="0" rIns="0" bIns="0" rtlCol="0" anchor="ctr"/>
          <a:lstStyle/>
          <a:p>
            <a:pPr marL="0" indent="0" algn="ctr">
              <a:buNone/>
            </a:pPr>
            <a:r>
              <a:rPr lang="en-US" sz="2000" dirty="0">
                <a:solidFill>
                  <a:srgbClr val="38BDF8"/>
                </a:solidFill>
                <a:latin typeface="Calibri" pitchFamily="34" charset="0"/>
                <a:ea typeface="Calibri" pitchFamily="34" charset="-122"/>
                <a:cs typeface="Calibri" pitchFamily="34" charset="-120"/>
              </a:rPr>
              <a:t>Health Anomaly Detection from Fitness Devices</a:t>
            </a:r>
            <a:endParaRPr lang="en-US" sz="2000" dirty="0"/>
          </a:p>
        </p:txBody>
      </p:sp>
      <p:sp>
        <p:nvSpPr>
          <p:cNvPr id="6" name="Shape 4"/>
          <p:cNvSpPr/>
          <p:nvPr/>
        </p:nvSpPr>
        <p:spPr>
          <a:xfrm>
            <a:off x="3200400" y="2834640"/>
            <a:ext cx="2743200" cy="36576"/>
          </a:xfrm>
          <a:prstGeom prst="rect">
            <a:avLst/>
          </a:prstGeom>
          <a:solidFill>
            <a:srgbClr val="A78BFA"/>
          </a:solidFill>
          <a:ln w="12700">
            <a:solidFill>
              <a:srgbClr val="A78BFA"/>
            </a:solidFill>
            <a:prstDash val="solid"/>
          </a:ln>
        </p:spPr>
        <p:txBody>
          <a:bodyPr/>
          <a:lstStyle/>
          <a:p>
            <a:endParaRPr lang="en-IN"/>
          </a:p>
        </p:txBody>
      </p:sp>
      <p:sp>
        <p:nvSpPr>
          <p:cNvPr id="14" name="Shape 12"/>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
        <p:nvSpPr>
          <p:cNvPr id="19" name="Text 11"/>
          <p:cNvSpPr/>
          <p:nvPr/>
        </p:nvSpPr>
        <p:spPr>
          <a:xfrm>
            <a:off x="6118166" y="3733038"/>
            <a:ext cx="2075807" cy="347472"/>
          </a:xfrm>
          <a:prstGeom prst="rect">
            <a:avLst/>
          </a:prstGeom>
          <a:noFill/>
          <a:ln/>
        </p:spPr>
        <p:txBody>
          <a:bodyPr wrap="square" rtlCol="0" anchor="ctr"/>
          <a:lstStyle/>
          <a:p>
            <a:pPr algn="ctr"/>
            <a:r>
              <a:rPr lang="en-US" sz="2000" b="1" dirty="0">
                <a:solidFill>
                  <a:srgbClr val="A78BFA"/>
                </a:solidFill>
                <a:latin typeface="Calibri" pitchFamily="34" charset="0"/>
                <a:ea typeface="Calibri" pitchFamily="34" charset="-122"/>
                <a:cs typeface="Calibri" pitchFamily="34" charset="-120"/>
              </a:rPr>
              <a:t>Thejomayie K</a:t>
            </a:r>
          </a:p>
          <a:p>
            <a:pPr algn="ctr"/>
            <a:r>
              <a:rPr lang="en-US" sz="2000" b="1" dirty="0">
                <a:solidFill>
                  <a:srgbClr val="A78BFA"/>
                </a:solidFill>
                <a:latin typeface="Calibri" pitchFamily="34" charset="0"/>
                <a:ea typeface="Calibri" pitchFamily="34" charset="-122"/>
                <a:cs typeface="Calibri" pitchFamily="34" charset="-120"/>
              </a:rPr>
              <a:t>Batch 13</a:t>
            </a:r>
            <a:endParaRPr lang="en-US" sz="20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p:cNvSpPr/>
          <p:nvPr/>
        </p:nvSpPr>
        <p:spPr>
          <a:xfrm>
            <a:off x="365760" y="18288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Project Overview</a:t>
            </a:r>
            <a:endParaRPr lang="en-US" sz="2800" dirty="0"/>
          </a:p>
        </p:txBody>
      </p:sp>
      <p:sp>
        <p:nvSpPr>
          <p:cNvPr id="4" name="Text 2"/>
          <p:cNvSpPr/>
          <p:nvPr/>
        </p:nvSpPr>
        <p:spPr>
          <a:xfrm>
            <a:off x="365760" y="868680"/>
            <a:ext cx="841248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What is FitPulse?</a:t>
            </a:r>
            <a:endParaRPr lang="en-US" sz="1600" dirty="0"/>
          </a:p>
        </p:txBody>
      </p:sp>
      <p:sp>
        <p:nvSpPr>
          <p:cNvPr id="5" name="Text 3"/>
          <p:cNvSpPr/>
          <p:nvPr/>
        </p:nvSpPr>
        <p:spPr>
          <a:xfrm>
            <a:off x="365760" y="1234440"/>
            <a:ext cx="8412480" cy="731520"/>
          </a:xfrm>
          <a:prstGeom prst="rect">
            <a:avLst/>
          </a:prstGeom>
          <a:noFill/>
          <a:ln/>
        </p:spPr>
        <p:txBody>
          <a:bodyPr wrap="square" lIns="0" tIns="0" rIns="0" bIns="0" rtlCol="0" anchor="ctr"/>
          <a:lstStyle/>
          <a:p>
            <a:pPr marL="0" indent="0">
              <a:buNone/>
            </a:pPr>
            <a:r>
              <a:rPr lang="en-US" sz="1300" dirty="0">
                <a:solidFill>
                  <a:srgbClr val="DCE8F5"/>
                </a:solidFill>
                <a:latin typeface="Calibri" pitchFamily="34" charset="0"/>
                <a:ea typeface="Calibri" pitchFamily="34" charset="-122"/>
                <a:cs typeface="Calibri" pitchFamily="34" charset="-120"/>
              </a:rPr>
              <a:t>FitPulse is a complete data science platform that takes raw Fitbit sensor data from 30 users, cleans it, extracts patterns, forecasts health trends, and groups users by their fitness behaviour — all in an interactive web application.</a:t>
            </a:r>
            <a:endParaRPr lang="en-US" sz="1300" dirty="0"/>
          </a:p>
        </p:txBody>
      </p:sp>
      <p:sp>
        <p:nvSpPr>
          <p:cNvPr id="6" name="Shape 4"/>
          <p:cNvSpPr/>
          <p:nvPr/>
        </p:nvSpPr>
        <p:spPr>
          <a:xfrm>
            <a:off x="320040" y="2103120"/>
            <a:ext cx="1920240" cy="1188720"/>
          </a:xfrm>
          <a:prstGeom prst="rect">
            <a:avLst/>
          </a:prstGeom>
          <a:solidFill>
            <a:srgbClr val="162A41"/>
          </a:solidFill>
          <a:ln w="12700">
            <a:solidFill>
              <a:srgbClr val="A78BFA"/>
            </a:solidFill>
            <a:prstDash val="solid"/>
          </a:ln>
          <a:effectLst>
            <a:outerShdw blurRad="101600" dist="38100" dir="8100000" algn="bl" rotWithShape="0">
              <a:srgbClr val="000000">
                <a:alpha val="25000"/>
              </a:srgbClr>
            </a:outerShdw>
          </a:effectLst>
        </p:spPr>
        <p:txBody>
          <a:bodyPr/>
          <a:lstStyle/>
          <a:p>
            <a:endParaRPr lang="en-IN"/>
          </a:p>
        </p:txBody>
      </p:sp>
      <p:sp>
        <p:nvSpPr>
          <p:cNvPr id="7" name="Text 5"/>
          <p:cNvSpPr/>
          <p:nvPr/>
        </p:nvSpPr>
        <p:spPr>
          <a:xfrm>
            <a:off x="320040" y="2148840"/>
            <a:ext cx="1920240" cy="594360"/>
          </a:xfrm>
          <a:prstGeom prst="rect">
            <a:avLst/>
          </a:prstGeom>
          <a:noFill/>
          <a:ln/>
        </p:spPr>
        <p:txBody>
          <a:bodyPr wrap="square" rtlCol="0" anchor="ctr"/>
          <a:lstStyle/>
          <a:p>
            <a:pPr marL="0" indent="0" algn="ctr">
              <a:buNone/>
            </a:pPr>
            <a:r>
              <a:rPr lang="en-US" sz="3600" b="1" dirty="0">
                <a:solidFill>
                  <a:srgbClr val="A78BFA"/>
                </a:solidFill>
                <a:latin typeface="Calibri" pitchFamily="34" charset="0"/>
                <a:ea typeface="Calibri" pitchFamily="34" charset="-122"/>
                <a:cs typeface="Calibri" pitchFamily="34" charset="-120"/>
              </a:rPr>
              <a:t>35</a:t>
            </a:r>
            <a:endParaRPr lang="en-US" sz="3600" dirty="0"/>
          </a:p>
        </p:txBody>
      </p:sp>
      <p:sp>
        <p:nvSpPr>
          <p:cNvPr id="8" name="Text 6"/>
          <p:cNvSpPr/>
          <p:nvPr/>
        </p:nvSpPr>
        <p:spPr>
          <a:xfrm>
            <a:off x="320040" y="2743200"/>
            <a:ext cx="1920240" cy="320040"/>
          </a:xfrm>
          <a:prstGeom prst="rect">
            <a:avLst/>
          </a:prstGeom>
          <a:noFill/>
          <a:ln/>
        </p:spPr>
        <p:txBody>
          <a:bodyPr wrap="square" rtlCol="0" anchor="ctr"/>
          <a:lstStyle/>
          <a:p>
            <a:pPr marL="0" indent="0" algn="ctr">
              <a:buNone/>
            </a:pPr>
            <a:r>
              <a:rPr lang="en-US" sz="1200" dirty="0">
                <a:solidFill>
                  <a:srgbClr val="7A9ABB"/>
                </a:solidFill>
                <a:latin typeface="Calibri" pitchFamily="34" charset="0"/>
                <a:ea typeface="Calibri" pitchFamily="34" charset="-122"/>
                <a:cs typeface="Calibri" pitchFamily="34" charset="-120"/>
              </a:rPr>
              <a:t>Users</a:t>
            </a:r>
            <a:endParaRPr lang="en-US" sz="1200" dirty="0"/>
          </a:p>
        </p:txBody>
      </p:sp>
      <p:sp>
        <p:nvSpPr>
          <p:cNvPr id="9" name="Shape 7"/>
          <p:cNvSpPr/>
          <p:nvPr/>
        </p:nvSpPr>
        <p:spPr>
          <a:xfrm>
            <a:off x="2468880" y="2103120"/>
            <a:ext cx="1920240" cy="1188720"/>
          </a:xfrm>
          <a:prstGeom prst="rect">
            <a:avLst/>
          </a:prstGeom>
          <a:solidFill>
            <a:srgbClr val="162A41"/>
          </a:solidFill>
          <a:ln w="12700">
            <a:solidFill>
              <a:srgbClr val="38BDF8"/>
            </a:solidFill>
            <a:prstDash val="solid"/>
          </a:ln>
          <a:effectLst>
            <a:outerShdw blurRad="101600" dist="38100" dir="8100000" algn="bl" rotWithShape="0">
              <a:srgbClr val="000000">
                <a:alpha val="25000"/>
              </a:srgbClr>
            </a:outerShdw>
          </a:effectLst>
        </p:spPr>
        <p:txBody>
          <a:bodyPr/>
          <a:lstStyle/>
          <a:p>
            <a:endParaRPr lang="en-IN"/>
          </a:p>
        </p:txBody>
      </p:sp>
      <p:sp>
        <p:nvSpPr>
          <p:cNvPr id="10" name="Text 8"/>
          <p:cNvSpPr/>
          <p:nvPr/>
        </p:nvSpPr>
        <p:spPr>
          <a:xfrm>
            <a:off x="2468880" y="2148840"/>
            <a:ext cx="1920240" cy="594360"/>
          </a:xfrm>
          <a:prstGeom prst="rect">
            <a:avLst/>
          </a:prstGeom>
          <a:noFill/>
          <a:ln/>
        </p:spPr>
        <p:txBody>
          <a:bodyPr wrap="square" rtlCol="0" anchor="ctr"/>
          <a:lstStyle/>
          <a:p>
            <a:pPr marL="0" indent="0" algn="ctr">
              <a:buNone/>
            </a:pPr>
            <a:r>
              <a:rPr lang="en-US" sz="3600" b="1" dirty="0">
                <a:solidFill>
                  <a:srgbClr val="38BDF8"/>
                </a:solidFill>
                <a:latin typeface="Calibri" pitchFamily="34" charset="0"/>
                <a:ea typeface="Calibri" pitchFamily="34" charset="-122"/>
                <a:cs typeface="Calibri" pitchFamily="34" charset="-120"/>
              </a:rPr>
              <a:t>5</a:t>
            </a:r>
            <a:endParaRPr lang="en-US" sz="3600" dirty="0"/>
          </a:p>
        </p:txBody>
      </p:sp>
      <p:sp>
        <p:nvSpPr>
          <p:cNvPr id="11" name="Text 9"/>
          <p:cNvSpPr/>
          <p:nvPr/>
        </p:nvSpPr>
        <p:spPr>
          <a:xfrm>
            <a:off x="2468880" y="2743200"/>
            <a:ext cx="1920240" cy="320040"/>
          </a:xfrm>
          <a:prstGeom prst="rect">
            <a:avLst/>
          </a:prstGeom>
          <a:noFill/>
          <a:ln/>
        </p:spPr>
        <p:txBody>
          <a:bodyPr wrap="square" rtlCol="0" anchor="ctr"/>
          <a:lstStyle/>
          <a:p>
            <a:pPr marL="0" indent="0" algn="ctr">
              <a:buNone/>
            </a:pPr>
            <a:r>
              <a:rPr lang="en-US" sz="1200" dirty="0">
                <a:solidFill>
                  <a:srgbClr val="7A9ABB"/>
                </a:solidFill>
                <a:latin typeface="Calibri" pitchFamily="34" charset="0"/>
                <a:ea typeface="Calibri" pitchFamily="34" charset="-122"/>
                <a:cs typeface="Calibri" pitchFamily="34" charset="-120"/>
              </a:rPr>
              <a:t>Sensor Files</a:t>
            </a:r>
            <a:endParaRPr lang="en-US" sz="1200" dirty="0"/>
          </a:p>
        </p:txBody>
      </p:sp>
      <p:sp>
        <p:nvSpPr>
          <p:cNvPr id="12" name="Shape 10"/>
          <p:cNvSpPr/>
          <p:nvPr/>
        </p:nvSpPr>
        <p:spPr>
          <a:xfrm>
            <a:off x="4617720" y="2103120"/>
            <a:ext cx="1920240" cy="1188720"/>
          </a:xfrm>
          <a:prstGeom prst="rect">
            <a:avLst/>
          </a:prstGeom>
          <a:solidFill>
            <a:srgbClr val="162A41"/>
          </a:solidFill>
          <a:ln w="12700">
            <a:solidFill>
              <a:srgbClr val="10B981"/>
            </a:solidFill>
            <a:prstDash val="solid"/>
          </a:ln>
          <a:effectLst>
            <a:outerShdw blurRad="101600" dist="38100" dir="8100000" algn="bl" rotWithShape="0">
              <a:srgbClr val="000000">
                <a:alpha val="25000"/>
              </a:srgbClr>
            </a:outerShdw>
          </a:effectLst>
        </p:spPr>
        <p:txBody>
          <a:bodyPr/>
          <a:lstStyle/>
          <a:p>
            <a:endParaRPr lang="en-IN"/>
          </a:p>
        </p:txBody>
      </p:sp>
      <p:sp>
        <p:nvSpPr>
          <p:cNvPr id="13" name="Text 11"/>
          <p:cNvSpPr/>
          <p:nvPr/>
        </p:nvSpPr>
        <p:spPr>
          <a:xfrm>
            <a:off x="4617720" y="2148840"/>
            <a:ext cx="1920240" cy="594360"/>
          </a:xfrm>
          <a:prstGeom prst="rect">
            <a:avLst/>
          </a:prstGeom>
          <a:noFill/>
          <a:ln/>
        </p:spPr>
        <p:txBody>
          <a:bodyPr wrap="square" rtlCol="0" anchor="ctr"/>
          <a:lstStyle/>
          <a:p>
            <a:pPr marL="0" indent="0" algn="ctr">
              <a:buNone/>
            </a:pPr>
            <a:r>
              <a:rPr lang="en-US" sz="3600" b="1" dirty="0">
                <a:solidFill>
                  <a:srgbClr val="10B981"/>
                </a:solidFill>
                <a:latin typeface="Calibri" pitchFamily="34" charset="0"/>
                <a:ea typeface="Calibri" pitchFamily="34" charset="-122"/>
                <a:cs typeface="Calibri" pitchFamily="34" charset="-120"/>
              </a:rPr>
              <a:t>32</a:t>
            </a:r>
            <a:endParaRPr lang="en-US" sz="3600" dirty="0"/>
          </a:p>
        </p:txBody>
      </p:sp>
      <p:sp>
        <p:nvSpPr>
          <p:cNvPr id="14" name="Text 12"/>
          <p:cNvSpPr/>
          <p:nvPr/>
        </p:nvSpPr>
        <p:spPr>
          <a:xfrm>
            <a:off x="4617720" y="2743200"/>
            <a:ext cx="1920240" cy="320040"/>
          </a:xfrm>
          <a:prstGeom prst="rect">
            <a:avLst/>
          </a:prstGeom>
          <a:noFill/>
          <a:ln/>
        </p:spPr>
        <p:txBody>
          <a:bodyPr wrap="square" rtlCol="0" anchor="ctr"/>
          <a:lstStyle/>
          <a:p>
            <a:pPr marL="0" indent="0" algn="ctr">
              <a:buNone/>
            </a:pPr>
            <a:r>
              <a:rPr lang="en-US" sz="1200" dirty="0">
                <a:solidFill>
                  <a:srgbClr val="7A9ABB"/>
                </a:solidFill>
                <a:latin typeface="Calibri" pitchFamily="34" charset="0"/>
                <a:ea typeface="Calibri" pitchFamily="34" charset="-122"/>
                <a:cs typeface="Calibri" pitchFamily="34" charset="-120"/>
              </a:rPr>
              <a:t>Days of Data</a:t>
            </a:r>
            <a:endParaRPr lang="en-US" sz="1200" dirty="0"/>
          </a:p>
        </p:txBody>
      </p:sp>
      <p:sp>
        <p:nvSpPr>
          <p:cNvPr id="15" name="Shape 13"/>
          <p:cNvSpPr/>
          <p:nvPr/>
        </p:nvSpPr>
        <p:spPr>
          <a:xfrm>
            <a:off x="6766560" y="2103120"/>
            <a:ext cx="1920240" cy="1188720"/>
          </a:xfrm>
          <a:prstGeom prst="rect">
            <a:avLst/>
          </a:prstGeom>
          <a:solidFill>
            <a:srgbClr val="162A41"/>
          </a:solidFill>
          <a:ln w="12700">
            <a:solidFill>
              <a:srgbClr val="F59E0B"/>
            </a:solidFill>
            <a:prstDash val="solid"/>
          </a:ln>
          <a:effectLst>
            <a:outerShdw blurRad="101600" dist="38100" dir="8100000" algn="bl" rotWithShape="0">
              <a:srgbClr val="000000">
                <a:alpha val="25000"/>
              </a:srgbClr>
            </a:outerShdw>
          </a:effectLst>
        </p:spPr>
        <p:txBody>
          <a:bodyPr/>
          <a:lstStyle/>
          <a:p>
            <a:endParaRPr lang="en-IN"/>
          </a:p>
        </p:txBody>
      </p:sp>
      <p:sp>
        <p:nvSpPr>
          <p:cNvPr id="16" name="Text 14"/>
          <p:cNvSpPr/>
          <p:nvPr/>
        </p:nvSpPr>
        <p:spPr>
          <a:xfrm>
            <a:off x="6766560" y="2148840"/>
            <a:ext cx="1920240" cy="594360"/>
          </a:xfrm>
          <a:prstGeom prst="rect">
            <a:avLst/>
          </a:prstGeom>
          <a:noFill/>
          <a:ln/>
        </p:spPr>
        <p:txBody>
          <a:bodyPr wrap="square" rtlCol="0" anchor="ctr"/>
          <a:lstStyle/>
          <a:p>
            <a:pPr marL="0" indent="0" algn="ctr">
              <a:buNone/>
            </a:pPr>
            <a:r>
              <a:rPr lang="en-US" sz="3600" b="1" dirty="0">
                <a:solidFill>
                  <a:srgbClr val="F59E0B"/>
                </a:solidFill>
                <a:latin typeface="Calibri" pitchFamily="34" charset="0"/>
                <a:ea typeface="Calibri" pitchFamily="34" charset="-122"/>
                <a:cs typeface="Calibri" pitchFamily="34" charset="-120"/>
              </a:rPr>
              <a:t>4</a:t>
            </a:r>
            <a:endParaRPr lang="en-US" sz="3600" dirty="0"/>
          </a:p>
        </p:txBody>
      </p:sp>
      <p:sp>
        <p:nvSpPr>
          <p:cNvPr id="17" name="Text 15"/>
          <p:cNvSpPr/>
          <p:nvPr/>
        </p:nvSpPr>
        <p:spPr>
          <a:xfrm>
            <a:off x="6766560" y="2743200"/>
            <a:ext cx="1920240" cy="320040"/>
          </a:xfrm>
          <a:prstGeom prst="rect">
            <a:avLst/>
          </a:prstGeom>
          <a:noFill/>
          <a:ln/>
        </p:spPr>
        <p:txBody>
          <a:bodyPr wrap="square" rtlCol="0" anchor="ctr"/>
          <a:lstStyle/>
          <a:p>
            <a:pPr marL="0" indent="0" algn="ctr">
              <a:buNone/>
            </a:pPr>
            <a:r>
              <a:rPr lang="en-US" sz="1200" dirty="0">
                <a:solidFill>
                  <a:srgbClr val="7A9ABB"/>
                </a:solidFill>
                <a:latin typeface="Calibri" pitchFamily="34" charset="0"/>
                <a:ea typeface="Calibri" pitchFamily="34" charset="-122"/>
                <a:cs typeface="Calibri" pitchFamily="34" charset="-120"/>
              </a:rPr>
              <a:t>Milestones</a:t>
            </a:r>
            <a:endParaRPr lang="en-US" sz="1200" dirty="0"/>
          </a:p>
        </p:txBody>
      </p:sp>
      <p:sp>
        <p:nvSpPr>
          <p:cNvPr id="18" name="Shape 16"/>
          <p:cNvSpPr/>
          <p:nvPr/>
        </p:nvSpPr>
        <p:spPr>
          <a:xfrm>
            <a:off x="320040" y="3474720"/>
            <a:ext cx="8503920" cy="1280160"/>
          </a:xfrm>
          <a:prstGeom prst="rect">
            <a:avLst/>
          </a:prstGeom>
          <a:solidFill>
            <a:srgbClr val="162A41"/>
          </a:solidFill>
          <a:ln w="12700">
            <a:solidFill>
              <a:srgbClr val="1E3A5F"/>
            </a:solidFill>
            <a:prstDash val="solid"/>
          </a:ln>
        </p:spPr>
        <p:txBody>
          <a:bodyPr/>
          <a:lstStyle/>
          <a:p>
            <a:endParaRPr lang="en-IN"/>
          </a:p>
        </p:txBody>
      </p:sp>
      <p:sp>
        <p:nvSpPr>
          <p:cNvPr id="19" name="Text 17"/>
          <p:cNvSpPr/>
          <p:nvPr/>
        </p:nvSpPr>
        <p:spPr>
          <a:xfrm>
            <a:off x="502920" y="3547872"/>
            <a:ext cx="1828800" cy="320040"/>
          </a:xfrm>
          <a:prstGeom prst="rect">
            <a:avLst/>
          </a:prstGeom>
          <a:noFill/>
          <a:ln/>
        </p:spPr>
        <p:txBody>
          <a:bodyPr wrap="square" lIns="0" tIns="0" rIns="0" bIns="0" rtlCol="0" anchor="ctr"/>
          <a:lstStyle/>
          <a:p>
            <a:pPr marL="0" indent="0">
              <a:buNone/>
            </a:pPr>
            <a:r>
              <a:rPr lang="en-US" sz="1300" b="1" dirty="0">
                <a:solidFill>
                  <a:srgbClr val="A78BFA"/>
                </a:solidFill>
                <a:latin typeface="Calibri" pitchFamily="34" charset="0"/>
                <a:ea typeface="Calibri" pitchFamily="34" charset="-122"/>
                <a:cs typeface="Calibri" pitchFamily="34" charset="-120"/>
              </a:rPr>
              <a:t>Dataset</a:t>
            </a:r>
            <a:endParaRPr lang="en-US" sz="1300" dirty="0"/>
          </a:p>
        </p:txBody>
      </p:sp>
      <p:sp>
        <p:nvSpPr>
          <p:cNvPr id="20" name="Text 18"/>
          <p:cNvSpPr/>
          <p:nvPr/>
        </p:nvSpPr>
        <p:spPr>
          <a:xfrm>
            <a:off x="502920" y="3858768"/>
            <a:ext cx="8229600" cy="731520"/>
          </a:xfrm>
          <a:prstGeom prst="rect">
            <a:avLst/>
          </a:prstGeom>
          <a:noFill/>
          <a:ln/>
        </p:spPr>
        <p:txBody>
          <a:bodyPr wrap="square" lIns="0" tIns="0" rIns="0" bIns="0" rtlCol="0" anchor="ctr"/>
          <a:lstStyle/>
          <a:p>
            <a:pPr marL="0" indent="0">
              <a:buNone/>
            </a:pPr>
            <a:r>
              <a:rPr lang="en-US" sz="1200" dirty="0">
                <a:solidFill>
                  <a:srgbClr val="DCE8F5"/>
                </a:solidFill>
                <a:latin typeface="Calibri" pitchFamily="34" charset="0"/>
                <a:ea typeface="Calibri" pitchFamily="34" charset="-122"/>
                <a:cs typeface="Calibri" pitchFamily="34" charset="-120"/>
              </a:rPr>
              <a:t>FitBit Fitness Tracker Dataset — real data from 35 Fitbit users who consented to share their personal tracker data covering steps, heart rate, sleep, calories, and activity intensity over 32 days (March–May 2016). Publicly available dataset used for academic research.</a:t>
            </a:r>
            <a:endParaRPr lang="en-US" sz="1200" dirty="0"/>
          </a:p>
        </p:txBody>
      </p:sp>
      <p:sp>
        <p:nvSpPr>
          <p:cNvPr id="21" name="Shape 19"/>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4114800" cy="5143500"/>
          </a:xfrm>
          <a:prstGeom prst="rect">
            <a:avLst/>
          </a:prstGeom>
          <a:solidFill>
            <a:srgbClr val="162A41"/>
          </a:solidFill>
          <a:ln w="12700">
            <a:solidFill>
              <a:srgbClr val="162A41"/>
            </a:solidFill>
            <a:prstDash val="solid"/>
          </a:ln>
        </p:spPr>
        <p:txBody>
          <a:bodyPr/>
          <a:lstStyle/>
          <a:p>
            <a:endParaRPr lang="en-IN"/>
          </a:p>
        </p:txBody>
      </p:sp>
      <p:sp>
        <p:nvSpPr>
          <p:cNvPr id="3" name="Shape 1"/>
          <p:cNvSpPr/>
          <p:nvPr/>
        </p:nvSpPr>
        <p:spPr>
          <a:xfrm>
            <a:off x="4114800" y="0"/>
            <a:ext cx="54864" cy="5143500"/>
          </a:xfrm>
          <a:prstGeom prst="rect">
            <a:avLst/>
          </a:prstGeom>
          <a:solidFill>
            <a:srgbClr val="A78BFA"/>
          </a:solidFill>
          <a:ln w="12700">
            <a:solidFill>
              <a:srgbClr val="A78BFA"/>
            </a:solidFill>
            <a:prstDash val="solid"/>
          </a:ln>
        </p:spPr>
        <p:txBody>
          <a:bodyPr/>
          <a:lstStyle/>
          <a:p>
            <a:endParaRPr lang="en-IN"/>
          </a:p>
        </p:txBody>
      </p:sp>
      <p:sp>
        <p:nvSpPr>
          <p:cNvPr id="4" name="Text 2"/>
          <p:cNvSpPr/>
          <p:nvPr/>
        </p:nvSpPr>
        <p:spPr>
          <a:xfrm>
            <a:off x="274320" y="1097280"/>
            <a:ext cx="3566160" cy="1371600"/>
          </a:xfrm>
          <a:prstGeom prst="rect">
            <a:avLst/>
          </a:prstGeom>
          <a:noFill/>
          <a:ln/>
        </p:spPr>
        <p:txBody>
          <a:bodyPr wrap="square" rtlCol="0" anchor="ctr"/>
          <a:lstStyle/>
          <a:p>
            <a:pPr marL="0" indent="0" algn="ctr">
              <a:buNone/>
            </a:pPr>
            <a:r>
              <a:rPr lang="en-US" sz="9600" b="1" dirty="0">
                <a:solidFill>
                  <a:srgbClr val="A78BFA">
                    <a:alpha val="70000"/>
                  </a:srgbClr>
                </a:solidFill>
                <a:latin typeface="Calibri" pitchFamily="34" charset="0"/>
                <a:ea typeface="Calibri" pitchFamily="34" charset="-122"/>
                <a:cs typeface="Calibri" pitchFamily="34" charset="-120"/>
              </a:rPr>
              <a:t>01</a:t>
            </a:r>
            <a:endParaRPr lang="en-US" sz="9600" dirty="0"/>
          </a:p>
        </p:txBody>
      </p:sp>
      <p:sp>
        <p:nvSpPr>
          <p:cNvPr id="5" name="Text 3"/>
          <p:cNvSpPr/>
          <p:nvPr/>
        </p:nvSpPr>
        <p:spPr>
          <a:xfrm>
            <a:off x="274320" y="2560320"/>
            <a:ext cx="3566160" cy="5029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Milestone 1</a:t>
            </a:r>
            <a:endParaRPr lang="en-US" sz="2200" dirty="0"/>
          </a:p>
        </p:txBody>
      </p:sp>
      <p:sp>
        <p:nvSpPr>
          <p:cNvPr id="6" name="Text 4"/>
          <p:cNvSpPr/>
          <p:nvPr/>
        </p:nvSpPr>
        <p:spPr>
          <a:xfrm>
            <a:off x="274320" y="3063240"/>
            <a:ext cx="3566160" cy="731520"/>
          </a:xfrm>
          <a:prstGeom prst="rect">
            <a:avLst/>
          </a:prstGeom>
          <a:noFill/>
          <a:ln/>
        </p:spPr>
        <p:txBody>
          <a:bodyPr wrap="square" rtlCol="0" anchor="ctr"/>
          <a:lstStyle/>
          <a:p>
            <a:pPr marL="0" indent="0" algn="ctr">
              <a:buNone/>
            </a:pPr>
            <a:r>
              <a:rPr lang="en-US" sz="1400" dirty="0">
                <a:solidFill>
                  <a:srgbClr val="7A9ABB"/>
                </a:solidFill>
                <a:latin typeface="Calibri" pitchFamily="34" charset="0"/>
                <a:ea typeface="Calibri" pitchFamily="34" charset="-122"/>
                <a:cs typeface="Calibri" pitchFamily="34" charset="-120"/>
              </a:rPr>
              <a:t>Data Collection &amp;</a:t>
            </a:r>
            <a:endParaRPr lang="en-US" sz="1400" dirty="0"/>
          </a:p>
          <a:p>
            <a:pPr marL="0" indent="0" algn="ctr">
              <a:buNone/>
            </a:pPr>
            <a:r>
              <a:rPr lang="en-US" sz="1400" dirty="0">
                <a:solidFill>
                  <a:srgbClr val="7A9ABB"/>
                </a:solidFill>
                <a:latin typeface="Calibri" pitchFamily="34" charset="0"/>
                <a:ea typeface="Calibri" pitchFamily="34" charset="-122"/>
                <a:cs typeface="Calibri" pitchFamily="34" charset="-120"/>
              </a:rPr>
              <a:t>Preprocessing</a:t>
            </a:r>
            <a:endParaRPr lang="en-US" sz="1400" dirty="0"/>
          </a:p>
        </p:txBody>
      </p:sp>
      <p:sp>
        <p:nvSpPr>
          <p:cNvPr id="7" name="Shape 5"/>
          <p:cNvSpPr/>
          <p:nvPr/>
        </p:nvSpPr>
        <p:spPr>
          <a:xfrm>
            <a:off x="4572000" y="457200"/>
            <a:ext cx="502920" cy="502920"/>
          </a:xfrm>
          <a:prstGeom prst="rect">
            <a:avLst/>
          </a:prstGeom>
          <a:solidFill>
            <a:srgbClr val="A78BFA"/>
          </a:solidFill>
          <a:ln w="12700">
            <a:solidFill>
              <a:srgbClr val="A78BFA"/>
            </a:solidFill>
            <a:prstDash val="solid"/>
          </a:ln>
        </p:spPr>
        <p:txBody>
          <a:bodyPr/>
          <a:lstStyle/>
          <a:p>
            <a:endParaRPr lang="en-IN"/>
          </a:p>
        </p:txBody>
      </p:sp>
      <p:sp>
        <p:nvSpPr>
          <p:cNvPr id="8" name="Text 6"/>
          <p:cNvSpPr/>
          <p:nvPr/>
        </p:nvSpPr>
        <p:spPr>
          <a:xfrm>
            <a:off x="4572000" y="45720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9" name="Text 7"/>
          <p:cNvSpPr/>
          <p:nvPr/>
        </p:nvSpPr>
        <p:spPr>
          <a:xfrm>
            <a:off x="5212080" y="47548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Upload CSV</a:t>
            </a:r>
            <a:endParaRPr lang="en-US" sz="1400" dirty="0"/>
          </a:p>
        </p:txBody>
      </p:sp>
      <p:sp>
        <p:nvSpPr>
          <p:cNvPr id="10" name="Text 8"/>
          <p:cNvSpPr/>
          <p:nvPr/>
        </p:nvSpPr>
        <p:spPr>
          <a:xfrm>
            <a:off x="5212080" y="71323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User uploads a fitness tracking CSV file</a:t>
            </a:r>
            <a:endParaRPr lang="en-US" sz="1100" dirty="0"/>
          </a:p>
        </p:txBody>
      </p:sp>
      <p:sp>
        <p:nvSpPr>
          <p:cNvPr id="11" name="Shape 9"/>
          <p:cNvSpPr/>
          <p:nvPr/>
        </p:nvSpPr>
        <p:spPr>
          <a:xfrm>
            <a:off x="4572000" y="1554480"/>
            <a:ext cx="502920" cy="502920"/>
          </a:xfrm>
          <a:prstGeom prst="rect">
            <a:avLst/>
          </a:prstGeom>
          <a:solidFill>
            <a:srgbClr val="A78BFA"/>
          </a:solidFill>
          <a:ln w="12700">
            <a:solidFill>
              <a:srgbClr val="A78BFA"/>
            </a:solidFill>
            <a:prstDash val="solid"/>
          </a:ln>
        </p:spPr>
        <p:txBody>
          <a:bodyPr/>
          <a:lstStyle/>
          <a:p>
            <a:endParaRPr lang="en-IN"/>
          </a:p>
        </p:txBody>
      </p:sp>
      <p:sp>
        <p:nvSpPr>
          <p:cNvPr id="12" name="Text 10"/>
          <p:cNvSpPr/>
          <p:nvPr/>
        </p:nvSpPr>
        <p:spPr>
          <a:xfrm>
            <a:off x="4572000" y="155448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3" name="Text 11"/>
          <p:cNvSpPr/>
          <p:nvPr/>
        </p:nvSpPr>
        <p:spPr>
          <a:xfrm>
            <a:off x="5212080" y="157276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Inspect</a:t>
            </a:r>
            <a:endParaRPr lang="en-US" sz="1400" dirty="0"/>
          </a:p>
        </p:txBody>
      </p:sp>
      <p:sp>
        <p:nvSpPr>
          <p:cNvPr id="14" name="Text 12"/>
          <p:cNvSpPr/>
          <p:nvPr/>
        </p:nvSpPr>
        <p:spPr>
          <a:xfrm>
            <a:off x="5212080" y="181051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Preview raw data, check missing values &amp; types</a:t>
            </a:r>
            <a:endParaRPr lang="en-US" sz="1100" dirty="0"/>
          </a:p>
        </p:txBody>
      </p:sp>
      <p:sp>
        <p:nvSpPr>
          <p:cNvPr id="15" name="Shape 13"/>
          <p:cNvSpPr/>
          <p:nvPr/>
        </p:nvSpPr>
        <p:spPr>
          <a:xfrm>
            <a:off x="4572000" y="2651760"/>
            <a:ext cx="502920" cy="502920"/>
          </a:xfrm>
          <a:prstGeom prst="rect">
            <a:avLst/>
          </a:prstGeom>
          <a:solidFill>
            <a:srgbClr val="A78BFA"/>
          </a:solidFill>
          <a:ln w="12700">
            <a:solidFill>
              <a:srgbClr val="A78BFA"/>
            </a:solidFill>
            <a:prstDash val="solid"/>
          </a:ln>
        </p:spPr>
        <p:txBody>
          <a:bodyPr/>
          <a:lstStyle/>
          <a:p>
            <a:endParaRPr lang="en-IN"/>
          </a:p>
        </p:txBody>
      </p:sp>
      <p:sp>
        <p:nvSpPr>
          <p:cNvPr id="16" name="Text 14"/>
          <p:cNvSpPr/>
          <p:nvPr/>
        </p:nvSpPr>
        <p:spPr>
          <a:xfrm>
            <a:off x="4572000" y="265176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5212080" y="267004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Clean</a:t>
            </a:r>
            <a:endParaRPr lang="en-US" sz="1400" dirty="0"/>
          </a:p>
        </p:txBody>
      </p:sp>
      <p:sp>
        <p:nvSpPr>
          <p:cNvPr id="18" name="Text 16"/>
          <p:cNvSpPr/>
          <p:nvPr/>
        </p:nvSpPr>
        <p:spPr>
          <a:xfrm>
            <a:off x="5212080" y="290779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Fix dates, interpolate numbers, fill categories</a:t>
            </a:r>
            <a:endParaRPr lang="en-US" sz="1100" dirty="0"/>
          </a:p>
        </p:txBody>
      </p:sp>
      <p:sp>
        <p:nvSpPr>
          <p:cNvPr id="19" name="Shape 17"/>
          <p:cNvSpPr/>
          <p:nvPr/>
        </p:nvSpPr>
        <p:spPr>
          <a:xfrm>
            <a:off x="4572000" y="3749040"/>
            <a:ext cx="502920" cy="502920"/>
          </a:xfrm>
          <a:prstGeom prst="rect">
            <a:avLst/>
          </a:prstGeom>
          <a:solidFill>
            <a:srgbClr val="A78BFA"/>
          </a:solidFill>
          <a:ln w="12700">
            <a:solidFill>
              <a:srgbClr val="A78BFA"/>
            </a:solidFill>
            <a:prstDash val="solid"/>
          </a:ln>
        </p:spPr>
        <p:txBody>
          <a:bodyPr/>
          <a:lstStyle/>
          <a:p>
            <a:endParaRPr lang="en-IN"/>
          </a:p>
        </p:txBody>
      </p:sp>
      <p:sp>
        <p:nvSpPr>
          <p:cNvPr id="20" name="Text 18"/>
          <p:cNvSpPr/>
          <p:nvPr/>
        </p:nvSpPr>
        <p:spPr>
          <a:xfrm>
            <a:off x="4572000" y="374904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21" name="Text 19"/>
          <p:cNvSpPr/>
          <p:nvPr/>
        </p:nvSpPr>
        <p:spPr>
          <a:xfrm>
            <a:off x="5212080" y="376732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Visualise</a:t>
            </a:r>
            <a:endParaRPr lang="en-US" sz="1400" dirty="0"/>
          </a:p>
        </p:txBody>
      </p:sp>
      <p:sp>
        <p:nvSpPr>
          <p:cNvPr id="22" name="Text 20"/>
          <p:cNvSpPr/>
          <p:nvPr/>
        </p:nvSpPr>
        <p:spPr>
          <a:xfrm>
            <a:off x="5212080" y="400507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Detect outliers with Box Plot &amp; Histogram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p:cNvSpPr/>
          <p:nvPr/>
        </p:nvSpPr>
        <p:spPr>
          <a:xfrm>
            <a:off x="365760" y="18288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Milestone 1 — Key Features</a:t>
            </a:r>
            <a:endParaRPr lang="en-US" sz="2800" dirty="0"/>
          </a:p>
        </p:txBody>
      </p:sp>
      <p:sp>
        <p:nvSpPr>
          <p:cNvPr id="4" name="Shape 2"/>
          <p:cNvSpPr/>
          <p:nvPr/>
        </p:nvSpPr>
        <p:spPr>
          <a:xfrm>
            <a:off x="228600" y="914400"/>
            <a:ext cx="2834640" cy="3840480"/>
          </a:xfrm>
          <a:prstGeom prst="rect">
            <a:avLst/>
          </a:prstGeom>
          <a:solidFill>
            <a:srgbClr val="162A41"/>
          </a:solidFill>
          <a:ln w="12700">
            <a:solidFill>
              <a:srgbClr val="A78BFA"/>
            </a:solidFill>
            <a:prstDash val="solid"/>
          </a:ln>
          <a:effectLst>
            <a:outerShdw blurRad="101600" dist="38100" dir="8100000" algn="bl" rotWithShape="0">
              <a:srgbClr val="000000">
                <a:alpha val="25000"/>
              </a:srgbClr>
            </a:outerShdw>
          </a:effectLst>
        </p:spPr>
        <p:txBody>
          <a:bodyPr/>
          <a:lstStyle/>
          <a:p>
            <a:endParaRPr lang="en-IN"/>
          </a:p>
        </p:txBody>
      </p:sp>
      <p:sp>
        <p:nvSpPr>
          <p:cNvPr id="5" name="Shape 3"/>
          <p:cNvSpPr/>
          <p:nvPr/>
        </p:nvSpPr>
        <p:spPr>
          <a:xfrm>
            <a:off x="228600" y="914400"/>
            <a:ext cx="2834640" cy="411480"/>
          </a:xfrm>
          <a:prstGeom prst="rect">
            <a:avLst/>
          </a:prstGeom>
          <a:solidFill>
            <a:srgbClr val="A78BFA"/>
          </a:solidFill>
          <a:ln w="12700">
            <a:solidFill>
              <a:srgbClr val="A78BFA"/>
            </a:solidFill>
            <a:prstDash val="solid"/>
          </a:ln>
        </p:spPr>
        <p:txBody>
          <a:bodyPr/>
          <a:lstStyle/>
          <a:p>
            <a:endParaRPr lang="en-IN"/>
          </a:p>
        </p:txBody>
      </p:sp>
      <p:sp>
        <p:nvSpPr>
          <p:cNvPr id="6" name="Text 4"/>
          <p:cNvSpPr/>
          <p:nvPr/>
        </p:nvSpPr>
        <p:spPr>
          <a:xfrm>
            <a:off x="320040" y="914400"/>
            <a:ext cx="2651760" cy="411480"/>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  Data Cleaning Engine</a:t>
            </a:r>
            <a:endParaRPr lang="en-US" sz="1200" dirty="0"/>
          </a:p>
        </p:txBody>
      </p:sp>
      <p:sp>
        <p:nvSpPr>
          <p:cNvPr id="7" name="Text 5"/>
          <p:cNvSpPr/>
          <p:nvPr/>
        </p:nvSpPr>
        <p:spPr>
          <a:xfrm>
            <a:off x="338328" y="1417320"/>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Normalise date columns to proper format</a:t>
            </a:r>
            <a:endParaRPr lang="en-US" sz="1100" dirty="0"/>
          </a:p>
        </p:txBody>
      </p:sp>
      <p:sp>
        <p:nvSpPr>
          <p:cNvPr id="8" name="Text 6"/>
          <p:cNvSpPr/>
          <p:nvPr/>
        </p:nvSpPr>
        <p:spPr>
          <a:xfrm>
            <a:off x="338328" y="2075688"/>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Interpolate missing numeric values (linear method)</a:t>
            </a:r>
            <a:endParaRPr lang="en-US" sz="1100" dirty="0"/>
          </a:p>
        </p:txBody>
      </p:sp>
      <p:sp>
        <p:nvSpPr>
          <p:cNvPr id="9" name="Text 7"/>
          <p:cNvSpPr/>
          <p:nvPr/>
        </p:nvSpPr>
        <p:spPr>
          <a:xfrm>
            <a:off x="338328" y="2734056"/>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Fill empty text columns with 'Unknown'</a:t>
            </a:r>
            <a:endParaRPr lang="en-US" sz="1100" dirty="0"/>
          </a:p>
        </p:txBody>
      </p:sp>
      <p:sp>
        <p:nvSpPr>
          <p:cNvPr id="10" name="Text 8"/>
          <p:cNvSpPr/>
          <p:nvPr/>
        </p:nvSpPr>
        <p:spPr>
          <a:xfrm>
            <a:off x="338328" y="3392424"/>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Download cleaned CSV after processing</a:t>
            </a:r>
            <a:endParaRPr lang="en-US" sz="1100" dirty="0"/>
          </a:p>
        </p:txBody>
      </p:sp>
      <p:sp>
        <p:nvSpPr>
          <p:cNvPr id="11" name="Shape 9"/>
          <p:cNvSpPr/>
          <p:nvPr/>
        </p:nvSpPr>
        <p:spPr>
          <a:xfrm>
            <a:off x="3200400" y="914400"/>
            <a:ext cx="2834640" cy="3840480"/>
          </a:xfrm>
          <a:prstGeom prst="rect">
            <a:avLst/>
          </a:prstGeom>
          <a:solidFill>
            <a:srgbClr val="162A41"/>
          </a:solidFill>
          <a:ln w="12700">
            <a:solidFill>
              <a:srgbClr val="38BDF8"/>
            </a:solidFill>
            <a:prstDash val="solid"/>
          </a:ln>
          <a:effectLst>
            <a:outerShdw blurRad="101600" dist="38100" dir="8100000" algn="bl" rotWithShape="0">
              <a:srgbClr val="000000">
                <a:alpha val="25000"/>
              </a:srgbClr>
            </a:outerShdw>
          </a:effectLst>
        </p:spPr>
        <p:txBody>
          <a:bodyPr/>
          <a:lstStyle/>
          <a:p>
            <a:endParaRPr lang="en-IN"/>
          </a:p>
        </p:txBody>
      </p:sp>
      <p:sp>
        <p:nvSpPr>
          <p:cNvPr id="12" name="Shape 10"/>
          <p:cNvSpPr/>
          <p:nvPr/>
        </p:nvSpPr>
        <p:spPr>
          <a:xfrm>
            <a:off x="3200400" y="914400"/>
            <a:ext cx="2834640" cy="411480"/>
          </a:xfrm>
          <a:prstGeom prst="rect">
            <a:avLst/>
          </a:prstGeom>
          <a:solidFill>
            <a:srgbClr val="38BDF8"/>
          </a:solidFill>
          <a:ln w="12700">
            <a:solidFill>
              <a:srgbClr val="38BDF8"/>
            </a:solidFill>
            <a:prstDash val="solid"/>
          </a:ln>
        </p:spPr>
        <p:txBody>
          <a:bodyPr/>
          <a:lstStyle/>
          <a:p>
            <a:endParaRPr lang="en-IN"/>
          </a:p>
        </p:txBody>
      </p:sp>
      <p:sp>
        <p:nvSpPr>
          <p:cNvPr id="13" name="Text 11"/>
          <p:cNvSpPr/>
          <p:nvPr/>
        </p:nvSpPr>
        <p:spPr>
          <a:xfrm>
            <a:off x="3291840" y="914400"/>
            <a:ext cx="2651760" cy="411480"/>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  Data Inspection</a:t>
            </a:r>
            <a:endParaRPr lang="en-US" sz="1200" dirty="0"/>
          </a:p>
        </p:txBody>
      </p:sp>
      <p:sp>
        <p:nvSpPr>
          <p:cNvPr id="14" name="Text 12"/>
          <p:cNvSpPr/>
          <p:nvPr/>
        </p:nvSpPr>
        <p:spPr>
          <a:xfrm>
            <a:off x="3310128" y="1417320"/>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Raw dataset preview — first 10 rows</a:t>
            </a:r>
            <a:endParaRPr lang="en-US" sz="1100" dirty="0"/>
          </a:p>
        </p:txBody>
      </p:sp>
      <p:sp>
        <p:nvSpPr>
          <p:cNvPr id="15" name="Text 13"/>
          <p:cNvSpPr/>
          <p:nvPr/>
        </p:nvSpPr>
        <p:spPr>
          <a:xfrm>
            <a:off x="3310128" y="2075688"/>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Missing values bar chart per column</a:t>
            </a:r>
            <a:endParaRPr lang="en-US" sz="1100" dirty="0"/>
          </a:p>
        </p:txBody>
      </p:sp>
      <p:sp>
        <p:nvSpPr>
          <p:cNvPr id="16" name="Text 14"/>
          <p:cNvSpPr/>
          <p:nvPr/>
        </p:nvSpPr>
        <p:spPr>
          <a:xfrm>
            <a:off x="3310128" y="2734056"/>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Data types table for all columns</a:t>
            </a:r>
            <a:endParaRPr lang="en-US" sz="1100" dirty="0"/>
          </a:p>
        </p:txBody>
      </p:sp>
      <p:sp>
        <p:nvSpPr>
          <p:cNvPr id="17" name="Text 15"/>
          <p:cNvSpPr/>
          <p:nvPr/>
        </p:nvSpPr>
        <p:spPr>
          <a:xfrm>
            <a:off x="3310128" y="3392424"/>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4 summary metrics — rows, columns, missing, completeness</a:t>
            </a:r>
            <a:endParaRPr lang="en-US" sz="1100" dirty="0"/>
          </a:p>
        </p:txBody>
      </p:sp>
      <p:sp>
        <p:nvSpPr>
          <p:cNvPr id="18" name="Shape 16"/>
          <p:cNvSpPr/>
          <p:nvPr/>
        </p:nvSpPr>
        <p:spPr>
          <a:xfrm>
            <a:off x="6172200" y="914400"/>
            <a:ext cx="2834640" cy="3840480"/>
          </a:xfrm>
          <a:prstGeom prst="rect">
            <a:avLst/>
          </a:prstGeom>
          <a:solidFill>
            <a:srgbClr val="162A41"/>
          </a:solidFill>
          <a:ln w="12700">
            <a:solidFill>
              <a:srgbClr val="10B981"/>
            </a:solidFill>
            <a:prstDash val="solid"/>
          </a:ln>
          <a:effectLst>
            <a:outerShdw blurRad="101600" dist="38100" dir="8100000" algn="bl" rotWithShape="0">
              <a:srgbClr val="000000">
                <a:alpha val="25000"/>
              </a:srgbClr>
            </a:outerShdw>
          </a:effectLst>
        </p:spPr>
        <p:txBody>
          <a:bodyPr/>
          <a:lstStyle/>
          <a:p>
            <a:endParaRPr lang="en-IN"/>
          </a:p>
        </p:txBody>
      </p:sp>
      <p:sp>
        <p:nvSpPr>
          <p:cNvPr id="19" name="Shape 17"/>
          <p:cNvSpPr/>
          <p:nvPr/>
        </p:nvSpPr>
        <p:spPr>
          <a:xfrm>
            <a:off x="6172200" y="914400"/>
            <a:ext cx="2834640" cy="411480"/>
          </a:xfrm>
          <a:prstGeom prst="rect">
            <a:avLst/>
          </a:prstGeom>
          <a:solidFill>
            <a:srgbClr val="10B981"/>
          </a:solidFill>
          <a:ln w="12700">
            <a:solidFill>
              <a:srgbClr val="10B981"/>
            </a:solidFill>
            <a:prstDash val="solid"/>
          </a:ln>
        </p:spPr>
        <p:txBody>
          <a:bodyPr/>
          <a:lstStyle/>
          <a:p>
            <a:endParaRPr lang="en-IN"/>
          </a:p>
        </p:txBody>
      </p:sp>
      <p:sp>
        <p:nvSpPr>
          <p:cNvPr id="20" name="Text 18"/>
          <p:cNvSpPr/>
          <p:nvPr/>
        </p:nvSpPr>
        <p:spPr>
          <a:xfrm>
            <a:off x="6263640" y="914400"/>
            <a:ext cx="2651760" cy="411480"/>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  Outlier Detection</a:t>
            </a:r>
            <a:endParaRPr lang="en-US" sz="1200" dirty="0"/>
          </a:p>
        </p:txBody>
      </p:sp>
      <p:sp>
        <p:nvSpPr>
          <p:cNvPr id="21" name="Text 19"/>
          <p:cNvSpPr/>
          <p:nvPr/>
        </p:nvSpPr>
        <p:spPr>
          <a:xfrm>
            <a:off x="6281928" y="1417320"/>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IQR method — Q1, Q3, and 1.5×IQR rule</a:t>
            </a:r>
            <a:endParaRPr lang="en-US" sz="1100" dirty="0"/>
          </a:p>
        </p:txBody>
      </p:sp>
      <p:sp>
        <p:nvSpPr>
          <p:cNvPr id="22" name="Text 20"/>
          <p:cNvSpPr/>
          <p:nvPr/>
        </p:nvSpPr>
        <p:spPr>
          <a:xfrm>
            <a:off x="6281928" y="2075688"/>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Box plot — shows normal range and outlier dots</a:t>
            </a:r>
            <a:endParaRPr lang="en-US" sz="1100" dirty="0"/>
          </a:p>
        </p:txBody>
      </p:sp>
      <p:sp>
        <p:nvSpPr>
          <p:cNvPr id="23" name="Text 21"/>
          <p:cNvSpPr/>
          <p:nvPr/>
        </p:nvSpPr>
        <p:spPr>
          <a:xfrm>
            <a:off x="6281928" y="2734056"/>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Histogram — frequency distribution with outlier zones</a:t>
            </a:r>
            <a:endParaRPr lang="en-US" sz="1100" dirty="0"/>
          </a:p>
        </p:txBody>
      </p:sp>
      <p:sp>
        <p:nvSpPr>
          <p:cNvPr id="24" name="Text 22"/>
          <p:cNvSpPr/>
          <p:nvPr/>
        </p:nvSpPr>
        <p:spPr>
          <a:xfrm>
            <a:off x="6281928" y="3392424"/>
            <a:ext cx="260604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Mean and Median reference lines on histogram</a:t>
            </a:r>
            <a:endParaRPr lang="en-US" sz="1100" dirty="0"/>
          </a:p>
        </p:txBody>
      </p:sp>
      <p:sp>
        <p:nvSpPr>
          <p:cNvPr id="25" name="Shape 23"/>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4DF6C618-3A7C-A3EC-7D50-B7264155C08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6E785BE-203D-6220-879F-C3C9D9044EC3}"/>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40487EF7-E813-5FA0-EC59-DCDEF0576945}"/>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File Upload:</a:t>
            </a:r>
          </a:p>
          <a:p>
            <a:pPr marL="0" indent="0">
              <a:buNone/>
            </a:pPr>
            <a:endParaRPr lang="en-US" sz="2800" dirty="0"/>
          </a:p>
        </p:txBody>
      </p:sp>
      <p:sp>
        <p:nvSpPr>
          <p:cNvPr id="25" name="Shape 23">
            <a:extLst>
              <a:ext uri="{FF2B5EF4-FFF2-40B4-BE49-F238E27FC236}">
                <a16:creationId xmlns:a16="http://schemas.microsoft.com/office/drawing/2014/main" id="{F7A8E021-6AAF-F62A-2317-993376FCBC3C}"/>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27" name="Picture 26">
            <a:extLst>
              <a:ext uri="{FF2B5EF4-FFF2-40B4-BE49-F238E27FC236}">
                <a16:creationId xmlns:a16="http://schemas.microsoft.com/office/drawing/2014/main" id="{7C4E322A-13D5-7943-2F68-7E5EFC774E72}"/>
              </a:ext>
            </a:extLst>
          </p:cNvPr>
          <p:cNvPicPr>
            <a:picLocks noChangeAspect="1"/>
          </p:cNvPicPr>
          <p:nvPr/>
        </p:nvPicPr>
        <p:blipFill>
          <a:blip r:embed="rId3"/>
          <a:stretch>
            <a:fillRect/>
          </a:stretch>
        </p:blipFill>
        <p:spPr>
          <a:xfrm>
            <a:off x="1460664" y="1365422"/>
            <a:ext cx="6412675" cy="3437303"/>
          </a:xfrm>
          <a:prstGeom prst="rect">
            <a:avLst/>
          </a:prstGeom>
        </p:spPr>
      </p:pic>
    </p:spTree>
    <p:extLst>
      <p:ext uri="{BB962C8B-B14F-4D97-AF65-F5344CB8AC3E}">
        <p14:creationId xmlns:p14="http://schemas.microsoft.com/office/powerpoint/2010/main" val="2890411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73A11501-2EEA-E2A5-34E5-1B7A942039F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C56DC6B-1A0A-8E02-37D9-7E35876AA635}"/>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9D36F246-C1BD-F009-F698-18C1B241A07C}"/>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Cleaned Dataset Preview: </a:t>
            </a:r>
          </a:p>
          <a:p>
            <a:pPr marL="0" indent="0">
              <a:buNone/>
            </a:pPr>
            <a:endParaRPr lang="en-US" sz="2800" dirty="0"/>
          </a:p>
        </p:txBody>
      </p:sp>
      <p:sp>
        <p:nvSpPr>
          <p:cNvPr id="25" name="Shape 23">
            <a:extLst>
              <a:ext uri="{FF2B5EF4-FFF2-40B4-BE49-F238E27FC236}">
                <a16:creationId xmlns:a16="http://schemas.microsoft.com/office/drawing/2014/main" id="{C706BE60-32BB-258A-B977-5F22374A3A52}"/>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5" name="Picture 4">
            <a:extLst>
              <a:ext uri="{FF2B5EF4-FFF2-40B4-BE49-F238E27FC236}">
                <a16:creationId xmlns:a16="http://schemas.microsoft.com/office/drawing/2014/main" id="{8C5020FA-404D-A749-3E9B-23815BF51928}"/>
              </a:ext>
            </a:extLst>
          </p:cNvPr>
          <p:cNvPicPr>
            <a:picLocks noChangeAspect="1"/>
          </p:cNvPicPr>
          <p:nvPr/>
        </p:nvPicPr>
        <p:blipFill>
          <a:blip r:embed="rId3"/>
          <a:stretch>
            <a:fillRect/>
          </a:stretch>
        </p:blipFill>
        <p:spPr>
          <a:xfrm>
            <a:off x="1384069" y="1361328"/>
            <a:ext cx="6347361" cy="3393502"/>
          </a:xfrm>
          <a:prstGeom prst="rect">
            <a:avLst/>
          </a:prstGeom>
        </p:spPr>
      </p:pic>
    </p:spTree>
    <p:extLst>
      <p:ext uri="{BB962C8B-B14F-4D97-AF65-F5344CB8AC3E}">
        <p14:creationId xmlns:p14="http://schemas.microsoft.com/office/powerpoint/2010/main" val="37018834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BD23E50E-7F44-3148-82DA-A6101B4CBA0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F974067-E1E9-A34D-C5BA-B06E323327E0}"/>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21DEF981-95D6-5136-624A-F3BC1C22613F}"/>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Box Plot and Histogram </a:t>
            </a:r>
          </a:p>
          <a:p>
            <a:pPr marL="0" indent="0">
              <a:buNone/>
            </a:pPr>
            <a:endParaRPr lang="en-US" sz="2800" dirty="0"/>
          </a:p>
        </p:txBody>
      </p:sp>
      <p:sp>
        <p:nvSpPr>
          <p:cNvPr id="25" name="Shape 23">
            <a:extLst>
              <a:ext uri="{FF2B5EF4-FFF2-40B4-BE49-F238E27FC236}">
                <a16:creationId xmlns:a16="http://schemas.microsoft.com/office/drawing/2014/main" id="{42333C5A-BC82-5B58-9404-0C6644F6A3D6}"/>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6" name="Picture 5">
            <a:extLst>
              <a:ext uri="{FF2B5EF4-FFF2-40B4-BE49-F238E27FC236}">
                <a16:creationId xmlns:a16="http://schemas.microsoft.com/office/drawing/2014/main" id="{060D6ABA-FA9E-3B1B-DC5E-119143742906}"/>
              </a:ext>
            </a:extLst>
          </p:cNvPr>
          <p:cNvPicPr>
            <a:picLocks noChangeAspect="1"/>
          </p:cNvPicPr>
          <p:nvPr/>
        </p:nvPicPr>
        <p:blipFill>
          <a:blip r:embed="rId3"/>
          <a:stretch>
            <a:fillRect/>
          </a:stretch>
        </p:blipFill>
        <p:spPr>
          <a:xfrm>
            <a:off x="1374569" y="1280160"/>
            <a:ext cx="6394862" cy="3556326"/>
          </a:xfrm>
          <a:prstGeom prst="rect">
            <a:avLst/>
          </a:prstGeom>
        </p:spPr>
      </p:pic>
    </p:spTree>
    <p:extLst>
      <p:ext uri="{BB962C8B-B14F-4D97-AF65-F5344CB8AC3E}">
        <p14:creationId xmlns:p14="http://schemas.microsoft.com/office/powerpoint/2010/main" val="1445459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4114800" cy="5143500"/>
          </a:xfrm>
          <a:prstGeom prst="rect">
            <a:avLst/>
          </a:prstGeom>
          <a:solidFill>
            <a:srgbClr val="162A41"/>
          </a:solidFill>
          <a:ln w="12700">
            <a:solidFill>
              <a:srgbClr val="162A41"/>
            </a:solidFill>
            <a:prstDash val="solid"/>
          </a:ln>
        </p:spPr>
        <p:txBody>
          <a:bodyPr/>
          <a:lstStyle/>
          <a:p>
            <a:endParaRPr lang="en-IN"/>
          </a:p>
        </p:txBody>
      </p:sp>
      <p:sp>
        <p:nvSpPr>
          <p:cNvPr id="3" name="Shape 1"/>
          <p:cNvSpPr/>
          <p:nvPr/>
        </p:nvSpPr>
        <p:spPr>
          <a:xfrm>
            <a:off x="4114800" y="0"/>
            <a:ext cx="54864" cy="5143500"/>
          </a:xfrm>
          <a:prstGeom prst="rect">
            <a:avLst/>
          </a:prstGeom>
          <a:solidFill>
            <a:srgbClr val="38BDF8"/>
          </a:solidFill>
          <a:ln w="12700">
            <a:solidFill>
              <a:srgbClr val="38BDF8"/>
            </a:solidFill>
            <a:prstDash val="solid"/>
          </a:ln>
        </p:spPr>
        <p:txBody>
          <a:bodyPr/>
          <a:lstStyle/>
          <a:p>
            <a:endParaRPr lang="en-IN"/>
          </a:p>
        </p:txBody>
      </p:sp>
      <p:sp>
        <p:nvSpPr>
          <p:cNvPr id="4" name="Text 2"/>
          <p:cNvSpPr/>
          <p:nvPr/>
        </p:nvSpPr>
        <p:spPr>
          <a:xfrm>
            <a:off x="274320" y="1097280"/>
            <a:ext cx="3566160" cy="1371600"/>
          </a:xfrm>
          <a:prstGeom prst="rect">
            <a:avLst/>
          </a:prstGeom>
          <a:noFill/>
          <a:ln/>
        </p:spPr>
        <p:txBody>
          <a:bodyPr wrap="square" rtlCol="0" anchor="ctr"/>
          <a:lstStyle/>
          <a:p>
            <a:pPr marL="0" indent="0" algn="ctr">
              <a:buNone/>
            </a:pPr>
            <a:r>
              <a:rPr lang="en-US" sz="9600" b="1" dirty="0">
                <a:solidFill>
                  <a:srgbClr val="38BDF8">
                    <a:alpha val="70000"/>
                  </a:srgbClr>
                </a:solidFill>
                <a:latin typeface="Calibri" pitchFamily="34" charset="0"/>
                <a:ea typeface="Calibri" pitchFamily="34" charset="-122"/>
                <a:cs typeface="Calibri" pitchFamily="34" charset="-120"/>
              </a:rPr>
              <a:t>02</a:t>
            </a:r>
            <a:endParaRPr lang="en-US" sz="9600" dirty="0"/>
          </a:p>
        </p:txBody>
      </p:sp>
      <p:sp>
        <p:nvSpPr>
          <p:cNvPr id="5" name="Text 3"/>
          <p:cNvSpPr/>
          <p:nvPr/>
        </p:nvSpPr>
        <p:spPr>
          <a:xfrm>
            <a:off x="274320" y="2560320"/>
            <a:ext cx="3566160" cy="5029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Milestone 2</a:t>
            </a:r>
            <a:endParaRPr lang="en-US" sz="2200" dirty="0"/>
          </a:p>
        </p:txBody>
      </p:sp>
      <p:sp>
        <p:nvSpPr>
          <p:cNvPr id="6" name="Text 4"/>
          <p:cNvSpPr/>
          <p:nvPr/>
        </p:nvSpPr>
        <p:spPr>
          <a:xfrm>
            <a:off x="274320" y="3063240"/>
            <a:ext cx="3566160" cy="731520"/>
          </a:xfrm>
          <a:prstGeom prst="rect">
            <a:avLst/>
          </a:prstGeom>
          <a:noFill/>
          <a:ln/>
        </p:spPr>
        <p:txBody>
          <a:bodyPr wrap="square" rtlCol="0" anchor="ctr"/>
          <a:lstStyle/>
          <a:p>
            <a:pPr marL="0" indent="0" algn="ctr">
              <a:buNone/>
            </a:pPr>
            <a:r>
              <a:rPr lang="en-US" sz="1400" dirty="0">
                <a:solidFill>
                  <a:srgbClr val="7A9ABB"/>
                </a:solidFill>
                <a:latin typeface="Calibri" pitchFamily="34" charset="0"/>
                <a:ea typeface="Calibri" pitchFamily="34" charset="-122"/>
                <a:cs typeface="Calibri" pitchFamily="34" charset="-120"/>
              </a:rPr>
              <a:t>Feature Extraction</a:t>
            </a:r>
            <a:endParaRPr lang="en-US" sz="1400" dirty="0"/>
          </a:p>
          <a:p>
            <a:pPr marL="0" indent="0" algn="ctr">
              <a:buNone/>
            </a:pPr>
            <a:r>
              <a:rPr lang="en-US" sz="1400" dirty="0">
                <a:solidFill>
                  <a:srgbClr val="7A9ABB"/>
                </a:solidFill>
                <a:latin typeface="Calibri" pitchFamily="34" charset="0"/>
                <a:ea typeface="Calibri" pitchFamily="34" charset="-122"/>
                <a:cs typeface="Calibri" pitchFamily="34" charset="-120"/>
              </a:rPr>
              <a:t>&amp; Modelling</a:t>
            </a:r>
            <a:endParaRPr lang="en-US" sz="1400" dirty="0"/>
          </a:p>
        </p:txBody>
      </p:sp>
      <p:sp>
        <p:nvSpPr>
          <p:cNvPr id="7" name="Shape 5"/>
          <p:cNvSpPr/>
          <p:nvPr/>
        </p:nvSpPr>
        <p:spPr>
          <a:xfrm>
            <a:off x="4572000" y="457200"/>
            <a:ext cx="502920" cy="502920"/>
          </a:xfrm>
          <a:prstGeom prst="rect">
            <a:avLst/>
          </a:prstGeom>
          <a:solidFill>
            <a:srgbClr val="38BDF8"/>
          </a:solidFill>
          <a:ln w="12700">
            <a:solidFill>
              <a:srgbClr val="38BDF8"/>
            </a:solidFill>
            <a:prstDash val="solid"/>
          </a:ln>
        </p:spPr>
        <p:txBody>
          <a:bodyPr/>
          <a:lstStyle/>
          <a:p>
            <a:endParaRPr lang="en-IN"/>
          </a:p>
        </p:txBody>
      </p:sp>
      <p:sp>
        <p:nvSpPr>
          <p:cNvPr id="8" name="Text 6"/>
          <p:cNvSpPr/>
          <p:nvPr/>
        </p:nvSpPr>
        <p:spPr>
          <a:xfrm>
            <a:off x="4572000" y="457200"/>
            <a:ext cx="502920" cy="502920"/>
          </a:xfrm>
          <a:prstGeom prst="rect">
            <a:avLst/>
          </a:prstGeom>
          <a:noFill/>
          <a:ln/>
        </p:spPr>
        <p:txBody>
          <a:bodyPr wrap="square" rtlCol="0" anchor="ctr"/>
          <a:lstStyle/>
          <a:p>
            <a:pPr marL="0" indent="0" algn="ctr">
              <a:buNone/>
            </a:pPr>
            <a:r>
              <a:rPr lang="en-US" sz="1300" b="1" dirty="0">
                <a:solidFill>
                  <a:srgbClr val="0D1B2A"/>
                </a:solidFill>
                <a:latin typeface="Calibri" pitchFamily="34" charset="0"/>
                <a:ea typeface="Calibri" pitchFamily="34" charset="-122"/>
                <a:cs typeface="Calibri" pitchFamily="34" charset="-120"/>
              </a:rPr>
              <a:t>01</a:t>
            </a:r>
            <a:endParaRPr lang="en-US" sz="1300" dirty="0"/>
          </a:p>
        </p:txBody>
      </p:sp>
      <p:sp>
        <p:nvSpPr>
          <p:cNvPr id="9" name="Text 7"/>
          <p:cNvSpPr/>
          <p:nvPr/>
        </p:nvSpPr>
        <p:spPr>
          <a:xfrm>
            <a:off x="5212080" y="47548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5 Files Merged</a:t>
            </a:r>
            <a:endParaRPr lang="en-US" sz="1400" dirty="0"/>
          </a:p>
        </p:txBody>
      </p:sp>
      <p:sp>
        <p:nvSpPr>
          <p:cNvPr id="10" name="Text 8"/>
          <p:cNvSpPr/>
          <p:nvPr/>
        </p:nvSpPr>
        <p:spPr>
          <a:xfrm>
            <a:off x="5212080" y="71323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Daily activity, heart rate, sleep, steps, intensity</a:t>
            </a:r>
            <a:endParaRPr lang="en-US" sz="1100" dirty="0"/>
          </a:p>
        </p:txBody>
      </p:sp>
      <p:sp>
        <p:nvSpPr>
          <p:cNvPr id="11" name="Shape 9"/>
          <p:cNvSpPr/>
          <p:nvPr/>
        </p:nvSpPr>
        <p:spPr>
          <a:xfrm>
            <a:off x="4572000" y="1554480"/>
            <a:ext cx="502920" cy="502920"/>
          </a:xfrm>
          <a:prstGeom prst="rect">
            <a:avLst/>
          </a:prstGeom>
          <a:solidFill>
            <a:srgbClr val="38BDF8"/>
          </a:solidFill>
          <a:ln w="12700">
            <a:solidFill>
              <a:srgbClr val="38BDF8"/>
            </a:solidFill>
            <a:prstDash val="solid"/>
          </a:ln>
        </p:spPr>
        <p:txBody>
          <a:bodyPr/>
          <a:lstStyle/>
          <a:p>
            <a:endParaRPr lang="en-IN"/>
          </a:p>
        </p:txBody>
      </p:sp>
      <p:sp>
        <p:nvSpPr>
          <p:cNvPr id="12" name="Text 10"/>
          <p:cNvSpPr/>
          <p:nvPr/>
        </p:nvSpPr>
        <p:spPr>
          <a:xfrm>
            <a:off x="4572000" y="1554480"/>
            <a:ext cx="502920" cy="502920"/>
          </a:xfrm>
          <a:prstGeom prst="rect">
            <a:avLst/>
          </a:prstGeom>
          <a:noFill/>
          <a:ln/>
        </p:spPr>
        <p:txBody>
          <a:bodyPr wrap="square" rtlCol="0" anchor="ctr"/>
          <a:lstStyle/>
          <a:p>
            <a:pPr marL="0" indent="0" algn="ctr">
              <a:buNone/>
            </a:pPr>
            <a:r>
              <a:rPr lang="en-US" sz="1300" b="1" dirty="0">
                <a:solidFill>
                  <a:srgbClr val="0D1B2A"/>
                </a:solidFill>
                <a:latin typeface="Calibri" pitchFamily="34" charset="0"/>
                <a:ea typeface="Calibri" pitchFamily="34" charset="-122"/>
                <a:cs typeface="Calibri" pitchFamily="34" charset="-120"/>
              </a:rPr>
              <a:t>02</a:t>
            </a:r>
            <a:endParaRPr lang="en-US" sz="1300" dirty="0"/>
          </a:p>
        </p:txBody>
      </p:sp>
      <p:sp>
        <p:nvSpPr>
          <p:cNvPr id="13" name="Text 11"/>
          <p:cNvSpPr/>
          <p:nvPr/>
        </p:nvSpPr>
        <p:spPr>
          <a:xfrm>
            <a:off x="5212080" y="157276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TSFresh</a:t>
            </a:r>
            <a:endParaRPr lang="en-US" sz="1400" dirty="0"/>
          </a:p>
        </p:txBody>
      </p:sp>
      <p:sp>
        <p:nvSpPr>
          <p:cNvPr id="14" name="Text 12"/>
          <p:cNvSpPr/>
          <p:nvPr/>
        </p:nvSpPr>
        <p:spPr>
          <a:xfrm>
            <a:off x="5212080" y="181051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Extract 10 features from 196K+ heart rate readings</a:t>
            </a:r>
            <a:endParaRPr lang="en-US" sz="1100" dirty="0"/>
          </a:p>
        </p:txBody>
      </p:sp>
      <p:sp>
        <p:nvSpPr>
          <p:cNvPr id="15" name="Shape 13"/>
          <p:cNvSpPr/>
          <p:nvPr/>
        </p:nvSpPr>
        <p:spPr>
          <a:xfrm>
            <a:off x="4572000" y="2651760"/>
            <a:ext cx="502920" cy="502920"/>
          </a:xfrm>
          <a:prstGeom prst="rect">
            <a:avLst/>
          </a:prstGeom>
          <a:solidFill>
            <a:srgbClr val="38BDF8"/>
          </a:solidFill>
          <a:ln w="12700">
            <a:solidFill>
              <a:srgbClr val="38BDF8"/>
            </a:solidFill>
            <a:prstDash val="solid"/>
          </a:ln>
        </p:spPr>
        <p:txBody>
          <a:bodyPr/>
          <a:lstStyle/>
          <a:p>
            <a:endParaRPr lang="en-IN"/>
          </a:p>
        </p:txBody>
      </p:sp>
      <p:sp>
        <p:nvSpPr>
          <p:cNvPr id="16" name="Text 14"/>
          <p:cNvSpPr/>
          <p:nvPr/>
        </p:nvSpPr>
        <p:spPr>
          <a:xfrm>
            <a:off x="4572000" y="2651760"/>
            <a:ext cx="502920" cy="502920"/>
          </a:xfrm>
          <a:prstGeom prst="rect">
            <a:avLst/>
          </a:prstGeom>
          <a:noFill/>
          <a:ln/>
        </p:spPr>
        <p:txBody>
          <a:bodyPr wrap="square" rtlCol="0" anchor="ctr"/>
          <a:lstStyle/>
          <a:p>
            <a:pPr marL="0" indent="0" algn="ctr">
              <a:buNone/>
            </a:pPr>
            <a:r>
              <a:rPr lang="en-US" sz="1300" b="1" dirty="0">
                <a:solidFill>
                  <a:srgbClr val="0D1B2A"/>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5212080" y="267004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Prophet Forecast</a:t>
            </a:r>
            <a:endParaRPr lang="en-US" sz="1400" dirty="0"/>
          </a:p>
        </p:txBody>
      </p:sp>
      <p:sp>
        <p:nvSpPr>
          <p:cNvPr id="18" name="Text 16"/>
          <p:cNvSpPr/>
          <p:nvPr/>
        </p:nvSpPr>
        <p:spPr>
          <a:xfrm>
            <a:off x="5212080" y="290779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Predict next 30 days — heart rate, steps, sleep</a:t>
            </a:r>
            <a:endParaRPr lang="en-US" sz="1100" dirty="0"/>
          </a:p>
        </p:txBody>
      </p:sp>
      <p:sp>
        <p:nvSpPr>
          <p:cNvPr id="19" name="Shape 17"/>
          <p:cNvSpPr/>
          <p:nvPr/>
        </p:nvSpPr>
        <p:spPr>
          <a:xfrm>
            <a:off x="4572000" y="3749040"/>
            <a:ext cx="502920" cy="502920"/>
          </a:xfrm>
          <a:prstGeom prst="rect">
            <a:avLst/>
          </a:prstGeom>
          <a:solidFill>
            <a:srgbClr val="38BDF8"/>
          </a:solidFill>
          <a:ln w="12700">
            <a:solidFill>
              <a:srgbClr val="38BDF8"/>
            </a:solidFill>
            <a:prstDash val="solid"/>
          </a:ln>
        </p:spPr>
        <p:txBody>
          <a:bodyPr/>
          <a:lstStyle/>
          <a:p>
            <a:endParaRPr lang="en-IN"/>
          </a:p>
        </p:txBody>
      </p:sp>
      <p:sp>
        <p:nvSpPr>
          <p:cNvPr id="20" name="Text 18"/>
          <p:cNvSpPr/>
          <p:nvPr/>
        </p:nvSpPr>
        <p:spPr>
          <a:xfrm>
            <a:off x="4572000" y="3749040"/>
            <a:ext cx="502920" cy="502920"/>
          </a:xfrm>
          <a:prstGeom prst="rect">
            <a:avLst/>
          </a:prstGeom>
          <a:noFill/>
          <a:ln/>
        </p:spPr>
        <p:txBody>
          <a:bodyPr wrap="square" rtlCol="0" anchor="ctr"/>
          <a:lstStyle/>
          <a:p>
            <a:pPr marL="0" indent="0" algn="ctr">
              <a:buNone/>
            </a:pPr>
            <a:r>
              <a:rPr lang="en-US" sz="1300" b="1" dirty="0">
                <a:solidFill>
                  <a:srgbClr val="0D1B2A"/>
                </a:solidFill>
                <a:latin typeface="Calibri" pitchFamily="34" charset="0"/>
                <a:ea typeface="Calibri" pitchFamily="34" charset="-122"/>
                <a:cs typeface="Calibri" pitchFamily="34" charset="-120"/>
              </a:rPr>
              <a:t>04</a:t>
            </a:r>
            <a:endParaRPr lang="en-US" sz="1300" dirty="0"/>
          </a:p>
        </p:txBody>
      </p:sp>
      <p:sp>
        <p:nvSpPr>
          <p:cNvPr id="21" name="Text 19"/>
          <p:cNvSpPr/>
          <p:nvPr/>
        </p:nvSpPr>
        <p:spPr>
          <a:xfrm>
            <a:off x="5212080" y="376732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Clustering</a:t>
            </a:r>
            <a:endParaRPr lang="en-US" sz="1400" dirty="0"/>
          </a:p>
        </p:txBody>
      </p:sp>
      <p:sp>
        <p:nvSpPr>
          <p:cNvPr id="22" name="Text 20"/>
          <p:cNvSpPr/>
          <p:nvPr/>
        </p:nvSpPr>
        <p:spPr>
          <a:xfrm>
            <a:off x="5212080" y="400507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KMeans + DBSCAN + PCA + t-SNE group visualisation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38BDF8"/>
          </a:solidFill>
          <a:ln w="12700">
            <a:solidFill>
              <a:srgbClr val="38BDF8"/>
            </a:solidFill>
            <a:prstDash val="solid"/>
          </a:ln>
        </p:spPr>
        <p:txBody>
          <a:bodyPr/>
          <a:lstStyle/>
          <a:p>
            <a:endParaRPr lang="en-IN"/>
          </a:p>
        </p:txBody>
      </p:sp>
      <p:sp>
        <p:nvSpPr>
          <p:cNvPr id="3" name="Text 1"/>
          <p:cNvSpPr/>
          <p:nvPr/>
        </p:nvSpPr>
        <p:spPr>
          <a:xfrm>
            <a:off x="365760" y="164592"/>
            <a:ext cx="8412480" cy="502920"/>
          </a:xfrm>
          <a:prstGeom prst="rect">
            <a:avLst/>
          </a:prstGeom>
          <a:noFill/>
          <a:ln/>
        </p:spPr>
        <p:txBody>
          <a:bodyPr wrap="square" lIns="0" tIns="0" rIns="0" bIns="0" rtlCol="0" anchor="ctr"/>
          <a:lstStyle/>
          <a:p>
            <a:pPr marL="0" indent="0">
              <a:buNone/>
            </a:pPr>
            <a:r>
              <a:rPr lang="en-US" sz="2400" b="1" dirty="0">
                <a:solidFill>
                  <a:srgbClr val="38BDF8"/>
                </a:solidFill>
                <a:latin typeface="Calibri" pitchFamily="34" charset="0"/>
                <a:ea typeface="Calibri" pitchFamily="34" charset="-122"/>
                <a:cs typeface="Calibri" pitchFamily="34" charset="-120"/>
              </a:rPr>
              <a:t>Milestone 2 — Data Pipeline &amp; Feature Extraction</a:t>
            </a:r>
            <a:endParaRPr lang="en-US" sz="2400" dirty="0"/>
          </a:p>
        </p:txBody>
      </p:sp>
      <p:sp>
        <p:nvSpPr>
          <p:cNvPr id="4" name="Text 2"/>
          <p:cNvSpPr/>
          <p:nvPr/>
        </p:nvSpPr>
        <p:spPr>
          <a:xfrm>
            <a:off x="365760" y="777240"/>
            <a:ext cx="4114800" cy="320040"/>
          </a:xfrm>
          <a:prstGeom prst="rect">
            <a:avLst/>
          </a:prstGeom>
          <a:noFill/>
          <a:ln/>
        </p:spPr>
        <p:txBody>
          <a:bodyPr wrap="square" lIns="0" tIns="0" rIns="0" bIns="0" rtlCol="0" anchor="ctr"/>
          <a:lstStyle/>
          <a:p>
            <a:pPr marL="0" indent="0">
              <a:buNone/>
            </a:pPr>
            <a:r>
              <a:rPr lang="en-US" sz="1400" b="1" dirty="0">
                <a:solidFill>
                  <a:srgbClr val="A78BFA"/>
                </a:solidFill>
                <a:latin typeface="Calibri" pitchFamily="34" charset="0"/>
                <a:ea typeface="Calibri" pitchFamily="34" charset="-122"/>
                <a:cs typeface="Calibri" pitchFamily="34" charset="-120"/>
              </a:rPr>
              <a:t>5 Input Files</a:t>
            </a:r>
            <a:endParaRPr lang="en-US" sz="1400" dirty="0"/>
          </a:p>
        </p:txBody>
      </p:sp>
      <p:sp>
        <p:nvSpPr>
          <p:cNvPr id="5" name="Shape 3"/>
          <p:cNvSpPr/>
          <p:nvPr/>
        </p:nvSpPr>
        <p:spPr>
          <a:xfrm>
            <a:off x="274320" y="1143000"/>
            <a:ext cx="73152" cy="457200"/>
          </a:xfrm>
          <a:prstGeom prst="rect">
            <a:avLst/>
          </a:prstGeom>
          <a:solidFill>
            <a:srgbClr val="A78BFA"/>
          </a:solidFill>
          <a:ln w="12700">
            <a:solidFill>
              <a:srgbClr val="A78BFA"/>
            </a:solidFill>
            <a:prstDash val="solid"/>
          </a:ln>
        </p:spPr>
        <p:txBody>
          <a:bodyPr/>
          <a:lstStyle/>
          <a:p>
            <a:endParaRPr lang="en-IN"/>
          </a:p>
        </p:txBody>
      </p:sp>
      <p:sp>
        <p:nvSpPr>
          <p:cNvPr id="6" name="Shape 4"/>
          <p:cNvSpPr/>
          <p:nvPr/>
        </p:nvSpPr>
        <p:spPr>
          <a:xfrm>
            <a:off x="411480" y="1143000"/>
            <a:ext cx="3749040" cy="457200"/>
          </a:xfrm>
          <a:prstGeom prst="rect">
            <a:avLst/>
          </a:prstGeom>
          <a:solidFill>
            <a:srgbClr val="162A41"/>
          </a:solidFill>
          <a:ln w="12700">
            <a:solidFill>
              <a:srgbClr val="1E3A5F"/>
            </a:solidFill>
            <a:prstDash val="solid"/>
          </a:ln>
        </p:spPr>
        <p:txBody>
          <a:bodyPr/>
          <a:lstStyle/>
          <a:p>
            <a:endParaRPr lang="en-IN"/>
          </a:p>
        </p:txBody>
      </p:sp>
      <p:sp>
        <p:nvSpPr>
          <p:cNvPr id="7" name="Text 5"/>
          <p:cNvSpPr/>
          <p:nvPr/>
        </p:nvSpPr>
        <p:spPr>
          <a:xfrm>
            <a:off x="548640" y="1179576"/>
            <a:ext cx="3566160" cy="201168"/>
          </a:xfrm>
          <a:prstGeom prst="rect">
            <a:avLst/>
          </a:prstGeom>
          <a:noFill/>
          <a:ln/>
        </p:spPr>
        <p:txBody>
          <a:bodyPr wrap="square" lIns="0" tIns="0" rIns="0" bIns="0" rtlCol="0" anchor="ctr"/>
          <a:lstStyle/>
          <a:p>
            <a:pPr marL="0" indent="0">
              <a:buNone/>
            </a:pPr>
            <a:r>
              <a:rPr lang="en-US" sz="1200" b="1" dirty="0">
                <a:solidFill>
                  <a:srgbClr val="DCE8F5"/>
                </a:solidFill>
                <a:latin typeface="Calibri" pitchFamily="34" charset="0"/>
                <a:ea typeface="Calibri" pitchFamily="34" charset="-122"/>
                <a:cs typeface="Calibri" pitchFamily="34" charset="-120"/>
              </a:rPr>
              <a:t>Daily Activity</a:t>
            </a:r>
            <a:endParaRPr lang="en-US" sz="1200" dirty="0"/>
          </a:p>
        </p:txBody>
      </p:sp>
      <p:sp>
        <p:nvSpPr>
          <p:cNvPr id="8" name="Text 6"/>
          <p:cNvSpPr/>
          <p:nvPr/>
        </p:nvSpPr>
        <p:spPr>
          <a:xfrm>
            <a:off x="548640" y="1371600"/>
            <a:ext cx="3566160" cy="182880"/>
          </a:xfrm>
          <a:prstGeom prst="rect">
            <a:avLst/>
          </a:prstGeom>
          <a:noFill/>
          <a:ln/>
        </p:spPr>
        <p:txBody>
          <a:bodyPr wrap="square" lIns="0" tIns="0" rIns="0" bIns="0" rtlCol="0" anchor="ctr"/>
          <a:lstStyle/>
          <a:p>
            <a:pPr marL="0" indent="0">
              <a:buNone/>
            </a:pPr>
            <a:r>
              <a:rPr lang="en-US" sz="1000" dirty="0">
                <a:solidFill>
                  <a:srgbClr val="7A9ABB"/>
                </a:solidFill>
                <a:latin typeface="Calibri" pitchFamily="34" charset="0"/>
                <a:ea typeface="Calibri" pitchFamily="34" charset="-122"/>
                <a:cs typeface="Calibri" pitchFamily="34" charset="-120"/>
              </a:rPr>
              <a:t>Steps, calories, distance per day</a:t>
            </a:r>
            <a:endParaRPr lang="en-US" sz="1000" dirty="0"/>
          </a:p>
        </p:txBody>
      </p:sp>
      <p:sp>
        <p:nvSpPr>
          <p:cNvPr id="9" name="Shape 7"/>
          <p:cNvSpPr/>
          <p:nvPr/>
        </p:nvSpPr>
        <p:spPr>
          <a:xfrm>
            <a:off x="274320" y="1892808"/>
            <a:ext cx="73152" cy="457200"/>
          </a:xfrm>
          <a:prstGeom prst="rect">
            <a:avLst/>
          </a:prstGeom>
          <a:solidFill>
            <a:srgbClr val="38BDF8"/>
          </a:solidFill>
          <a:ln w="12700">
            <a:solidFill>
              <a:srgbClr val="38BDF8"/>
            </a:solidFill>
            <a:prstDash val="solid"/>
          </a:ln>
        </p:spPr>
        <p:txBody>
          <a:bodyPr/>
          <a:lstStyle/>
          <a:p>
            <a:endParaRPr lang="en-IN"/>
          </a:p>
        </p:txBody>
      </p:sp>
      <p:sp>
        <p:nvSpPr>
          <p:cNvPr id="10" name="Shape 8"/>
          <p:cNvSpPr/>
          <p:nvPr/>
        </p:nvSpPr>
        <p:spPr>
          <a:xfrm>
            <a:off x="411480" y="1892808"/>
            <a:ext cx="3749040" cy="457200"/>
          </a:xfrm>
          <a:prstGeom prst="rect">
            <a:avLst/>
          </a:prstGeom>
          <a:solidFill>
            <a:srgbClr val="162A41"/>
          </a:solidFill>
          <a:ln w="12700">
            <a:solidFill>
              <a:srgbClr val="1E3A5F"/>
            </a:solidFill>
            <a:prstDash val="solid"/>
          </a:ln>
        </p:spPr>
        <p:txBody>
          <a:bodyPr/>
          <a:lstStyle/>
          <a:p>
            <a:endParaRPr lang="en-IN"/>
          </a:p>
        </p:txBody>
      </p:sp>
      <p:sp>
        <p:nvSpPr>
          <p:cNvPr id="11" name="Text 9"/>
          <p:cNvSpPr/>
          <p:nvPr/>
        </p:nvSpPr>
        <p:spPr>
          <a:xfrm>
            <a:off x="548640" y="1929384"/>
            <a:ext cx="3566160" cy="201168"/>
          </a:xfrm>
          <a:prstGeom prst="rect">
            <a:avLst/>
          </a:prstGeom>
          <a:noFill/>
          <a:ln/>
        </p:spPr>
        <p:txBody>
          <a:bodyPr wrap="square" lIns="0" tIns="0" rIns="0" bIns="0" rtlCol="0" anchor="ctr"/>
          <a:lstStyle/>
          <a:p>
            <a:pPr marL="0" indent="0">
              <a:buNone/>
            </a:pPr>
            <a:r>
              <a:rPr lang="en-US" sz="1200" b="1" dirty="0">
                <a:solidFill>
                  <a:srgbClr val="DCE8F5"/>
                </a:solidFill>
                <a:latin typeface="Calibri" pitchFamily="34" charset="0"/>
                <a:ea typeface="Calibri" pitchFamily="34" charset="-122"/>
                <a:cs typeface="Calibri" pitchFamily="34" charset="-120"/>
              </a:rPr>
              <a:t>Heart Rate</a:t>
            </a:r>
            <a:endParaRPr lang="en-US" sz="1200" dirty="0"/>
          </a:p>
        </p:txBody>
      </p:sp>
      <p:sp>
        <p:nvSpPr>
          <p:cNvPr id="12" name="Text 10"/>
          <p:cNvSpPr/>
          <p:nvPr/>
        </p:nvSpPr>
        <p:spPr>
          <a:xfrm>
            <a:off x="548640" y="2121408"/>
            <a:ext cx="3566160" cy="182880"/>
          </a:xfrm>
          <a:prstGeom prst="rect">
            <a:avLst/>
          </a:prstGeom>
          <a:noFill/>
          <a:ln/>
        </p:spPr>
        <p:txBody>
          <a:bodyPr wrap="square" lIns="0" tIns="0" rIns="0" bIns="0" rtlCol="0" anchor="ctr"/>
          <a:lstStyle/>
          <a:p>
            <a:pPr marL="0" indent="0">
              <a:buNone/>
            </a:pPr>
            <a:r>
              <a:rPr lang="en-US" sz="1000" dirty="0">
                <a:solidFill>
                  <a:srgbClr val="7A9ABB"/>
                </a:solidFill>
                <a:latin typeface="Calibri" pitchFamily="34" charset="0"/>
                <a:ea typeface="Calibri" pitchFamily="34" charset="-122"/>
                <a:cs typeface="Calibri" pitchFamily="34" charset="-120"/>
              </a:rPr>
              <a:t>Readings every few seconds</a:t>
            </a:r>
            <a:endParaRPr lang="en-US" sz="1000" dirty="0"/>
          </a:p>
        </p:txBody>
      </p:sp>
      <p:sp>
        <p:nvSpPr>
          <p:cNvPr id="13" name="Shape 11"/>
          <p:cNvSpPr/>
          <p:nvPr/>
        </p:nvSpPr>
        <p:spPr>
          <a:xfrm>
            <a:off x="274320" y="2642616"/>
            <a:ext cx="73152" cy="457200"/>
          </a:xfrm>
          <a:prstGeom prst="rect">
            <a:avLst/>
          </a:prstGeom>
          <a:solidFill>
            <a:srgbClr val="10B981"/>
          </a:solidFill>
          <a:ln w="12700">
            <a:solidFill>
              <a:srgbClr val="10B981"/>
            </a:solidFill>
            <a:prstDash val="solid"/>
          </a:ln>
        </p:spPr>
        <p:txBody>
          <a:bodyPr/>
          <a:lstStyle/>
          <a:p>
            <a:endParaRPr lang="en-IN"/>
          </a:p>
        </p:txBody>
      </p:sp>
      <p:sp>
        <p:nvSpPr>
          <p:cNvPr id="14" name="Shape 12"/>
          <p:cNvSpPr/>
          <p:nvPr/>
        </p:nvSpPr>
        <p:spPr>
          <a:xfrm>
            <a:off x="411480" y="2642616"/>
            <a:ext cx="3749040" cy="457200"/>
          </a:xfrm>
          <a:prstGeom prst="rect">
            <a:avLst/>
          </a:prstGeom>
          <a:solidFill>
            <a:srgbClr val="162A41"/>
          </a:solidFill>
          <a:ln w="12700">
            <a:solidFill>
              <a:srgbClr val="1E3A5F"/>
            </a:solidFill>
            <a:prstDash val="solid"/>
          </a:ln>
        </p:spPr>
        <p:txBody>
          <a:bodyPr/>
          <a:lstStyle/>
          <a:p>
            <a:endParaRPr lang="en-IN"/>
          </a:p>
        </p:txBody>
      </p:sp>
      <p:sp>
        <p:nvSpPr>
          <p:cNvPr id="15" name="Text 13"/>
          <p:cNvSpPr/>
          <p:nvPr/>
        </p:nvSpPr>
        <p:spPr>
          <a:xfrm>
            <a:off x="548640" y="2679192"/>
            <a:ext cx="3566160" cy="201168"/>
          </a:xfrm>
          <a:prstGeom prst="rect">
            <a:avLst/>
          </a:prstGeom>
          <a:noFill/>
          <a:ln/>
        </p:spPr>
        <p:txBody>
          <a:bodyPr wrap="square" lIns="0" tIns="0" rIns="0" bIns="0" rtlCol="0" anchor="ctr"/>
          <a:lstStyle/>
          <a:p>
            <a:pPr marL="0" indent="0">
              <a:buNone/>
            </a:pPr>
            <a:r>
              <a:rPr lang="en-US" sz="1200" b="1" dirty="0">
                <a:solidFill>
                  <a:srgbClr val="DCE8F5"/>
                </a:solidFill>
                <a:latin typeface="Calibri" pitchFamily="34" charset="0"/>
                <a:ea typeface="Calibri" pitchFamily="34" charset="-122"/>
                <a:cs typeface="Calibri" pitchFamily="34" charset="-120"/>
              </a:rPr>
              <a:t>Hourly Intensities</a:t>
            </a:r>
            <a:endParaRPr lang="en-US" sz="1200" dirty="0"/>
          </a:p>
        </p:txBody>
      </p:sp>
      <p:sp>
        <p:nvSpPr>
          <p:cNvPr id="16" name="Text 14"/>
          <p:cNvSpPr/>
          <p:nvPr/>
        </p:nvSpPr>
        <p:spPr>
          <a:xfrm>
            <a:off x="548640" y="2871216"/>
            <a:ext cx="3566160" cy="182880"/>
          </a:xfrm>
          <a:prstGeom prst="rect">
            <a:avLst/>
          </a:prstGeom>
          <a:noFill/>
          <a:ln/>
        </p:spPr>
        <p:txBody>
          <a:bodyPr wrap="square" lIns="0" tIns="0" rIns="0" bIns="0" rtlCol="0" anchor="ctr"/>
          <a:lstStyle/>
          <a:p>
            <a:pPr marL="0" indent="0">
              <a:buNone/>
            </a:pPr>
            <a:r>
              <a:rPr lang="en-US" sz="1000" dirty="0">
                <a:solidFill>
                  <a:srgbClr val="7A9ABB"/>
                </a:solidFill>
                <a:latin typeface="Calibri" pitchFamily="34" charset="0"/>
                <a:ea typeface="Calibri" pitchFamily="34" charset="-122"/>
                <a:cs typeface="Calibri" pitchFamily="34" charset="-120"/>
              </a:rPr>
              <a:t>Activity intensity each hour</a:t>
            </a:r>
            <a:endParaRPr lang="en-US" sz="1000" dirty="0"/>
          </a:p>
        </p:txBody>
      </p:sp>
      <p:sp>
        <p:nvSpPr>
          <p:cNvPr id="17" name="Shape 15"/>
          <p:cNvSpPr/>
          <p:nvPr/>
        </p:nvSpPr>
        <p:spPr>
          <a:xfrm>
            <a:off x="274320" y="3392424"/>
            <a:ext cx="73152" cy="457200"/>
          </a:xfrm>
          <a:prstGeom prst="rect">
            <a:avLst/>
          </a:prstGeom>
          <a:solidFill>
            <a:srgbClr val="F59E0B"/>
          </a:solidFill>
          <a:ln w="12700">
            <a:solidFill>
              <a:srgbClr val="F59E0B"/>
            </a:solidFill>
            <a:prstDash val="solid"/>
          </a:ln>
        </p:spPr>
        <p:txBody>
          <a:bodyPr/>
          <a:lstStyle/>
          <a:p>
            <a:endParaRPr lang="en-IN"/>
          </a:p>
        </p:txBody>
      </p:sp>
      <p:sp>
        <p:nvSpPr>
          <p:cNvPr id="18" name="Shape 16"/>
          <p:cNvSpPr/>
          <p:nvPr/>
        </p:nvSpPr>
        <p:spPr>
          <a:xfrm>
            <a:off x="411480" y="3392424"/>
            <a:ext cx="3749040" cy="457200"/>
          </a:xfrm>
          <a:prstGeom prst="rect">
            <a:avLst/>
          </a:prstGeom>
          <a:solidFill>
            <a:srgbClr val="162A41"/>
          </a:solidFill>
          <a:ln w="12700">
            <a:solidFill>
              <a:srgbClr val="1E3A5F"/>
            </a:solidFill>
            <a:prstDash val="solid"/>
          </a:ln>
        </p:spPr>
        <p:txBody>
          <a:bodyPr/>
          <a:lstStyle/>
          <a:p>
            <a:endParaRPr lang="en-IN"/>
          </a:p>
        </p:txBody>
      </p:sp>
      <p:sp>
        <p:nvSpPr>
          <p:cNvPr id="19" name="Text 17"/>
          <p:cNvSpPr/>
          <p:nvPr/>
        </p:nvSpPr>
        <p:spPr>
          <a:xfrm>
            <a:off x="548640" y="3429000"/>
            <a:ext cx="3566160" cy="201168"/>
          </a:xfrm>
          <a:prstGeom prst="rect">
            <a:avLst/>
          </a:prstGeom>
          <a:noFill/>
          <a:ln/>
        </p:spPr>
        <p:txBody>
          <a:bodyPr wrap="square" lIns="0" tIns="0" rIns="0" bIns="0" rtlCol="0" anchor="ctr"/>
          <a:lstStyle/>
          <a:p>
            <a:pPr marL="0" indent="0">
              <a:buNone/>
            </a:pPr>
            <a:r>
              <a:rPr lang="en-US" sz="1200" b="1" dirty="0">
                <a:solidFill>
                  <a:srgbClr val="DCE8F5"/>
                </a:solidFill>
                <a:latin typeface="Calibri" pitchFamily="34" charset="0"/>
                <a:ea typeface="Calibri" pitchFamily="34" charset="-122"/>
                <a:cs typeface="Calibri" pitchFamily="34" charset="-120"/>
              </a:rPr>
              <a:t>Hourly Steps</a:t>
            </a:r>
            <a:endParaRPr lang="en-US" sz="1200" dirty="0"/>
          </a:p>
        </p:txBody>
      </p:sp>
      <p:sp>
        <p:nvSpPr>
          <p:cNvPr id="20" name="Text 18"/>
          <p:cNvSpPr/>
          <p:nvPr/>
        </p:nvSpPr>
        <p:spPr>
          <a:xfrm>
            <a:off x="548640" y="3621024"/>
            <a:ext cx="3566160" cy="182880"/>
          </a:xfrm>
          <a:prstGeom prst="rect">
            <a:avLst/>
          </a:prstGeom>
          <a:noFill/>
          <a:ln/>
        </p:spPr>
        <p:txBody>
          <a:bodyPr wrap="square" lIns="0" tIns="0" rIns="0" bIns="0" rtlCol="0" anchor="ctr"/>
          <a:lstStyle/>
          <a:p>
            <a:pPr marL="0" indent="0">
              <a:buNone/>
            </a:pPr>
            <a:r>
              <a:rPr lang="en-US" sz="1000" dirty="0">
                <a:solidFill>
                  <a:srgbClr val="7A9ABB"/>
                </a:solidFill>
                <a:latin typeface="Calibri" pitchFamily="34" charset="0"/>
                <a:ea typeface="Calibri" pitchFamily="34" charset="-122"/>
                <a:cs typeface="Calibri" pitchFamily="34" charset="-120"/>
              </a:rPr>
              <a:t>Step count each hour</a:t>
            </a:r>
            <a:endParaRPr lang="en-US" sz="1000" dirty="0"/>
          </a:p>
        </p:txBody>
      </p:sp>
      <p:sp>
        <p:nvSpPr>
          <p:cNvPr id="21" name="Shape 19"/>
          <p:cNvSpPr/>
          <p:nvPr/>
        </p:nvSpPr>
        <p:spPr>
          <a:xfrm>
            <a:off x="274320" y="4142232"/>
            <a:ext cx="73152" cy="457200"/>
          </a:xfrm>
          <a:prstGeom prst="rect">
            <a:avLst/>
          </a:prstGeom>
          <a:solidFill>
            <a:srgbClr val="6366F1"/>
          </a:solidFill>
          <a:ln w="12700">
            <a:solidFill>
              <a:srgbClr val="6366F1"/>
            </a:solidFill>
            <a:prstDash val="solid"/>
          </a:ln>
        </p:spPr>
        <p:txBody>
          <a:bodyPr/>
          <a:lstStyle/>
          <a:p>
            <a:endParaRPr lang="en-IN"/>
          </a:p>
        </p:txBody>
      </p:sp>
      <p:sp>
        <p:nvSpPr>
          <p:cNvPr id="22" name="Shape 20"/>
          <p:cNvSpPr/>
          <p:nvPr/>
        </p:nvSpPr>
        <p:spPr>
          <a:xfrm>
            <a:off x="411480" y="4142232"/>
            <a:ext cx="3749040" cy="457200"/>
          </a:xfrm>
          <a:prstGeom prst="rect">
            <a:avLst/>
          </a:prstGeom>
          <a:solidFill>
            <a:srgbClr val="162A41"/>
          </a:solidFill>
          <a:ln w="12700">
            <a:solidFill>
              <a:srgbClr val="1E3A5F"/>
            </a:solidFill>
            <a:prstDash val="solid"/>
          </a:ln>
        </p:spPr>
        <p:txBody>
          <a:bodyPr/>
          <a:lstStyle/>
          <a:p>
            <a:endParaRPr lang="en-IN"/>
          </a:p>
        </p:txBody>
      </p:sp>
      <p:sp>
        <p:nvSpPr>
          <p:cNvPr id="23" name="Text 21"/>
          <p:cNvSpPr/>
          <p:nvPr/>
        </p:nvSpPr>
        <p:spPr>
          <a:xfrm>
            <a:off x="548640" y="4178808"/>
            <a:ext cx="3566160" cy="201168"/>
          </a:xfrm>
          <a:prstGeom prst="rect">
            <a:avLst/>
          </a:prstGeom>
          <a:noFill/>
          <a:ln/>
        </p:spPr>
        <p:txBody>
          <a:bodyPr wrap="square" lIns="0" tIns="0" rIns="0" bIns="0" rtlCol="0" anchor="ctr"/>
          <a:lstStyle/>
          <a:p>
            <a:pPr marL="0" indent="0">
              <a:buNone/>
            </a:pPr>
            <a:r>
              <a:rPr lang="en-US" sz="1200" b="1" dirty="0">
                <a:solidFill>
                  <a:srgbClr val="DCE8F5"/>
                </a:solidFill>
                <a:latin typeface="Calibri" pitchFamily="34" charset="0"/>
                <a:ea typeface="Calibri" pitchFamily="34" charset="-122"/>
                <a:cs typeface="Calibri" pitchFamily="34" charset="-120"/>
              </a:rPr>
              <a:t>Minute Sleep</a:t>
            </a:r>
            <a:endParaRPr lang="en-US" sz="1200" dirty="0"/>
          </a:p>
        </p:txBody>
      </p:sp>
      <p:sp>
        <p:nvSpPr>
          <p:cNvPr id="24" name="Text 22"/>
          <p:cNvSpPr/>
          <p:nvPr/>
        </p:nvSpPr>
        <p:spPr>
          <a:xfrm>
            <a:off x="548640" y="4370832"/>
            <a:ext cx="3566160" cy="182880"/>
          </a:xfrm>
          <a:prstGeom prst="rect">
            <a:avLst/>
          </a:prstGeom>
          <a:noFill/>
          <a:ln/>
        </p:spPr>
        <p:txBody>
          <a:bodyPr wrap="square" lIns="0" tIns="0" rIns="0" bIns="0" rtlCol="0" anchor="ctr"/>
          <a:lstStyle/>
          <a:p>
            <a:pPr marL="0" indent="0">
              <a:buNone/>
            </a:pPr>
            <a:r>
              <a:rPr lang="en-US" sz="1000" dirty="0">
                <a:solidFill>
                  <a:srgbClr val="7A9ABB"/>
                </a:solidFill>
                <a:latin typeface="Calibri" pitchFamily="34" charset="0"/>
                <a:ea typeface="Calibri" pitchFamily="34" charset="-122"/>
                <a:cs typeface="Calibri" pitchFamily="34" charset="-120"/>
              </a:rPr>
              <a:t>Sleep state every minute</a:t>
            </a:r>
            <a:endParaRPr lang="en-US" sz="1000" dirty="0"/>
          </a:p>
        </p:txBody>
      </p:sp>
      <p:sp>
        <p:nvSpPr>
          <p:cNvPr id="25" name="Shape 23"/>
          <p:cNvSpPr/>
          <p:nvPr/>
        </p:nvSpPr>
        <p:spPr>
          <a:xfrm>
            <a:off x="4572000" y="777240"/>
            <a:ext cx="4297680" cy="4114800"/>
          </a:xfrm>
          <a:prstGeom prst="rect">
            <a:avLst/>
          </a:prstGeom>
          <a:solidFill>
            <a:srgbClr val="162A41"/>
          </a:solidFill>
          <a:ln w="12700">
            <a:solidFill>
              <a:srgbClr val="38BDF8"/>
            </a:solidFill>
            <a:prstDash val="solid"/>
          </a:ln>
          <a:effectLst>
            <a:outerShdw blurRad="101600" dist="38100" dir="8100000" algn="bl" rotWithShape="0">
              <a:srgbClr val="000000">
                <a:alpha val="25000"/>
              </a:srgbClr>
            </a:outerShdw>
          </a:effectLst>
        </p:spPr>
        <p:txBody>
          <a:bodyPr/>
          <a:lstStyle/>
          <a:p>
            <a:endParaRPr lang="en-IN"/>
          </a:p>
        </p:txBody>
      </p:sp>
      <p:sp>
        <p:nvSpPr>
          <p:cNvPr id="26" name="Shape 24"/>
          <p:cNvSpPr/>
          <p:nvPr/>
        </p:nvSpPr>
        <p:spPr>
          <a:xfrm>
            <a:off x="4572000" y="777240"/>
            <a:ext cx="4297680" cy="384048"/>
          </a:xfrm>
          <a:prstGeom prst="rect">
            <a:avLst/>
          </a:prstGeom>
          <a:solidFill>
            <a:srgbClr val="38BDF8"/>
          </a:solidFill>
          <a:ln w="12700">
            <a:solidFill>
              <a:srgbClr val="38BDF8"/>
            </a:solidFill>
            <a:prstDash val="solid"/>
          </a:ln>
        </p:spPr>
        <p:txBody>
          <a:bodyPr/>
          <a:lstStyle/>
          <a:p>
            <a:endParaRPr lang="en-IN"/>
          </a:p>
        </p:txBody>
      </p:sp>
      <p:sp>
        <p:nvSpPr>
          <p:cNvPr id="27" name="Text 25"/>
          <p:cNvSpPr/>
          <p:nvPr/>
        </p:nvSpPr>
        <p:spPr>
          <a:xfrm>
            <a:off x="4663440" y="777240"/>
            <a:ext cx="4114800" cy="384048"/>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  TSFresh Feature Extraction</a:t>
            </a:r>
            <a:endParaRPr lang="en-US" sz="1300" dirty="0"/>
          </a:p>
        </p:txBody>
      </p:sp>
      <p:sp>
        <p:nvSpPr>
          <p:cNvPr id="28" name="Text 26"/>
          <p:cNvSpPr/>
          <p:nvPr/>
        </p:nvSpPr>
        <p:spPr>
          <a:xfrm>
            <a:off x="4709160" y="1261872"/>
            <a:ext cx="406908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196,537 heart rate readings → 10 features per user</a:t>
            </a:r>
            <a:endParaRPr lang="en-US" sz="1100" dirty="0"/>
          </a:p>
        </p:txBody>
      </p:sp>
      <p:sp>
        <p:nvSpPr>
          <p:cNvPr id="29" name="Text 27"/>
          <p:cNvSpPr/>
          <p:nvPr/>
        </p:nvSpPr>
        <p:spPr>
          <a:xfrm>
            <a:off x="4709160" y="1947672"/>
            <a:ext cx="406908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Features: Mean, Median, Variance, Max, Min, Standard Deviation, Root Mean Square, Sum, Absolute Max, Length</a:t>
            </a:r>
            <a:endParaRPr lang="en-US" sz="1100" dirty="0"/>
          </a:p>
        </p:txBody>
      </p:sp>
      <p:sp>
        <p:nvSpPr>
          <p:cNvPr id="30" name="Text 28"/>
          <p:cNvSpPr/>
          <p:nvPr/>
        </p:nvSpPr>
        <p:spPr>
          <a:xfrm>
            <a:off x="4709160" y="2633472"/>
            <a:ext cx="406908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MinimalFCParameters used for speed</a:t>
            </a:r>
            <a:endParaRPr lang="en-US" sz="1100" dirty="0"/>
          </a:p>
        </p:txBody>
      </p:sp>
      <p:sp>
        <p:nvSpPr>
          <p:cNvPr id="31" name="Text 29"/>
          <p:cNvSpPr/>
          <p:nvPr/>
        </p:nvSpPr>
        <p:spPr>
          <a:xfrm>
            <a:off x="4709160" y="3319272"/>
            <a:ext cx="406908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Results shown as normalised heatmap (0 = lowest, 1 = highest among all users)</a:t>
            </a:r>
            <a:endParaRPr lang="en-US" sz="1100" dirty="0"/>
          </a:p>
        </p:txBody>
      </p:sp>
      <p:sp>
        <p:nvSpPr>
          <p:cNvPr id="32" name="Text 30"/>
          <p:cNvSpPr/>
          <p:nvPr/>
        </p:nvSpPr>
        <p:spPr>
          <a:xfrm>
            <a:off x="4709160" y="4005072"/>
            <a:ext cx="4069080" cy="59436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Why heart rate only? Steps &amp; sleep are already 1 number per day. Heart rate has 50,000+ raw readings that need summarising.</a:t>
            </a:r>
            <a:endParaRPr lang="en-US" sz="1100" dirty="0"/>
          </a:p>
        </p:txBody>
      </p:sp>
      <p:sp>
        <p:nvSpPr>
          <p:cNvPr id="33" name="Shape 31"/>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9E0B"/>
          </a:solidFill>
          <a:ln w="12700">
            <a:solidFill>
              <a:srgbClr val="F59E0B"/>
            </a:solidFill>
            <a:prstDash val="solid"/>
          </a:ln>
        </p:spPr>
        <p:txBody>
          <a:bodyPr/>
          <a:lstStyle/>
          <a:p>
            <a:endParaRPr lang="en-IN"/>
          </a:p>
        </p:txBody>
      </p:sp>
      <p:sp>
        <p:nvSpPr>
          <p:cNvPr id="3" name="Text 1"/>
          <p:cNvSpPr/>
          <p:nvPr/>
        </p:nvSpPr>
        <p:spPr>
          <a:xfrm>
            <a:off x="365760" y="164592"/>
            <a:ext cx="8412480" cy="502920"/>
          </a:xfrm>
          <a:prstGeom prst="rect">
            <a:avLst/>
          </a:prstGeom>
          <a:noFill/>
          <a:ln/>
        </p:spPr>
        <p:txBody>
          <a:bodyPr wrap="square" lIns="0" tIns="0" rIns="0" bIns="0" rtlCol="0" anchor="ctr"/>
          <a:lstStyle/>
          <a:p>
            <a:pPr marL="0" indent="0">
              <a:buNone/>
            </a:pPr>
            <a:r>
              <a:rPr lang="en-US" sz="2800" b="1" dirty="0">
                <a:solidFill>
                  <a:srgbClr val="F59E0B"/>
                </a:solidFill>
                <a:latin typeface="Calibri" pitchFamily="34" charset="0"/>
                <a:ea typeface="Calibri" pitchFamily="34" charset="-122"/>
                <a:cs typeface="Calibri" pitchFamily="34" charset="-120"/>
              </a:rPr>
              <a:t>Prophet Forecasting</a:t>
            </a:r>
            <a:endParaRPr lang="en-US" sz="2800" dirty="0"/>
          </a:p>
        </p:txBody>
      </p:sp>
      <p:sp>
        <p:nvSpPr>
          <p:cNvPr id="4" name="Text 2"/>
          <p:cNvSpPr/>
          <p:nvPr/>
        </p:nvSpPr>
        <p:spPr>
          <a:xfrm>
            <a:off x="365760" y="777240"/>
            <a:ext cx="8229600" cy="320040"/>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What is Prophet?</a:t>
            </a:r>
            <a:endParaRPr lang="en-US" sz="1400" dirty="0"/>
          </a:p>
        </p:txBody>
      </p:sp>
      <p:sp>
        <p:nvSpPr>
          <p:cNvPr id="5" name="Text 3"/>
          <p:cNvSpPr/>
          <p:nvPr/>
        </p:nvSpPr>
        <p:spPr>
          <a:xfrm>
            <a:off x="365760" y="1097280"/>
            <a:ext cx="8229600" cy="502920"/>
          </a:xfrm>
          <a:prstGeom prst="rect">
            <a:avLst/>
          </a:prstGeom>
          <a:noFill/>
          <a:ln/>
        </p:spPr>
        <p:txBody>
          <a:bodyPr wrap="square" lIns="0" tIns="0" rIns="0" bIns="0" rtlCol="0" anchor="ctr"/>
          <a:lstStyle/>
          <a:p>
            <a:pPr marL="0" indent="0">
              <a:buNone/>
            </a:pPr>
            <a:r>
              <a:rPr lang="en-US" sz="1200" dirty="0">
                <a:solidFill>
                  <a:srgbClr val="7A9ABB"/>
                </a:solidFill>
                <a:latin typeface="Calibri" pitchFamily="34" charset="0"/>
                <a:ea typeface="Calibri" pitchFamily="34" charset="-122"/>
                <a:cs typeface="Calibri" pitchFamily="34" charset="-120"/>
              </a:rPr>
              <a:t>Prophet is a Facebook-developed time series forecasting tool. It looks at historical data and predicts future values while accounting for weekly seasonality and uncertainty.</a:t>
            </a:r>
            <a:endParaRPr lang="en-US" sz="1200" dirty="0"/>
          </a:p>
        </p:txBody>
      </p:sp>
      <p:sp>
        <p:nvSpPr>
          <p:cNvPr id="6" name="Shape 4"/>
          <p:cNvSpPr/>
          <p:nvPr/>
        </p:nvSpPr>
        <p:spPr>
          <a:xfrm>
            <a:off x="274320" y="1737360"/>
            <a:ext cx="2743200" cy="2560320"/>
          </a:xfrm>
          <a:prstGeom prst="rect">
            <a:avLst/>
          </a:prstGeom>
          <a:solidFill>
            <a:srgbClr val="162A41"/>
          </a:solidFill>
          <a:ln w="12700">
            <a:solidFill>
              <a:srgbClr val="38BDF8"/>
            </a:solidFill>
            <a:prstDash val="solid"/>
          </a:ln>
          <a:effectLst>
            <a:outerShdw blurRad="101600" dist="38100" dir="8100000" algn="bl" rotWithShape="0">
              <a:srgbClr val="000000">
                <a:alpha val="25000"/>
              </a:srgbClr>
            </a:outerShdw>
          </a:effectLst>
        </p:spPr>
        <p:txBody>
          <a:bodyPr/>
          <a:lstStyle/>
          <a:p>
            <a:endParaRPr lang="en-IN"/>
          </a:p>
        </p:txBody>
      </p:sp>
      <p:sp>
        <p:nvSpPr>
          <p:cNvPr id="7" name="Shape 5"/>
          <p:cNvSpPr/>
          <p:nvPr/>
        </p:nvSpPr>
        <p:spPr>
          <a:xfrm>
            <a:off x="274320" y="1737360"/>
            <a:ext cx="2743200" cy="384048"/>
          </a:xfrm>
          <a:prstGeom prst="rect">
            <a:avLst/>
          </a:prstGeom>
          <a:solidFill>
            <a:srgbClr val="38BDF8"/>
          </a:solidFill>
          <a:ln w="12700">
            <a:solidFill>
              <a:srgbClr val="38BDF8"/>
            </a:solidFill>
            <a:prstDash val="solid"/>
          </a:ln>
        </p:spPr>
        <p:txBody>
          <a:bodyPr/>
          <a:lstStyle/>
          <a:p>
            <a:endParaRPr lang="en-IN"/>
          </a:p>
        </p:txBody>
      </p:sp>
      <p:sp>
        <p:nvSpPr>
          <p:cNvPr id="8" name="Text 6"/>
          <p:cNvSpPr/>
          <p:nvPr/>
        </p:nvSpPr>
        <p:spPr>
          <a:xfrm>
            <a:off x="365760" y="1737360"/>
            <a:ext cx="2560320" cy="384048"/>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  Heart Rate</a:t>
            </a:r>
            <a:endParaRPr lang="en-US" sz="1300" dirty="0"/>
          </a:p>
        </p:txBody>
      </p:sp>
      <p:sp>
        <p:nvSpPr>
          <p:cNvPr id="9" name="Text 7"/>
          <p:cNvSpPr/>
          <p:nvPr/>
        </p:nvSpPr>
        <p:spPr>
          <a:xfrm>
            <a:off x="365760" y="2194560"/>
            <a:ext cx="2560320" cy="54864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Daily average heart rate</a:t>
            </a:r>
            <a:endParaRPr lang="en-US" sz="1100" dirty="0"/>
          </a:p>
        </p:txBody>
      </p:sp>
      <p:sp>
        <p:nvSpPr>
          <p:cNvPr id="10" name="Text 8"/>
          <p:cNvSpPr/>
          <p:nvPr/>
        </p:nvSpPr>
        <p:spPr>
          <a:xfrm>
            <a:off x="365760" y="2834640"/>
            <a:ext cx="2560320" cy="54864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Teal dots = actual values</a:t>
            </a:r>
            <a:endParaRPr lang="en-US" sz="1100" dirty="0"/>
          </a:p>
        </p:txBody>
      </p:sp>
      <p:sp>
        <p:nvSpPr>
          <p:cNvPr id="11" name="Text 9"/>
          <p:cNvSpPr/>
          <p:nvPr/>
        </p:nvSpPr>
        <p:spPr>
          <a:xfrm>
            <a:off x="365760" y="3474720"/>
            <a:ext cx="2560320" cy="54864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Teal shaded band = 80% CI</a:t>
            </a:r>
            <a:endParaRPr lang="en-US" sz="1100" dirty="0"/>
          </a:p>
        </p:txBody>
      </p:sp>
      <p:sp>
        <p:nvSpPr>
          <p:cNvPr id="12" name="Shape 10"/>
          <p:cNvSpPr/>
          <p:nvPr/>
        </p:nvSpPr>
        <p:spPr>
          <a:xfrm>
            <a:off x="3200400" y="1737360"/>
            <a:ext cx="2743200" cy="2560320"/>
          </a:xfrm>
          <a:prstGeom prst="rect">
            <a:avLst/>
          </a:prstGeom>
          <a:solidFill>
            <a:srgbClr val="162A41"/>
          </a:solidFill>
          <a:ln w="12700">
            <a:solidFill>
              <a:srgbClr val="10B981"/>
            </a:solidFill>
            <a:prstDash val="solid"/>
          </a:ln>
          <a:effectLst>
            <a:outerShdw blurRad="101600" dist="38100" dir="8100000" algn="bl" rotWithShape="0">
              <a:srgbClr val="000000">
                <a:alpha val="25000"/>
              </a:srgbClr>
            </a:outerShdw>
          </a:effectLst>
        </p:spPr>
        <p:txBody>
          <a:bodyPr/>
          <a:lstStyle/>
          <a:p>
            <a:endParaRPr lang="en-IN"/>
          </a:p>
        </p:txBody>
      </p:sp>
      <p:sp>
        <p:nvSpPr>
          <p:cNvPr id="13" name="Shape 11"/>
          <p:cNvSpPr/>
          <p:nvPr/>
        </p:nvSpPr>
        <p:spPr>
          <a:xfrm>
            <a:off x="3200400" y="1737360"/>
            <a:ext cx="2743200" cy="384048"/>
          </a:xfrm>
          <a:prstGeom prst="rect">
            <a:avLst/>
          </a:prstGeom>
          <a:solidFill>
            <a:srgbClr val="10B981"/>
          </a:solidFill>
          <a:ln w="12700">
            <a:solidFill>
              <a:srgbClr val="10B981"/>
            </a:solidFill>
            <a:prstDash val="solid"/>
          </a:ln>
        </p:spPr>
        <p:txBody>
          <a:bodyPr/>
          <a:lstStyle/>
          <a:p>
            <a:endParaRPr lang="en-IN"/>
          </a:p>
        </p:txBody>
      </p:sp>
      <p:sp>
        <p:nvSpPr>
          <p:cNvPr id="14" name="Text 12"/>
          <p:cNvSpPr/>
          <p:nvPr/>
        </p:nvSpPr>
        <p:spPr>
          <a:xfrm>
            <a:off x="3291840" y="1737360"/>
            <a:ext cx="2560320" cy="384048"/>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  Daily Steps</a:t>
            </a:r>
            <a:endParaRPr lang="en-US" sz="1300" dirty="0"/>
          </a:p>
        </p:txBody>
      </p:sp>
      <p:sp>
        <p:nvSpPr>
          <p:cNvPr id="15" name="Text 13"/>
          <p:cNvSpPr/>
          <p:nvPr/>
        </p:nvSpPr>
        <p:spPr>
          <a:xfrm>
            <a:off x="3291840" y="2194560"/>
            <a:ext cx="2560320" cy="54864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Average steps per day</a:t>
            </a:r>
            <a:endParaRPr lang="en-US" sz="1100" dirty="0"/>
          </a:p>
        </p:txBody>
      </p:sp>
      <p:sp>
        <p:nvSpPr>
          <p:cNvPr id="16" name="Text 14"/>
          <p:cNvSpPr/>
          <p:nvPr/>
        </p:nvSpPr>
        <p:spPr>
          <a:xfrm>
            <a:off x="3291840" y="2834640"/>
            <a:ext cx="2560320" cy="54864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Green dots = actual values</a:t>
            </a:r>
            <a:endParaRPr lang="en-US" sz="1100" dirty="0"/>
          </a:p>
        </p:txBody>
      </p:sp>
      <p:sp>
        <p:nvSpPr>
          <p:cNvPr id="17" name="Text 15"/>
          <p:cNvSpPr/>
          <p:nvPr/>
        </p:nvSpPr>
        <p:spPr>
          <a:xfrm>
            <a:off x="3291840" y="3474720"/>
            <a:ext cx="2560320" cy="54864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Green shaded band = 80% CI</a:t>
            </a:r>
            <a:endParaRPr lang="en-US" sz="1100" dirty="0"/>
          </a:p>
        </p:txBody>
      </p:sp>
      <p:sp>
        <p:nvSpPr>
          <p:cNvPr id="18" name="Shape 16"/>
          <p:cNvSpPr/>
          <p:nvPr/>
        </p:nvSpPr>
        <p:spPr>
          <a:xfrm>
            <a:off x="6126480" y="1737360"/>
            <a:ext cx="2743200" cy="2560320"/>
          </a:xfrm>
          <a:prstGeom prst="rect">
            <a:avLst/>
          </a:prstGeom>
          <a:solidFill>
            <a:srgbClr val="162A41"/>
          </a:solidFill>
          <a:ln w="12700">
            <a:solidFill>
              <a:srgbClr val="A78BFA"/>
            </a:solidFill>
            <a:prstDash val="solid"/>
          </a:ln>
          <a:effectLst>
            <a:outerShdw blurRad="101600" dist="38100" dir="8100000" algn="bl" rotWithShape="0">
              <a:srgbClr val="000000">
                <a:alpha val="25000"/>
              </a:srgbClr>
            </a:outerShdw>
          </a:effectLst>
        </p:spPr>
        <p:txBody>
          <a:bodyPr/>
          <a:lstStyle/>
          <a:p>
            <a:endParaRPr lang="en-IN"/>
          </a:p>
        </p:txBody>
      </p:sp>
      <p:sp>
        <p:nvSpPr>
          <p:cNvPr id="19" name="Shape 17"/>
          <p:cNvSpPr/>
          <p:nvPr/>
        </p:nvSpPr>
        <p:spPr>
          <a:xfrm>
            <a:off x="6126480" y="1737360"/>
            <a:ext cx="2743200" cy="384048"/>
          </a:xfrm>
          <a:prstGeom prst="rect">
            <a:avLst/>
          </a:prstGeom>
          <a:solidFill>
            <a:srgbClr val="A78BFA"/>
          </a:solidFill>
          <a:ln w="12700">
            <a:solidFill>
              <a:srgbClr val="A78BFA"/>
            </a:solidFill>
            <a:prstDash val="solid"/>
          </a:ln>
        </p:spPr>
        <p:txBody>
          <a:bodyPr/>
          <a:lstStyle/>
          <a:p>
            <a:endParaRPr lang="en-IN"/>
          </a:p>
        </p:txBody>
      </p:sp>
      <p:sp>
        <p:nvSpPr>
          <p:cNvPr id="20" name="Text 18"/>
          <p:cNvSpPr/>
          <p:nvPr/>
        </p:nvSpPr>
        <p:spPr>
          <a:xfrm>
            <a:off x="6217920" y="1737360"/>
            <a:ext cx="2560320" cy="384048"/>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  Sleep</a:t>
            </a:r>
            <a:endParaRPr lang="en-US" sz="1300" dirty="0"/>
          </a:p>
        </p:txBody>
      </p:sp>
      <p:sp>
        <p:nvSpPr>
          <p:cNvPr id="21" name="Text 19"/>
          <p:cNvSpPr/>
          <p:nvPr/>
        </p:nvSpPr>
        <p:spPr>
          <a:xfrm>
            <a:off x="6217920" y="2194560"/>
            <a:ext cx="2560320" cy="54864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Total sleep in minutes/day</a:t>
            </a:r>
            <a:endParaRPr lang="en-US" sz="1100" dirty="0"/>
          </a:p>
        </p:txBody>
      </p:sp>
      <p:sp>
        <p:nvSpPr>
          <p:cNvPr id="22" name="Text 20"/>
          <p:cNvSpPr/>
          <p:nvPr/>
        </p:nvSpPr>
        <p:spPr>
          <a:xfrm>
            <a:off x="6217920" y="2834640"/>
            <a:ext cx="2560320" cy="54864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Purple dots = actual values</a:t>
            </a:r>
            <a:endParaRPr lang="en-US" sz="1100" dirty="0"/>
          </a:p>
        </p:txBody>
      </p:sp>
      <p:sp>
        <p:nvSpPr>
          <p:cNvPr id="23" name="Text 21"/>
          <p:cNvSpPr/>
          <p:nvPr/>
        </p:nvSpPr>
        <p:spPr>
          <a:xfrm>
            <a:off x="6217920" y="3474720"/>
            <a:ext cx="2560320" cy="548640"/>
          </a:xfrm>
          <a:prstGeom prst="rect">
            <a:avLst/>
          </a:prstGeom>
          <a:noFill/>
          <a:ln/>
        </p:spPr>
        <p:txBody>
          <a:bodyPr wrap="square" rtlCol="0" anchor="ctr"/>
          <a:lstStyle/>
          <a:p>
            <a:pPr marL="342900" indent="-342900">
              <a:buSzPct val="100000"/>
              <a:buChar char="•"/>
            </a:pPr>
            <a:r>
              <a:rPr lang="en-US" sz="1100" dirty="0">
                <a:solidFill>
                  <a:srgbClr val="DCE8F5"/>
                </a:solidFill>
                <a:latin typeface="Calibri" pitchFamily="34" charset="0"/>
                <a:ea typeface="Calibri" pitchFamily="34" charset="-122"/>
                <a:cs typeface="Calibri" pitchFamily="34" charset="-120"/>
              </a:rPr>
              <a:t>Purple shaded band = 80% CI</a:t>
            </a:r>
            <a:endParaRPr lang="en-US" sz="1100" dirty="0"/>
          </a:p>
        </p:txBody>
      </p:sp>
      <p:sp>
        <p:nvSpPr>
          <p:cNvPr id="24" name="Shape 22"/>
          <p:cNvSpPr/>
          <p:nvPr/>
        </p:nvSpPr>
        <p:spPr>
          <a:xfrm>
            <a:off x="274320" y="4434840"/>
            <a:ext cx="8595360" cy="548640"/>
          </a:xfrm>
          <a:prstGeom prst="rect">
            <a:avLst/>
          </a:prstGeom>
          <a:solidFill>
            <a:srgbClr val="162A41"/>
          </a:solidFill>
          <a:ln w="12700">
            <a:solidFill>
              <a:srgbClr val="F59E0B"/>
            </a:solidFill>
            <a:prstDash val="solid"/>
          </a:ln>
        </p:spPr>
        <p:txBody>
          <a:bodyPr/>
          <a:lstStyle/>
          <a:p>
            <a:endParaRPr lang="en-IN"/>
          </a:p>
        </p:txBody>
      </p:sp>
      <p:sp>
        <p:nvSpPr>
          <p:cNvPr id="25" name="Text 23"/>
          <p:cNvSpPr/>
          <p:nvPr/>
        </p:nvSpPr>
        <p:spPr>
          <a:xfrm>
            <a:off x="457200" y="4434840"/>
            <a:ext cx="8229600" cy="548640"/>
          </a:xfrm>
          <a:prstGeom prst="rect">
            <a:avLst/>
          </a:prstGeom>
          <a:noFill/>
          <a:ln/>
        </p:spPr>
        <p:txBody>
          <a:bodyPr wrap="square" rtlCol="0" anchor="ctr"/>
          <a:lstStyle/>
          <a:p>
            <a:pPr marL="0" indent="0" algn="ctr">
              <a:buNone/>
            </a:pPr>
            <a:r>
              <a:rPr lang="en-US" sz="1200" b="1" dirty="0">
                <a:solidFill>
                  <a:srgbClr val="F59E0B"/>
                </a:solidFill>
                <a:latin typeface="Calibri" pitchFamily="34" charset="0"/>
                <a:ea typeface="Calibri" pitchFamily="34" charset="-122"/>
                <a:cs typeface="Calibri" pitchFamily="34" charset="-120"/>
              </a:rPr>
              <a:t>30-day forecast  ·  80% Confidence Interval shown  ·  CI Upper &amp; Lower visible on hover  ·  Orange dashed line = forecast start</a:t>
            </a:r>
            <a:endParaRPr lang="en-US" sz="1200" dirty="0"/>
          </a:p>
        </p:txBody>
      </p:sp>
      <p:sp>
        <p:nvSpPr>
          <p:cNvPr id="26" name="Shape 24"/>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0B981"/>
          </a:solidFill>
          <a:ln w="12700">
            <a:solidFill>
              <a:srgbClr val="10B981"/>
            </a:solidFill>
            <a:prstDash val="solid"/>
          </a:ln>
        </p:spPr>
        <p:txBody>
          <a:bodyPr/>
          <a:lstStyle/>
          <a:p>
            <a:endParaRPr lang="en-IN"/>
          </a:p>
        </p:txBody>
      </p:sp>
      <p:sp>
        <p:nvSpPr>
          <p:cNvPr id="3" name="Text 1"/>
          <p:cNvSpPr/>
          <p:nvPr/>
        </p:nvSpPr>
        <p:spPr>
          <a:xfrm>
            <a:off x="365760" y="164592"/>
            <a:ext cx="8412480" cy="502920"/>
          </a:xfrm>
          <a:prstGeom prst="rect">
            <a:avLst/>
          </a:prstGeom>
          <a:noFill/>
          <a:ln/>
        </p:spPr>
        <p:txBody>
          <a:bodyPr wrap="square" lIns="0" tIns="0" rIns="0" bIns="0" rtlCol="0" anchor="ctr"/>
          <a:lstStyle/>
          <a:p>
            <a:pPr marL="0" indent="0">
              <a:buNone/>
            </a:pPr>
            <a:r>
              <a:rPr lang="en-US" sz="2800" b="1" dirty="0">
                <a:solidFill>
                  <a:srgbClr val="10B981"/>
                </a:solidFill>
                <a:latin typeface="Calibri" pitchFamily="34" charset="0"/>
                <a:ea typeface="Calibri" pitchFamily="34" charset="-122"/>
                <a:cs typeface="Calibri" pitchFamily="34" charset="-120"/>
              </a:rPr>
              <a:t>User Clustering &amp; Visualisation</a:t>
            </a:r>
            <a:endParaRPr lang="en-US" sz="2800" dirty="0"/>
          </a:p>
        </p:txBody>
      </p:sp>
      <p:sp>
        <p:nvSpPr>
          <p:cNvPr id="4" name="Shape 2"/>
          <p:cNvSpPr/>
          <p:nvPr/>
        </p:nvSpPr>
        <p:spPr>
          <a:xfrm>
            <a:off x="274320" y="822960"/>
            <a:ext cx="4114800" cy="1920240"/>
          </a:xfrm>
          <a:prstGeom prst="rect">
            <a:avLst/>
          </a:prstGeom>
          <a:solidFill>
            <a:srgbClr val="162A41"/>
          </a:solidFill>
          <a:ln w="12700">
            <a:solidFill>
              <a:srgbClr val="A78BFA"/>
            </a:solidFill>
            <a:prstDash val="solid"/>
          </a:ln>
          <a:effectLst>
            <a:outerShdw blurRad="101600" dist="38100" dir="8100000" algn="bl" rotWithShape="0">
              <a:srgbClr val="000000">
                <a:alpha val="25000"/>
              </a:srgbClr>
            </a:outerShdw>
          </a:effectLst>
        </p:spPr>
        <p:txBody>
          <a:bodyPr/>
          <a:lstStyle/>
          <a:p>
            <a:endParaRPr lang="en-IN"/>
          </a:p>
        </p:txBody>
      </p:sp>
      <p:sp>
        <p:nvSpPr>
          <p:cNvPr id="5" name="Shape 3"/>
          <p:cNvSpPr/>
          <p:nvPr/>
        </p:nvSpPr>
        <p:spPr>
          <a:xfrm>
            <a:off x="274320" y="822960"/>
            <a:ext cx="4114800" cy="365760"/>
          </a:xfrm>
          <a:prstGeom prst="rect">
            <a:avLst/>
          </a:prstGeom>
          <a:solidFill>
            <a:srgbClr val="A78BFA"/>
          </a:solidFill>
          <a:ln w="12700">
            <a:solidFill>
              <a:srgbClr val="A78BFA"/>
            </a:solidFill>
            <a:prstDash val="solid"/>
          </a:ln>
        </p:spPr>
        <p:txBody>
          <a:bodyPr/>
          <a:lstStyle/>
          <a:p>
            <a:endParaRPr lang="en-IN"/>
          </a:p>
        </p:txBody>
      </p:sp>
      <p:sp>
        <p:nvSpPr>
          <p:cNvPr id="6" name="Text 4"/>
          <p:cNvSpPr/>
          <p:nvPr/>
        </p:nvSpPr>
        <p:spPr>
          <a:xfrm>
            <a:off x="365760" y="822960"/>
            <a:ext cx="3931920" cy="365760"/>
          </a:xfrm>
          <a:prstGeom prst="rect">
            <a:avLst/>
          </a:prstGeom>
          <a:noFill/>
          <a:ln/>
        </p:spPr>
        <p:txBody>
          <a:bodyPr wrap="square" rtlCol="0" anchor="ctr"/>
          <a:lstStyle/>
          <a:p>
            <a:pPr marL="0" indent="0">
              <a:buNone/>
            </a:pPr>
            <a:r>
              <a:rPr lang="en-US" sz="1400" b="1" dirty="0">
                <a:solidFill>
                  <a:srgbClr val="0D1B2A"/>
                </a:solidFill>
                <a:latin typeface="Calibri" pitchFamily="34" charset="0"/>
                <a:ea typeface="Calibri" pitchFamily="34" charset="-122"/>
                <a:cs typeface="Calibri" pitchFamily="34" charset="-120"/>
              </a:rPr>
              <a:t>KMeans</a:t>
            </a:r>
            <a:endParaRPr lang="en-US" sz="1400" dirty="0"/>
          </a:p>
        </p:txBody>
      </p:sp>
      <p:sp>
        <p:nvSpPr>
          <p:cNvPr id="7" name="Text 5"/>
          <p:cNvSpPr/>
          <p:nvPr/>
        </p:nvSpPr>
        <p:spPr>
          <a:xfrm>
            <a:off x="411480" y="1261872"/>
            <a:ext cx="3931920" cy="329184"/>
          </a:xfrm>
          <a:prstGeom prst="rect">
            <a:avLst/>
          </a:prstGeom>
          <a:noFill/>
          <a:ln/>
        </p:spPr>
        <p:txBody>
          <a:bodyPr wrap="square" rtlCol="0" anchor="ctr"/>
          <a:lstStyle/>
          <a:p>
            <a:pPr marL="342900" indent="-342900">
              <a:buSzPct val="100000"/>
              <a:buChar char="•"/>
            </a:pPr>
            <a:r>
              <a:rPr lang="en-US" sz="1050" dirty="0">
                <a:solidFill>
                  <a:srgbClr val="DCE8F5"/>
                </a:solidFill>
                <a:latin typeface="Calibri" pitchFamily="34" charset="0"/>
                <a:ea typeface="Calibri" pitchFamily="34" charset="-122"/>
                <a:cs typeface="Calibri" pitchFamily="34" charset="-120"/>
              </a:rPr>
              <a:t>You choose number of groups (k)</a:t>
            </a:r>
            <a:endParaRPr lang="en-US" sz="1050" dirty="0"/>
          </a:p>
        </p:txBody>
      </p:sp>
      <p:sp>
        <p:nvSpPr>
          <p:cNvPr id="8" name="Text 6"/>
          <p:cNvSpPr/>
          <p:nvPr/>
        </p:nvSpPr>
        <p:spPr>
          <a:xfrm>
            <a:off x="411480" y="1618488"/>
            <a:ext cx="3931920" cy="329184"/>
          </a:xfrm>
          <a:prstGeom prst="rect">
            <a:avLst/>
          </a:prstGeom>
          <a:noFill/>
          <a:ln/>
        </p:spPr>
        <p:txBody>
          <a:bodyPr wrap="square" rtlCol="0" anchor="ctr"/>
          <a:lstStyle/>
          <a:p>
            <a:pPr marL="342900" indent="-342900">
              <a:buSzPct val="100000"/>
              <a:buChar char="•"/>
            </a:pPr>
            <a:r>
              <a:rPr lang="en-US" sz="1050" dirty="0">
                <a:solidFill>
                  <a:srgbClr val="DCE8F5"/>
                </a:solidFill>
                <a:latin typeface="Calibri" pitchFamily="34" charset="0"/>
                <a:ea typeface="Calibri" pitchFamily="34" charset="-122"/>
                <a:cs typeface="Calibri" pitchFamily="34" charset="-120"/>
              </a:rPr>
              <a:t>Use Elbow Chart to find best k</a:t>
            </a:r>
            <a:endParaRPr lang="en-US" sz="1050" dirty="0"/>
          </a:p>
        </p:txBody>
      </p:sp>
      <p:sp>
        <p:nvSpPr>
          <p:cNvPr id="9" name="Text 7"/>
          <p:cNvSpPr/>
          <p:nvPr/>
        </p:nvSpPr>
        <p:spPr>
          <a:xfrm>
            <a:off x="411480" y="1975104"/>
            <a:ext cx="3931920" cy="329184"/>
          </a:xfrm>
          <a:prstGeom prst="rect">
            <a:avLst/>
          </a:prstGeom>
          <a:noFill/>
          <a:ln/>
        </p:spPr>
        <p:txBody>
          <a:bodyPr wrap="square" rtlCol="0" anchor="ctr"/>
          <a:lstStyle/>
          <a:p>
            <a:pPr marL="342900" indent="-342900">
              <a:buSzPct val="100000"/>
              <a:buChar char="•"/>
            </a:pPr>
            <a:r>
              <a:rPr lang="en-US" sz="1050" dirty="0">
                <a:solidFill>
                  <a:srgbClr val="DCE8F5"/>
                </a:solidFill>
                <a:latin typeface="Calibri" pitchFamily="34" charset="0"/>
                <a:ea typeface="Calibri" pitchFamily="34" charset="-122"/>
                <a:cs typeface="Calibri" pitchFamily="34" charset="-120"/>
              </a:rPr>
              <a:t>Every user forced into exactly one group</a:t>
            </a:r>
            <a:endParaRPr lang="en-US" sz="1050" dirty="0"/>
          </a:p>
        </p:txBody>
      </p:sp>
      <p:sp>
        <p:nvSpPr>
          <p:cNvPr id="10" name="Text 8"/>
          <p:cNvSpPr/>
          <p:nvPr/>
        </p:nvSpPr>
        <p:spPr>
          <a:xfrm>
            <a:off x="411480" y="2331720"/>
            <a:ext cx="3931920" cy="329184"/>
          </a:xfrm>
          <a:prstGeom prst="rect">
            <a:avLst/>
          </a:prstGeom>
          <a:noFill/>
          <a:ln/>
        </p:spPr>
        <p:txBody>
          <a:bodyPr wrap="square" rtlCol="0" anchor="ctr"/>
          <a:lstStyle/>
          <a:p>
            <a:pPr marL="342900" indent="-342900">
              <a:buSzPct val="100000"/>
              <a:buChar char="•"/>
            </a:pPr>
            <a:r>
              <a:rPr lang="en-US" sz="1050" dirty="0">
                <a:solidFill>
                  <a:srgbClr val="DCE8F5"/>
                </a:solidFill>
                <a:latin typeface="Calibri" pitchFamily="34" charset="0"/>
                <a:ea typeface="Calibri" pitchFamily="34" charset="-122"/>
                <a:cs typeface="Calibri" pitchFamily="34" charset="-120"/>
              </a:rPr>
              <a:t>Groups: Highly Active / Moderate / Sedentary</a:t>
            </a:r>
            <a:endParaRPr lang="en-US" sz="1050" dirty="0"/>
          </a:p>
        </p:txBody>
      </p:sp>
      <p:sp>
        <p:nvSpPr>
          <p:cNvPr id="11" name="Shape 9"/>
          <p:cNvSpPr/>
          <p:nvPr/>
        </p:nvSpPr>
        <p:spPr>
          <a:xfrm>
            <a:off x="274320" y="2926080"/>
            <a:ext cx="4114800" cy="1920240"/>
          </a:xfrm>
          <a:prstGeom prst="rect">
            <a:avLst/>
          </a:prstGeom>
          <a:solidFill>
            <a:srgbClr val="162A41"/>
          </a:solidFill>
          <a:ln w="12700">
            <a:solidFill>
              <a:srgbClr val="38BDF8"/>
            </a:solidFill>
            <a:prstDash val="solid"/>
          </a:ln>
          <a:effectLst>
            <a:outerShdw blurRad="101600" dist="38100" dir="8100000" algn="bl" rotWithShape="0">
              <a:srgbClr val="000000">
                <a:alpha val="25000"/>
              </a:srgbClr>
            </a:outerShdw>
          </a:effectLst>
        </p:spPr>
        <p:txBody>
          <a:bodyPr/>
          <a:lstStyle/>
          <a:p>
            <a:endParaRPr lang="en-IN"/>
          </a:p>
        </p:txBody>
      </p:sp>
      <p:sp>
        <p:nvSpPr>
          <p:cNvPr id="12" name="Shape 10"/>
          <p:cNvSpPr/>
          <p:nvPr/>
        </p:nvSpPr>
        <p:spPr>
          <a:xfrm>
            <a:off x="274320" y="2926080"/>
            <a:ext cx="4114800" cy="365760"/>
          </a:xfrm>
          <a:prstGeom prst="rect">
            <a:avLst/>
          </a:prstGeom>
          <a:solidFill>
            <a:srgbClr val="38BDF8"/>
          </a:solidFill>
          <a:ln w="12700">
            <a:solidFill>
              <a:srgbClr val="38BDF8"/>
            </a:solidFill>
            <a:prstDash val="solid"/>
          </a:ln>
        </p:spPr>
        <p:txBody>
          <a:bodyPr/>
          <a:lstStyle/>
          <a:p>
            <a:endParaRPr lang="en-IN"/>
          </a:p>
        </p:txBody>
      </p:sp>
      <p:sp>
        <p:nvSpPr>
          <p:cNvPr id="13" name="Text 11"/>
          <p:cNvSpPr/>
          <p:nvPr/>
        </p:nvSpPr>
        <p:spPr>
          <a:xfrm>
            <a:off x="365760" y="2926080"/>
            <a:ext cx="3931920" cy="365760"/>
          </a:xfrm>
          <a:prstGeom prst="rect">
            <a:avLst/>
          </a:prstGeom>
          <a:noFill/>
          <a:ln/>
        </p:spPr>
        <p:txBody>
          <a:bodyPr wrap="square" rtlCol="0" anchor="ctr"/>
          <a:lstStyle/>
          <a:p>
            <a:pPr marL="0" indent="0">
              <a:buNone/>
            </a:pPr>
            <a:r>
              <a:rPr lang="en-US" sz="1400" b="1" dirty="0">
                <a:solidFill>
                  <a:srgbClr val="0D1B2A"/>
                </a:solidFill>
                <a:latin typeface="Calibri" pitchFamily="34" charset="0"/>
                <a:ea typeface="Calibri" pitchFamily="34" charset="-122"/>
                <a:cs typeface="Calibri" pitchFamily="34" charset="-120"/>
              </a:rPr>
              <a:t>DBSCAN</a:t>
            </a:r>
            <a:endParaRPr lang="en-US" sz="1400" dirty="0"/>
          </a:p>
        </p:txBody>
      </p:sp>
      <p:sp>
        <p:nvSpPr>
          <p:cNvPr id="14" name="Text 12"/>
          <p:cNvSpPr/>
          <p:nvPr/>
        </p:nvSpPr>
        <p:spPr>
          <a:xfrm>
            <a:off x="411480" y="3364992"/>
            <a:ext cx="3931920" cy="329184"/>
          </a:xfrm>
          <a:prstGeom prst="rect">
            <a:avLst/>
          </a:prstGeom>
          <a:noFill/>
          <a:ln/>
        </p:spPr>
        <p:txBody>
          <a:bodyPr wrap="square" rtlCol="0" anchor="ctr"/>
          <a:lstStyle/>
          <a:p>
            <a:pPr marL="342900" indent="-342900">
              <a:buSzPct val="100000"/>
              <a:buChar char="•"/>
            </a:pPr>
            <a:r>
              <a:rPr lang="en-US" sz="1050" dirty="0">
                <a:solidFill>
                  <a:srgbClr val="DCE8F5"/>
                </a:solidFill>
                <a:latin typeface="Calibri" pitchFamily="34" charset="0"/>
                <a:ea typeface="Calibri" pitchFamily="34" charset="-122"/>
                <a:cs typeface="Calibri" pitchFamily="34" charset="-120"/>
              </a:rPr>
              <a:t>Auto-detects number of groups</a:t>
            </a:r>
            <a:endParaRPr lang="en-US" sz="1050" dirty="0"/>
          </a:p>
        </p:txBody>
      </p:sp>
      <p:sp>
        <p:nvSpPr>
          <p:cNvPr id="15" name="Text 13"/>
          <p:cNvSpPr/>
          <p:nvPr/>
        </p:nvSpPr>
        <p:spPr>
          <a:xfrm>
            <a:off x="411480" y="3721608"/>
            <a:ext cx="3931920" cy="329184"/>
          </a:xfrm>
          <a:prstGeom prst="rect">
            <a:avLst/>
          </a:prstGeom>
          <a:noFill/>
          <a:ln/>
        </p:spPr>
        <p:txBody>
          <a:bodyPr wrap="square" rtlCol="0" anchor="ctr"/>
          <a:lstStyle/>
          <a:p>
            <a:pPr marL="342900" indent="-342900">
              <a:buSzPct val="100000"/>
              <a:buChar char="•"/>
            </a:pPr>
            <a:r>
              <a:rPr lang="en-US" sz="1050" dirty="0">
                <a:solidFill>
                  <a:srgbClr val="DCE8F5"/>
                </a:solidFill>
                <a:latin typeface="Calibri" pitchFamily="34" charset="0"/>
                <a:ea typeface="Calibri" pitchFamily="34" charset="-122"/>
                <a:cs typeface="Calibri" pitchFamily="34" charset="-120"/>
              </a:rPr>
              <a:t>eps = friendship radius between users</a:t>
            </a:r>
            <a:endParaRPr lang="en-US" sz="1050" dirty="0"/>
          </a:p>
        </p:txBody>
      </p:sp>
      <p:sp>
        <p:nvSpPr>
          <p:cNvPr id="16" name="Text 14"/>
          <p:cNvSpPr/>
          <p:nvPr/>
        </p:nvSpPr>
        <p:spPr>
          <a:xfrm>
            <a:off x="411480" y="4078224"/>
            <a:ext cx="3931920" cy="329184"/>
          </a:xfrm>
          <a:prstGeom prst="rect">
            <a:avLst/>
          </a:prstGeom>
          <a:noFill/>
          <a:ln/>
        </p:spPr>
        <p:txBody>
          <a:bodyPr wrap="square" rtlCol="0" anchor="ctr"/>
          <a:lstStyle/>
          <a:p>
            <a:pPr marL="342900" indent="-342900">
              <a:buSzPct val="100000"/>
              <a:buChar char="•"/>
            </a:pPr>
            <a:r>
              <a:rPr lang="en-US" sz="1050" dirty="0">
                <a:solidFill>
                  <a:srgbClr val="DCE8F5"/>
                </a:solidFill>
                <a:latin typeface="Calibri" pitchFamily="34" charset="0"/>
                <a:ea typeface="Calibri" pitchFamily="34" charset="-122"/>
                <a:cs typeface="Calibri" pitchFamily="34" charset="-120"/>
              </a:rPr>
              <a:t>Outliers = users who don't fit any group</a:t>
            </a:r>
            <a:endParaRPr lang="en-US" sz="1050" dirty="0"/>
          </a:p>
        </p:txBody>
      </p:sp>
      <p:sp>
        <p:nvSpPr>
          <p:cNvPr id="17" name="Text 15"/>
          <p:cNvSpPr/>
          <p:nvPr/>
        </p:nvSpPr>
        <p:spPr>
          <a:xfrm>
            <a:off x="411480" y="4434840"/>
            <a:ext cx="3931920" cy="329184"/>
          </a:xfrm>
          <a:prstGeom prst="rect">
            <a:avLst/>
          </a:prstGeom>
          <a:noFill/>
          <a:ln/>
        </p:spPr>
        <p:txBody>
          <a:bodyPr wrap="square" rtlCol="0" anchor="ctr"/>
          <a:lstStyle/>
          <a:p>
            <a:pPr marL="342900" indent="-342900">
              <a:buSzPct val="100000"/>
              <a:buChar char="•"/>
            </a:pPr>
            <a:r>
              <a:rPr lang="en-US" sz="1050" dirty="0">
                <a:solidFill>
                  <a:srgbClr val="DCE8F5"/>
                </a:solidFill>
                <a:latin typeface="Calibri" pitchFamily="34" charset="0"/>
                <a:ea typeface="Calibri" pitchFamily="34" charset="-122"/>
                <a:cs typeface="Calibri" pitchFamily="34" charset="-120"/>
              </a:rPr>
              <a:t>Grey dots = outliers on the chart</a:t>
            </a:r>
            <a:endParaRPr lang="en-US" sz="1050" dirty="0"/>
          </a:p>
        </p:txBody>
      </p:sp>
      <p:sp>
        <p:nvSpPr>
          <p:cNvPr id="18" name="Text 16"/>
          <p:cNvSpPr/>
          <p:nvPr/>
        </p:nvSpPr>
        <p:spPr>
          <a:xfrm>
            <a:off x="4663440" y="777240"/>
            <a:ext cx="4206240" cy="320040"/>
          </a:xfrm>
          <a:prstGeom prst="rect">
            <a:avLst/>
          </a:prstGeom>
          <a:noFill/>
          <a:ln/>
        </p:spPr>
        <p:txBody>
          <a:bodyPr wrap="square" lIns="0" tIns="0" rIns="0" bIns="0" rtlCol="0" anchor="ctr"/>
          <a:lstStyle/>
          <a:p>
            <a:pPr marL="0" indent="0">
              <a:buNone/>
            </a:pPr>
            <a:r>
              <a:rPr lang="en-US" sz="1400" b="1" dirty="0">
                <a:solidFill>
                  <a:srgbClr val="10B981"/>
                </a:solidFill>
                <a:latin typeface="Calibri" pitchFamily="34" charset="0"/>
                <a:ea typeface="Calibri" pitchFamily="34" charset="-122"/>
                <a:cs typeface="Calibri" pitchFamily="34" charset="-120"/>
              </a:rPr>
              <a:t>Visualisation Methods</a:t>
            </a:r>
            <a:endParaRPr lang="en-US" sz="1400" dirty="0"/>
          </a:p>
        </p:txBody>
      </p:sp>
      <p:sp>
        <p:nvSpPr>
          <p:cNvPr id="19" name="Shape 17"/>
          <p:cNvSpPr/>
          <p:nvPr/>
        </p:nvSpPr>
        <p:spPr>
          <a:xfrm>
            <a:off x="4663440" y="1188720"/>
            <a:ext cx="54864" cy="1005840"/>
          </a:xfrm>
          <a:prstGeom prst="rect">
            <a:avLst/>
          </a:prstGeom>
          <a:solidFill>
            <a:srgbClr val="A78BFA"/>
          </a:solidFill>
          <a:ln w="12700">
            <a:solidFill>
              <a:srgbClr val="A78BFA"/>
            </a:solidFill>
            <a:prstDash val="solid"/>
          </a:ln>
        </p:spPr>
        <p:txBody>
          <a:bodyPr/>
          <a:lstStyle/>
          <a:p>
            <a:endParaRPr lang="en-IN"/>
          </a:p>
        </p:txBody>
      </p:sp>
      <p:sp>
        <p:nvSpPr>
          <p:cNvPr id="20" name="Shape 18"/>
          <p:cNvSpPr/>
          <p:nvPr/>
        </p:nvSpPr>
        <p:spPr>
          <a:xfrm>
            <a:off x="4773168" y="1188720"/>
            <a:ext cx="4114800" cy="1005840"/>
          </a:xfrm>
          <a:prstGeom prst="rect">
            <a:avLst/>
          </a:prstGeom>
          <a:solidFill>
            <a:srgbClr val="162A41"/>
          </a:solidFill>
          <a:ln w="12700">
            <a:solidFill>
              <a:srgbClr val="1E3A5F"/>
            </a:solidFill>
            <a:prstDash val="solid"/>
          </a:ln>
        </p:spPr>
        <p:txBody>
          <a:bodyPr/>
          <a:lstStyle/>
          <a:p>
            <a:endParaRPr lang="en-IN"/>
          </a:p>
        </p:txBody>
      </p:sp>
      <p:sp>
        <p:nvSpPr>
          <p:cNvPr id="21" name="Text 19"/>
          <p:cNvSpPr/>
          <p:nvPr/>
        </p:nvSpPr>
        <p:spPr>
          <a:xfrm>
            <a:off x="4892040" y="1261872"/>
            <a:ext cx="3840480" cy="274320"/>
          </a:xfrm>
          <a:prstGeom prst="rect">
            <a:avLst/>
          </a:prstGeom>
          <a:noFill/>
          <a:ln/>
        </p:spPr>
        <p:txBody>
          <a:bodyPr wrap="square" lIns="0" tIns="0" rIns="0" bIns="0" rtlCol="0" anchor="ctr"/>
          <a:lstStyle/>
          <a:p>
            <a:pPr marL="0" indent="0">
              <a:buNone/>
            </a:pPr>
            <a:r>
              <a:rPr lang="en-US" sz="1300" b="1" dirty="0">
                <a:solidFill>
                  <a:srgbClr val="A78BFA"/>
                </a:solidFill>
                <a:latin typeface="Calibri" pitchFamily="34" charset="0"/>
                <a:ea typeface="Calibri" pitchFamily="34" charset="-122"/>
                <a:cs typeface="Calibri" pitchFamily="34" charset="-120"/>
              </a:rPr>
              <a:t>PCA</a:t>
            </a:r>
            <a:endParaRPr lang="en-US" sz="1300" dirty="0"/>
          </a:p>
        </p:txBody>
      </p:sp>
      <p:sp>
        <p:nvSpPr>
          <p:cNvPr id="22" name="Text 20"/>
          <p:cNvSpPr/>
          <p:nvPr/>
        </p:nvSpPr>
        <p:spPr>
          <a:xfrm>
            <a:off x="4892040" y="1536192"/>
            <a:ext cx="3840480" cy="548640"/>
          </a:xfrm>
          <a:prstGeom prst="rect">
            <a:avLst/>
          </a:prstGeom>
          <a:noFill/>
          <a:ln/>
        </p:spPr>
        <p:txBody>
          <a:bodyPr wrap="square" lIns="0" tIns="0" rIns="0" bIns="0" rtlCol="0" anchor="ctr"/>
          <a:lstStyle/>
          <a:p>
            <a:pPr marL="0" indent="0">
              <a:buNone/>
            </a:pPr>
            <a:r>
              <a:rPr lang="en-US" sz="1100" dirty="0">
                <a:solidFill>
                  <a:srgbClr val="DCE8F5"/>
                </a:solidFill>
                <a:latin typeface="Calibri" pitchFamily="34" charset="0"/>
                <a:ea typeface="Calibri" pitchFamily="34" charset="-122"/>
                <a:cs typeface="Calibri" pitchFamily="34" charset="-120"/>
              </a:rPr>
              <a:t>Squashes 20+ columns into 2 dimensions so we can plot users on a chart. Dimension 1 = 50% info.</a:t>
            </a:r>
            <a:endParaRPr lang="en-US" sz="1100" dirty="0"/>
          </a:p>
        </p:txBody>
      </p:sp>
      <p:sp>
        <p:nvSpPr>
          <p:cNvPr id="23" name="Shape 21"/>
          <p:cNvSpPr/>
          <p:nvPr/>
        </p:nvSpPr>
        <p:spPr>
          <a:xfrm>
            <a:off x="4663440" y="2468880"/>
            <a:ext cx="54864" cy="1005840"/>
          </a:xfrm>
          <a:prstGeom prst="rect">
            <a:avLst/>
          </a:prstGeom>
          <a:solidFill>
            <a:srgbClr val="F59E0B"/>
          </a:solidFill>
          <a:ln w="12700">
            <a:solidFill>
              <a:srgbClr val="F59E0B"/>
            </a:solidFill>
            <a:prstDash val="solid"/>
          </a:ln>
        </p:spPr>
        <p:txBody>
          <a:bodyPr/>
          <a:lstStyle/>
          <a:p>
            <a:endParaRPr lang="en-IN"/>
          </a:p>
        </p:txBody>
      </p:sp>
      <p:sp>
        <p:nvSpPr>
          <p:cNvPr id="24" name="Shape 22"/>
          <p:cNvSpPr/>
          <p:nvPr/>
        </p:nvSpPr>
        <p:spPr>
          <a:xfrm>
            <a:off x="4773168" y="2468880"/>
            <a:ext cx="4114800" cy="1005840"/>
          </a:xfrm>
          <a:prstGeom prst="rect">
            <a:avLst/>
          </a:prstGeom>
          <a:solidFill>
            <a:srgbClr val="162A41"/>
          </a:solidFill>
          <a:ln w="12700">
            <a:solidFill>
              <a:srgbClr val="1E3A5F"/>
            </a:solidFill>
            <a:prstDash val="solid"/>
          </a:ln>
        </p:spPr>
        <p:txBody>
          <a:bodyPr/>
          <a:lstStyle/>
          <a:p>
            <a:endParaRPr lang="en-IN"/>
          </a:p>
        </p:txBody>
      </p:sp>
      <p:sp>
        <p:nvSpPr>
          <p:cNvPr id="25" name="Text 23"/>
          <p:cNvSpPr/>
          <p:nvPr/>
        </p:nvSpPr>
        <p:spPr>
          <a:xfrm>
            <a:off x="4892040" y="2542032"/>
            <a:ext cx="3840480" cy="274320"/>
          </a:xfrm>
          <a:prstGeom prst="rect">
            <a:avLst/>
          </a:prstGeom>
          <a:noFill/>
          <a:ln/>
        </p:spPr>
        <p:txBody>
          <a:bodyPr wrap="square" lIns="0" tIns="0" rIns="0" bIns="0"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t-SNE</a:t>
            </a:r>
            <a:endParaRPr lang="en-US" sz="1300" dirty="0"/>
          </a:p>
        </p:txBody>
      </p:sp>
      <p:sp>
        <p:nvSpPr>
          <p:cNvPr id="26" name="Text 24"/>
          <p:cNvSpPr/>
          <p:nvPr/>
        </p:nvSpPr>
        <p:spPr>
          <a:xfrm>
            <a:off x="4892040" y="2816352"/>
            <a:ext cx="3840480" cy="548640"/>
          </a:xfrm>
          <a:prstGeom prst="rect">
            <a:avLst/>
          </a:prstGeom>
          <a:noFill/>
          <a:ln/>
        </p:spPr>
        <p:txBody>
          <a:bodyPr wrap="square" lIns="0" tIns="0" rIns="0" bIns="0" rtlCol="0" anchor="ctr"/>
          <a:lstStyle/>
          <a:p>
            <a:pPr marL="0" indent="0">
              <a:buNone/>
            </a:pPr>
            <a:r>
              <a:rPr lang="en-US" sz="1100" dirty="0">
                <a:solidFill>
                  <a:srgbClr val="DCE8F5"/>
                </a:solidFill>
                <a:latin typeface="Calibri" pitchFamily="34" charset="0"/>
                <a:ea typeface="Calibri" pitchFamily="34" charset="-122"/>
                <a:cs typeface="Calibri" pitchFamily="34" charset="-120"/>
              </a:rPr>
              <a:t>Better than PCA at separating close groups visually. Takes ~20 seconds to compute.</a:t>
            </a:r>
            <a:endParaRPr lang="en-US" sz="1100" dirty="0"/>
          </a:p>
        </p:txBody>
      </p:sp>
      <p:sp>
        <p:nvSpPr>
          <p:cNvPr id="27" name="Shape 25"/>
          <p:cNvSpPr/>
          <p:nvPr/>
        </p:nvSpPr>
        <p:spPr>
          <a:xfrm>
            <a:off x="4663440" y="3749040"/>
            <a:ext cx="54864" cy="1005840"/>
          </a:xfrm>
          <a:prstGeom prst="rect">
            <a:avLst/>
          </a:prstGeom>
          <a:solidFill>
            <a:srgbClr val="10B981"/>
          </a:solidFill>
          <a:ln w="12700">
            <a:solidFill>
              <a:srgbClr val="10B981"/>
            </a:solidFill>
            <a:prstDash val="solid"/>
          </a:ln>
        </p:spPr>
        <p:txBody>
          <a:bodyPr/>
          <a:lstStyle/>
          <a:p>
            <a:endParaRPr lang="en-IN"/>
          </a:p>
        </p:txBody>
      </p:sp>
      <p:sp>
        <p:nvSpPr>
          <p:cNvPr id="28" name="Shape 26"/>
          <p:cNvSpPr/>
          <p:nvPr/>
        </p:nvSpPr>
        <p:spPr>
          <a:xfrm>
            <a:off x="4773168" y="3749040"/>
            <a:ext cx="4114800" cy="1005840"/>
          </a:xfrm>
          <a:prstGeom prst="rect">
            <a:avLst/>
          </a:prstGeom>
          <a:solidFill>
            <a:srgbClr val="162A41"/>
          </a:solidFill>
          <a:ln w="12700">
            <a:solidFill>
              <a:srgbClr val="1E3A5F"/>
            </a:solidFill>
            <a:prstDash val="solid"/>
          </a:ln>
        </p:spPr>
        <p:txBody>
          <a:bodyPr/>
          <a:lstStyle/>
          <a:p>
            <a:endParaRPr lang="en-IN"/>
          </a:p>
        </p:txBody>
      </p:sp>
      <p:sp>
        <p:nvSpPr>
          <p:cNvPr id="29" name="Text 27"/>
          <p:cNvSpPr/>
          <p:nvPr/>
        </p:nvSpPr>
        <p:spPr>
          <a:xfrm>
            <a:off x="4892040" y="3822192"/>
            <a:ext cx="3840480" cy="274320"/>
          </a:xfrm>
          <a:prstGeom prst="rect">
            <a:avLst/>
          </a:prstGeom>
          <a:noFill/>
          <a:ln/>
        </p:spPr>
        <p:txBody>
          <a:bodyPr wrap="square" lIns="0" tIns="0" rIns="0" bIns="0" rtlCol="0" anchor="ctr"/>
          <a:lstStyle/>
          <a:p>
            <a:pPr marL="0" indent="0">
              <a:buNone/>
            </a:pPr>
            <a:r>
              <a:rPr lang="en-US" sz="1300" b="1" dirty="0">
                <a:solidFill>
                  <a:srgbClr val="10B981"/>
                </a:solidFill>
                <a:latin typeface="Calibri" pitchFamily="34" charset="0"/>
                <a:ea typeface="Calibri" pitchFamily="34" charset="-122"/>
                <a:cs typeface="Calibri" pitchFamily="34" charset="-120"/>
              </a:rPr>
              <a:t>Group Profiles</a:t>
            </a:r>
            <a:endParaRPr lang="en-US" sz="1300" dirty="0"/>
          </a:p>
        </p:txBody>
      </p:sp>
      <p:sp>
        <p:nvSpPr>
          <p:cNvPr id="30" name="Text 28"/>
          <p:cNvSpPr/>
          <p:nvPr/>
        </p:nvSpPr>
        <p:spPr>
          <a:xfrm>
            <a:off x="4892040" y="4096512"/>
            <a:ext cx="3840480" cy="548640"/>
          </a:xfrm>
          <a:prstGeom prst="rect">
            <a:avLst/>
          </a:prstGeom>
          <a:noFill/>
          <a:ln/>
        </p:spPr>
        <p:txBody>
          <a:bodyPr wrap="square" lIns="0" tIns="0" rIns="0" bIns="0" rtlCol="0" anchor="ctr"/>
          <a:lstStyle/>
          <a:p>
            <a:pPr marL="0" indent="0">
              <a:buNone/>
            </a:pPr>
            <a:r>
              <a:rPr lang="en-US" sz="1100" dirty="0">
                <a:solidFill>
                  <a:srgbClr val="DCE8F5"/>
                </a:solidFill>
                <a:latin typeface="Calibri" pitchFamily="34" charset="0"/>
                <a:ea typeface="Calibri" pitchFamily="34" charset="-122"/>
                <a:cs typeface="Calibri" pitchFamily="34" charset="-120"/>
              </a:rPr>
              <a:t>Bar chart showing average steps, sleep, calories, heart rate per group side by side.</a:t>
            </a:r>
            <a:endParaRPr lang="en-US" sz="1100" dirty="0"/>
          </a:p>
        </p:txBody>
      </p:sp>
      <p:sp>
        <p:nvSpPr>
          <p:cNvPr id="31" name="Shape 29"/>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6366F1"/>
          </a:solidFill>
          <a:ln w="12700">
            <a:solidFill>
              <a:srgbClr val="6366F1"/>
            </a:solidFill>
            <a:prstDash val="solid"/>
          </a:ln>
        </p:spPr>
        <p:txBody>
          <a:bodyPr/>
          <a:lstStyle/>
          <a:p>
            <a:endParaRPr lang="en-IN"/>
          </a:p>
        </p:txBody>
      </p:sp>
      <p:sp>
        <p:nvSpPr>
          <p:cNvPr id="3" name="Text 1"/>
          <p:cNvSpPr/>
          <p:nvPr/>
        </p:nvSpPr>
        <p:spPr>
          <a:xfrm>
            <a:off x="365760" y="164592"/>
            <a:ext cx="8412480" cy="50292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Technology Stack</a:t>
            </a:r>
            <a:endParaRPr lang="en-US" sz="2800" dirty="0"/>
          </a:p>
        </p:txBody>
      </p:sp>
      <p:sp>
        <p:nvSpPr>
          <p:cNvPr id="4" name="Shape 2"/>
          <p:cNvSpPr/>
          <p:nvPr/>
        </p:nvSpPr>
        <p:spPr>
          <a:xfrm>
            <a:off x="274320" y="914400"/>
            <a:ext cx="2011680" cy="1554480"/>
          </a:xfrm>
          <a:prstGeom prst="rect">
            <a:avLst/>
          </a:prstGeom>
          <a:solidFill>
            <a:srgbClr val="162A41"/>
          </a:solidFill>
          <a:ln w="12700">
            <a:solidFill>
              <a:srgbClr val="A78BFA"/>
            </a:solidFill>
            <a:prstDash val="solid"/>
          </a:ln>
          <a:effectLst>
            <a:outerShdw blurRad="101600" dist="38100" dir="8100000" algn="bl" rotWithShape="0">
              <a:srgbClr val="000000">
                <a:alpha val="25000"/>
              </a:srgbClr>
            </a:outerShdw>
          </a:effectLst>
        </p:spPr>
        <p:txBody>
          <a:bodyPr/>
          <a:lstStyle/>
          <a:p>
            <a:endParaRPr lang="en-IN"/>
          </a:p>
        </p:txBody>
      </p:sp>
      <p:sp>
        <p:nvSpPr>
          <p:cNvPr id="5" name="Shape 3"/>
          <p:cNvSpPr/>
          <p:nvPr/>
        </p:nvSpPr>
        <p:spPr>
          <a:xfrm>
            <a:off x="274320" y="914400"/>
            <a:ext cx="2011680" cy="73152"/>
          </a:xfrm>
          <a:prstGeom prst="rect">
            <a:avLst/>
          </a:prstGeom>
          <a:solidFill>
            <a:srgbClr val="A78BFA"/>
          </a:solidFill>
          <a:ln w="12700">
            <a:solidFill>
              <a:srgbClr val="A78BFA"/>
            </a:solidFill>
            <a:prstDash val="solid"/>
          </a:ln>
        </p:spPr>
        <p:txBody>
          <a:bodyPr/>
          <a:lstStyle/>
          <a:p>
            <a:endParaRPr lang="en-IN"/>
          </a:p>
        </p:txBody>
      </p:sp>
      <p:sp>
        <p:nvSpPr>
          <p:cNvPr id="6" name="Text 4"/>
          <p:cNvSpPr/>
          <p:nvPr/>
        </p:nvSpPr>
        <p:spPr>
          <a:xfrm>
            <a:off x="365760" y="1051560"/>
            <a:ext cx="1828800" cy="411480"/>
          </a:xfrm>
          <a:prstGeom prst="rect">
            <a:avLst/>
          </a:prstGeom>
          <a:noFill/>
          <a:ln/>
        </p:spPr>
        <p:txBody>
          <a:bodyPr wrap="square" rtlCol="0" anchor="ctr"/>
          <a:lstStyle/>
          <a:p>
            <a:pPr marL="0" indent="0">
              <a:buNone/>
            </a:pPr>
            <a:r>
              <a:rPr lang="en-US" sz="1400" b="1" dirty="0">
                <a:solidFill>
                  <a:srgbClr val="A78BFA"/>
                </a:solidFill>
                <a:latin typeface="Calibri" pitchFamily="34" charset="0"/>
                <a:ea typeface="Calibri" pitchFamily="34" charset="-122"/>
                <a:cs typeface="Calibri" pitchFamily="34" charset="-120"/>
              </a:rPr>
              <a:t>Streamlit</a:t>
            </a:r>
            <a:endParaRPr lang="en-US" sz="1400" dirty="0"/>
          </a:p>
        </p:txBody>
      </p:sp>
      <p:sp>
        <p:nvSpPr>
          <p:cNvPr id="7" name="Text 5"/>
          <p:cNvSpPr/>
          <p:nvPr/>
        </p:nvSpPr>
        <p:spPr>
          <a:xfrm>
            <a:off x="365760" y="1508760"/>
            <a:ext cx="1828800" cy="82296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Web application framework</a:t>
            </a:r>
            <a:endParaRPr lang="en-US" sz="1050" dirty="0"/>
          </a:p>
        </p:txBody>
      </p:sp>
      <p:sp>
        <p:nvSpPr>
          <p:cNvPr id="8" name="Shape 6"/>
          <p:cNvSpPr/>
          <p:nvPr/>
        </p:nvSpPr>
        <p:spPr>
          <a:xfrm>
            <a:off x="2450592" y="914400"/>
            <a:ext cx="2011680" cy="1554480"/>
          </a:xfrm>
          <a:prstGeom prst="rect">
            <a:avLst/>
          </a:prstGeom>
          <a:solidFill>
            <a:srgbClr val="162A41"/>
          </a:solidFill>
          <a:ln w="12700">
            <a:solidFill>
              <a:srgbClr val="38BDF8"/>
            </a:solidFill>
            <a:prstDash val="solid"/>
          </a:ln>
          <a:effectLst>
            <a:outerShdw blurRad="101600" dist="38100" dir="8100000" algn="bl" rotWithShape="0">
              <a:srgbClr val="000000">
                <a:alpha val="25000"/>
              </a:srgbClr>
            </a:outerShdw>
          </a:effectLst>
        </p:spPr>
        <p:txBody>
          <a:bodyPr/>
          <a:lstStyle/>
          <a:p>
            <a:endParaRPr lang="en-IN"/>
          </a:p>
        </p:txBody>
      </p:sp>
      <p:sp>
        <p:nvSpPr>
          <p:cNvPr id="9" name="Shape 7"/>
          <p:cNvSpPr/>
          <p:nvPr/>
        </p:nvSpPr>
        <p:spPr>
          <a:xfrm>
            <a:off x="2450592" y="914400"/>
            <a:ext cx="2011680" cy="73152"/>
          </a:xfrm>
          <a:prstGeom prst="rect">
            <a:avLst/>
          </a:prstGeom>
          <a:solidFill>
            <a:srgbClr val="38BDF8"/>
          </a:solidFill>
          <a:ln w="12700">
            <a:solidFill>
              <a:srgbClr val="38BDF8"/>
            </a:solidFill>
            <a:prstDash val="solid"/>
          </a:ln>
        </p:spPr>
        <p:txBody>
          <a:bodyPr/>
          <a:lstStyle/>
          <a:p>
            <a:endParaRPr lang="en-IN"/>
          </a:p>
        </p:txBody>
      </p:sp>
      <p:sp>
        <p:nvSpPr>
          <p:cNvPr id="10" name="Text 8"/>
          <p:cNvSpPr/>
          <p:nvPr/>
        </p:nvSpPr>
        <p:spPr>
          <a:xfrm>
            <a:off x="2542032" y="1051560"/>
            <a:ext cx="1828800" cy="411480"/>
          </a:xfrm>
          <a:prstGeom prst="rect">
            <a:avLst/>
          </a:prstGeom>
          <a:noFill/>
          <a:ln/>
        </p:spPr>
        <p:txBody>
          <a:bodyPr wrap="square" rtlCol="0" anchor="ctr"/>
          <a:lstStyle/>
          <a:p>
            <a:pPr marL="0" indent="0">
              <a:buNone/>
            </a:pPr>
            <a:r>
              <a:rPr lang="en-US" sz="1400" b="1" dirty="0">
                <a:solidFill>
                  <a:srgbClr val="38BDF8"/>
                </a:solidFill>
                <a:latin typeface="Calibri" pitchFamily="34" charset="0"/>
                <a:ea typeface="Calibri" pitchFamily="34" charset="-122"/>
                <a:cs typeface="Calibri" pitchFamily="34" charset="-120"/>
              </a:rPr>
              <a:t>Pandas</a:t>
            </a:r>
            <a:endParaRPr lang="en-US" sz="1400" dirty="0"/>
          </a:p>
        </p:txBody>
      </p:sp>
      <p:sp>
        <p:nvSpPr>
          <p:cNvPr id="11" name="Text 9"/>
          <p:cNvSpPr/>
          <p:nvPr/>
        </p:nvSpPr>
        <p:spPr>
          <a:xfrm>
            <a:off x="2542032" y="1508760"/>
            <a:ext cx="1828800" cy="82296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Data loading, cleaning &amp; merging</a:t>
            </a:r>
            <a:endParaRPr lang="en-US" sz="1050" dirty="0"/>
          </a:p>
        </p:txBody>
      </p:sp>
      <p:sp>
        <p:nvSpPr>
          <p:cNvPr id="12" name="Shape 10"/>
          <p:cNvSpPr/>
          <p:nvPr/>
        </p:nvSpPr>
        <p:spPr>
          <a:xfrm>
            <a:off x="4626864" y="914400"/>
            <a:ext cx="2011680" cy="1554480"/>
          </a:xfrm>
          <a:prstGeom prst="rect">
            <a:avLst/>
          </a:prstGeom>
          <a:solidFill>
            <a:srgbClr val="162A41"/>
          </a:solidFill>
          <a:ln w="12700">
            <a:solidFill>
              <a:srgbClr val="10B981"/>
            </a:solidFill>
            <a:prstDash val="solid"/>
          </a:ln>
          <a:effectLst>
            <a:outerShdw blurRad="101600" dist="38100" dir="8100000" algn="bl" rotWithShape="0">
              <a:srgbClr val="000000">
                <a:alpha val="25000"/>
              </a:srgbClr>
            </a:outerShdw>
          </a:effectLst>
        </p:spPr>
        <p:txBody>
          <a:bodyPr/>
          <a:lstStyle/>
          <a:p>
            <a:endParaRPr lang="en-IN"/>
          </a:p>
        </p:txBody>
      </p:sp>
      <p:sp>
        <p:nvSpPr>
          <p:cNvPr id="13" name="Shape 11"/>
          <p:cNvSpPr/>
          <p:nvPr/>
        </p:nvSpPr>
        <p:spPr>
          <a:xfrm>
            <a:off x="4626864" y="914400"/>
            <a:ext cx="2011680" cy="73152"/>
          </a:xfrm>
          <a:prstGeom prst="rect">
            <a:avLst/>
          </a:prstGeom>
          <a:solidFill>
            <a:srgbClr val="10B981"/>
          </a:solidFill>
          <a:ln w="12700">
            <a:solidFill>
              <a:srgbClr val="10B981"/>
            </a:solidFill>
            <a:prstDash val="solid"/>
          </a:ln>
        </p:spPr>
        <p:txBody>
          <a:bodyPr/>
          <a:lstStyle/>
          <a:p>
            <a:endParaRPr lang="en-IN"/>
          </a:p>
        </p:txBody>
      </p:sp>
      <p:sp>
        <p:nvSpPr>
          <p:cNvPr id="14" name="Text 12"/>
          <p:cNvSpPr/>
          <p:nvPr/>
        </p:nvSpPr>
        <p:spPr>
          <a:xfrm>
            <a:off x="4718304" y="1051560"/>
            <a:ext cx="1828800" cy="411480"/>
          </a:xfrm>
          <a:prstGeom prst="rect">
            <a:avLst/>
          </a:prstGeom>
          <a:noFill/>
          <a:ln/>
        </p:spPr>
        <p:txBody>
          <a:bodyPr wrap="square" rtlCol="0" anchor="ctr"/>
          <a:lstStyle/>
          <a:p>
            <a:pPr marL="0" indent="0">
              <a:buNone/>
            </a:pPr>
            <a:r>
              <a:rPr lang="en-US" sz="1400" b="1" dirty="0">
                <a:solidFill>
                  <a:srgbClr val="10B981"/>
                </a:solidFill>
                <a:latin typeface="Calibri" pitchFamily="34" charset="0"/>
                <a:ea typeface="Calibri" pitchFamily="34" charset="-122"/>
                <a:cs typeface="Calibri" pitchFamily="34" charset="-120"/>
              </a:rPr>
              <a:t>NumPy</a:t>
            </a:r>
            <a:endParaRPr lang="en-US" sz="1400" dirty="0"/>
          </a:p>
        </p:txBody>
      </p:sp>
      <p:sp>
        <p:nvSpPr>
          <p:cNvPr id="15" name="Text 13"/>
          <p:cNvSpPr/>
          <p:nvPr/>
        </p:nvSpPr>
        <p:spPr>
          <a:xfrm>
            <a:off x="4718304" y="1508760"/>
            <a:ext cx="1828800" cy="82296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Numerical computing</a:t>
            </a:r>
            <a:endParaRPr lang="en-US" sz="1050" dirty="0"/>
          </a:p>
        </p:txBody>
      </p:sp>
      <p:sp>
        <p:nvSpPr>
          <p:cNvPr id="16" name="Shape 14"/>
          <p:cNvSpPr/>
          <p:nvPr/>
        </p:nvSpPr>
        <p:spPr>
          <a:xfrm>
            <a:off x="6803136" y="914400"/>
            <a:ext cx="2011680" cy="1554480"/>
          </a:xfrm>
          <a:prstGeom prst="rect">
            <a:avLst/>
          </a:prstGeom>
          <a:solidFill>
            <a:srgbClr val="162A41"/>
          </a:solidFill>
          <a:ln w="12700">
            <a:solidFill>
              <a:srgbClr val="F59E0B"/>
            </a:solidFill>
            <a:prstDash val="solid"/>
          </a:ln>
          <a:effectLst>
            <a:outerShdw blurRad="101600" dist="38100" dir="8100000" algn="bl" rotWithShape="0">
              <a:srgbClr val="000000">
                <a:alpha val="25000"/>
              </a:srgbClr>
            </a:outerShdw>
          </a:effectLst>
        </p:spPr>
        <p:txBody>
          <a:bodyPr/>
          <a:lstStyle/>
          <a:p>
            <a:endParaRPr lang="en-IN"/>
          </a:p>
        </p:txBody>
      </p:sp>
      <p:sp>
        <p:nvSpPr>
          <p:cNvPr id="17" name="Shape 15"/>
          <p:cNvSpPr/>
          <p:nvPr/>
        </p:nvSpPr>
        <p:spPr>
          <a:xfrm>
            <a:off x="6803136" y="914400"/>
            <a:ext cx="2011680" cy="73152"/>
          </a:xfrm>
          <a:prstGeom prst="rect">
            <a:avLst/>
          </a:prstGeom>
          <a:solidFill>
            <a:srgbClr val="F59E0B"/>
          </a:solidFill>
          <a:ln w="12700">
            <a:solidFill>
              <a:srgbClr val="F59E0B"/>
            </a:solidFill>
            <a:prstDash val="solid"/>
          </a:ln>
        </p:spPr>
        <p:txBody>
          <a:bodyPr/>
          <a:lstStyle/>
          <a:p>
            <a:endParaRPr lang="en-IN"/>
          </a:p>
        </p:txBody>
      </p:sp>
      <p:sp>
        <p:nvSpPr>
          <p:cNvPr id="18" name="Text 16"/>
          <p:cNvSpPr/>
          <p:nvPr/>
        </p:nvSpPr>
        <p:spPr>
          <a:xfrm>
            <a:off x="6894576" y="1051560"/>
            <a:ext cx="1828800" cy="411480"/>
          </a:xfrm>
          <a:prstGeom prst="rect">
            <a:avLst/>
          </a:prstGeom>
          <a:noFill/>
          <a:ln/>
        </p:spPr>
        <p:txBody>
          <a:bodyPr wrap="square" rtlCol="0" anchor="ctr"/>
          <a:lstStyle/>
          <a:p>
            <a:pPr marL="0" indent="0">
              <a:buNone/>
            </a:pPr>
            <a:r>
              <a:rPr lang="en-US" sz="1400" b="1" dirty="0">
                <a:solidFill>
                  <a:srgbClr val="F59E0B"/>
                </a:solidFill>
                <a:latin typeface="Calibri" pitchFamily="34" charset="0"/>
                <a:ea typeface="Calibri" pitchFamily="34" charset="-122"/>
                <a:cs typeface="Calibri" pitchFamily="34" charset="-120"/>
              </a:rPr>
              <a:t>Plotly</a:t>
            </a:r>
            <a:endParaRPr lang="en-US" sz="1400" dirty="0"/>
          </a:p>
        </p:txBody>
      </p:sp>
      <p:sp>
        <p:nvSpPr>
          <p:cNvPr id="19" name="Text 17"/>
          <p:cNvSpPr/>
          <p:nvPr/>
        </p:nvSpPr>
        <p:spPr>
          <a:xfrm>
            <a:off x="6894576" y="1508760"/>
            <a:ext cx="1828800" cy="82296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Interactive charts &amp; visualisations</a:t>
            </a:r>
            <a:endParaRPr lang="en-US" sz="1050" dirty="0"/>
          </a:p>
        </p:txBody>
      </p:sp>
      <p:sp>
        <p:nvSpPr>
          <p:cNvPr id="20" name="Shape 18"/>
          <p:cNvSpPr/>
          <p:nvPr/>
        </p:nvSpPr>
        <p:spPr>
          <a:xfrm>
            <a:off x="274320" y="2743200"/>
            <a:ext cx="2011680" cy="1554480"/>
          </a:xfrm>
          <a:prstGeom prst="rect">
            <a:avLst/>
          </a:prstGeom>
          <a:solidFill>
            <a:srgbClr val="162A41"/>
          </a:solidFill>
          <a:ln w="12700">
            <a:solidFill>
              <a:srgbClr val="6366F1"/>
            </a:solidFill>
            <a:prstDash val="solid"/>
          </a:ln>
          <a:effectLst>
            <a:outerShdw blurRad="101600" dist="38100" dir="8100000" algn="bl" rotWithShape="0">
              <a:srgbClr val="000000">
                <a:alpha val="25000"/>
              </a:srgbClr>
            </a:outerShdw>
          </a:effectLst>
        </p:spPr>
        <p:txBody>
          <a:bodyPr/>
          <a:lstStyle/>
          <a:p>
            <a:endParaRPr lang="en-IN"/>
          </a:p>
        </p:txBody>
      </p:sp>
      <p:sp>
        <p:nvSpPr>
          <p:cNvPr id="21" name="Shape 19"/>
          <p:cNvSpPr/>
          <p:nvPr/>
        </p:nvSpPr>
        <p:spPr>
          <a:xfrm>
            <a:off x="274320" y="2743200"/>
            <a:ext cx="2011680" cy="73152"/>
          </a:xfrm>
          <a:prstGeom prst="rect">
            <a:avLst/>
          </a:prstGeom>
          <a:solidFill>
            <a:srgbClr val="6366F1"/>
          </a:solidFill>
          <a:ln w="12700">
            <a:solidFill>
              <a:srgbClr val="6366F1"/>
            </a:solidFill>
            <a:prstDash val="solid"/>
          </a:ln>
        </p:spPr>
        <p:txBody>
          <a:bodyPr/>
          <a:lstStyle/>
          <a:p>
            <a:endParaRPr lang="en-IN"/>
          </a:p>
        </p:txBody>
      </p:sp>
      <p:sp>
        <p:nvSpPr>
          <p:cNvPr id="22" name="Text 20"/>
          <p:cNvSpPr/>
          <p:nvPr/>
        </p:nvSpPr>
        <p:spPr>
          <a:xfrm>
            <a:off x="365760" y="2880360"/>
            <a:ext cx="1828800" cy="411480"/>
          </a:xfrm>
          <a:prstGeom prst="rect">
            <a:avLst/>
          </a:prstGeom>
          <a:noFill/>
          <a:ln/>
        </p:spPr>
        <p:txBody>
          <a:bodyPr wrap="square" rtlCol="0" anchor="ctr"/>
          <a:lstStyle/>
          <a:p>
            <a:pPr marL="0" indent="0">
              <a:buNone/>
            </a:pPr>
            <a:r>
              <a:rPr lang="en-US" sz="1400" b="1" dirty="0">
                <a:solidFill>
                  <a:srgbClr val="6366F1"/>
                </a:solidFill>
                <a:latin typeface="Calibri" pitchFamily="34" charset="0"/>
                <a:ea typeface="Calibri" pitchFamily="34" charset="-122"/>
                <a:cs typeface="Calibri" pitchFamily="34" charset="-120"/>
              </a:rPr>
              <a:t>Scikit-learn</a:t>
            </a:r>
            <a:endParaRPr lang="en-US" sz="1400" dirty="0"/>
          </a:p>
        </p:txBody>
      </p:sp>
      <p:sp>
        <p:nvSpPr>
          <p:cNvPr id="23" name="Text 21"/>
          <p:cNvSpPr/>
          <p:nvPr/>
        </p:nvSpPr>
        <p:spPr>
          <a:xfrm>
            <a:off x="365760" y="3337560"/>
            <a:ext cx="1828800" cy="82296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KMeans, DBSCAN, PCA, t-SNE</a:t>
            </a:r>
            <a:endParaRPr lang="en-US" sz="1050" dirty="0"/>
          </a:p>
        </p:txBody>
      </p:sp>
      <p:sp>
        <p:nvSpPr>
          <p:cNvPr id="24" name="Shape 22"/>
          <p:cNvSpPr/>
          <p:nvPr/>
        </p:nvSpPr>
        <p:spPr>
          <a:xfrm>
            <a:off x="2450592" y="2743200"/>
            <a:ext cx="2011680" cy="1554480"/>
          </a:xfrm>
          <a:prstGeom prst="rect">
            <a:avLst/>
          </a:prstGeom>
          <a:solidFill>
            <a:srgbClr val="162A41"/>
          </a:solidFill>
          <a:ln w="12700">
            <a:solidFill>
              <a:srgbClr val="A78BFA"/>
            </a:solidFill>
            <a:prstDash val="solid"/>
          </a:ln>
          <a:effectLst>
            <a:outerShdw blurRad="101600" dist="38100" dir="8100000" algn="bl" rotWithShape="0">
              <a:srgbClr val="000000">
                <a:alpha val="25000"/>
              </a:srgbClr>
            </a:outerShdw>
          </a:effectLst>
        </p:spPr>
        <p:txBody>
          <a:bodyPr/>
          <a:lstStyle/>
          <a:p>
            <a:endParaRPr lang="en-IN"/>
          </a:p>
        </p:txBody>
      </p:sp>
      <p:sp>
        <p:nvSpPr>
          <p:cNvPr id="25" name="Shape 23"/>
          <p:cNvSpPr/>
          <p:nvPr/>
        </p:nvSpPr>
        <p:spPr>
          <a:xfrm>
            <a:off x="2450592" y="2743200"/>
            <a:ext cx="2011680" cy="73152"/>
          </a:xfrm>
          <a:prstGeom prst="rect">
            <a:avLst/>
          </a:prstGeom>
          <a:solidFill>
            <a:srgbClr val="A78BFA"/>
          </a:solidFill>
          <a:ln w="12700">
            <a:solidFill>
              <a:srgbClr val="A78BFA"/>
            </a:solidFill>
            <a:prstDash val="solid"/>
          </a:ln>
        </p:spPr>
        <p:txBody>
          <a:bodyPr/>
          <a:lstStyle/>
          <a:p>
            <a:endParaRPr lang="en-IN"/>
          </a:p>
        </p:txBody>
      </p:sp>
      <p:sp>
        <p:nvSpPr>
          <p:cNvPr id="26" name="Text 24"/>
          <p:cNvSpPr/>
          <p:nvPr/>
        </p:nvSpPr>
        <p:spPr>
          <a:xfrm>
            <a:off x="2542032" y="2880360"/>
            <a:ext cx="1828800" cy="411480"/>
          </a:xfrm>
          <a:prstGeom prst="rect">
            <a:avLst/>
          </a:prstGeom>
          <a:noFill/>
          <a:ln/>
        </p:spPr>
        <p:txBody>
          <a:bodyPr wrap="square" rtlCol="0" anchor="ctr"/>
          <a:lstStyle/>
          <a:p>
            <a:pPr marL="0" indent="0">
              <a:buNone/>
            </a:pPr>
            <a:r>
              <a:rPr lang="en-US" sz="1400" b="1" dirty="0">
                <a:solidFill>
                  <a:srgbClr val="A78BFA"/>
                </a:solidFill>
                <a:latin typeface="Calibri" pitchFamily="34" charset="0"/>
                <a:ea typeface="Calibri" pitchFamily="34" charset="-122"/>
                <a:cs typeface="Calibri" pitchFamily="34" charset="-120"/>
              </a:rPr>
              <a:t>TSFresh</a:t>
            </a:r>
            <a:endParaRPr lang="en-US" sz="1400" dirty="0"/>
          </a:p>
        </p:txBody>
      </p:sp>
      <p:sp>
        <p:nvSpPr>
          <p:cNvPr id="27" name="Text 25"/>
          <p:cNvSpPr/>
          <p:nvPr/>
        </p:nvSpPr>
        <p:spPr>
          <a:xfrm>
            <a:off x="2542032" y="3337560"/>
            <a:ext cx="1828800" cy="82296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Automated time series feature extraction</a:t>
            </a:r>
            <a:endParaRPr lang="en-US" sz="1050" dirty="0"/>
          </a:p>
        </p:txBody>
      </p:sp>
      <p:sp>
        <p:nvSpPr>
          <p:cNvPr id="28" name="Shape 26"/>
          <p:cNvSpPr/>
          <p:nvPr/>
        </p:nvSpPr>
        <p:spPr>
          <a:xfrm>
            <a:off x="4626864" y="2743200"/>
            <a:ext cx="2011680" cy="1554480"/>
          </a:xfrm>
          <a:prstGeom prst="rect">
            <a:avLst/>
          </a:prstGeom>
          <a:solidFill>
            <a:srgbClr val="162A41"/>
          </a:solidFill>
          <a:ln w="12700">
            <a:solidFill>
              <a:srgbClr val="38BDF8"/>
            </a:solidFill>
            <a:prstDash val="solid"/>
          </a:ln>
          <a:effectLst>
            <a:outerShdw blurRad="101600" dist="38100" dir="8100000" algn="bl" rotWithShape="0">
              <a:srgbClr val="000000">
                <a:alpha val="25000"/>
              </a:srgbClr>
            </a:outerShdw>
          </a:effectLst>
        </p:spPr>
        <p:txBody>
          <a:bodyPr/>
          <a:lstStyle/>
          <a:p>
            <a:endParaRPr lang="en-IN"/>
          </a:p>
        </p:txBody>
      </p:sp>
      <p:sp>
        <p:nvSpPr>
          <p:cNvPr id="29" name="Shape 27"/>
          <p:cNvSpPr/>
          <p:nvPr/>
        </p:nvSpPr>
        <p:spPr>
          <a:xfrm>
            <a:off x="4626864" y="2743200"/>
            <a:ext cx="2011680" cy="73152"/>
          </a:xfrm>
          <a:prstGeom prst="rect">
            <a:avLst/>
          </a:prstGeom>
          <a:solidFill>
            <a:srgbClr val="38BDF8"/>
          </a:solidFill>
          <a:ln w="12700">
            <a:solidFill>
              <a:srgbClr val="38BDF8"/>
            </a:solidFill>
            <a:prstDash val="solid"/>
          </a:ln>
        </p:spPr>
        <p:txBody>
          <a:bodyPr/>
          <a:lstStyle/>
          <a:p>
            <a:endParaRPr lang="en-IN"/>
          </a:p>
        </p:txBody>
      </p:sp>
      <p:sp>
        <p:nvSpPr>
          <p:cNvPr id="30" name="Text 28"/>
          <p:cNvSpPr/>
          <p:nvPr/>
        </p:nvSpPr>
        <p:spPr>
          <a:xfrm>
            <a:off x="4718304" y="2880360"/>
            <a:ext cx="1828800" cy="411480"/>
          </a:xfrm>
          <a:prstGeom prst="rect">
            <a:avLst/>
          </a:prstGeom>
          <a:noFill/>
          <a:ln/>
        </p:spPr>
        <p:txBody>
          <a:bodyPr wrap="square" rtlCol="0" anchor="ctr"/>
          <a:lstStyle/>
          <a:p>
            <a:pPr marL="0" indent="0">
              <a:buNone/>
            </a:pPr>
            <a:r>
              <a:rPr lang="en-US" sz="1400" b="1" dirty="0">
                <a:solidFill>
                  <a:srgbClr val="38BDF8"/>
                </a:solidFill>
                <a:latin typeface="Calibri" pitchFamily="34" charset="0"/>
                <a:ea typeface="Calibri" pitchFamily="34" charset="-122"/>
                <a:cs typeface="Calibri" pitchFamily="34" charset="-120"/>
              </a:rPr>
              <a:t>Prophet</a:t>
            </a:r>
            <a:endParaRPr lang="en-US" sz="1400" dirty="0"/>
          </a:p>
        </p:txBody>
      </p:sp>
      <p:sp>
        <p:nvSpPr>
          <p:cNvPr id="31" name="Text 29"/>
          <p:cNvSpPr/>
          <p:nvPr/>
        </p:nvSpPr>
        <p:spPr>
          <a:xfrm>
            <a:off x="4718304" y="3337560"/>
            <a:ext cx="1828800" cy="82296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Time series forecasting</a:t>
            </a:r>
            <a:endParaRPr lang="en-US" sz="1050" dirty="0"/>
          </a:p>
        </p:txBody>
      </p:sp>
      <p:sp>
        <p:nvSpPr>
          <p:cNvPr id="32" name="Shape 30"/>
          <p:cNvSpPr/>
          <p:nvPr/>
        </p:nvSpPr>
        <p:spPr>
          <a:xfrm>
            <a:off x="6803136" y="2743200"/>
            <a:ext cx="2011680" cy="1554480"/>
          </a:xfrm>
          <a:prstGeom prst="rect">
            <a:avLst/>
          </a:prstGeom>
          <a:solidFill>
            <a:srgbClr val="162A41"/>
          </a:solidFill>
          <a:ln w="12700">
            <a:solidFill>
              <a:srgbClr val="10B981"/>
            </a:solidFill>
            <a:prstDash val="solid"/>
          </a:ln>
          <a:effectLst>
            <a:outerShdw blurRad="101600" dist="38100" dir="8100000" algn="bl" rotWithShape="0">
              <a:srgbClr val="000000">
                <a:alpha val="25000"/>
              </a:srgbClr>
            </a:outerShdw>
          </a:effectLst>
        </p:spPr>
        <p:txBody>
          <a:bodyPr/>
          <a:lstStyle/>
          <a:p>
            <a:endParaRPr lang="en-IN"/>
          </a:p>
        </p:txBody>
      </p:sp>
      <p:sp>
        <p:nvSpPr>
          <p:cNvPr id="33" name="Shape 31"/>
          <p:cNvSpPr/>
          <p:nvPr/>
        </p:nvSpPr>
        <p:spPr>
          <a:xfrm>
            <a:off x="6803136" y="2743200"/>
            <a:ext cx="2011680" cy="73152"/>
          </a:xfrm>
          <a:prstGeom prst="rect">
            <a:avLst/>
          </a:prstGeom>
          <a:solidFill>
            <a:srgbClr val="10B981"/>
          </a:solidFill>
          <a:ln w="12700">
            <a:solidFill>
              <a:srgbClr val="10B981"/>
            </a:solidFill>
            <a:prstDash val="solid"/>
          </a:ln>
        </p:spPr>
        <p:txBody>
          <a:bodyPr/>
          <a:lstStyle/>
          <a:p>
            <a:endParaRPr lang="en-IN"/>
          </a:p>
        </p:txBody>
      </p:sp>
      <p:sp>
        <p:nvSpPr>
          <p:cNvPr id="34" name="Text 32"/>
          <p:cNvSpPr/>
          <p:nvPr/>
        </p:nvSpPr>
        <p:spPr>
          <a:xfrm>
            <a:off x="6894576" y="2880360"/>
            <a:ext cx="1828800" cy="411480"/>
          </a:xfrm>
          <a:prstGeom prst="rect">
            <a:avLst/>
          </a:prstGeom>
          <a:noFill/>
          <a:ln/>
        </p:spPr>
        <p:txBody>
          <a:bodyPr wrap="square" rtlCol="0" anchor="ctr"/>
          <a:lstStyle/>
          <a:p>
            <a:pPr marL="0" indent="0">
              <a:buNone/>
            </a:pPr>
            <a:r>
              <a:rPr lang="en-US" sz="1400" b="1" dirty="0">
                <a:solidFill>
                  <a:srgbClr val="10B981"/>
                </a:solidFill>
                <a:latin typeface="Calibri" pitchFamily="34" charset="0"/>
                <a:ea typeface="Calibri" pitchFamily="34" charset="-122"/>
                <a:cs typeface="Calibri" pitchFamily="34" charset="-120"/>
              </a:rPr>
              <a:t>Matplotlib</a:t>
            </a:r>
            <a:endParaRPr lang="en-US" sz="1400" dirty="0"/>
          </a:p>
        </p:txBody>
      </p:sp>
      <p:sp>
        <p:nvSpPr>
          <p:cNvPr id="35" name="Text 33"/>
          <p:cNvSpPr/>
          <p:nvPr/>
        </p:nvSpPr>
        <p:spPr>
          <a:xfrm>
            <a:off x="6894576" y="3337560"/>
            <a:ext cx="1828800" cy="82296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Static chart rendering</a:t>
            </a:r>
            <a:endParaRPr lang="en-US" sz="1050" dirty="0"/>
          </a:p>
        </p:txBody>
      </p:sp>
      <p:sp>
        <p:nvSpPr>
          <p:cNvPr id="36" name="Shape 34"/>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p:cNvSpPr/>
          <p:nvPr/>
        </p:nvSpPr>
        <p:spPr>
          <a:xfrm>
            <a:off x="365760" y="182880"/>
            <a:ext cx="8412480" cy="548640"/>
          </a:xfrm>
          <a:prstGeom prst="rect">
            <a:avLst/>
          </a:prstGeom>
          <a:noFill/>
          <a:ln/>
        </p:spPr>
        <p:txBody>
          <a:bodyPr wrap="square" lIns="0" tIns="0" rIns="0" bIns="0" rtlCol="0" anchor="ctr"/>
          <a:lstStyle/>
          <a:p>
            <a:pPr marL="0" indent="0" algn="ctr">
              <a:buNone/>
            </a:pPr>
            <a:r>
              <a:rPr lang="en-US" sz="3200" b="1" dirty="0">
                <a:solidFill>
                  <a:srgbClr val="A78BFA"/>
                </a:solidFill>
                <a:latin typeface="Calibri" pitchFamily="34" charset="0"/>
                <a:ea typeface="Calibri" pitchFamily="34" charset="-122"/>
                <a:cs typeface="Calibri" pitchFamily="34" charset="-120"/>
              </a:rPr>
              <a:t>Summary</a:t>
            </a:r>
            <a:endParaRPr lang="en-US" sz="3200" dirty="0"/>
          </a:p>
        </p:txBody>
      </p:sp>
      <p:sp>
        <p:nvSpPr>
          <p:cNvPr id="4" name="Shape 2"/>
          <p:cNvSpPr/>
          <p:nvPr/>
        </p:nvSpPr>
        <p:spPr>
          <a:xfrm>
            <a:off x="365760" y="914400"/>
            <a:ext cx="4114800" cy="1051560"/>
          </a:xfrm>
          <a:prstGeom prst="rect">
            <a:avLst/>
          </a:prstGeom>
          <a:solidFill>
            <a:srgbClr val="162A41"/>
          </a:solidFill>
          <a:ln w="12700">
            <a:solidFill>
              <a:srgbClr val="10B981"/>
            </a:solidFill>
            <a:prstDash val="solid"/>
          </a:ln>
          <a:effectLst>
            <a:outerShdw blurRad="101600" dist="38100" dir="8100000" algn="bl" rotWithShape="0">
              <a:srgbClr val="000000">
                <a:alpha val="25000"/>
              </a:srgbClr>
            </a:outerShdw>
          </a:effectLst>
        </p:spPr>
        <p:txBody>
          <a:bodyPr/>
          <a:lstStyle/>
          <a:p>
            <a:endParaRPr lang="en-IN"/>
          </a:p>
        </p:txBody>
      </p:sp>
      <p:sp>
        <p:nvSpPr>
          <p:cNvPr id="5" name="Text 3"/>
          <p:cNvSpPr/>
          <p:nvPr/>
        </p:nvSpPr>
        <p:spPr>
          <a:xfrm>
            <a:off x="457200" y="100584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914400" y="1051560"/>
            <a:ext cx="3474720" cy="777240"/>
          </a:xfrm>
          <a:prstGeom prst="rect">
            <a:avLst/>
          </a:prstGeom>
          <a:noFill/>
          <a:ln/>
        </p:spPr>
        <p:txBody>
          <a:bodyPr wrap="square" rtlCol="0" anchor="ctr"/>
          <a:lstStyle/>
          <a:p>
            <a:pPr marL="0" indent="0">
              <a:buNone/>
            </a:pPr>
            <a:r>
              <a:rPr lang="en-US" sz="1200" dirty="0">
                <a:solidFill>
                  <a:srgbClr val="DCE8F5"/>
                </a:solidFill>
                <a:latin typeface="Calibri" pitchFamily="34" charset="0"/>
                <a:ea typeface="Calibri" pitchFamily="34" charset="-122"/>
                <a:cs typeface="Calibri" pitchFamily="34" charset="-120"/>
              </a:rPr>
              <a:t>Loaded and cleaned 5 Fitbit sensor files</a:t>
            </a:r>
            <a:endParaRPr lang="en-US" sz="1200" dirty="0"/>
          </a:p>
        </p:txBody>
      </p:sp>
      <p:sp>
        <p:nvSpPr>
          <p:cNvPr id="7" name="Shape 5"/>
          <p:cNvSpPr/>
          <p:nvPr/>
        </p:nvSpPr>
        <p:spPr>
          <a:xfrm>
            <a:off x="4754880" y="914400"/>
            <a:ext cx="4114800" cy="1051560"/>
          </a:xfrm>
          <a:prstGeom prst="rect">
            <a:avLst/>
          </a:prstGeom>
          <a:solidFill>
            <a:srgbClr val="162A41"/>
          </a:solidFill>
          <a:ln w="12700">
            <a:solidFill>
              <a:srgbClr val="10B981"/>
            </a:solidFill>
            <a:prstDash val="solid"/>
          </a:ln>
          <a:effectLst>
            <a:outerShdw blurRad="101600" dist="38100" dir="8100000" algn="bl" rotWithShape="0">
              <a:srgbClr val="000000">
                <a:alpha val="25000"/>
              </a:srgbClr>
            </a:outerShdw>
          </a:effectLst>
        </p:spPr>
        <p:txBody>
          <a:bodyPr/>
          <a:lstStyle/>
          <a:p>
            <a:endParaRPr lang="en-IN"/>
          </a:p>
        </p:txBody>
      </p:sp>
      <p:sp>
        <p:nvSpPr>
          <p:cNvPr id="8" name="Text 6"/>
          <p:cNvSpPr/>
          <p:nvPr/>
        </p:nvSpPr>
        <p:spPr>
          <a:xfrm>
            <a:off x="4846320" y="100584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9" name="Text 7"/>
          <p:cNvSpPr/>
          <p:nvPr/>
        </p:nvSpPr>
        <p:spPr>
          <a:xfrm>
            <a:off x="5303520" y="1051560"/>
            <a:ext cx="3474720" cy="777240"/>
          </a:xfrm>
          <a:prstGeom prst="rect">
            <a:avLst/>
          </a:prstGeom>
          <a:noFill/>
          <a:ln/>
        </p:spPr>
        <p:txBody>
          <a:bodyPr wrap="square" rtlCol="0" anchor="ctr"/>
          <a:lstStyle/>
          <a:p>
            <a:pPr marL="0" indent="0">
              <a:buNone/>
            </a:pPr>
            <a:r>
              <a:rPr lang="en-US" sz="1200" dirty="0">
                <a:solidFill>
                  <a:srgbClr val="DCE8F5"/>
                </a:solidFill>
                <a:latin typeface="Calibri" pitchFamily="34" charset="0"/>
                <a:ea typeface="Calibri" pitchFamily="34" charset="-122"/>
                <a:cs typeface="Calibri" pitchFamily="34" charset="-120"/>
              </a:rPr>
              <a:t>Built a merged master dataset (one row per user per day)</a:t>
            </a:r>
            <a:endParaRPr lang="en-US" sz="1200" dirty="0"/>
          </a:p>
        </p:txBody>
      </p:sp>
      <p:sp>
        <p:nvSpPr>
          <p:cNvPr id="10" name="Shape 8"/>
          <p:cNvSpPr/>
          <p:nvPr/>
        </p:nvSpPr>
        <p:spPr>
          <a:xfrm>
            <a:off x="365760" y="2194560"/>
            <a:ext cx="4114800" cy="1051560"/>
          </a:xfrm>
          <a:prstGeom prst="rect">
            <a:avLst/>
          </a:prstGeom>
          <a:solidFill>
            <a:srgbClr val="162A41"/>
          </a:solidFill>
          <a:ln w="12700">
            <a:solidFill>
              <a:srgbClr val="38BDF8"/>
            </a:solidFill>
            <a:prstDash val="solid"/>
          </a:ln>
          <a:effectLst>
            <a:outerShdw blurRad="101600" dist="38100" dir="8100000" algn="bl" rotWithShape="0">
              <a:srgbClr val="000000">
                <a:alpha val="25000"/>
              </a:srgbClr>
            </a:outerShdw>
          </a:effectLst>
        </p:spPr>
        <p:txBody>
          <a:bodyPr/>
          <a:lstStyle/>
          <a:p>
            <a:endParaRPr lang="en-IN"/>
          </a:p>
        </p:txBody>
      </p:sp>
      <p:sp>
        <p:nvSpPr>
          <p:cNvPr id="11" name="Text 9"/>
          <p:cNvSpPr/>
          <p:nvPr/>
        </p:nvSpPr>
        <p:spPr>
          <a:xfrm>
            <a:off x="457200" y="228600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12" name="Text 10"/>
          <p:cNvSpPr/>
          <p:nvPr/>
        </p:nvSpPr>
        <p:spPr>
          <a:xfrm>
            <a:off x="914400" y="2331720"/>
            <a:ext cx="3474720" cy="777240"/>
          </a:xfrm>
          <a:prstGeom prst="rect">
            <a:avLst/>
          </a:prstGeom>
          <a:noFill/>
          <a:ln/>
        </p:spPr>
        <p:txBody>
          <a:bodyPr wrap="square" rtlCol="0" anchor="ctr"/>
          <a:lstStyle/>
          <a:p>
            <a:pPr marL="0" indent="0">
              <a:buNone/>
            </a:pPr>
            <a:r>
              <a:rPr lang="en-US" sz="1200" dirty="0">
                <a:solidFill>
                  <a:srgbClr val="DCE8F5"/>
                </a:solidFill>
                <a:latin typeface="Calibri" pitchFamily="34" charset="0"/>
                <a:ea typeface="Calibri" pitchFamily="34" charset="-122"/>
                <a:cs typeface="Calibri" pitchFamily="34" charset="-120"/>
              </a:rPr>
              <a:t>TSFresh extracted 10 features from 196K+ heart rate readings</a:t>
            </a:r>
            <a:endParaRPr lang="en-US" sz="1200" dirty="0"/>
          </a:p>
        </p:txBody>
      </p:sp>
      <p:sp>
        <p:nvSpPr>
          <p:cNvPr id="13" name="Shape 11"/>
          <p:cNvSpPr/>
          <p:nvPr/>
        </p:nvSpPr>
        <p:spPr>
          <a:xfrm>
            <a:off x="4754880" y="2194560"/>
            <a:ext cx="4114800" cy="1051560"/>
          </a:xfrm>
          <a:prstGeom prst="rect">
            <a:avLst/>
          </a:prstGeom>
          <a:solidFill>
            <a:srgbClr val="162A41"/>
          </a:solidFill>
          <a:ln w="12700">
            <a:solidFill>
              <a:srgbClr val="F59E0B"/>
            </a:solidFill>
            <a:prstDash val="solid"/>
          </a:ln>
          <a:effectLst>
            <a:outerShdw blurRad="101600" dist="38100" dir="8100000" algn="bl" rotWithShape="0">
              <a:srgbClr val="000000">
                <a:alpha val="25000"/>
              </a:srgbClr>
            </a:outerShdw>
          </a:effectLst>
        </p:spPr>
        <p:txBody>
          <a:bodyPr/>
          <a:lstStyle/>
          <a:p>
            <a:endParaRPr lang="en-IN"/>
          </a:p>
        </p:txBody>
      </p:sp>
      <p:sp>
        <p:nvSpPr>
          <p:cNvPr id="14" name="Text 12"/>
          <p:cNvSpPr/>
          <p:nvPr/>
        </p:nvSpPr>
        <p:spPr>
          <a:xfrm>
            <a:off x="4846320" y="228600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15" name="Text 13"/>
          <p:cNvSpPr/>
          <p:nvPr/>
        </p:nvSpPr>
        <p:spPr>
          <a:xfrm>
            <a:off x="5303520" y="2331720"/>
            <a:ext cx="3474720" cy="777240"/>
          </a:xfrm>
          <a:prstGeom prst="rect">
            <a:avLst/>
          </a:prstGeom>
          <a:noFill/>
          <a:ln/>
        </p:spPr>
        <p:txBody>
          <a:bodyPr wrap="square" rtlCol="0" anchor="ctr"/>
          <a:lstStyle/>
          <a:p>
            <a:pPr marL="0" indent="0">
              <a:buNone/>
            </a:pPr>
            <a:r>
              <a:rPr lang="en-US" sz="1200" dirty="0">
                <a:solidFill>
                  <a:srgbClr val="DCE8F5"/>
                </a:solidFill>
                <a:latin typeface="Calibri" pitchFamily="34" charset="0"/>
                <a:ea typeface="Calibri" pitchFamily="34" charset="-122"/>
                <a:cs typeface="Calibri" pitchFamily="34" charset="-120"/>
              </a:rPr>
              <a:t>Prophet forecasted Heart Rate, Steps &amp; Sleep for 30 days</a:t>
            </a:r>
            <a:endParaRPr lang="en-US" sz="1200" dirty="0"/>
          </a:p>
        </p:txBody>
      </p:sp>
      <p:sp>
        <p:nvSpPr>
          <p:cNvPr id="16" name="Shape 14"/>
          <p:cNvSpPr/>
          <p:nvPr/>
        </p:nvSpPr>
        <p:spPr>
          <a:xfrm>
            <a:off x="365760" y="3474720"/>
            <a:ext cx="4114800" cy="1051560"/>
          </a:xfrm>
          <a:prstGeom prst="rect">
            <a:avLst/>
          </a:prstGeom>
          <a:solidFill>
            <a:srgbClr val="162A41"/>
          </a:solidFill>
          <a:ln w="12700">
            <a:solidFill>
              <a:srgbClr val="A78BFA"/>
            </a:solidFill>
            <a:prstDash val="solid"/>
          </a:ln>
          <a:effectLst>
            <a:outerShdw blurRad="101600" dist="38100" dir="8100000" algn="bl" rotWithShape="0">
              <a:srgbClr val="000000">
                <a:alpha val="25000"/>
              </a:srgbClr>
            </a:outerShdw>
          </a:effectLst>
        </p:spPr>
        <p:txBody>
          <a:bodyPr/>
          <a:lstStyle/>
          <a:p>
            <a:endParaRPr lang="en-IN"/>
          </a:p>
        </p:txBody>
      </p:sp>
      <p:sp>
        <p:nvSpPr>
          <p:cNvPr id="17" name="Text 15"/>
          <p:cNvSpPr/>
          <p:nvPr/>
        </p:nvSpPr>
        <p:spPr>
          <a:xfrm>
            <a:off x="457200" y="356616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18" name="Text 16"/>
          <p:cNvSpPr/>
          <p:nvPr/>
        </p:nvSpPr>
        <p:spPr>
          <a:xfrm>
            <a:off x="914400" y="3611880"/>
            <a:ext cx="3474720" cy="777240"/>
          </a:xfrm>
          <a:prstGeom prst="rect">
            <a:avLst/>
          </a:prstGeom>
          <a:noFill/>
          <a:ln/>
        </p:spPr>
        <p:txBody>
          <a:bodyPr wrap="square" rtlCol="0" anchor="ctr"/>
          <a:lstStyle/>
          <a:p>
            <a:pPr marL="0" indent="0">
              <a:buNone/>
            </a:pPr>
            <a:r>
              <a:rPr lang="en-US" sz="1200" dirty="0">
                <a:solidFill>
                  <a:srgbClr val="DCE8F5"/>
                </a:solidFill>
                <a:latin typeface="Calibri" pitchFamily="34" charset="0"/>
                <a:ea typeface="Calibri" pitchFamily="34" charset="-122"/>
                <a:cs typeface="Calibri" pitchFamily="34" charset="-120"/>
              </a:rPr>
              <a:t>KMeans and DBSCAN clustered users by fitness behaviour</a:t>
            </a:r>
            <a:endParaRPr lang="en-US" sz="1200" dirty="0"/>
          </a:p>
        </p:txBody>
      </p:sp>
      <p:sp>
        <p:nvSpPr>
          <p:cNvPr id="19" name="Shape 17"/>
          <p:cNvSpPr/>
          <p:nvPr/>
        </p:nvSpPr>
        <p:spPr>
          <a:xfrm>
            <a:off x="4754880" y="3474720"/>
            <a:ext cx="4114800" cy="1051560"/>
          </a:xfrm>
          <a:prstGeom prst="rect">
            <a:avLst/>
          </a:prstGeom>
          <a:solidFill>
            <a:srgbClr val="162A41"/>
          </a:solidFill>
          <a:ln w="12700">
            <a:solidFill>
              <a:srgbClr val="6366F1"/>
            </a:solidFill>
            <a:prstDash val="solid"/>
          </a:ln>
          <a:effectLst>
            <a:outerShdw blurRad="101600" dist="38100" dir="8100000" algn="bl" rotWithShape="0">
              <a:srgbClr val="000000">
                <a:alpha val="25000"/>
              </a:srgbClr>
            </a:outerShdw>
          </a:effectLst>
        </p:spPr>
        <p:txBody>
          <a:bodyPr/>
          <a:lstStyle/>
          <a:p>
            <a:endParaRPr lang="en-IN"/>
          </a:p>
        </p:txBody>
      </p:sp>
      <p:sp>
        <p:nvSpPr>
          <p:cNvPr id="20" name="Text 18"/>
          <p:cNvSpPr/>
          <p:nvPr/>
        </p:nvSpPr>
        <p:spPr>
          <a:xfrm>
            <a:off x="4846320" y="356616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21" name="Text 19"/>
          <p:cNvSpPr/>
          <p:nvPr/>
        </p:nvSpPr>
        <p:spPr>
          <a:xfrm>
            <a:off x="5303520" y="3611880"/>
            <a:ext cx="3474720" cy="777240"/>
          </a:xfrm>
          <a:prstGeom prst="rect">
            <a:avLst/>
          </a:prstGeom>
          <a:noFill/>
          <a:ln/>
        </p:spPr>
        <p:txBody>
          <a:bodyPr wrap="square" rtlCol="0" anchor="ctr"/>
          <a:lstStyle/>
          <a:p>
            <a:pPr marL="0" indent="0">
              <a:buNone/>
            </a:pPr>
            <a:r>
              <a:rPr lang="en-US" sz="1200" dirty="0">
                <a:solidFill>
                  <a:srgbClr val="DCE8F5"/>
                </a:solidFill>
                <a:latin typeface="Calibri" pitchFamily="34" charset="0"/>
                <a:ea typeface="Calibri" pitchFamily="34" charset="-122"/>
                <a:cs typeface="Calibri" pitchFamily="34" charset="-120"/>
              </a:rPr>
              <a:t>PCA and t-SNE visualised groups in 2D plots</a:t>
            </a:r>
            <a:endParaRPr lang="en-US" sz="1200" dirty="0"/>
          </a:p>
        </p:txBody>
      </p:sp>
      <p:sp>
        <p:nvSpPr>
          <p:cNvPr id="24" name="Shape 22"/>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EA841F48-A957-A590-D8AA-8B83448E36E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363A372-E9AB-E1F4-0F72-0CE865CBB3A3}"/>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93455A88-15ED-4B50-131E-5488191CDD99}"/>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File Upload</a:t>
            </a:r>
          </a:p>
          <a:p>
            <a:pPr marL="0" indent="0">
              <a:buNone/>
            </a:pPr>
            <a:endParaRPr lang="en-US" sz="2800" dirty="0"/>
          </a:p>
        </p:txBody>
      </p:sp>
      <p:sp>
        <p:nvSpPr>
          <p:cNvPr id="25" name="Shape 23">
            <a:extLst>
              <a:ext uri="{FF2B5EF4-FFF2-40B4-BE49-F238E27FC236}">
                <a16:creationId xmlns:a16="http://schemas.microsoft.com/office/drawing/2014/main" id="{045FC27E-A2F5-C9F3-9000-FDA5FA74831F}"/>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5" name="Picture 4">
            <a:extLst>
              <a:ext uri="{FF2B5EF4-FFF2-40B4-BE49-F238E27FC236}">
                <a16:creationId xmlns:a16="http://schemas.microsoft.com/office/drawing/2014/main" id="{B4B71926-ABA7-BB99-BD33-94D68F6BE5E9}"/>
              </a:ext>
            </a:extLst>
          </p:cNvPr>
          <p:cNvPicPr>
            <a:picLocks noChangeAspect="1"/>
          </p:cNvPicPr>
          <p:nvPr/>
        </p:nvPicPr>
        <p:blipFill>
          <a:blip r:embed="rId3"/>
          <a:stretch>
            <a:fillRect/>
          </a:stretch>
        </p:blipFill>
        <p:spPr>
          <a:xfrm>
            <a:off x="1556261" y="1323310"/>
            <a:ext cx="6002977" cy="3294356"/>
          </a:xfrm>
          <a:prstGeom prst="rect">
            <a:avLst/>
          </a:prstGeom>
        </p:spPr>
      </p:pic>
    </p:spTree>
    <p:extLst>
      <p:ext uri="{BB962C8B-B14F-4D97-AF65-F5344CB8AC3E}">
        <p14:creationId xmlns:p14="http://schemas.microsoft.com/office/powerpoint/2010/main" val="11612369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4042C124-8932-33D1-48B2-BC62746AE09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C93AB38-CB8F-3BE0-7C18-B3585F055E5A}"/>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C934DC51-5F1B-3C9B-51D0-0179C8C7A8AD}"/>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TSFresh – Heatmap </a:t>
            </a:r>
          </a:p>
          <a:p>
            <a:pPr marL="0" indent="0">
              <a:buNone/>
            </a:pPr>
            <a:endParaRPr lang="en-US" sz="2800" dirty="0"/>
          </a:p>
        </p:txBody>
      </p:sp>
      <p:sp>
        <p:nvSpPr>
          <p:cNvPr id="25" name="Shape 23">
            <a:extLst>
              <a:ext uri="{FF2B5EF4-FFF2-40B4-BE49-F238E27FC236}">
                <a16:creationId xmlns:a16="http://schemas.microsoft.com/office/drawing/2014/main" id="{6DAD33DD-F1E2-43A1-6C1D-000CAB3E0CA4}"/>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6" name="Picture 5">
            <a:extLst>
              <a:ext uri="{FF2B5EF4-FFF2-40B4-BE49-F238E27FC236}">
                <a16:creationId xmlns:a16="http://schemas.microsoft.com/office/drawing/2014/main" id="{857DFFD3-4B6E-E53F-5A23-624190DDEE3F}"/>
              </a:ext>
            </a:extLst>
          </p:cNvPr>
          <p:cNvPicPr>
            <a:picLocks noChangeAspect="1"/>
          </p:cNvPicPr>
          <p:nvPr/>
        </p:nvPicPr>
        <p:blipFill>
          <a:blip r:embed="rId3"/>
          <a:stretch>
            <a:fillRect/>
          </a:stretch>
        </p:blipFill>
        <p:spPr>
          <a:xfrm>
            <a:off x="1816924" y="1335155"/>
            <a:ext cx="5883710" cy="3416458"/>
          </a:xfrm>
          <a:prstGeom prst="rect">
            <a:avLst/>
          </a:prstGeom>
        </p:spPr>
      </p:pic>
    </p:spTree>
    <p:extLst>
      <p:ext uri="{BB962C8B-B14F-4D97-AF65-F5344CB8AC3E}">
        <p14:creationId xmlns:p14="http://schemas.microsoft.com/office/powerpoint/2010/main" val="3628040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CBC99055-336C-F2F4-A4B6-1B48DA0D93F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E6BA3A6-158A-47F8-68BA-7BC7E150301A}"/>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0A30507D-A3BB-B292-8941-9B7F0969D936}"/>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Prophet Analysis : Trend forecasting </a:t>
            </a:r>
          </a:p>
          <a:p>
            <a:pPr marL="0" indent="0">
              <a:buNone/>
            </a:pPr>
            <a:endParaRPr lang="en-US" sz="2800" dirty="0"/>
          </a:p>
        </p:txBody>
      </p:sp>
      <p:sp>
        <p:nvSpPr>
          <p:cNvPr id="25" name="Shape 23">
            <a:extLst>
              <a:ext uri="{FF2B5EF4-FFF2-40B4-BE49-F238E27FC236}">
                <a16:creationId xmlns:a16="http://schemas.microsoft.com/office/drawing/2014/main" id="{D1A14730-2E36-689A-6EF2-CFAC33A3A081}"/>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5" name="Picture 4">
            <a:extLst>
              <a:ext uri="{FF2B5EF4-FFF2-40B4-BE49-F238E27FC236}">
                <a16:creationId xmlns:a16="http://schemas.microsoft.com/office/drawing/2014/main" id="{4D33B52E-A3EA-77E1-7E00-47C30CAD8A72}"/>
              </a:ext>
            </a:extLst>
          </p:cNvPr>
          <p:cNvPicPr>
            <a:picLocks noChangeAspect="1"/>
          </p:cNvPicPr>
          <p:nvPr/>
        </p:nvPicPr>
        <p:blipFill>
          <a:blip r:embed="rId3"/>
          <a:stretch>
            <a:fillRect/>
          </a:stretch>
        </p:blipFill>
        <p:spPr>
          <a:xfrm>
            <a:off x="1562792" y="1413164"/>
            <a:ext cx="6150231" cy="3234290"/>
          </a:xfrm>
          <a:prstGeom prst="rect">
            <a:avLst/>
          </a:prstGeom>
        </p:spPr>
      </p:pic>
    </p:spTree>
    <p:extLst>
      <p:ext uri="{BB962C8B-B14F-4D97-AF65-F5344CB8AC3E}">
        <p14:creationId xmlns:p14="http://schemas.microsoft.com/office/powerpoint/2010/main" val="24072878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47CF9A20-4B56-58B8-7F10-9E578F52D91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9E020D5-06F8-079B-398F-30937B95BD0F}"/>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E4276AC4-FEB1-DC6D-E2B2-5014F59DBA30}"/>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Clustering – K-means and DBSCAN</a:t>
            </a:r>
          </a:p>
          <a:p>
            <a:pPr marL="0" indent="0">
              <a:buNone/>
            </a:pPr>
            <a:endParaRPr lang="en-US" sz="2800" dirty="0"/>
          </a:p>
        </p:txBody>
      </p:sp>
      <p:sp>
        <p:nvSpPr>
          <p:cNvPr id="25" name="Shape 23">
            <a:extLst>
              <a:ext uri="{FF2B5EF4-FFF2-40B4-BE49-F238E27FC236}">
                <a16:creationId xmlns:a16="http://schemas.microsoft.com/office/drawing/2014/main" id="{4C944FEE-FBE0-8392-9D23-D5A4A0E03D5E}"/>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6" name="Picture 5">
            <a:extLst>
              <a:ext uri="{FF2B5EF4-FFF2-40B4-BE49-F238E27FC236}">
                <a16:creationId xmlns:a16="http://schemas.microsoft.com/office/drawing/2014/main" id="{66870FEA-0229-1861-BE23-C5FC54D44DA9}"/>
              </a:ext>
            </a:extLst>
          </p:cNvPr>
          <p:cNvPicPr>
            <a:picLocks noChangeAspect="1"/>
          </p:cNvPicPr>
          <p:nvPr/>
        </p:nvPicPr>
        <p:blipFill>
          <a:blip r:embed="rId3"/>
          <a:stretch>
            <a:fillRect/>
          </a:stretch>
        </p:blipFill>
        <p:spPr>
          <a:xfrm>
            <a:off x="1187450" y="1327668"/>
            <a:ext cx="6769100" cy="3363385"/>
          </a:xfrm>
          <a:prstGeom prst="rect">
            <a:avLst/>
          </a:prstGeom>
        </p:spPr>
      </p:pic>
    </p:spTree>
    <p:extLst>
      <p:ext uri="{BB962C8B-B14F-4D97-AF65-F5344CB8AC3E}">
        <p14:creationId xmlns:p14="http://schemas.microsoft.com/office/powerpoint/2010/main" val="39060867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CCF072B0-C046-34A2-D216-0CF51BDECCB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E4DB04E-C568-94FC-246D-EB95BA9F7416}"/>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1950B5EA-5483-80CB-F8A0-6A66C877C386}"/>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Average values of groups – Bar Graph</a:t>
            </a:r>
          </a:p>
          <a:p>
            <a:pPr marL="0" indent="0">
              <a:buNone/>
            </a:pPr>
            <a:endParaRPr lang="en-US" sz="2800" dirty="0"/>
          </a:p>
        </p:txBody>
      </p:sp>
      <p:sp>
        <p:nvSpPr>
          <p:cNvPr id="25" name="Shape 23">
            <a:extLst>
              <a:ext uri="{FF2B5EF4-FFF2-40B4-BE49-F238E27FC236}">
                <a16:creationId xmlns:a16="http://schemas.microsoft.com/office/drawing/2014/main" id="{18C3B71A-4969-9373-1B6F-E16A43290E83}"/>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7" name="Picture 6">
            <a:extLst>
              <a:ext uri="{FF2B5EF4-FFF2-40B4-BE49-F238E27FC236}">
                <a16:creationId xmlns:a16="http://schemas.microsoft.com/office/drawing/2014/main" id="{CECA5500-8DD8-7320-1645-61204945102E}"/>
              </a:ext>
            </a:extLst>
          </p:cNvPr>
          <p:cNvPicPr>
            <a:picLocks noChangeAspect="1"/>
          </p:cNvPicPr>
          <p:nvPr/>
        </p:nvPicPr>
        <p:blipFill>
          <a:blip r:embed="rId3"/>
          <a:stretch>
            <a:fillRect/>
          </a:stretch>
        </p:blipFill>
        <p:spPr>
          <a:xfrm>
            <a:off x="1892607" y="1280160"/>
            <a:ext cx="5330285" cy="3406601"/>
          </a:xfrm>
          <a:prstGeom prst="rect">
            <a:avLst/>
          </a:prstGeom>
        </p:spPr>
      </p:pic>
    </p:spTree>
    <p:extLst>
      <p:ext uri="{BB962C8B-B14F-4D97-AF65-F5344CB8AC3E}">
        <p14:creationId xmlns:p14="http://schemas.microsoft.com/office/powerpoint/2010/main" val="39086583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4114800" cy="5143500"/>
          </a:xfrm>
          <a:prstGeom prst="rect">
            <a:avLst/>
          </a:prstGeom>
          <a:solidFill>
            <a:srgbClr val="162A41"/>
          </a:solidFill>
          <a:ln w="12700">
            <a:solidFill>
              <a:srgbClr val="162A41"/>
            </a:solidFill>
            <a:prstDash val="solid"/>
          </a:ln>
        </p:spPr>
        <p:txBody>
          <a:bodyPr/>
          <a:lstStyle/>
          <a:p>
            <a:endParaRPr lang="en-IN"/>
          </a:p>
        </p:txBody>
      </p:sp>
      <p:sp>
        <p:nvSpPr>
          <p:cNvPr id="3" name="Shape 1"/>
          <p:cNvSpPr/>
          <p:nvPr/>
        </p:nvSpPr>
        <p:spPr>
          <a:xfrm>
            <a:off x="4114800" y="0"/>
            <a:ext cx="54864" cy="5143500"/>
          </a:xfrm>
          <a:prstGeom prst="rect">
            <a:avLst/>
          </a:prstGeom>
          <a:solidFill>
            <a:srgbClr val="EF4444"/>
          </a:solidFill>
          <a:ln w="12700">
            <a:solidFill>
              <a:srgbClr val="EF4444"/>
            </a:solidFill>
            <a:prstDash val="solid"/>
          </a:ln>
        </p:spPr>
        <p:txBody>
          <a:bodyPr/>
          <a:lstStyle/>
          <a:p>
            <a:endParaRPr lang="en-IN"/>
          </a:p>
        </p:txBody>
      </p:sp>
      <p:sp>
        <p:nvSpPr>
          <p:cNvPr id="4" name="Text 2"/>
          <p:cNvSpPr/>
          <p:nvPr/>
        </p:nvSpPr>
        <p:spPr>
          <a:xfrm>
            <a:off x="274320" y="1097280"/>
            <a:ext cx="3566160" cy="1371600"/>
          </a:xfrm>
          <a:prstGeom prst="rect">
            <a:avLst/>
          </a:prstGeom>
          <a:noFill/>
          <a:ln/>
        </p:spPr>
        <p:txBody>
          <a:bodyPr wrap="square" rtlCol="0" anchor="ctr"/>
          <a:lstStyle/>
          <a:p>
            <a:pPr marL="0" indent="0" algn="ctr">
              <a:buNone/>
            </a:pPr>
            <a:r>
              <a:rPr lang="en-US" sz="9600" b="1" dirty="0">
                <a:solidFill>
                  <a:srgbClr val="EF4444">
                    <a:alpha val="70000"/>
                  </a:srgbClr>
                </a:solidFill>
                <a:latin typeface="Calibri" pitchFamily="34" charset="0"/>
                <a:ea typeface="Calibri" pitchFamily="34" charset="-122"/>
                <a:cs typeface="Calibri" pitchFamily="34" charset="-120"/>
              </a:rPr>
              <a:t>03</a:t>
            </a:r>
            <a:endParaRPr lang="en-US" sz="9600" dirty="0"/>
          </a:p>
        </p:txBody>
      </p:sp>
      <p:sp>
        <p:nvSpPr>
          <p:cNvPr id="5" name="Text 3"/>
          <p:cNvSpPr/>
          <p:nvPr/>
        </p:nvSpPr>
        <p:spPr>
          <a:xfrm>
            <a:off x="274320" y="2560320"/>
            <a:ext cx="3566160" cy="5029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Milestone 3</a:t>
            </a:r>
            <a:endParaRPr lang="en-US" sz="2200" dirty="0"/>
          </a:p>
        </p:txBody>
      </p:sp>
      <p:sp>
        <p:nvSpPr>
          <p:cNvPr id="6" name="Text 4"/>
          <p:cNvSpPr/>
          <p:nvPr/>
        </p:nvSpPr>
        <p:spPr>
          <a:xfrm>
            <a:off x="274320" y="3063240"/>
            <a:ext cx="3566160" cy="731520"/>
          </a:xfrm>
          <a:prstGeom prst="rect">
            <a:avLst/>
          </a:prstGeom>
          <a:noFill/>
          <a:ln/>
        </p:spPr>
        <p:txBody>
          <a:bodyPr wrap="square" rtlCol="0" anchor="ctr"/>
          <a:lstStyle/>
          <a:p>
            <a:pPr marL="0" indent="0" algn="ctr">
              <a:buNone/>
            </a:pPr>
            <a:r>
              <a:rPr lang="en-US" sz="1400" dirty="0">
                <a:solidFill>
                  <a:srgbClr val="7A9ABB"/>
                </a:solidFill>
                <a:latin typeface="Calibri" pitchFamily="34" charset="0"/>
                <a:ea typeface="Calibri" pitchFamily="34" charset="-122"/>
                <a:cs typeface="Calibri" pitchFamily="34" charset="-120"/>
              </a:rPr>
              <a:t>Anomaly Detection</a:t>
            </a:r>
            <a:endParaRPr lang="en-US" sz="1400" dirty="0"/>
          </a:p>
          <a:p>
            <a:pPr marL="0" indent="0" algn="ctr">
              <a:buNone/>
            </a:pPr>
            <a:r>
              <a:rPr lang="en-US" sz="1400" dirty="0">
                <a:solidFill>
                  <a:srgbClr val="7A9ABB"/>
                </a:solidFill>
                <a:latin typeface="Calibri" pitchFamily="34" charset="0"/>
                <a:ea typeface="Calibri" pitchFamily="34" charset="-122"/>
                <a:cs typeface="Calibri" pitchFamily="34" charset="-120"/>
              </a:rPr>
              <a:t>&amp; Visualization</a:t>
            </a:r>
            <a:endParaRPr lang="en-US" sz="1400" dirty="0"/>
          </a:p>
        </p:txBody>
      </p:sp>
      <p:sp>
        <p:nvSpPr>
          <p:cNvPr id="7" name="Shape 5"/>
          <p:cNvSpPr/>
          <p:nvPr/>
        </p:nvSpPr>
        <p:spPr>
          <a:xfrm>
            <a:off x="4572000" y="457200"/>
            <a:ext cx="502920" cy="502920"/>
          </a:xfrm>
          <a:prstGeom prst="rect">
            <a:avLst/>
          </a:prstGeom>
          <a:solidFill>
            <a:srgbClr val="EF4444"/>
          </a:solidFill>
          <a:ln w="12700">
            <a:solidFill>
              <a:srgbClr val="EF4444"/>
            </a:solidFill>
            <a:prstDash val="solid"/>
          </a:ln>
        </p:spPr>
        <p:txBody>
          <a:bodyPr/>
          <a:lstStyle/>
          <a:p>
            <a:endParaRPr lang="en-IN"/>
          </a:p>
        </p:txBody>
      </p:sp>
      <p:sp>
        <p:nvSpPr>
          <p:cNvPr id="8" name="Text 6"/>
          <p:cNvSpPr/>
          <p:nvPr/>
        </p:nvSpPr>
        <p:spPr>
          <a:xfrm>
            <a:off x="4572000" y="45720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9" name="Text 7"/>
          <p:cNvSpPr/>
          <p:nvPr/>
        </p:nvSpPr>
        <p:spPr>
          <a:xfrm>
            <a:off x="5212080" y="47548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Upload the 5 CSV files</a:t>
            </a:r>
            <a:endParaRPr lang="en-US" sz="1400" dirty="0"/>
          </a:p>
        </p:txBody>
      </p:sp>
      <p:sp>
        <p:nvSpPr>
          <p:cNvPr id="10" name="Text 8"/>
          <p:cNvSpPr/>
          <p:nvPr/>
        </p:nvSpPr>
        <p:spPr>
          <a:xfrm>
            <a:off x="5212080" y="71323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Upload to M3 pipeline</a:t>
            </a:r>
            <a:endParaRPr lang="en-US" sz="1100" dirty="0"/>
          </a:p>
        </p:txBody>
      </p:sp>
      <p:sp>
        <p:nvSpPr>
          <p:cNvPr id="11" name="Shape 9"/>
          <p:cNvSpPr/>
          <p:nvPr/>
        </p:nvSpPr>
        <p:spPr>
          <a:xfrm>
            <a:off x="4572000" y="1554480"/>
            <a:ext cx="502920" cy="502920"/>
          </a:xfrm>
          <a:prstGeom prst="rect">
            <a:avLst/>
          </a:prstGeom>
          <a:solidFill>
            <a:srgbClr val="EF4444"/>
          </a:solidFill>
          <a:ln w="12700">
            <a:solidFill>
              <a:srgbClr val="EF4444"/>
            </a:solidFill>
            <a:prstDash val="solid"/>
          </a:ln>
        </p:spPr>
        <p:txBody>
          <a:bodyPr/>
          <a:lstStyle/>
          <a:p>
            <a:endParaRPr lang="en-IN"/>
          </a:p>
        </p:txBody>
      </p:sp>
      <p:sp>
        <p:nvSpPr>
          <p:cNvPr id="12" name="Text 10"/>
          <p:cNvSpPr/>
          <p:nvPr/>
        </p:nvSpPr>
        <p:spPr>
          <a:xfrm>
            <a:off x="4572000" y="155448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3" name="Text 11"/>
          <p:cNvSpPr/>
          <p:nvPr/>
        </p:nvSpPr>
        <p:spPr>
          <a:xfrm>
            <a:off x="5212080" y="157276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Threshold Violations</a:t>
            </a:r>
            <a:endParaRPr lang="en-US" sz="1400" dirty="0"/>
          </a:p>
        </p:txBody>
      </p:sp>
      <p:sp>
        <p:nvSpPr>
          <p:cNvPr id="14" name="Text 12"/>
          <p:cNvSpPr/>
          <p:nvPr/>
        </p:nvSpPr>
        <p:spPr>
          <a:xfrm>
            <a:off x="5212080" y="181051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Hard-coded limits on HR, Steps &amp; Sleep</a:t>
            </a:r>
            <a:endParaRPr lang="en-US" sz="1100" dirty="0"/>
          </a:p>
        </p:txBody>
      </p:sp>
      <p:sp>
        <p:nvSpPr>
          <p:cNvPr id="15" name="Shape 13"/>
          <p:cNvSpPr/>
          <p:nvPr/>
        </p:nvSpPr>
        <p:spPr>
          <a:xfrm>
            <a:off x="4572000" y="2651760"/>
            <a:ext cx="502920" cy="502920"/>
          </a:xfrm>
          <a:prstGeom prst="rect">
            <a:avLst/>
          </a:prstGeom>
          <a:solidFill>
            <a:srgbClr val="EF4444"/>
          </a:solidFill>
          <a:ln w="12700">
            <a:solidFill>
              <a:srgbClr val="EF4444"/>
            </a:solidFill>
            <a:prstDash val="solid"/>
          </a:ln>
        </p:spPr>
        <p:txBody>
          <a:bodyPr/>
          <a:lstStyle/>
          <a:p>
            <a:endParaRPr lang="en-IN"/>
          </a:p>
        </p:txBody>
      </p:sp>
      <p:sp>
        <p:nvSpPr>
          <p:cNvPr id="16" name="Text 14"/>
          <p:cNvSpPr/>
          <p:nvPr/>
        </p:nvSpPr>
        <p:spPr>
          <a:xfrm>
            <a:off x="4572000" y="265176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5212080" y="267004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Residual-Based Detection</a:t>
            </a:r>
            <a:endParaRPr lang="en-US" sz="1400" dirty="0"/>
          </a:p>
        </p:txBody>
      </p:sp>
      <p:sp>
        <p:nvSpPr>
          <p:cNvPr id="18" name="Text 16"/>
          <p:cNvSpPr/>
          <p:nvPr/>
        </p:nvSpPr>
        <p:spPr>
          <a:xfrm>
            <a:off x="5212080" y="290779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Rolling median ±2σ baseline anomalies</a:t>
            </a:r>
            <a:endParaRPr lang="en-US" sz="1100" dirty="0"/>
          </a:p>
        </p:txBody>
      </p:sp>
      <p:sp>
        <p:nvSpPr>
          <p:cNvPr id="19" name="Shape 17"/>
          <p:cNvSpPr/>
          <p:nvPr/>
        </p:nvSpPr>
        <p:spPr>
          <a:xfrm>
            <a:off x="4572000" y="3749040"/>
            <a:ext cx="502920" cy="502920"/>
          </a:xfrm>
          <a:prstGeom prst="rect">
            <a:avLst/>
          </a:prstGeom>
          <a:solidFill>
            <a:srgbClr val="EF4444"/>
          </a:solidFill>
          <a:ln w="12700">
            <a:solidFill>
              <a:srgbClr val="EF4444"/>
            </a:solidFill>
            <a:prstDash val="solid"/>
          </a:ln>
        </p:spPr>
        <p:txBody>
          <a:bodyPr/>
          <a:lstStyle/>
          <a:p>
            <a:endParaRPr lang="en-IN"/>
          </a:p>
        </p:txBody>
      </p:sp>
      <p:sp>
        <p:nvSpPr>
          <p:cNvPr id="20" name="Text 18"/>
          <p:cNvSpPr/>
          <p:nvPr/>
        </p:nvSpPr>
        <p:spPr>
          <a:xfrm>
            <a:off x="4572000" y="374904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21" name="Text 19"/>
          <p:cNvSpPr/>
          <p:nvPr/>
        </p:nvSpPr>
        <p:spPr>
          <a:xfrm>
            <a:off x="5212080" y="376732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DBSCAN Structural Outliers</a:t>
            </a:r>
            <a:endParaRPr lang="en-US" sz="1400" dirty="0"/>
          </a:p>
        </p:txBody>
      </p:sp>
      <p:sp>
        <p:nvSpPr>
          <p:cNvPr id="22" name="Text 20"/>
          <p:cNvSpPr/>
          <p:nvPr/>
        </p:nvSpPr>
        <p:spPr>
          <a:xfrm>
            <a:off x="5212080" y="400507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Users with abnormal profiles across all metrics</a:t>
            </a:r>
            <a:endParaRPr lang="en-US" sz="1100" dirty="0"/>
          </a:p>
        </p:txBody>
      </p:sp>
      <p:sp>
        <p:nvSpPr>
          <p:cNvPr id="23" name="Shape 21"/>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F4444"/>
          </a:solidFill>
          <a:ln w="12700">
            <a:solidFill>
              <a:srgbClr val="EF4444"/>
            </a:solidFill>
            <a:prstDash val="solid"/>
          </a:ln>
        </p:spPr>
        <p:txBody>
          <a:bodyPr/>
          <a:lstStyle/>
          <a:p>
            <a:endParaRPr lang="en-IN"/>
          </a:p>
        </p:txBody>
      </p:sp>
      <p:sp>
        <p:nvSpPr>
          <p:cNvPr id="3" name="Text 1"/>
          <p:cNvSpPr/>
          <p:nvPr/>
        </p:nvSpPr>
        <p:spPr>
          <a:xfrm>
            <a:off x="365760" y="164592"/>
            <a:ext cx="8412480" cy="502920"/>
          </a:xfrm>
          <a:prstGeom prst="rect">
            <a:avLst/>
          </a:prstGeom>
          <a:noFill/>
          <a:ln/>
        </p:spPr>
        <p:txBody>
          <a:bodyPr wrap="square" lIns="0" tIns="0" rIns="0" bIns="0" rtlCol="0" anchor="ctr"/>
          <a:lstStyle/>
          <a:p>
            <a:pPr marL="0" indent="0">
              <a:buNone/>
            </a:pPr>
            <a:r>
              <a:rPr lang="en-US" sz="2200" b="1" dirty="0">
                <a:solidFill>
                  <a:srgbClr val="EF4444"/>
                </a:solidFill>
                <a:latin typeface="Calibri" pitchFamily="34" charset="0"/>
                <a:ea typeface="Calibri" pitchFamily="34" charset="-122"/>
                <a:cs typeface="Calibri" pitchFamily="34" charset="-120"/>
              </a:rPr>
              <a:t>Milestone 3 — Three Anomaly Detection Methods</a:t>
            </a:r>
            <a:endParaRPr lang="en-US" sz="2200" dirty="0"/>
          </a:p>
        </p:txBody>
      </p:sp>
      <p:sp>
        <p:nvSpPr>
          <p:cNvPr id="4" name="Shape 2"/>
          <p:cNvSpPr/>
          <p:nvPr/>
        </p:nvSpPr>
        <p:spPr>
          <a:xfrm>
            <a:off x="201168" y="822960"/>
            <a:ext cx="2834640" cy="4114800"/>
          </a:xfrm>
          <a:prstGeom prst="rect">
            <a:avLst/>
          </a:prstGeom>
          <a:solidFill>
            <a:srgbClr val="162A41"/>
          </a:solidFill>
          <a:ln w="12700">
            <a:solidFill>
              <a:srgbClr val="F59E0B"/>
            </a:solidFill>
            <a:prstDash val="solid"/>
          </a:ln>
          <a:effectLst>
            <a:outerShdw blurRad="101600" dist="38100" dir="8100000" algn="bl" rotWithShape="0">
              <a:srgbClr val="000000">
                <a:alpha val="22000"/>
              </a:srgbClr>
            </a:outerShdw>
          </a:effectLst>
        </p:spPr>
        <p:txBody>
          <a:bodyPr/>
          <a:lstStyle/>
          <a:p>
            <a:endParaRPr lang="en-IN"/>
          </a:p>
        </p:txBody>
      </p:sp>
      <p:sp>
        <p:nvSpPr>
          <p:cNvPr id="5" name="Shape 3"/>
          <p:cNvSpPr/>
          <p:nvPr/>
        </p:nvSpPr>
        <p:spPr>
          <a:xfrm>
            <a:off x="201168" y="822960"/>
            <a:ext cx="2834640" cy="457200"/>
          </a:xfrm>
          <a:prstGeom prst="rect">
            <a:avLst/>
          </a:prstGeom>
          <a:solidFill>
            <a:srgbClr val="F59E0B"/>
          </a:solidFill>
          <a:ln w="12700">
            <a:solidFill>
              <a:srgbClr val="F59E0B"/>
            </a:solidFill>
            <a:prstDash val="solid"/>
          </a:ln>
        </p:spPr>
        <p:txBody>
          <a:bodyPr/>
          <a:lstStyle/>
          <a:p>
            <a:endParaRPr lang="en-IN"/>
          </a:p>
        </p:txBody>
      </p:sp>
      <p:sp>
        <p:nvSpPr>
          <p:cNvPr id="6" name="Text 4"/>
          <p:cNvSpPr/>
          <p:nvPr/>
        </p:nvSpPr>
        <p:spPr>
          <a:xfrm>
            <a:off x="292608" y="822960"/>
            <a:ext cx="2651760" cy="457200"/>
          </a:xfrm>
          <a:prstGeom prst="rect">
            <a:avLst/>
          </a:prstGeom>
          <a:noFill/>
          <a:ln/>
        </p:spPr>
        <p:txBody>
          <a:bodyPr wrap="square"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  Threshold Violations</a:t>
            </a:r>
            <a:endParaRPr lang="en-US" sz="1200" dirty="0"/>
          </a:p>
        </p:txBody>
      </p:sp>
      <p:sp>
        <p:nvSpPr>
          <p:cNvPr id="7" name="Text 5"/>
          <p:cNvSpPr/>
          <p:nvPr/>
        </p:nvSpPr>
        <p:spPr>
          <a:xfrm>
            <a:off x="310896" y="1371600"/>
            <a:ext cx="2615184" cy="118872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Hard-coded upper and lower limits on Heart Rate, Steps, and Sleep. Simple, fast, and interpretable. Flags absolute out-of-range values immediately.</a:t>
            </a:r>
            <a:endParaRPr lang="en-US" sz="1050" dirty="0"/>
          </a:p>
        </p:txBody>
      </p:sp>
      <p:sp>
        <p:nvSpPr>
          <p:cNvPr id="8" name="Text 6"/>
          <p:cNvSpPr/>
          <p:nvPr/>
        </p:nvSpPr>
        <p:spPr>
          <a:xfrm>
            <a:off x="310896" y="2651760"/>
            <a:ext cx="2615184" cy="256032"/>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Key Parameters:</a:t>
            </a:r>
            <a:endParaRPr lang="en-US" sz="1000" dirty="0"/>
          </a:p>
        </p:txBody>
      </p:sp>
      <p:sp>
        <p:nvSpPr>
          <p:cNvPr id="9" name="Text 7"/>
          <p:cNvSpPr/>
          <p:nvPr/>
        </p:nvSpPr>
        <p:spPr>
          <a:xfrm>
            <a:off x="310896" y="2944368"/>
            <a:ext cx="2615184" cy="310896"/>
          </a:xfrm>
          <a:prstGeom prst="rect">
            <a:avLst/>
          </a:prstGeom>
          <a:noFill/>
          <a:ln/>
        </p:spPr>
        <p:txBody>
          <a:bodyPr wrap="square" rtlCol="0" anchor="ctr"/>
          <a:lstStyle/>
          <a:p>
            <a:pPr marL="342900" indent="-342900">
              <a:buSzPct val="100000"/>
              <a:buChar char="•"/>
            </a:pPr>
            <a:r>
              <a:rPr lang="en-US" sz="1000" dirty="0">
                <a:solidFill>
                  <a:srgbClr val="DCE8F5"/>
                </a:solidFill>
                <a:latin typeface="Calibri" pitchFamily="34" charset="0"/>
                <a:ea typeface="Calibri" pitchFamily="34" charset="-122"/>
                <a:cs typeface="Calibri" pitchFamily="34" charset="-120"/>
              </a:rPr>
              <a:t>Heart Rate: 40 – 120 bpm</a:t>
            </a:r>
            <a:endParaRPr lang="en-US" sz="1000" dirty="0"/>
          </a:p>
        </p:txBody>
      </p:sp>
      <p:sp>
        <p:nvSpPr>
          <p:cNvPr id="10" name="Text 8"/>
          <p:cNvSpPr/>
          <p:nvPr/>
        </p:nvSpPr>
        <p:spPr>
          <a:xfrm>
            <a:off x="310896" y="3282696"/>
            <a:ext cx="2615184" cy="310896"/>
          </a:xfrm>
          <a:prstGeom prst="rect">
            <a:avLst/>
          </a:prstGeom>
          <a:noFill/>
          <a:ln/>
        </p:spPr>
        <p:txBody>
          <a:bodyPr wrap="square" rtlCol="0" anchor="ctr"/>
          <a:lstStyle/>
          <a:p>
            <a:pPr marL="342900" indent="-342900">
              <a:buSzPct val="100000"/>
              <a:buChar char="•"/>
            </a:pPr>
            <a:r>
              <a:rPr lang="en-US" sz="1000" dirty="0">
                <a:solidFill>
                  <a:srgbClr val="DCE8F5"/>
                </a:solidFill>
                <a:latin typeface="Calibri" pitchFamily="34" charset="0"/>
                <a:ea typeface="Calibri" pitchFamily="34" charset="-122"/>
                <a:cs typeface="Calibri" pitchFamily="34" charset="-120"/>
              </a:rPr>
              <a:t>Daily Steps: 1,000 – 25,000</a:t>
            </a:r>
            <a:endParaRPr lang="en-US" sz="1000" dirty="0"/>
          </a:p>
        </p:txBody>
      </p:sp>
      <p:sp>
        <p:nvSpPr>
          <p:cNvPr id="11" name="Text 9"/>
          <p:cNvSpPr/>
          <p:nvPr/>
        </p:nvSpPr>
        <p:spPr>
          <a:xfrm>
            <a:off x="310896" y="3621024"/>
            <a:ext cx="2615184" cy="310896"/>
          </a:xfrm>
          <a:prstGeom prst="rect">
            <a:avLst/>
          </a:prstGeom>
          <a:noFill/>
          <a:ln/>
        </p:spPr>
        <p:txBody>
          <a:bodyPr wrap="square" rtlCol="0" anchor="ctr"/>
          <a:lstStyle/>
          <a:p>
            <a:pPr marL="342900" indent="-342900">
              <a:buSzPct val="100000"/>
              <a:buChar char="•"/>
            </a:pPr>
            <a:r>
              <a:rPr lang="en-US" sz="1000" dirty="0">
                <a:solidFill>
                  <a:srgbClr val="DCE8F5"/>
                </a:solidFill>
                <a:latin typeface="Calibri" pitchFamily="34" charset="0"/>
                <a:ea typeface="Calibri" pitchFamily="34" charset="-122"/>
                <a:cs typeface="Calibri" pitchFamily="34" charset="-120"/>
              </a:rPr>
              <a:t>Sleep: 180 – 720 minutes</a:t>
            </a:r>
            <a:endParaRPr lang="en-US" sz="1000" dirty="0"/>
          </a:p>
        </p:txBody>
      </p:sp>
      <p:sp>
        <p:nvSpPr>
          <p:cNvPr id="12" name="Text 10"/>
          <p:cNvSpPr/>
          <p:nvPr/>
        </p:nvSpPr>
        <p:spPr>
          <a:xfrm>
            <a:off x="2578608" y="868680"/>
            <a:ext cx="365760" cy="320040"/>
          </a:xfrm>
          <a:prstGeom prst="rect">
            <a:avLst/>
          </a:prstGeom>
          <a:noFill/>
          <a:ln/>
        </p:spPr>
        <p:txBody>
          <a:bodyPr wrap="square" rtlCol="0" anchor="ctr"/>
          <a:lstStyle/>
          <a:p>
            <a:pPr marL="0" indent="0" algn="ctr">
              <a:buNone/>
            </a:pPr>
            <a:r>
              <a:rPr lang="en-US" sz="1200" b="1" dirty="0">
                <a:solidFill>
                  <a:srgbClr val="0D1B2A"/>
                </a:solidFill>
                <a:latin typeface="Calibri" pitchFamily="34" charset="0"/>
                <a:ea typeface="Calibri" pitchFamily="34" charset="-122"/>
                <a:cs typeface="Calibri" pitchFamily="34" charset="-120"/>
              </a:rPr>
              <a:t>01</a:t>
            </a:r>
            <a:endParaRPr lang="en-US" sz="1200" dirty="0"/>
          </a:p>
        </p:txBody>
      </p:sp>
      <p:sp>
        <p:nvSpPr>
          <p:cNvPr id="13" name="Shape 11"/>
          <p:cNvSpPr/>
          <p:nvPr/>
        </p:nvSpPr>
        <p:spPr>
          <a:xfrm>
            <a:off x="3172968" y="822960"/>
            <a:ext cx="2834640" cy="4114800"/>
          </a:xfrm>
          <a:prstGeom prst="rect">
            <a:avLst/>
          </a:prstGeom>
          <a:solidFill>
            <a:srgbClr val="162A41"/>
          </a:solidFill>
          <a:ln w="12700">
            <a:solidFill>
              <a:srgbClr val="38BDF8"/>
            </a:solidFill>
            <a:prstDash val="solid"/>
          </a:ln>
          <a:effectLst>
            <a:outerShdw blurRad="101600" dist="38100" dir="8100000" algn="bl" rotWithShape="0">
              <a:srgbClr val="000000">
                <a:alpha val="22000"/>
              </a:srgbClr>
            </a:outerShdw>
          </a:effectLst>
        </p:spPr>
        <p:txBody>
          <a:bodyPr/>
          <a:lstStyle/>
          <a:p>
            <a:endParaRPr lang="en-IN"/>
          </a:p>
        </p:txBody>
      </p:sp>
      <p:sp>
        <p:nvSpPr>
          <p:cNvPr id="14" name="Shape 12"/>
          <p:cNvSpPr/>
          <p:nvPr/>
        </p:nvSpPr>
        <p:spPr>
          <a:xfrm>
            <a:off x="3172968" y="822960"/>
            <a:ext cx="2834640" cy="457200"/>
          </a:xfrm>
          <a:prstGeom prst="rect">
            <a:avLst/>
          </a:prstGeom>
          <a:solidFill>
            <a:srgbClr val="38BDF8"/>
          </a:solidFill>
          <a:ln w="12700">
            <a:solidFill>
              <a:srgbClr val="38BDF8"/>
            </a:solidFill>
            <a:prstDash val="solid"/>
          </a:ln>
        </p:spPr>
        <p:txBody>
          <a:bodyPr/>
          <a:lstStyle/>
          <a:p>
            <a:endParaRPr lang="en-IN"/>
          </a:p>
        </p:txBody>
      </p:sp>
      <p:sp>
        <p:nvSpPr>
          <p:cNvPr id="15" name="Text 13"/>
          <p:cNvSpPr/>
          <p:nvPr/>
        </p:nvSpPr>
        <p:spPr>
          <a:xfrm>
            <a:off x="3264408" y="822960"/>
            <a:ext cx="2651760" cy="457200"/>
          </a:xfrm>
          <a:prstGeom prst="rect">
            <a:avLst/>
          </a:prstGeom>
          <a:noFill/>
          <a:ln/>
        </p:spPr>
        <p:txBody>
          <a:bodyPr wrap="square"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  Residual-Based Detection</a:t>
            </a:r>
            <a:endParaRPr lang="en-US" sz="1200" dirty="0"/>
          </a:p>
        </p:txBody>
      </p:sp>
      <p:sp>
        <p:nvSpPr>
          <p:cNvPr id="16" name="Text 14"/>
          <p:cNvSpPr/>
          <p:nvPr/>
        </p:nvSpPr>
        <p:spPr>
          <a:xfrm>
            <a:off x="3282696" y="1371600"/>
            <a:ext cx="2615184" cy="118872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A 7-day rolling median is computed as the expected baseline. Any day where the actual value deviates by more than ±2 standard deviations is flagged as a statistical anomaly.</a:t>
            </a:r>
            <a:endParaRPr lang="en-US" sz="1050" dirty="0"/>
          </a:p>
        </p:txBody>
      </p:sp>
      <p:sp>
        <p:nvSpPr>
          <p:cNvPr id="17" name="Text 15"/>
          <p:cNvSpPr/>
          <p:nvPr/>
        </p:nvSpPr>
        <p:spPr>
          <a:xfrm>
            <a:off x="3282696" y="2651760"/>
            <a:ext cx="2615184" cy="256032"/>
          </a:xfrm>
          <a:prstGeom prst="rect">
            <a:avLst/>
          </a:prstGeom>
          <a:noFill/>
          <a:ln/>
        </p:spPr>
        <p:txBody>
          <a:bodyPr wrap="square" lIns="0" tIns="0" rIns="0" bIns="0" rtlCol="0" anchor="ctr"/>
          <a:lstStyle/>
          <a:p>
            <a:pPr marL="0" indent="0">
              <a:buNone/>
            </a:pPr>
            <a:r>
              <a:rPr lang="en-US" sz="1000" b="1" dirty="0">
                <a:solidFill>
                  <a:srgbClr val="38BDF8"/>
                </a:solidFill>
                <a:latin typeface="Calibri" pitchFamily="34" charset="0"/>
                <a:ea typeface="Calibri" pitchFamily="34" charset="-122"/>
                <a:cs typeface="Calibri" pitchFamily="34" charset="-120"/>
              </a:rPr>
              <a:t>Key Parameters:</a:t>
            </a:r>
            <a:endParaRPr lang="en-US" sz="1000" dirty="0"/>
          </a:p>
        </p:txBody>
      </p:sp>
      <p:sp>
        <p:nvSpPr>
          <p:cNvPr id="18" name="Text 16"/>
          <p:cNvSpPr/>
          <p:nvPr/>
        </p:nvSpPr>
        <p:spPr>
          <a:xfrm>
            <a:off x="3282696" y="2944368"/>
            <a:ext cx="2615184" cy="310896"/>
          </a:xfrm>
          <a:prstGeom prst="rect">
            <a:avLst/>
          </a:prstGeom>
          <a:noFill/>
          <a:ln/>
        </p:spPr>
        <p:txBody>
          <a:bodyPr wrap="square" rtlCol="0" anchor="ctr"/>
          <a:lstStyle/>
          <a:p>
            <a:pPr marL="342900" indent="-342900">
              <a:buSzPct val="100000"/>
              <a:buChar char="•"/>
            </a:pPr>
            <a:r>
              <a:rPr lang="en-US" sz="1000" dirty="0">
                <a:solidFill>
                  <a:srgbClr val="DCE8F5"/>
                </a:solidFill>
                <a:latin typeface="Calibri" pitchFamily="34" charset="0"/>
                <a:ea typeface="Calibri" pitchFamily="34" charset="-122"/>
                <a:cs typeface="Calibri" pitchFamily="34" charset="-120"/>
              </a:rPr>
              <a:t>Window: 7-day rolling median</a:t>
            </a:r>
            <a:endParaRPr lang="en-US" sz="1000" dirty="0"/>
          </a:p>
        </p:txBody>
      </p:sp>
      <p:sp>
        <p:nvSpPr>
          <p:cNvPr id="19" name="Text 17"/>
          <p:cNvSpPr/>
          <p:nvPr/>
        </p:nvSpPr>
        <p:spPr>
          <a:xfrm>
            <a:off x="3282696" y="3282696"/>
            <a:ext cx="2615184" cy="310896"/>
          </a:xfrm>
          <a:prstGeom prst="rect">
            <a:avLst/>
          </a:prstGeom>
          <a:noFill/>
          <a:ln/>
        </p:spPr>
        <p:txBody>
          <a:bodyPr wrap="square" rtlCol="0" anchor="ctr"/>
          <a:lstStyle/>
          <a:p>
            <a:pPr marL="342900" indent="-342900">
              <a:buSzPct val="100000"/>
              <a:buChar char="•"/>
            </a:pPr>
            <a:r>
              <a:rPr lang="en-US" sz="1000" dirty="0">
                <a:solidFill>
                  <a:srgbClr val="DCE8F5"/>
                </a:solidFill>
                <a:latin typeface="Calibri" pitchFamily="34" charset="0"/>
                <a:ea typeface="Calibri" pitchFamily="34" charset="-122"/>
                <a:cs typeface="Calibri" pitchFamily="34" charset="-120"/>
              </a:rPr>
              <a:t>Threshold: ±2 standard deviations</a:t>
            </a:r>
            <a:endParaRPr lang="en-US" sz="1000" dirty="0"/>
          </a:p>
        </p:txBody>
      </p:sp>
      <p:sp>
        <p:nvSpPr>
          <p:cNvPr id="20" name="Text 18"/>
          <p:cNvSpPr/>
          <p:nvPr/>
        </p:nvSpPr>
        <p:spPr>
          <a:xfrm>
            <a:off x="3282696" y="3621024"/>
            <a:ext cx="2615184" cy="310896"/>
          </a:xfrm>
          <a:prstGeom prst="rect">
            <a:avLst/>
          </a:prstGeom>
          <a:noFill/>
          <a:ln/>
        </p:spPr>
        <p:txBody>
          <a:bodyPr wrap="square" rtlCol="0" anchor="ctr"/>
          <a:lstStyle/>
          <a:p>
            <a:pPr marL="342900" indent="-342900">
              <a:buSzPct val="100000"/>
              <a:buChar char="•"/>
            </a:pPr>
            <a:r>
              <a:rPr lang="en-US" sz="1000" dirty="0">
                <a:solidFill>
                  <a:srgbClr val="DCE8F5"/>
                </a:solidFill>
                <a:latin typeface="Calibri" pitchFamily="34" charset="0"/>
                <a:ea typeface="Calibri" pitchFamily="34" charset="-122"/>
                <a:cs typeface="Calibri" pitchFamily="34" charset="-120"/>
              </a:rPr>
              <a:t>Detects sudden spikes / drops</a:t>
            </a:r>
            <a:endParaRPr lang="en-US" sz="1000" dirty="0"/>
          </a:p>
        </p:txBody>
      </p:sp>
      <p:sp>
        <p:nvSpPr>
          <p:cNvPr id="21" name="Text 19"/>
          <p:cNvSpPr/>
          <p:nvPr/>
        </p:nvSpPr>
        <p:spPr>
          <a:xfrm>
            <a:off x="5550408" y="868680"/>
            <a:ext cx="365760" cy="320040"/>
          </a:xfrm>
          <a:prstGeom prst="rect">
            <a:avLst/>
          </a:prstGeom>
          <a:noFill/>
          <a:ln/>
        </p:spPr>
        <p:txBody>
          <a:bodyPr wrap="square" rtlCol="0" anchor="ctr"/>
          <a:lstStyle/>
          <a:p>
            <a:pPr marL="0" indent="0" algn="ctr">
              <a:buNone/>
            </a:pPr>
            <a:r>
              <a:rPr lang="en-US" sz="1200" b="1" dirty="0">
                <a:solidFill>
                  <a:srgbClr val="0D1B2A"/>
                </a:solidFill>
                <a:latin typeface="Calibri" pitchFamily="34" charset="0"/>
                <a:ea typeface="Calibri" pitchFamily="34" charset="-122"/>
                <a:cs typeface="Calibri" pitchFamily="34" charset="-120"/>
              </a:rPr>
              <a:t>02</a:t>
            </a:r>
            <a:endParaRPr lang="en-US" sz="1200" dirty="0"/>
          </a:p>
        </p:txBody>
      </p:sp>
      <p:sp>
        <p:nvSpPr>
          <p:cNvPr id="22" name="Shape 20"/>
          <p:cNvSpPr/>
          <p:nvPr/>
        </p:nvSpPr>
        <p:spPr>
          <a:xfrm>
            <a:off x="6144768" y="822960"/>
            <a:ext cx="2834640" cy="4114800"/>
          </a:xfrm>
          <a:prstGeom prst="rect">
            <a:avLst/>
          </a:prstGeom>
          <a:solidFill>
            <a:srgbClr val="162A41"/>
          </a:solidFill>
          <a:ln w="12700">
            <a:solidFill>
              <a:srgbClr val="A78BFA"/>
            </a:solidFill>
            <a:prstDash val="solid"/>
          </a:ln>
          <a:effectLst>
            <a:outerShdw blurRad="101600" dist="38100" dir="8100000" algn="bl" rotWithShape="0">
              <a:srgbClr val="000000">
                <a:alpha val="22000"/>
              </a:srgbClr>
            </a:outerShdw>
          </a:effectLst>
        </p:spPr>
        <p:txBody>
          <a:bodyPr/>
          <a:lstStyle/>
          <a:p>
            <a:endParaRPr lang="en-IN"/>
          </a:p>
        </p:txBody>
      </p:sp>
      <p:sp>
        <p:nvSpPr>
          <p:cNvPr id="23" name="Shape 21"/>
          <p:cNvSpPr/>
          <p:nvPr/>
        </p:nvSpPr>
        <p:spPr>
          <a:xfrm>
            <a:off x="6144768" y="822960"/>
            <a:ext cx="2834640" cy="457200"/>
          </a:xfrm>
          <a:prstGeom prst="rect">
            <a:avLst/>
          </a:prstGeom>
          <a:solidFill>
            <a:srgbClr val="A78BFA"/>
          </a:solidFill>
          <a:ln w="12700">
            <a:solidFill>
              <a:srgbClr val="A78BFA"/>
            </a:solidFill>
            <a:prstDash val="solid"/>
          </a:ln>
        </p:spPr>
        <p:txBody>
          <a:bodyPr/>
          <a:lstStyle/>
          <a:p>
            <a:endParaRPr lang="en-IN"/>
          </a:p>
        </p:txBody>
      </p:sp>
      <p:sp>
        <p:nvSpPr>
          <p:cNvPr id="24" name="Text 22"/>
          <p:cNvSpPr/>
          <p:nvPr/>
        </p:nvSpPr>
        <p:spPr>
          <a:xfrm>
            <a:off x="6236208" y="822960"/>
            <a:ext cx="2651760" cy="457200"/>
          </a:xfrm>
          <a:prstGeom prst="rect">
            <a:avLst/>
          </a:prstGeom>
          <a:noFill/>
          <a:ln/>
        </p:spPr>
        <p:txBody>
          <a:bodyPr wrap="square"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  DBSCAN Outlier Detection</a:t>
            </a:r>
            <a:endParaRPr lang="en-US" sz="1200" dirty="0"/>
          </a:p>
        </p:txBody>
      </p:sp>
      <p:sp>
        <p:nvSpPr>
          <p:cNvPr id="25" name="Text 23"/>
          <p:cNvSpPr/>
          <p:nvPr/>
        </p:nvSpPr>
        <p:spPr>
          <a:xfrm>
            <a:off x="6254496" y="1371600"/>
            <a:ext cx="2615184" cy="118872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Machine learning clustering on aggregated user profiles. Users labelled -1 (do not fit any cluster) are structural outliers across all health dimensions.</a:t>
            </a:r>
            <a:endParaRPr lang="en-US" sz="1050" dirty="0"/>
          </a:p>
        </p:txBody>
      </p:sp>
      <p:sp>
        <p:nvSpPr>
          <p:cNvPr id="26" name="Text 24"/>
          <p:cNvSpPr/>
          <p:nvPr/>
        </p:nvSpPr>
        <p:spPr>
          <a:xfrm>
            <a:off x="6254496" y="2651760"/>
            <a:ext cx="2615184" cy="256032"/>
          </a:xfrm>
          <a:prstGeom prst="rect">
            <a:avLst/>
          </a:prstGeom>
          <a:noFill/>
          <a:ln/>
        </p:spPr>
        <p:txBody>
          <a:bodyPr wrap="square" lIns="0" tIns="0" rIns="0" bIns="0" rtlCol="0" anchor="ctr"/>
          <a:lstStyle/>
          <a:p>
            <a:pPr marL="0" indent="0">
              <a:buNone/>
            </a:pPr>
            <a:r>
              <a:rPr lang="en-US" sz="1000" b="1" dirty="0">
                <a:solidFill>
                  <a:srgbClr val="A78BFA"/>
                </a:solidFill>
                <a:latin typeface="Calibri" pitchFamily="34" charset="0"/>
                <a:ea typeface="Calibri" pitchFamily="34" charset="-122"/>
                <a:cs typeface="Calibri" pitchFamily="34" charset="-120"/>
              </a:rPr>
              <a:t>Key Parameters:</a:t>
            </a:r>
            <a:endParaRPr lang="en-US" sz="1000" dirty="0"/>
          </a:p>
        </p:txBody>
      </p:sp>
      <p:sp>
        <p:nvSpPr>
          <p:cNvPr id="27" name="Text 25"/>
          <p:cNvSpPr/>
          <p:nvPr/>
        </p:nvSpPr>
        <p:spPr>
          <a:xfrm>
            <a:off x="6254496" y="2944368"/>
            <a:ext cx="2615184" cy="310896"/>
          </a:xfrm>
          <a:prstGeom prst="rect">
            <a:avLst/>
          </a:prstGeom>
          <a:noFill/>
          <a:ln/>
        </p:spPr>
        <p:txBody>
          <a:bodyPr wrap="square" rtlCol="0" anchor="ctr"/>
          <a:lstStyle/>
          <a:p>
            <a:pPr marL="342900" indent="-342900">
              <a:buSzPct val="100000"/>
              <a:buChar char="•"/>
            </a:pPr>
            <a:r>
              <a:rPr lang="en-US" sz="1000" dirty="0">
                <a:solidFill>
                  <a:srgbClr val="DCE8F5"/>
                </a:solidFill>
                <a:latin typeface="Calibri" pitchFamily="34" charset="0"/>
                <a:ea typeface="Calibri" pitchFamily="34" charset="-122"/>
                <a:cs typeface="Calibri" pitchFamily="34" charset="-120"/>
              </a:rPr>
              <a:t>eps = 2.5, min_samples = 2</a:t>
            </a:r>
            <a:endParaRPr lang="en-US" sz="1000" dirty="0"/>
          </a:p>
        </p:txBody>
      </p:sp>
      <p:sp>
        <p:nvSpPr>
          <p:cNvPr id="28" name="Text 26"/>
          <p:cNvSpPr/>
          <p:nvPr/>
        </p:nvSpPr>
        <p:spPr>
          <a:xfrm>
            <a:off x="6254496" y="3282696"/>
            <a:ext cx="2615184" cy="310896"/>
          </a:xfrm>
          <a:prstGeom prst="rect">
            <a:avLst/>
          </a:prstGeom>
          <a:noFill/>
          <a:ln/>
        </p:spPr>
        <p:txBody>
          <a:bodyPr wrap="square" rtlCol="0" anchor="ctr"/>
          <a:lstStyle/>
          <a:p>
            <a:pPr marL="342900" indent="-342900">
              <a:buSzPct val="100000"/>
              <a:buChar char="•"/>
            </a:pPr>
            <a:r>
              <a:rPr lang="en-US" sz="1000" dirty="0">
                <a:solidFill>
                  <a:srgbClr val="DCE8F5"/>
                </a:solidFill>
                <a:latin typeface="Calibri" pitchFamily="34" charset="0"/>
                <a:ea typeface="Calibri" pitchFamily="34" charset="-122"/>
                <a:cs typeface="Calibri" pitchFamily="34" charset="-120"/>
              </a:rPr>
              <a:t>Per-user average profile</a:t>
            </a:r>
            <a:endParaRPr lang="en-US" sz="1000" dirty="0"/>
          </a:p>
        </p:txBody>
      </p:sp>
      <p:sp>
        <p:nvSpPr>
          <p:cNvPr id="29" name="Text 27"/>
          <p:cNvSpPr/>
          <p:nvPr/>
        </p:nvSpPr>
        <p:spPr>
          <a:xfrm>
            <a:off x="6254496" y="3621024"/>
            <a:ext cx="2615184" cy="310896"/>
          </a:xfrm>
          <a:prstGeom prst="rect">
            <a:avLst/>
          </a:prstGeom>
          <a:noFill/>
          <a:ln/>
        </p:spPr>
        <p:txBody>
          <a:bodyPr wrap="square" rtlCol="0" anchor="ctr"/>
          <a:lstStyle/>
          <a:p>
            <a:pPr marL="342900" indent="-342900">
              <a:buSzPct val="100000"/>
              <a:buChar char="•"/>
            </a:pPr>
            <a:r>
              <a:rPr lang="en-US" sz="1000" dirty="0">
                <a:solidFill>
                  <a:srgbClr val="DCE8F5"/>
                </a:solidFill>
                <a:latin typeface="Calibri" pitchFamily="34" charset="0"/>
                <a:ea typeface="Calibri" pitchFamily="34" charset="-122"/>
                <a:cs typeface="Calibri" pitchFamily="34" charset="-120"/>
              </a:rPr>
              <a:t>Label -1 = structural outlier</a:t>
            </a:r>
            <a:endParaRPr lang="en-US" sz="1000" dirty="0"/>
          </a:p>
        </p:txBody>
      </p:sp>
      <p:sp>
        <p:nvSpPr>
          <p:cNvPr id="30" name="Text 28"/>
          <p:cNvSpPr/>
          <p:nvPr/>
        </p:nvSpPr>
        <p:spPr>
          <a:xfrm>
            <a:off x="8522208" y="868680"/>
            <a:ext cx="365760" cy="320040"/>
          </a:xfrm>
          <a:prstGeom prst="rect">
            <a:avLst/>
          </a:prstGeom>
          <a:noFill/>
          <a:ln/>
        </p:spPr>
        <p:txBody>
          <a:bodyPr wrap="square" rtlCol="0" anchor="ctr"/>
          <a:lstStyle/>
          <a:p>
            <a:pPr marL="0" indent="0" algn="ctr">
              <a:buNone/>
            </a:pPr>
            <a:r>
              <a:rPr lang="en-US" sz="1200" b="1" dirty="0">
                <a:solidFill>
                  <a:srgbClr val="0D1B2A"/>
                </a:solidFill>
                <a:latin typeface="Calibri" pitchFamily="34" charset="0"/>
                <a:ea typeface="Calibri" pitchFamily="34" charset="-122"/>
                <a:cs typeface="Calibri" pitchFamily="34" charset="-120"/>
              </a:rPr>
              <a:t>03</a:t>
            </a:r>
            <a:endParaRPr lang="en-US" sz="1200" dirty="0"/>
          </a:p>
        </p:txBody>
      </p:sp>
      <p:sp>
        <p:nvSpPr>
          <p:cNvPr id="31" name="Shape 29"/>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9E0B"/>
          </a:solidFill>
          <a:ln w="12700">
            <a:solidFill>
              <a:srgbClr val="F59E0B"/>
            </a:solidFill>
            <a:prstDash val="solid"/>
          </a:ln>
        </p:spPr>
        <p:txBody>
          <a:bodyPr/>
          <a:lstStyle/>
          <a:p>
            <a:endParaRPr lang="en-IN"/>
          </a:p>
        </p:txBody>
      </p:sp>
      <p:sp>
        <p:nvSpPr>
          <p:cNvPr id="3" name="Text 1"/>
          <p:cNvSpPr/>
          <p:nvPr/>
        </p:nvSpPr>
        <p:spPr>
          <a:xfrm>
            <a:off x="365760" y="164592"/>
            <a:ext cx="8412480" cy="502920"/>
          </a:xfrm>
          <a:prstGeom prst="rect">
            <a:avLst/>
          </a:prstGeom>
          <a:noFill/>
          <a:ln/>
        </p:spPr>
        <p:txBody>
          <a:bodyPr wrap="square" lIns="0" tIns="0" rIns="0" bIns="0" rtlCol="0" anchor="ctr"/>
          <a:lstStyle/>
          <a:p>
            <a:pPr marL="0" indent="0">
              <a:buNone/>
            </a:pPr>
            <a:r>
              <a:rPr lang="en-US" sz="2600" b="1" dirty="0">
                <a:solidFill>
                  <a:srgbClr val="F59E0B"/>
                </a:solidFill>
                <a:latin typeface="Calibri" pitchFamily="34" charset="0"/>
                <a:ea typeface="Calibri" pitchFamily="34" charset="-122"/>
                <a:cs typeface="Calibri" pitchFamily="34" charset="-120"/>
              </a:rPr>
              <a:t>Method 1 — Threshold Violations</a:t>
            </a:r>
            <a:endParaRPr lang="en-US" sz="2600" dirty="0"/>
          </a:p>
        </p:txBody>
      </p:sp>
      <p:sp>
        <p:nvSpPr>
          <p:cNvPr id="4" name="Text 2"/>
          <p:cNvSpPr/>
          <p:nvPr/>
        </p:nvSpPr>
        <p:spPr>
          <a:xfrm>
            <a:off x="365760" y="804672"/>
            <a:ext cx="8229600" cy="292608"/>
          </a:xfrm>
          <a:prstGeom prst="rect">
            <a:avLst/>
          </a:prstGeom>
          <a:noFill/>
          <a:ln/>
        </p:spPr>
        <p:txBody>
          <a:bodyPr wrap="square" lIns="0" tIns="0" rIns="0" bIns="0" rtlCol="0" anchor="ctr"/>
          <a:lstStyle/>
          <a:p>
            <a:pPr marL="0" indent="0">
              <a:buNone/>
            </a:pPr>
            <a:r>
              <a:rPr lang="en-US" sz="1300" b="1" dirty="0">
                <a:solidFill>
                  <a:srgbClr val="DCE8F5"/>
                </a:solidFill>
                <a:latin typeface="Calibri" pitchFamily="34" charset="0"/>
                <a:ea typeface="Calibri" pitchFamily="34" charset="-122"/>
                <a:cs typeface="Calibri" pitchFamily="34" charset="-120"/>
              </a:rPr>
              <a:t>How it works:</a:t>
            </a:r>
            <a:endParaRPr lang="en-US" sz="1300" dirty="0"/>
          </a:p>
        </p:txBody>
      </p:sp>
      <p:sp>
        <p:nvSpPr>
          <p:cNvPr id="5" name="Text 3"/>
          <p:cNvSpPr/>
          <p:nvPr/>
        </p:nvSpPr>
        <p:spPr>
          <a:xfrm>
            <a:off x="365760" y="1097280"/>
            <a:ext cx="8229600" cy="685800"/>
          </a:xfrm>
          <a:prstGeom prst="rect">
            <a:avLst/>
          </a:prstGeom>
          <a:noFill/>
          <a:ln/>
        </p:spPr>
        <p:txBody>
          <a:bodyPr wrap="square" lIns="0" tIns="0" rIns="0" bIns="0" rtlCol="0" anchor="ctr"/>
          <a:lstStyle/>
          <a:p>
            <a:pPr marL="0" indent="0">
              <a:buNone/>
            </a:pPr>
            <a:r>
              <a:rPr lang="en-US" sz="1150" dirty="0">
                <a:solidFill>
                  <a:srgbClr val="7A9ABB"/>
                </a:solidFill>
                <a:latin typeface="Calibri" pitchFamily="34" charset="0"/>
                <a:ea typeface="Calibri" pitchFamily="34" charset="-122"/>
                <a:cs typeface="Calibri" pitchFamily="34" charset="-120"/>
              </a:rPr>
              <a:t>Hard-coded clinical upper and lower bounds are applied to each health metric. Any daily average that exceeds these limits is immediately flagged as a threshold violation. This method is the most interpretable — a doctor or analyst can instantly understand why a day was flagged.</a:t>
            </a:r>
            <a:endParaRPr lang="en-US" sz="1150" dirty="0"/>
          </a:p>
        </p:txBody>
      </p:sp>
      <p:sp>
        <p:nvSpPr>
          <p:cNvPr id="6" name="Shape 4"/>
          <p:cNvSpPr/>
          <p:nvPr/>
        </p:nvSpPr>
        <p:spPr>
          <a:xfrm>
            <a:off x="201168" y="1920240"/>
            <a:ext cx="2834640" cy="2834640"/>
          </a:xfrm>
          <a:prstGeom prst="rect">
            <a:avLst/>
          </a:prstGeom>
          <a:solidFill>
            <a:srgbClr val="162A41"/>
          </a:solidFill>
          <a:ln w="12700">
            <a:solidFill>
              <a:srgbClr val="38BDF8"/>
            </a:solidFill>
            <a:prstDash val="solid"/>
          </a:ln>
          <a:effectLst>
            <a:outerShdw blurRad="101600" dist="38100" dir="8100000" algn="bl" rotWithShape="0">
              <a:srgbClr val="000000">
                <a:alpha val="22000"/>
              </a:srgbClr>
            </a:outerShdw>
          </a:effectLst>
        </p:spPr>
        <p:txBody>
          <a:bodyPr/>
          <a:lstStyle/>
          <a:p>
            <a:endParaRPr lang="en-IN"/>
          </a:p>
        </p:txBody>
      </p:sp>
      <p:sp>
        <p:nvSpPr>
          <p:cNvPr id="7" name="Shape 5"/>
          <p:cNvSpPr/>
          <p:nvPr/>
        </p:nvSpPr>
        <p:spPr>
          <a:xfrm>
            <a:off x="201168" y="1920240"/>
            <a:ext cx="2834640" cy="384048"/>
          </a:xfrm>
          <a:prstGeom prst="rect">
            <a:avLst/>
          </a:prstGeom>
          <a:solidFill>
            <a:srgbClr val="38BDF8"/>
          </a:solidFill>
          <a:ln w="12700">
            <a:solidFill>
              <a:srgbClr val="38BDF8"/>
            </a:solidFill>
            <a:prstDash val="solid"/>
          </a:ln>
        </p:spPr>
        <p:txBody>
          <a:bodyPr/>
          <a:lstStyle/>
          <a:p>
            <a:endParaRPr lang="en-IN"/>
          </a:p>
        </p:txBody>
      </p:sp>
      <p:sp>
        <p:nvSpPr>
          <p:cNvPr id="8" name="Text 6"/>
          <p:cNvSpPr/>
          <p:nvPr/>
        </p:nvSpPr>
        <p:spPr>
          <a:xfrm>
            <a:off x="292608" y="1920240"/>
            <a:ext cx="2651760" cy="384048"/>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 Heart Rate</a:t>
            </a:r>
            <a:endParaRPr lang="en-US" sz="1300" dirty="0"/>
          </a:p>
        </p:txBody>
      </p:sp>
      <p:sp>
        <p:nvSpPr>
          <p:cNvPr id="9" name="Text 7"/>
          <p:cNvSpPr/>
          <p:nvPr/>
        </p:nvSpPr>
        <p:spPr>
          <a:xfrm>
            <a:off x="310896" y="2423160"/>
            <a:ext cx="2615184" cy="228600"/>
          </a:xfrm>
          <a:prstGeom prst="rect">
            <a:avLst/>
          </a:prstGeom>
          <a:noFill/>
          <a:ln/>
        </p:spPr>
        <p:txBody>
          <a:bodyPr wrap="square" lIns="0" tIns="0" rIns="0" bIns="0" rtlCol="0" anchor="ctr"/>
          <a:lstStyle/>
          <a:p>
            <a:pPr marL="0" indent="0">
              <a:buNone/>
            </a:pPr>
            <a:r>
              <a:rPr lang="en-US" sz="1000" b="1" dirty="0">
                <a:solidFill>
                  <a:srgbClr val="38BDF8"/>
                </a:solidFill>
                <a:latin typeface="Calibri" pitchFamily="34" charset="0"/>
                <a:ea typeface="Calibri" pitchFamily="34" charset="-122"/>
                <a:cs typeface="Calibri" pitchFamily="34" charset="-120"/>
              </a:rPr>
              <a:t>Min (Lower Bound)</a:t>
            </a:r>
            <a:endParaRPr lang="en-US" sz="1000" dirty="0"/>
          </a:p>
        </p:txBody>
      </p:sp>
      <p:sp>
        <p:nvSpPr>
          <p:cNvPr id="10" name="Text 8"/>
          <p:cNvSpPr/>
          <p:nvPr/>
        </p:nvSpPr>
        <p:spPr>
          <a:xfrm>
            <a:off x="310896" y="2651760"/>
            <a:ext cx="2615184" cy="256032"/>
          </a:xfrm>
          <a:prstGeom prst="rect">
            <a:avLst/>
          </a:prstGeom>
          <a:noFill/>
          <a:ln/>
        </p:spPr>
        <p:txBody>
          <a:bodyPr wrap="square" lIns="0" tIns="0" rIns="0" bIns="0" rtlCol="0" anchor="ctr"/>
          <a:lstStyle/>
          <a:p>
            <a:pPr marL="0" indent="0">
              <a:buNone/>
            </a:pPr>
            <a:r>
              <a:rPr lang="en-US" sz="1300" b="1" dirty="0">
                <a:solidFill>
                  <a:srgbClr val="DCE8F5"/>
                </a:solidFill>
                <a:latin typeface="Calibri" pitchFamily="34" charset="0"/>
                <a:ea typeface="Calibri" pitchFamily="34" charset="-122"/>
                <a:cs typeface="Calibri" pitchFamily="34" charset="-120"/>
              </a:rPr>
              <a:t>40 bpm</a:t>
            </a:r>
            <a:endParaRPr lang="en-US" sz="1300" dirty="0"/>
          </a:p>
        </p:txBody>
      </p:sp>
      <p:sp>
        <p:nvSpPr>
          <p:cNvPr id="11" name="Text 9"/>
          <p:cNvSpPr/>
          <p:nvPr/>
        </p:nvSpPr>
        <p:spPr>
          <a:xfrm>
            <a:off x="310896" y="3017520"/>
            <a:ext cx="2615184" cy="228600"/>
          </a:xfrm>
          <a:prstGeom prst="rect">
            <a:avLst/>
          </a:prstGeom>
          <a:noFill/>
          <a:ln/>
        </p:spPr>
        <p:txBody>
          <a:bodyPr wrap="square" lIns="0" tIns="0" rIns="0" bIns="0" rtlCol="0" anchor="ctr"/>
          <a:lstStyle/>
          <a:p>
            <a:pPr marL="0" indent="0">
              <a:buNone/>
            </a:pPr>
            <a:r>
              <a:rPr lang="en-US" sz="1000" b="1" dirty="0">
                <a:solidFill>
                  <a:srgbClr val="38BDF8"/>
                </a:solidFill>
                <a:latin typeface="Calibri" pitchFamily="34" charset="0"/>
                <a:ea typeface="Calibri" pitchFamily="34" charset="-122"/>
                <a:cs typeface="Calibri" pitchFamily="34" charset="-120"/>
              </a:rPr>
              <a:t>Max (Upper Bound)</a:t>
            </a:r>
            <a:endParaRPr lang="en-US" sz="1000" dirty="0"/>
          </a:p>
        </p:txBody>
      </p:sp>
      <p:sp>
        <p:nvSpPr>
          <p:cNvPr id="12" name="Text 10"/>
          <p:cNvSpPr/>
          <p:nvPr/>
        </p:nvSpPr>
        <p:spPr>
          <a:xfrm>
            <a:off x="310896" y="3246120"/>
            <a:ext cx="2615184" cy="256032"/>
          </a:xfrm>
          <a:prstGeom prst="rect">
            <a:avLst/>
          </a:prstGeom>
          <a:noFill/>
          <a:ln/>
        </p:spPr>
        <p:txBody>
          <a:bodyPr wrap="square" lIns="0" tIns="0" rIns="0" bIns="0" rtlCol="0" anchor="ctr"/>
          <a:lstStyle/>
          <a:p>
            <a:pPr marL="0" indent="0">
              <a:buNone/>
            </a:pPr>
            <a:r>
              <a:rPr lang="en-US" sz="1300" b="1" dirty="0">
                <a:solidFill>
                  <a:srgbClr val="DCE8F5"/>
                </a:solidFill>
                <a:latin typeface="Calibri" pitchFamily="34" charset="0"/>
                <a:ea typeface="Calibri" pitchFamily="34" charset="-122"/>
                <a:cs typeface="Calibri" pitchFamily="34" charset="-120"/>
              </a:rPr>
              <a:t>120 bpm</a:t>
            </a:r>
            <a:endParaRPr lang="en-US" sz="1300" dirty="0"/>
          </a:p>
        </p:txBody>
      </p:sp>
      <p:sp>
        <p:nvSpPr>
          <p:cNvPr id="13" name="Text 11"/>
          <p:cNvSpPr/>
          <p:nvPr/>
        </p:nvSpPr>
        <p:spPr>
          <a:xfrm>
            <a:off x="310896" y="3611880"/>
            <a:ext cx="2615184" cy="685800"/>
          </a:xfrm>
          <a:prstGeom prst="rect">
            <a:avLst/>
          </a:prstGeom>
          <a:noFill/>
          <a:ln/>
        </p:spPr>
        <p:txBody>
          <a:bodyPr wrap="square" lIns="0" tIns="0" rIns="0" bIns="0" rtlCol="0" anchor="ctr"/>
          <a:lstStyle/>
          <a:p>
            <a:pPr marL="0" indent="0">
              <a:buNone/>
            </a:pPr>
            <a:r>
              <a:rPr lang="en-US" sz="950" dirty="0">
                <a:solidFill>
                  <a:srgbClr val="7A9ABB"/>
                </a:solidFill>
                <a:latin typeface="Calibri" pitchFamily="34" charset="0"/>
                <a:ea typeface="Calibri" pitchFamily="34" charset="-122"/>
                <a:cs typeface="Calibri" pitchFamily="34" charset="-120"/>
              </a:rPr>
              <a:t>Below 40 = bradycardia risk. Above 120 = tachycardia concern.</a:t>
            </a:r>
            <a:endParaRPr lang="en-US" sz="950" dirty="0"/>
          </a:p>
        </p:txBody>
      </p:sp>
      <p:sp>
        <p:nvSpPr>
          <p:cNvPr id="14" name="Shape 12"/>
          <p:cNvSpPr/>
          <p:nvPr/>
        </p:nvSpPr>
        <p:spPr>
          <a:xfrm>
            <a:off x="3172968" y="1920240"/>
            <a:ext cx="2834640" cy="2834640"/>
          </a:xfrm>
          <a:prstGeom prst="rect">
            <a:avLst/>
          </a:prstGeom>
          <a:solidFill>
            <a:srgbClr val="162A41"/>
          </a:solidFill>
          <a:ln w="12700">
            <a:solidFill>
              <a:srgbClr val="10B981"/>
            </a:solidFill>
            <a:prstDash val="solid"/>
          </a:ln>
          <a:effectLst>
            <a:outerShdw blurRad="101600" dist="38100" dir="8100000" algn="bl" rotWithShape="0">
              <a:srgbClr val="000000">
                <a:alpha val="22000"/>
              </a:srgbClr>
            </a:outerShdw>
          </a:effectLst>
        </p:spPr>
        <p:txBody>
          <a:bodyPr/>
          <a:lstStyle/>
          <a:p>
            <a:endParaRPr lang="en-IN"/>
          </a:p>
        </p:txBody>
      </p:sp>
      <p:sp>
        <p:nvSpPr>
          <p:cNvPr id="15" name="Shape 13"/>
          <p:cNvSpPr/>
          <p:nvPr/>
        </p:nvSpPr>
        <p:spPr>
          <a:xfrm>
            <a:off x="3172968" y="1920240"/>
            <a:ext cx="2834640" cy="384048"/>
          </a:xfrm>
          <a:prstGeom prst="rect">
            <a:avLst/>
          </a:prstGeom>
          <a:solidFill>
            <a:srgbClr val="10B981"/>
          </a:solidFill>
          <a:ln w="12700">
            <a:solidFill>
              <a:srgbClr val="10B981"/>
            </a:solidFill>
            <a:prstDash val="solid"/>
          </a:ln>
        </p:spPr>
        <p:txBody>
          <a:bodyPr/>
          <a:lstStyle/>
          <a:p>
            <a:endParaRPr lang="en-IN"/>
          </a:p>
        </p:txBody>
      </p:sp>
      <p:sp>
        <p:nvSpPr>
          <p:cNvPr id="16" name="Text 14"/>
          <p:cNvSpPr/>
          <p:nvPr/>
        </p:nvSpPr>
        <p:spPr>
          <a:xfrm>
            <a:off x="3264408" y="1920240"/>
            <a:ext cx="2651760" cy="384048"/>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 Daily Steps</a:t>
            </a:r>
            <a:endParaRPr lang="en-US" sz="1300" dirty="0"/>
          </a:p>
        </p:txBody>
      </p:sp>
      <p:sp>
        <p:nvSpPr>
          <p:cNvPr id="17" name="Text 15"/>
          <p:cNvSpPr/>
          <p:nvPr/>
        </p:nvSpPr>
        <p:spPr>
          <a:xfrm>
            <a:off x="3282696" y="2423160"/>
            <a:ext cx="2615184" cy="228600"/>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Min (Lower Bound)</a:t>
            </a:r>
            <a:endParaRPr lang="en-US" sz="1000" dirty="0"/>
          </a:p>
        </p:txBody>
      </p:sp>
      <p:sp>
        <p:nvSpPr>
          <p:cNvPr id="18" name="Text 16"/>
          <p:cNvSpPr/>
          <p:nvPr/>
        </p:nvSpPr>
        <p:spPr>
          <a:xfrm>
            <a:off x="3282696" y="2651760"/>
            <a:ext cx="2615184" cy="256032"/>
          </a:xfrm>
          <a:prstGeom prst="rect">
            <a:avLst/>
          </a:prstGeom>
          <a:noFill/>
          <a:ln/>
        </p:spPr>
        <p:txBody>
          <a:bodyPr wrap="square" lIns="0" tIns="0" rIns="0" bIns="0" rtlCol="0" anchor="ctr"/>
          <a:lstStyle/>
          <a:p>
            <a:pPr marL="0" indent="0">
              <a:buNone/>
            </a:pPr>
            <a:r>
              <a:rPr lang="en-US" sz="1300" b="1" dirty="0">
                <a:solidFill>
                  <a:srgbClr val="DCE8F5"/>
                </a:solidFill>
                <a:latin typeface="Calibri" pitchFamily="34" charset="0"/>
                <a:ea typeface="Calibri" pitchFamily="34" charset="-122"/>
                <a:cs typeface="Calibri" pitchFamily="34" charset="-120"/>
              </a:rPr>
              <a:t>1,000 steps</a:t>
            </a:r>
            <a:endParaRPr lang="en-US" sz="1300" dirty="0"/>
          </a:p>
        </p:txBody>
      </p:sp>
      <p:sp>
        <p:nvSpPr>
          <p:cNvPr id="19" name="Text 17"/>
          <p:cNvSpPr/>
          <p:nvPr/>
        </p:nvSpPr>
        <p:spPr>
          <a:xfrm>
            <a:off x="3282696" y="3017520"/>
            <a:ext cx="2615184" cy="228600"/>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Max (Upper Bound)</a:t>
            </a:r>
            <a:endParaRPr lang="en-US" sz="1000" dirty="0"/>
          </a:p>
        </p:txBody>
      </p:sp>
      <p:sp>
        <p:nvSpPr>
          <p:cNvPr id="20" name="Text 18"/>
          <p:cNvSpPr/>
          <p:nvPr/>
        </p:nvSpPr>
        <p:spPr>
          <a:xfrm>
            <a:off x="3282696" y="3246120"/>
            <a:ext cx="2615184" cy="256032"/>
          </a:xfrm>
          <a:prstGeom prst="rect">
            <a:avLst/>
          </a:prstGeom>
          <a:noFill/>
          <a:ln/>
        </p:spPr>
        <p:txBody>
          <a:bodyPr wrap="square" lIns="0" tIns="0" rIns="0" bIns="0" rtlCol="0" anchor="ctr"/>
          <a:lstStyle/>
          <a:p>
            <a:pPr marL="0" indent="0">
              <a:buNone/>
            </a:pPr>
            <a:r>
              <a:rPr lang="en-US" sz="1300" b="1" dirty="0">
                <a:solidFill>
                  <a:srgbClr val="DCE8F5"/>
                </a:solidFill>
                <a:latin typeface="Calibri" pitchFamily="34" charset="0"/>
                <a:ea typeface="Calibri" pitchFamily="34" charset="-122"/>
                <a:cs typeface="Calibri" pitchFamily="34" charset="-120"/>
              </a:rPr>
              <a:t>25,000 steps</a:t>
            </a:r>
            <a:endParaRPr lang="en-US" sz="1300" dirty="0"/>
          </a:p>
        </p:txBody>
      </p:sp>
      <p:sp>
        <p:nvSpPr>
          <p:cNvPr id="21" name="Text 19"/>
          <p:cNvSpPr/>
          <p:nvPr/>
        </p:nvSpPr>
        <p:spPr>
          <a:xfrm>
            <a:off x="3282696" y="3611880"/>
            <a:ext cx="2615184" cy="685800"/>
          </a:xfrm>
          <a:prstGeom prst="rect">
            <a:avLst/>
          </a:prstGeom>
          <a:noFill/>
          <a:ln/>
        </p:spPr>
        <p:txBody>
          <a:bodyPr wrap="square" lIns="0" tIns="0" rIns="0" bIns="0" rtlCol="0" anchor="ctr"/>
          <a:lstStyle/>
          <a:p>
            <a:pPr marL="0" indent="0">
              <a:buNone/>
            </a:pPr>
            <a:r>
              <a:rPr lang="en-US" sz="950" dirty="0">
                <a:solidFill>
                  <a:srgbClr val="7A9ABB"/>
                </a:solidFill>
                <a:latin typeface="Calibri" pitchFamily="34" charset="0"/>
                <a:ea typeface="Calibri" pitchFamily="34" charset="-122"/>
                <a:cs typeface="Calibri" pitchFamily="34" charset="-120"/>
              </a:rPr>
              <a:t>Below 1,000 = inactivity/sensor error. Above 25,000 = unrealistic.</a:t>
            </a:r>
            <a:endParaRPr lang="en-US" sz="950" dirty="0"/>
          </a:p>
        </p:txBody>
      </p:sp>
      <p:sp>
        <p:nvSpPr>
          <p:cNvPr id="22" name="Shape 20"/>
          <p:cNvSpPr/>
          <p:nvPr/>
        </p:nvSpPr>
        <p:spPr>
          <a:xfrm>
            <a:off x="6144768" y="1920240"/>
            <a:ext cx="2834640" cy="2834640"/>
          </a:xfrm>
          <a:prstGeom prst="rect">
            <a:avLst/>
          </a:prstGeom>
          <a:solidFill>
            <a:srgbClr val="162A41"/>
          </a:solidFill>
          <a:ln w="12700">
            <a:solidFill>
              <a:srgbClr val="A78BFA"/>
            </a:solidFill>
            <a:prstDash val="solid"/>
          </a:ln>
          <a:effectLst>
            <a:outerShdw blurRad="101600" dist="38100" dir="8100000" algn="bl" rotWithShape="0">
              <a:srgbClr val="000000">
                <a:alpha val="22000"/>
              </a:srgbClr>
            </a:outerShdw>
          </a:effectLst>
        </p:spPr>
        <p:txBody>
          <a:bodyPr/>
          <a:lstStyle/>
          <a:p>
            <a:endParaRPr lang="en-IN"/>
          </a:p>
        </p:txBody>
      </p:sp>
      <p:sp>
        <p:nvSpPr>
          <p:cNvPr id="23" name="Shape 21"/>
          <p:cNvSpPr/>
          <p:nvPr/>
        </p:nvSpPr>
        <p:spPr>
          <a:xfrm>
            <a:off x="6144768" y="1920240"/>
            <a:ext cx="2834640" cy="384048"/>
          </a:xfrm>
          <a:prstGeom prst="rect">
            <a:avLst/>
          </a:prstGeom>
          <a:solidFill>
            <a:srgbClr val="A78BFA"/>
          </a:solidFill>
          <a:ln w="12700">
            <a:solidFill>
              <a:srgbClr val="A78BFA"/>
            </a:solidFill>
            <a:prstDash val="solid"/>
          </a:ln>
        </p:spPr>
        <p:txBody>
          <a:bodyPr/>
          <a:lstStyle/>
          <a:p>
            <a:endParaRPr lang="en-IN"/>
          </a:p>
        </p:txBody>
      </p:sp>
      <p:sp>
        <p:nvSpPr>
          <p:cNvPr id="24" name="Text 22"/>
          <p:cNvSpPr/>
          <p:nvPr/>
        </p:nvSpPr>
        <p:spPr>
          <a:xfrm>
            <a:off x="6236208" y="1920240"/>
            <a:ext cx="2651760" cy="384048"/>
          </a:xfrm>
          <a:prstGeom prst="rect">
            <a:avLst/>
          </a:prstGeom>
          <a:noFill/>
          <a:ln/>
        </p:spPr>
        <p:txBody>
          <a:bodyPr wrap="square"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 Sleep Duration</a:t>
            </a:r>
            <a:endParaRPr lang="en-US" sz="1300" dirty="0"/>
          </a:p>
        </p:txBody>
      </p:sp>
      <p:sp>
        <p:nvSpPr>
          <p:cNvPr id="25" name="Text 23"/>
          <p:cNvSpPr/>
          <p:nvPr/>
        </p:nvSpPr>
        <p:spPr>
          <a:xfrm>
            <a:off x="6254496" y="2423160"/>
            <a:ext cx="2615184" cy="228600"/>
          </a:xfrm>
          <a:prstGeom prst="rect">
            <a:avLst/>
          </a:prstGeom>
          <a:noFill/>
          <a:ln/>
        </p:spPr>
        <p:txBody>
          <a:bodyPr wrap="square" lIns="0" tIns="0" rIns="0" bIns="0" rtlCol="0" anchor="ctr"/>
          <a:lstStyle/>
          <a:p>
            <a:pPr marL="0" indent="0">
              <a:buNone/>
            </a:pPr>
            <a:r>
              <a:rPr lang="en-US" sz="1000" b="1" dirty="0">
                <a:solidFill>
                  <a:srgbClr val="A78BFA"/>
                </a:solidFill>
                <a:latin typeface="Calibri" pitchFamily="34" charset="0"/>
                <a:ea typeface="Calibri" pitchFamily="34" charset="-122"/>
                <a:cs typeface="Calibri" pitchFamily="34" charset="-120"/>
              </a:rPr>
              <a:t>Min (Lower Bound)</a:t>
            </a:r>
            <a:endParaRPr lang="en-US" sz="1000" dirty="0"/>
          </a:p>
        </p:txBody>
      </p:sp>
      <p:sp>
        <p:nvSpPr>
          <p:cNvPr id="26" name="Text 24"/>
          <p:cNvSpPr/>
          <p:nvPr/>
        </p:nvSpPr>
        <p:spPr>
          <a:xfrm>
            <a:off x="6254496" y="2651760"/>
            <a:ext cx="2615184" cy="256032"/>
          </a:xfrm>
          <a:prstGeom prst="rect">
            <a:avLst/>
          </a:prstGeom>
          <a:noFill/>
          <a:ln/>
        </p:spPr>
        <p:txBody>
          <a:bodyPr wrap="square" lIns="0" tIns="0" rIns="0" bIns="0" rtlCol="0" anchor="ctr"/>
          <a:lstStyle/>
          <a:p>
            <a:pPr marL="0" indent="0">
              <a:buNone/>
            </a:pPr>
            <a:r>
              <a:rPr lang="en-US" sz="1300" b="1" dirty="0">
                <a:solidFill>
                  <a:srgbClr val="DCE8F5"/>
                </a:solidFill>
                <a:latin typeface="Calibri" pitchFamily="34" charset="0"/>
                <a:ea typeface="Calibri" pitchFamily="34" charset="-122"/>
                <a:cs typeface="Calibri" pitchFamily="34" charset="-120"/>
              </a:rPr>
              <a:t>180 min (3h)</a:t>
            </a:r>
            <a:endParaRPr lang="en-US" sz="1300" dirty="0"/>
          </a:p>
        </p:txBody>
      </p:sp>
      <p:sp>
        <p:nvSpPr>
          <p:cNvPr id="27" name="Text 25"/>
          <p:cNvSpPr/>
          <p:nvPr/>
        </p:nvSpPr>
        <p:spPr>
          <a:xfrm>
            <a:off x="6254496" y="3017520"/>
            <a:ext cx="2615184" cy="228600"/>
          </a:xfrm>
          <a:prstGeom prst="rect">
            <a:avLst/>
          </a:prstGeom>
          <a:noFill/>
          <a:ln/>
        </p:spPr>
        <p:txBody>
          <a:bodyPr wrap="square" lIns="0" tIns="0" rIns="0" bIns="0" rtlCol="0" anchor="ctr"/>
          <a:lstStyle/>
          <a:p>
            <a:pPr marL="0" indent="0">
              <a:buNone/>
            </a:pPr>
            <a:r>
              <a:rPr lang="en-US" sz="1000" b="1" dirty="0">
                <a:solidFill>
                  <a:srgbClr val="A78BFA"/>
                </a:solidFill>
                <a:latin typeface="Calibri" pitchFamily="34" charset="0"/>
                <a:ea typeface="Calibri" pitchFamily="34" charset="-122"/>
                <a:cs typeface="Calibri" pitchFamily="34" charset="-120"/>
              </a:rPr>
              <a:t>Max (Upper Bound)</a:t>
            </a:r>
            <a:endParaRPr lang="en-US" sz="1000" dirty="0"/>
          </a:p>
        </p:txBody>
      </p:sp>
      <p:sp>
        <p:nvSpPr>
          <p:cNvPr id="28" name="Text 26"/>
          <p:cNvSpPr/>
          <p:nvPr/>
        </p:nvSpPr>
        <p:spPr>
          <a:xfrm>
            <a:off x="6254496" y="3246120"/>
            <a:ext cx="2615184" cy="256032"/>
          </a:xfrm>
          <a:prstGeom prst="rect">
            <a:avLst/>
          </a:prstGeom>
          <a:noFill/>
          <a:ln/>
        </p:spPr>
        <p:txBody>
          <a:bodyPr wrap="square" lIns="0" tIns="0" rIns="0" bIns="0" rtlCol="0" anchor="ctr"/>
          <a:lstStyle/>
          <a:p>
            <a:pPr marL="0" indent="0">
              <a:buNone/>
            </a:pPr>
            <a:r>
              <a:rPr lang="en-US" sz="1300" b="1" dirty="0">
                <a:solidFill>
                  <a:srgbClr val="DCE8F5"/>
                </a:solidFill>
                <a:latin typeface="Calibri" pitchFamily="34" charset="0"/>
                <a:ea typeface="Calibri" pitchFamily="34" charset="-122"/>
                <a:cs typeface="Calibri" pitchFamily="34" charset="-120"/>
              </a:rPr>
              <a:t>720 min (12h)</a:t>
            </a:r>
            <a:endParaRPr lang="en-US" sz="1300" dirty="0"/>
          </a:p>
        </p:txBody>
      </p:sp>
      <p:sp>
        <p:nvSpPr>
          <p:cNvPr id="29" name="Text 27"/>
          <p:cNvSpPr/>
          <p:nvPr/>
        </p:nvSpPr>
        <p:spPr>
          <a:xfrm>
            <a:off x="6254496" y="3611880"/>
            <a:ext cx="2615184" cy="685800"/>
          </a:xfrm>
          <a:prstGeom prst="rect">
            <a:avLst/>
          </a:prstGeom>
          <a:noFill/>
          <a:ln/>
        </p:spPr>
        <p:txBody>
          <a:bodyPr wrap="square" lIns="0" tIns="0" rIns="0" bIns="0" rtlCol="0" anchor="ctr"/>
          <a:lstStyle/>
          <a:p>
            <a:pPr marL="0" indent="0">
              <a:buNone/>
            </a:pPr>
            <a:r>
              <a:rPr lang="en-US" sz="950" dirty="0">
                <a:solidFill>
                  <a:srgbClr val="7A9ABB"/>
                </a:solidFill>
                <a:latin typeface="Calibri" pitchFamily="34" charset="0"/>
                <a:ea typeface="Calibri" pitchFamily="34" charset="-122"/>
                <a:cs typeface="Calibri" pitchFamily="34" charset="-120"/>
              </a:rPr>
              <a:t>Below 3h = insufficient rest. Above 12h = hypersomnia flag.</a:t>
            </a:r>
            <a:endParaRPr lang="en-US" sz="950" dirty="0"/>
          </a:p>
        </p:txBody>
      </p:sp>
      <p:sp>
        <p:nvSpPr>
          <p:cNvPr id="30" name="Shape 28"/>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38BDF8"/>
          </a:solidFill>
          <a:ln w="12700">
            <a:solidFill>
              <a:srgbClr val="38BDF8"/>
            </a:solidFill>
            <a:prstDash val="solid"/>
          </a:ln>
        </p:spPr>
        <p:txBody>
          <a:bodyPr/>
          <a:lstStyle/>
          <a:p>
            <a:endParaRPr lang="en-IN"/>
          </a:p>
        </p:txBody>
      </p:sp>
      <p:sp>
        <p:nvSpPr>
          <p:cNvPr id="3" name="Text 1"/>
          <p:cNvSpPr/>
          <p:nvPr/>
        </p:nvSpPr>
        <p:spPr>
          <a:xfrm>
            <a:off x="365760" y="164592"/>
            <a:ext cx="8412480" cy="502920"/>
          </a:xfrm>
          <a:prstGeom prst="rect">
            <a:avLst/>
          </a:prstGeom>
          <a:noFill/>
          <a:ln/>
        </p:spPr>
        <p:txBody>
          <a:bodyPr wrap="square" lIns="0" tIns="0" rIns="0" bIns="0" rtlCol="0" anchor="ctr"/>
          <a:lstStyle/>
          <a:p>
            <a:pPr marL="0" indent="0">
              <a:buNone/>
            </a:pPr>
            <a:r>
              <a:rPr lang="en-US" sz="2200" b="1" dirty="0">
                <a:solidFill>
                  <a:srgbClr val="38BDF8"/>
                </a:solidFill>
                <a:latin typeface="Calibri" pitchFamily="34" charset="0"/>
                <a:ea typeface="Calibri" pitchFamily="34" charset="-122"/>
                <a:cs typeface="Calibri" pitchFamily="34" charset="-120"/>
              </a:rPr>
              <a:t>Method 2 — Residual-Based Detection (Rolling Median ± 2σ)</a:t>
            </a:r>
            <a:endParaRPr lang="en-US" sz="2200" dirty="0"/>
          </a:p>
        </p:txBody>
      </p:sp>
      <p:sp>
        <p:nvSpPr>
          <p:cNvPr id="4" name="Text 2"/>
          <p:cNvSpPr/>
          <p:nvPr/>
        </p:nvSpPr>
        <p:spPr>
          <a:xfrm>
            <a:off x="365760" y="804672"/>
            <a:ext cx="4114800" cy="292608"/>
          </a:xfrm>
          <a:prstGeom prst="rect">
            <a:avLst/>
          </a:prstGeom>
          <a:noFill/>
          <a:ln/>
        </p:spPr>
        <p:txBody>
          <a:bodyPr wrap="square" lIns="0" tIns="0" rIns="0" bIns="0" rtlCol="0" anchor="ctr"/>
          <a:lstStyle/>
          <a:p>
            <a:pPr marL="0" indent="0">
              <a:buNone/>
            </a:pPr>
            <a:r>
              <a:rPr lang="en-US" sz="1300" b="1" dirty="0">
                <a:solidFill>
                  <a:srgbClr val="DCE8F5"/>
                </a:solidFill>
                <a:latin typeface="Calibri" pitchFamily="34" charset="0"/>
                <a:ea typeface="Calibri" pitchFamily="34" charset="-122"/>
                <a:cs typeface="Calibri" pitchFamily="34" charset="-120"/>
              </a:rPr>
              <a:t>How it works:</a:t>
            </a:r>
            <a:endParaRPr lang="en-US" sz="1300" dirty="0"/>
          </a:p>
        </p:txBody>
      </p:sp>
      <p:sp>
        <p:nvSpPr>
          <p:cNvPr id="5" name="Text 3"/>
          <p:cNvSpPr/>
          <p:nvPr/>
        </p:nvSpPr>
        <p:spPr>
          <a:xfrm>
            <a:off x="365760" y="1097280"/>
            <a:ext cx="4114800" cy="1828800"/>
          </a:xfrm>
          <a:prstGeom prst="rect">
            <a:avLst/>
          </a:prstGeom>
          <a:noFill/>
          <a:ln/>
        </p:spPr>
        <p:txBody>
          <a:bodyPr wrap="square" lIns="0" tIns="0" rIns="0" bIns="0" rtlCol="0" anchor="ctr"/>
          <a:lstStyle/>
          <a:p>
            <a:pPr marL="0" indent="0">
              <a:buNone/>
            </a:pPr>
            <a:r>
              <a:rPr lang="en-US" sz="1150" dirty="0">
                <a:solidFill>
                  <a:srgbClr val="7A9ABB"/>
                </a:solidFill>
                <a:latin typeface="Calibri" pitchFamily="34" charset="0"/>
                <a:ea typeface="Calibri" pitchFamily="34" charset="-122"/>
                <a:cs typeface="Calibri" pitchFamily="34" charset="-120"/>
              </a:rPr>
              <a:t>A rolling 7-day median is computed as the expected baseline for each metric. Any day where the actual value deviates by more than ±2 standard deviations from this baseline is flagged as a statistical anomaly.</a:t>
            </a:r>
            <a:endParaRPr lang="en-US" sz="1150" dirty="0"/>
          </a:p>
          <a:p>
            <a:pPr marL="0" indent="0">
              <a:buNone/>
            </a:pPr>
            <a:endParaRPr lang="en-US" sz="1150" dirty="0"/>
          </a:p>
          <a:p>
            <a:pPr marL="0" indent="0">
              <a:buNone/>
            </a:pPr>
            <a:r>
              <a:rPr lang="en-US" sz="1150" dirty="0">
                <a:solidFill>
                  <a:srgbClr val="7A9ABB"/>
                </a:solidFill>
                <a:latin typeface="Calibri" pitchFamily="34" charset="0"/>
                <a:ea typeface="Calibri" pitchFamily="34" charset="-122"/>
                <a:cs typeface="Calibri" pitchFamily="34" charset="-120"/>
              </a:rPr>
              <a:t>This method detects sudden, unexpected changes relative to the user's recent pattern — even if the absolute value is technically within normal range.</a:t>
            </a:r>
            <a:endParaRPr lang="en-US" sz="1150" dirty="0"/>
          </a:p>
        </p:txBody>
      </p:sp>
      <p:sp>
        <p:nvSpPr>
          <p:cNvPr id="6" name="Text 4"/>
          <p:cNvSpPr/>
          <p:nvPr/>
        </p:nvSpPr>
        <p:spPr>
          <a:xfrm>
            <a:off x="365760" y="3017520"/>
            <a:ext cx="4114800" cy="292608"/>
          </a:xfrm>
          <a:prstGeom prst="rect">
            <a:avLst/>
          </a:prstGeom>
          <a:noFill/>
          <a:ln/>
        </p:spPr>
        <p:txBody>
          <a:bodyPr wrap="square" lIns="0" tIns="0" rIns="0" bIns="0" rtlCol="0" anchor="ctr"/>
          <a:lstStyle/>
          <a:p>
            <a:pPr marL="0" indent="0">
              <a:buNone/>
            </a:pPr>
            <a:r>
              <a:rPr lang="en-US" sz="1200" b="1" dirty="0">
                <a:solidFill>
                  <a:srgbClr val="38BDF8"/>
                </a:solidFill>
                <a:latin typeface="Calibri" pitchFamily="34" charset="0"/>
                <a:ea typeface="Calibri" pitchFamily="34" charset="-122"/>
                <a:cs typeface="Calibri" pitchFamily="34" charset="-120"/>
              </a:rPr>
              <a:t>Algorithm Steps:</a:t>
            </a:r>
            <a:endParaRPr lang="en-US" sz="1200" dirty="0"/>
          </a:p>
        </p:txBody>
      </p:sp>
      <p:sp>
        <p:nvSpPr>
          <p:cNvPr id="7" name="Shape 5"/>
          <p:cNvSpPr/>
          <p:nvPr/>
        </p:nvSpPr>
        <p:spPr>
          <a:xfrm>
            <a:off x="365760" y="3383280"/>
            <a:ext cx="256032" cy="256032"/>
          </a:xfrm>
          <a:prstGeom prst="rect">
            <a:avLst/>
          </a:prstGeom>
          <a:solidFill>
            <a:srgbClr val="38BDF8"/>
          </a:solidFill>
          <a:ln w="12700">
            <a:solidFill>
              <a:srgbClr val="38BDF8"/>
            </a:solidFill>
            <a:prstDash val="solid"/>
          </a:ln>
        </p:spPr>
        <p:txBody>
          <a:bodyPr/>
          <a:lstStyle/>
          <a:p>
            <a:endParaRPr lang="en-IN"/>
          </a:p>
        </p:txBody>
      </p:sp>
      <p:sp>
        <p:nvSpPr>
          <p:cNvPr id="8" name="Text 6"/>
          <p:cNvSpPr/>
          <p:nvPr/>
        </p:nvSpPr>
        <p:spPr>
          <a:xfrm>
            <a:off x="365760" y="3383280"/>
            <a:ext cx="256032" cy="256032"/>
          </a:xfrm>
          <a:prstGeom prst="rect">
            <a:avLst/>
          </a:prstGeom>
          <a:noFill/>
          <a:ln/>
        </p:spPr>
        <p:txBody>
          <a:bodyPr wrap="square" rtlCol="0" anchor="ctr"/>
          <a:lstStyle/>
          <a:p>
            <a:pPr marL="0" indent="0" algn="ctr">
              <a:buNone/>
            </a:pPr>
            <a:r>
              <a:rPr lang="en-US" sz="900" b="1" dirty="0">
                <a:solidFill>
                  <a:srgbClr val="0D1B2A"/>
                </a:solidFill>
                <a:latin typeface="Calibri" pitchFamily="34" charset="0"/>
                <a:ea typeface="Calibri" pitchFamily="34" charset="-122"/>
                <a:cs typeface="Calibri" pitchFamily="34" charset="-120"/>
              </a:rPr>
              <a:t>1</a:t>
            </a:r>
            <a:endParaRPr lang="en-US" sz="900" dirty="0"/>
          </a:p>
        </p:txBody>
      </p:sp>
      <p:sp>
        <p:nvSpPr>
          <p:cNvPr id="9" name="Text 7"/>
          <p:cNvSpPr/>
          <p:nvPr/>
        </p:nvSpPr>
        <p:spPr>
          <a:xfrm>
            <a:off x="685800" y="3383280"/>
            <a:ext cx="3749040" cy="256032"/>
          </a:xfrm>
          <a:prstGeom prst="rect">
            <a:avLst/>
          </a:prstGeom>
          <a:noFill/>
          <a:ln/>
        </p:spPr>
        <p:txBody>
          <a:bodyPr wrap="square" lIns="0" tIns="0" rIns="0" bIns="0" rtlCol="0" anchor="ctr"/>
          <a:lstStyle/>
          <a:p>
            <a:pPr marL="0" indent="0">
              <a:buNone/>
            </a:pPr>
            <a:r>
              <a:rPr lang="en-US" sz="1050" dirty="0">
                <a:solidFill>
                  <a:srgbClr val="DCE8F5"/>
                </a:solidFill>
                <a:latin typeface="Calibri" pitchFamily="34" charset="0"/>
                <a:ea typeface="Calibri" pitchFamily="34" charset="-122"/>
                <a:cs typeface="Calibri" pitchFamily="34" charset="-120"/>
              </a:rPr>
              <a:t>Compute 7-day rolling median for each metric</a:t>
            </a:r>
            <a:endParaRPr lang="en-US" sz="1050" dirty="0"/>
          </a:p>
        </p:txBody>
      </p:sp>
      <p:sp>
        <p:nvSpPr>
          <p:cNvPr id="10" name="Shape 8"/>
          <p:cNvSpPr/>
          <p:nvPr/>
        </p:nvSpPr>
        <p:spPr>
          <a:xfrm>
            <a:off x="365760" y="3694176"/>
            <a:ext cx="256032" cy="256032"/>
          </a:xfrm>
          <a:prstGeom prst="rect">
            <a:avLst/>
          </a:prstGeom>
          <a:solidFill>
            <a:srgbClr val="38BDF8"/>
          </a:solidFill>
          <a:ln w="12700">
            <a:solidFill>
              <a:srgbClr val="38BDF8"/>
            </a:solidFill>
            <a:prstDash val="solid"/>
          </a:ln>
        </p:spPr>
        <p:txBody>
          <a:bodyPr/>
          <a:lstStyle/>
          <a:p>
            <a:endParaRPr lang="en-IN"/>
          </a:p>
        </p:txBody>
      </p:sp>
      <p:sp>
        <p:nvSpPr>
          <p:cNvPr id="11" name="Text 9"/>
          <p:cNvSpPr/>
          <p:nvPr/>
        </p:nvSpPr>
        <p:spPr>
          <a:xfrm>
            <a:off x="365760" y="3694176"/>
            <a:ext cx="256032" cy="256032"/>
          </a:xfrm>
          <a:prstGeom prst="rect">
            <a:avLst/>
          </a:prstGeom>
          <a:noFill/>
          <a:ln/>
        </p:spPr>
        <p:txBody>
          <a:bodyPr wrap="square" rtlCol="0" anchor="ctr"/>
          <a:lstStyle/>
          <a:p>
            <a:pPr marL="0" indent="0" algn="ctr">
              <a:buNone/>
            </a:pPr>
            <a:r>
              <a:rPr lang="en-US" sz="900" b="1" dirty="0">
                <a:solidFill>
                  <a:srgbClr val="0D1B2A"/>
                </a:solidFill>
                <a:latin typeface="Calibri" pitchFamily="34" charset="0"/>
                <a:ea typeface="Calibri" pitchFamily="34" charset="-122"/>
                <a:cs typeface="Calibri" pitchFamily="34" charset="-120"/>
              </a:rPr>
              <a:t>2</a:t>
            </a:r>
            <a:endParaRPr lang="en-US" sz="900" dirty="0"/>
          </a:p>
        </p:txBody>
      </p:sp>
      <p:sp>
        <p:nvSpPr>
          <p:cNvPr id="12" name="Text 10"/>
          <p:cNvSpPr/>
          <p:nvPr/>
        </p:nvSpPr>
        <p:spPr>
          <a:xfrm>
            <a:off x="685800" y="3694176"/>
            <a:ext cx="3749040" cy="256032"/>
          </a:xfrm>
          <a:prstGeom prst="rect">
            <a:avLst/>
          </a:prstGeom>
          <a:noFill/>
          <a:ln/>
        </p:spPr>
        <p:txBody>
          <a:bodyPr wrap="square" lIns="0" tIns="0" rIns="0" bIns="0" rtlCol="0" anchor="ctr"/>
          <a:lstStyle/>
          <a:p>
            <a:pPr marL="0" indent="0">
              <a:buNone/>
            </a:pPr>
            <a:r>
              <a:rPr lang="en-US" sz="1050" dirty="0">
                <a:solidFill>
                  <a:srgbClr val="DCE8F5"/>
                </a:solidFill>
                <a:latin typeface="Calibri" pitchFamily="34" charset="0"/>
                <a:ea typeface="Calibri" pitchFamily="34" charset="-122"/>
                <a:cs typeface="Calibri" pitchFamily="34" charset="-120"/>
              </a:rPr>
              <a:t>Compute 7-day rolling standard deviation</a:t>
            </a:r>
            <a:endParaRPr lang="en-US" sz="1050" dirty="0"/>
          </a:p>
        </p:txBody>
      </p:sp>
      <p:sp>
        <p:nvSpPr>
          <p:cNvPr id="13" name="Shape 11"/>
          <p:cNvSpPr/>
          <p:nvPr/>
        </p:nvSpPr>
        <p:spPr>
          <a:xfrm>
            <a:off x="365760" y="4005072"/>
            <a:ext cx="256032" cy="256032"/>
          </a:xfrm>
          <a:prstGeom prst="rect">
            <a:avLst/>
          </a:prstGeom>
          <a:solidFill>
            <a:srgbClr val="38BDF8"/>
          </a:solidFill>
          <a:ln w="12700">
            <a:solidFill>
              <a:srgbClr val="38BDF8"/>
            </a:solidFill>
            <a:prstDash val="solid"/>
          </a:ln>
        </p:spPr>
        <p:txBody>
          <a:bodyPr/>
          <a:lstStyle/>
          <a:p>
            <a:endParaRPr lang="en-IN"/>
          </a:p>
        </p:txBody>
      </p:sp>
      <p:sp>
        <p:nvSpPr>
          <p:cNvPr id="14" name="Text 12"/>
          <p:cNvSpPr/>
          <p:nvPr/>
        </p:nvSpPr>
        <p:spPr>
          <a:xfrm>
            <a:off x="365760" y="4005072"/>
            <a:ext cx="256032" cy="256032"/>
          </a:xfrm>
          <a:prstGeom prst="rect">
            <a:avLst/>
          </a:prstGeom>
          <a:noFill/>
          <a:ln/>
        </p:spPr>
        <p:txBody>
          <a:bodyPr wrap="square" rtlCol="0" anchor="ctr"/>
          <a:lstStyle/>
          <a:p>
            <a:pPr marL="0" indent="0" algn="ctr">
              <a:buNone/>
            </a:pPr>
            <a:r>
              <a:rPr lang="en-US" sz="900" b="1" dirty="0">
                <a:solidFill>
                  <a:srgbClr val="0D1B2A"/>
                </a:solidFill>
                <a:latin typeface="Calibri" pitchFamily="34" charset="0"/>
                <a:ea typeface="Calibri" pitchFamily="34" charset="-122"/>
                <a:cs typeface="Calibri" pitchFamily="34" charset="-120"/>
              </a:rPr>
              <a:t>3</a:t>
            </a:r>
            <a:endParaRPr lang="en-US" sz="900" dirty="0"/>
          </a:p>
        </p:txBody>
      </p:sp>
      <p:sp>
        <p:nvSpPr>
          <p:cNvPr id="15" name="Text 13"/>
          <p:cNvSpPr/>
          <p:nvPr/>
        </p:nvSpPr>
        <p:spPr>
          <a:xfrm>
            <a:off x="685800" y="4005072"/>
            <a:ext cx="3749040" cy="256032"/>
          </a:xfrm>
          <a:prstGeom prst="rect">
            <a:avLst/>
          </a:prstGeom>
          <a:noFill/>
          <a:ln/>
        </p:spPr>
        <p:txBody>
          <a:bodyPr wrap="square" lIns="0" tIns="0" rIns="0" bIns="0" rtlCol="0" anchor="ctr"/>
          <a:lstStyle/>
          <a:p>
            <a:pPr marL="0" indent="0">
              <a:buNone/>
            </a:pPr>
            <a:r>
              <a:rPr lang="en-US" sz="1050" dirty="0">
                <a:solidFill>
                  <a:srgbClr val="DCE8F5"/>
                </a:solidFill>
                <a:latin typeface="Calibri" pitchFamily="34" charset="0"/>
                <a:ea typeface="Calibri" pitchFamily="34" charset="-122"/>
                <a:cs typeface="Calibri" pitchFamily="34" charset="-120"/>
              </a:rPr>
              <a:t>Calculate daily residual: | actual − median |</a:t>
            </a:r>
            <a:endParaRPr lang="en-US" sz="1050" dirty="0"/>
          </a:p>
        </p:txBody>
      </p:sp>
      <p:sp>
        <p:nvSpPr>
          <p:cNvPr id="16" name="Shape 14"/>
          <p:cNvSpPr/>
          <p:nvPr/>
        </p:nvSpPr>
        <p:spPr>
          <a:xfrm>
            <a:off x="365760" y="4315968"/>
            <a:ext cx="256032" cy="256032"/>
          </a:xfrm>
          <a:prstGeom prst="rect">
            <a:avLst/>
          </a:prstGeom>
          <a:solidFill>
            <a:srgbClr val="38BDF8"/>
          </a:solidFill>
          <a:ln w="12700">
            <a:solidFill>
              <a:srgbClr val="38BDF8"/>
            </a:solidFill>
            <a:prstDash val="solid"/>
          </a:ln>
        </p:spPr>
        <p:txBody>
          <a:bodyPr/>
          <a:lstStyle/>
          <a:p>
            <a:endParaRPr lang="en-IN"/>
          </a:p>
        </p:txBody>
      </p:sp>
      <p:sp>
        <p:nvSpPr>
          <p:cNvPr id="17" name="Text 15"/>
          <p:cNvSpPr/>
          <p:nvPr/>
        </p:nvSpPr>
        <p:spPr>
          <a:xfrm>
            <a:off x="365760" y="4315968"/>
            <a:ext cx="256032" cy="256032"/>
          </a:xfrm>
          <a:prstGeom prst="rect">
            <a:avLst/>
          </a:prstGeom>
          <a:noFill/>
          <a:ln/>
        </p:spPr>
        <p:txBody>
          <a:bodyPr wrap="square" rtlCol="0" anchor="ctr"/>
          <a:lstStyle/>
          <a:p>
            <a:pPr marL="0" indent="0" algn="ctr">
              <a:buNone/>
            </a:pPr>
            <a:r>
              <a:rPr lang="en-US" sz="900" b="1" dirty="0">
                <a:solidFill>
                  <a:srgbClr val="0D1B2A"/>
                </a:solidFill>
                <a:latin typeface="Calibri" pitchFamily="34" charset="0"/>
                <a:ea typeface="Calibri" pitchFamily="34" charset="-122"/>
                <a:cs typeface="Calibri" pitchFamily="34" charset="-120"/>
              </a:rPr>
              <a:t>4</a:t>
            </a:r>
            <a:endParaRPr lang="en-US" sz="900" dirty="0"/>
          </a:p>
        </p:txBody>
      </p:sp>
      <p:sp>
        <p:nvSpPr>
          <p:cNvPr id="18" name="Text 16"/>
          <p:cNvSpPr/>
          <p:nvPr/>
        </p:nvSpPr>
        <p:spPr>
          <a:xfrm>
            <a:off x="685800" y="4315968"/>
            <a:ext cx="3749040" cy="256032"/>
          </a:xfrm>
          <a:prstGeom prst="rect">
            <a:avLst/>
          </a:prstGeom>
          <a:noFill/>
          <a:ln/>
        </p:spPr>
        <p:txBody>
          <a:bodyPr wrap="square" lIns="0" tIns="0" rIns="0" bIns="0" rtlCol="0" anchor="ctr"/>
          <a:lstStyle/>
          <a:p>
            <a:pPr marL="0" indent="0">
              <a:buNone/>
            </a:pPr>
            <a:r>
              <a:rPr lang="en-US" sz="1050" dirty="0">
                <a:solidFill>
                  <a:srgbClr val="DCE8F5"/>
                </a:solidFill>
                <a:latin typeface="Calibri" pitchFamily="34" charset="0"/>
                <a:ea typeface="Calibri" pitchFamily="34" charset="-122"/>
                <a:cs typeface="Calibri" pitchFamily="34" charset="-120"/>
              </a:rPr>
              <a:t>Divide residual by standard deviation → Z-score</a:t>
            </a:r>
            <a:endParaRPr lang="en-US" sz="1050" dirty="0"/>
          </a:p>
        </p:txBody>
      </p:sp>
      <p:sp>
        <p:nvSpPr>
          <p:cNvPr id="19" name="Shape 17"/>
          <p:cNvSpPr/>
          <p:nvPr/>
        </p:nvSpPr>
        <p:spPr>
          <a:xfrm>
            <a:off x="365760" y="4626864"/>
            <a:ext cx="256032" cy="256032"/>
          </a:xfrm>
          <a:prstGeom prst="rect">
            <a:avLst/>
          </a:prstGeom>
          <a:solidFill>
            <a:srgbClr val="38BDF8"/>
          </a:solidFill>
          <a:ln w="12700">
            <a:solidFill>
              <a:srgbClr val="38BDF8"/>
            </a:solidFill>
            <a:prstDash val="solid"/>
          </a:ln>
        </p:spPr>
        <p:txBody>
          <a:bodyPr/>
          <a:lstStyle/>
          <a:p>
            <a:endParaRPr lang="en-IN"/>
          </a:p>
        </p:txBody>
      </p:sp>
      <p:sp>
        <p:nvSpPr>
          <p:cNvPr id="20" name="Text 18"/>
          <p:cNvSpPr/>
          <p:nvPr/>
        </p:nvSpPr>
        <p:spPr>
          <a:xfrm>
            <a:off x="365760" y="4626864"/>
            <a:ext cx="256032" cy="256032"/>
          </a:xfrm>
          <a:prstGeom prst="rect">
            <a:avLst/>
          </a:prstGeom>
          <a:noFill/>
          <a:ln/>
        </p:spPr>
        <p:txBody>
          <a:bodyPr wrap="square" rtlCol="0" anchor="ctr"/>
          <a:lstStyle/>
          <a:p>
            <a:pPr marL="0" indent="0" algn="ctr">
              <a:buNone/>
            </a:pPr>
            <a:r>
              <a:rPr lang="en-US" sz="900" b="1" dirty="0">
                <a:solidFill>
                  <a:srgbClr val="0D1B2A"/>
                </a:solidFill>
                <a:latin typeface="Calibri" pitchFamily="34" charset="0"/>
                <a:ea typeface="Calibri" pitchFamily="34" charset="-122"/>
                <a:cs typeface="Calibri" pitchFamily="34" charset="-120"/>
              </a:rPr>
              <a:t>5</a:t>
            </a:r>
            <a:endParaRPr lang="en-US" sz="900" dirty="0"/>
          </a:p>
        </p:txBody>
      </p:sp>
      <p:sp>
        <p:nvSpPr>
          <p:cNvPr id="21" name="Text 19"/>
          <p:cNvSpPr/>
          <p:nvPr/>
        </p:nvSpPr>
        <p:spPr>
          <a:xfrm>
            <a:off x="685800" y="4626864"/>
            <a:ext cx="3749040" cy="256032"/>
          </a:xfrm>
          <a:prstGeom prst="rect">
            <a:avLst/>
          </a:prstGeom>
          <a:noFill/>
          <a:ln/>
        </p:spPr>
        <p:txBody>
          <a:bodyPr wrap="square" lIns="0" tIns="0" rIns="0" bIns="0" rtlCol="0" anchor="ctr"/>
          <a:lstStyle/>
          <a:p>
            <a:pPr marL="0" indent="0">
              <a:buNone/>
            </a:pPr>
            <a:r>
              <a:rPr lang="en-US" sz="1050" dirty="0">
                <a:solidFill>
                  <a:srgbClr val="DCE8F5"/>
                </a:solidFill>
                <a:latin typeface="Calibri" pitchFamily="34" charset="0"/>
                <a:ea typeface="Calibri" pitchFamily="34" charset="-122"/>
                <a:cs typeface="Calibri" pitchFamily="34" charset="-120"/>
              </a:rPr>
              <a:t>Flag days where Z-score &gt; 2.0 as anomalous</a:t>
            </a:r>
            <a:endParaRPr lang="en-US" sz="1050" dirty="0"/>
          </a:p>
        </p:txBody>
      </p:sp>
      <p:sp>
        <p:nvSpPr>
          <p:cNvPr id="22" name="Shape 20"/>
          <p:cNvSpPr/>
          <p:nvPr/>
        </p:nvSpPr>
        <p:spPr>
          <a:xfrm>
            <a:off x="4754880" y="777240"/>
            <a:ext cx="4114800" cy="4114800"/>
          </a:xfrm>
          <a:prstGeom prst="rect">
            <a:avLst/>
          </a:prstGeom>
          <a:solidFill>
            <a:srgbClr val="162A41"/>
          </a:solidFill>
          <a:ln w="12700">
            <a:solidFill>
              <a:srgbClr val="38BDF8"/>
            </a:solidFill>
            <a:prstDash val="solid"/>
          </a:ln>
          <a:effectLst>
            <a:outerShdw blurRad="101600" dist="38100" dir="8100000" algn="bl" rotWithShape="0">
              <a:srgbClr val="000000">
                <a:alpha val="22000"/>
              </a:srgbClr>
            </a:outerShdw>
          </a:effectLst>
        </p:spPr>
        <p:txBody>
          <a:bodyPr/>
          <a:lstStyle/>
          <a:p>
            <a:endParaRPr lang="en-IN"/>
          </a:p>
        </p:txBody>
      </p:sp>
      <p:sp>
        <p:nvSpPr>
          <p:cNvPr id="23" name="Shape 21"/>
          <p:cNvSpPr/>
          <p:nvPr/>
        </p:nvSpPr>
        <p:spPr>
          <a:xfrm>
            <a:off x="4754880" y="777240"/>
            <a:ext cx="4114800" cy="384048"/>
          </a:xfrm>
          <a:prstGeom prst="rect">
            <a:avLst/>
          </a:prstGeom>
          <a:solidFill>
            <a:srgbClr val="38BDF8"/>
          </a:solidFill>
          <a:ln w="12700">
            <a:solidFill>
              <a:srgbClr val="38BDF8"/>
            </a:solidFill>
            <a:prstDash val="solid"/>
          </a:ln>
        </p:spPr>
        <p:txBody>
          <a:bodyPr/>
          <a:lstStyle/>
          <a:p>
            <a:endParaRPr lang="en-IN"/>
          </a:p>
        </p:txBody>
      </p:sp>
      <p:sp>
        <p:nvSpPr>
          <p:cNvPr id="24" name="Text 22"/>
          <p:cNvSpPr/>
          <p:nvPr/>
        </p:nvSpPr>
        <p:spPr>
          <a:xfrm>
            <a:off x="4846320" y="777240"/>
            <a:ext cx="3931920" cy="384048"/>
          </a:xfrm>
          <a:prstGeom prst="rect">
            <a:avLst/>
          </a:prstGeom>
          <a:noFill/>
          <a:ln/>
        </p:spPr>
        <p:txBody>
          <a:bodyPr wrap="square"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Why use this method?</a:t>
            </a:r>
            <a:endParaRPr lang="en-US" sz="1200" dirty="0"/>
          </a:p>
        </p:txBody>
      </p:sp>
      <p:sp>
        <p:nvSpPr>
          <p:cNvPr id="25" name="Shape 23"/>
          <p:cNvSpPr/>
          <p:nvPr/>
        </p:nvSpPr>
        <p:spPr>
          <a:xfrm>
            <a:off x="4846320" y="1261872"/>
            <a:ext cx="3931920" cy="502920"/>
          </a:xfrm>
          <a:prstGeom prst="rect">
            <a:avLst/>
          </a:prstGeom>
          <a:solidFill>
            <a:srgbClr val="0D1B2A"/>
          </a:solidFill>
          <a:ln w="12700">
            <a:solidFill>
              <a:srgbClr val="1E3A5F"/>
            </a:solidFill>
            <a:prstDash val="solid"/>
          </a:ln>
        </p:spPr>
        <p:txBody>
          <a:bodyPr/>
          <a:lstStyle/>
          <a:p>
            <a:endParaRPr lang="en-IN"/>
          </a:p>
        </p:txBody>
      </p:sp>
      <p:sp>
        <p:nvSpPr>
          <p:cNvPr id="26" name="Text 24"/>
          <p:cNvSpPr/>
          <p:nvPr/>
        </p:nvSpPr>
        <p:spPr>
          <a:xfrm>
            <a:off x="4956048" y="1298448"/>
            <a:ext cx="3749040" cy="201168"/>
          </a:xfrm>
          <a:prstGeom prst="rect">
            <a:avLst/>
          </a:prstGeom>
          <a:noFill/>
          <a:ln/>
        </p:spPr>
        <p:txBody>
          <a:bodyPr wrap="square" lIns="0" tIns="0" rIns="0" bIns="0"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Personalised Baseline</a:t>
            </a:r>
            <a:endParaRPr lang="en-US" sz="1100" dirty="0"/>
          </a:p>
        </p:txBody>
      </p:sp>
      <p:sp>
        <p:nvSpPr>
          <p:cNvPr id="27" name="Text 25"/>
          <p:cNvSpPr/>
          <p:nvPr/>
        </p:nvSpPr>
        <p:spPr>
          <a:xfrm>
            <a:off x="4956048" y="1490472"/>
            <a:ext cx="3749040" cy="182880"/>
          </a:xfrm>
          <a:prstGeom prst="rect">
            <a:avLst/>
          </a:prstGeom>
          <a:noFill/>
          <a:ln/>
        </p:spPr>
        <p:txBody>
          <a:bodyPr wrap="square" lIns="0" tIns="0" rIns="0" bIns="0" rtlCol="0" anchor="ctr"/>
          <a:lstStyle/>
          <a:p>
            <a:pPr marL="0" indent="0">
              <a:buNone/>
            </a:pPr>
            <a:r>
              <a:rPr lang="en-US" sz="950" dirty="0">
                <a:solidFill>
                  <a:srgbClr val="DCE8F5"/>
                </a:solidFill>
                <a:latin typeface="Calibri" pitchFamily="34" charset="0"/>
                <a:ea typeface="Calibri" pitchFamily="34" charset="-122"/>
                <a:cs typeface="Calibri" pitchFamily="34" charset="-120"/>
              </a:rPr>
              <a:t>Uses each user's own recent history, not population averages</a:t>
            </a:r>
            <a:endParaRPr lang="en-US" sz="950" dirty="0"/>
          </a:p>
        </p:txBody>
      </p:sp>
      <p:sp>
        <p:nvSpPr>
          <p:cNvPr id="28" name="Shape 26"/>
          <p:cNvSpPr/>
          <p:nvPr/>
        </p:nvSpPr>
        <p:spPr>
          <a:xfrm>
            <a:off x="4846320" y="1828800"/>
            <a:ext cx="3931920" cy="502920"/>
          </a:xfrm>
          <a:prstGeom prst="rect">
            <a:avLst/>
          </a:prstGeom>
          <a:solidFill>
            <a:srgbClr val="0D1B2A"/>
          </a:solidFill>
          <a:ln w="12700">
            <a:solidFill>
              <a:srgbClr val="1E3A5F"/>
            </a:solidFill>
            <a:prstDash val="solid"/>
          </a:ln>
        </p:spPr>
        <p:txBody>
          <a:bodyPr/>
          <a:lstStyle/>
          <a:p>
            <a:endParaRPr lang="en-IN"/>
          </a:p>
        </p:txBody>
      </p:sp>
      <p:sp>
        <p:nvSpPr>
          <p:cNvPr id="29" name="Text 27"/>
          <p:cNvSpPr/>
          <p:nvPr/>
        </p:nvSpPr>
        <p:spPr>
          <a:xfrm>
            <a:off x="4956048" y="1865376"/>
            <a:ext cx="3749040" cy="201168"/>
          </a:xfrm>
          <a:prstGeom prst="rect">
            <a:avLst/>
          </a:prstGeom>
          <a:noFill/>
          <a:ln/>
        </p:spPr>
        <p:txBody>
          <a:bodyPr wrap="square" lIns="0" tIns="0" rIns="0" bIns="0"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Detects Relative Change</a:t>
            </a:r>
            <a:endParaRPr lang="en-US" sz="1100" dirty="0"/>
          </a:p>
        </p:txBody>
      </p:sp>
      <p:sp>
        <p:nvSpPr>
          <p:cNvPr id="30" name="Text 28"/>
          <p:cNvSpPr/>
          <p:nvPr/>
        </p:nvSpPr>
        <p:spPr>
          <a:xfrm>
            <a:off x="4956048" y="2057400"/>
            <a:ext cx="3749040" cy="182880"/>
          </a:xfrm>
          <a:prstGeom prst="rect">
            <a:avLst/>
          </a:prstGeom>
          <a:noFill/>
          <a:ln/>
        </p:spPr>
        <p:txBody>
          <a:bodyPr wrap="square" lIns="0" tIns="0" rIns="0" bIns="0" rtlCol="0" anchor="ctr"/>
          <a:lstStyle/>
          <a:p>
            <a:pPr marL="0" indent="0">
              <a:buNone/>
            </a:pPr>
            <a:r>
              <a:rPr lang="en-US" sz="950" dirty="0">
                <a:solidFill>
                  <a:srgbClr val="DCE8F5"/>
                </a:solidFill>
                <a:latin typeface="Calibri" pitchFamily="34" charset="0"/>
                <a:ea typeface="Calibri" pitchFamily="34" charset="-122"/>
                <a:cs typeface="Calibri" pitchFamily="34" charset="-120"/>
              </a:rPr>
              <a:t>Flags sudden drops/spikes even if absolute value looks normal</a:t>
            </a:r>
            <a:endParaRPr lang="en-US" sz="950" dirty="0"/>
          </a:p>
        </p:txBody>
      </p:sp>
      <p:sp>
        <p:nvSpPr>
          <p:cNvPr id="31" name="Shape 29"/>
          <p:cNvSpPr/>
          <p:nvPr/>
        </p:nvSpPr>
        <p:spPr>
          <a:xfrm>
            <a:off x="4846320" y="2395728"/>
            <a:ext cx="3931920" cy="502920"/>
          </a:xfrm>
          <a:prstGeom prst="rect">
            <a:avLst/>
          </a:prstGeom>
          <a:solidFill>
            <a:srgbClr val="0D1B2A"/>
          </a:solidFill>
          <a:ln w="12700">
            <a:solidFill>
              <a:srgbClr val="1E3A5F"/>
            </a:solidFill>
            <a:prstDash val="solid"/>
          </a:ln>
        </p:spPr>
        <p:txBody>
          <a:bodyPr/>
          <a:lstStyle/>
          <a:p>
            <a:endParaRPr lang="en-IN"/>
          </a:p>
        </p:txBody>
      </p:sp>
      <p:sp>
        <p:nvSpPr>
          <p:cNvPr id="32" name="Text 30"/>
          <p:cNvSpPr/>
          <p:nvPr/>
        </p:nvSpPr>
        <p:spPr>
          <a:xfrm>
            <a:off x="4956048" y="2432304"/>
            <a:ext cx="3749040" cy="201168"/>
          </a:xfrm>
          <a:prstGeom prst="rect">
            <a:avLst/>
          </a:prstGeom>
          <a:noFill/>
          <a:ln/>
        </p:spPr>
        <p:txBody>
          <a:bodyPr wrap="square" lIns="0" tIns="0" rIns="0" bIns="0"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Robust to Noise</a:t>
            </a:r>
            <a:endParaRPr lang="en-US" sz="1100" dirty="0"/>
          </a:p>
        </p:txBody>
      </p:sp>
      <p:sp>
        <p:nvSpPr>
          <p:cNvPr id="33" name="Text 31"/>
          <p:cNvSpPr/>
          <p:nvPr/>
        </p:nvSpPr>
        <p:spPr>
          <a:xfrm>
            <a:off x="4956048" y="2624328"/>
            <a:ext cx="3749040" cy="182880"/>
          </a:xfrm>
          <a:prstGeom prst="rect">
            <a:avLst/>
          </a:prstGeom>
          <a:noFill/>
          <a:ln/>
        </p:spPr>
        <p:txBody>
          <a:bodyPr wrap="square" lIns="0" tIns="0" rIns="0" bIns="0" rtlCol="0" anchor="ctr"/>
          <a:lstStyle/>
          <a:p>
            <a:pPr marL="0" indent="0">
              <a:buNone/>
            </a:pPr>
            <a:r>
              <a:rPr lang="en-US" sz="950" dirty="0">
                <a:solidFill>
                  <a:srgbClr val="DCE8F5"/>
                </a:solidFill>
                <a:latin typeface="Calibri" pitchFamily="34" charset="0"/>
                <a:ea typeface="Calibri" pitchFamily="34" charset="-122"/>
                <a:cs typeface="Calibri" pitchFamily="34" charset="-120"/>
              </a:rPr>
              <a:t>Rolling median is less affected by single extreme days vs rolling mean</a:t>
            </a:r>
            <a:endParaRPr lang="en-US" sz="950" dirty="0"/>
          </a:p>
        </p:txBody>
      </p:sp>
      <p:sp>
        <p:nvSpPr>
          <p:cNvPr id="34" name="Shape 32"/>
          <p:cNvSpPr/>
          <p:nvPr/>
        </p:nvSpPr>
        <p:spPr>
          <a:xfrm>
            <a:off x="4846320" y="2962656"/>
            <a:ext cx="3931920" cy="502920"/>
          </a:xfrm>
          <a:prstGeom prst="rect">
            <a:avLst/>
          </a:prstGeom>
          <a:solidFill>
            <a:srgbClr val="0D1B2A"/>
          </a:solidFill>
          <a:ln w="12700">
            <a:solidFill>
              <a:srgbClr val="1E3A5F"/>
            </a:solidFill>
            <a:prstDash val="solid"/>
          </a:ln>
        </p:spPr>
        <p:txBody>
          <a:bodyPr/>
          <a:lstStyle/>
          <a:p>
            <a:endParaRPr lang="en-IN"/>
          </a:p>
        </p:txBody>
      </p:sp>
      <p:sp>
        <p:nvSpPr>
          <p:cNvPr id="35" name="Text 33"/>
          <p:cNvSpPr/>
          <p:nvPr/>
        </p:nvSpPr>
        <p:spPr>
          <a:xfrm>
            <a:off x="4956048" y="2999232"/>
            <a:ext cx="3749040" cy="201168"/>
          </a:xfrm>
          <a:prstGeom prst="rect">
            <a:avLst/>
          </a:prstGeom>
          <a:noFill/>
          <a:ln/>
        </p:spPr>
        <p:txBody>
          <a:bodyPr wrap="square" lIns="0" tIns="0" rIns="0" bIns="0"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Interpretable Z-Score</a:t>
            </a:r>
            <a:endParaRPr lang="en-US" sz="1100" dirty="0"/>
          </a:p>
        </p:txBody>
      </p:sp>
      <p:sp>
        <p:nvSpPr>
          <p:cNvPr id="36" name="Text 34"/>
          <p:cNvSpPr/>
          <p:nvPr/>
        </p:nvSpPr>
        <p:spPr>
          <a:xfrm>
            <a:off x="4956048" y="3191256"/>
            <a:ext cx="3749040" cy="182880"/>
          </a:xfrm>
          <a:prstGeom prst="rect">
            <a:avLst/>
          </a:prstGeom>
          <a:noFill/>
          <a:ln/>
        </p:spPr>
        <p:txBody>
          <a:bodyPr wrap="square" lIns="0" tIns="0" rIns="0" bIns="0" rtlCol="0" anchor="ctr"/>
          <a:lstStyle/>
          <a:p>
            <a:pPr marL="0" indent="0">
              <a:buNone/>
            </a:pPr>
            <a:r>
              <a:rPr lang="en-US" sz="950" dirty="0">
                <a:solidFill>
                  <a:srgbClr val="DCE8F5"/>
                </a:solidFill>
                <a:latin typeface="Calibri" pitchFamily="34" charset="0"/>
                <a:ea typeface="Calibri" pitchFamily="34" charset="-122"/>
                <a:cs typeface="Calibri" pitchFamily="34" charset="-120"/>
              </a:rPr>
              <a:t>Z-score &gt; 2 means the day was more than 2 std deviations unusual</a:t>
            </a:r>
            <a:endParaRPr lang="en-US" sz="950" dirty="0"/>
          </a:p>
        </p:txBody>
      </p:sp>
      <p:sp>
        <p:nvSpPr>
          <p:cNvPr id="37" name="Shape 35"/>
          <p:cNvSpPr/>
          <p:nvPr/>
        </p:nvSpPr>
        <p:spPr>
          <a:xfrm>
            <a:off x="4846320" y="3529584"/>
            <a:ext cx="3931920" cy="502920"/>
          </a:xfrm>
          <a:prstGeom prst="rect">
            <a:avLst/>
          </a:prstGeom>
          <a:solidFill>
            <a:srgbClr val="0D1B2A"/>
          </a:solidFill>
          <a:ln w="12700">
            <a:solidFill>
              <a:srgbClr val="1E3A5F"/>
            </a:solidFill>
            <a:prstDash val="solid"/>
          </a:ln>
        </p:spPr>
        <p:txBody>
          <a:bodyPr/>
          <a:lstStyle/>
          <a:p>
            <a:endParaRPr lang="en-IN"/>
          </a:p>
        </p:txBody>
      </p:sp>
      <p:sp>
        <p:nvSpPr>
          <p:cNvPr id="38" name="Text 36"/>
          <p:cNvSpPr/>
          <p:nvPr/>
        </p:nvSpPr>
        <p:spPr>
          <a:xfrm>
            <a:off x="4956048" y="3566160"/>
            <a:ext cx="3749040" cy="201168"/>
          </a:xfrm>
          <a:prstGeom prst="rect">
            <a:avLst/>
          </a:prstGeom>
          <a:noFill/>
          <a:ln/>
        </p:spPr>
        <p:txBody>
          <a:bodyPr wrap="square" lIns="0" tIns="0" rIns="0" bIns="0" rtlCol="0" anchor="ctr"/>
          <a:lstStyle/>
          <a:p>
            <a:pPr marL="0" indent="0">
              <a:buNone/>
            </a:pPr>
            <a:r>
              <a:rPr lang="en-US" sz="1100" b="1" dirty="0">
                <a:solidFill>
                  <a:srgbClr val="38BDF8"/>
                </a:solidFill>
                <a:latin typeface="Calibri" pitchFamily="34" charset="0"/>
                <a:ea typeface="Calibri" pitchFamily="34" charset="-122"/>
                <a:cs typeface="Calibri" pitchFamily="34" charset="-120"/>
              </a:rPr>
              <a:t>Applied to 3 Metrics</a:t>
            </a:r>
            <a:endParaRPr lang="en-US" sz="1100" dirty="0"/>
          </a:p>
        </p:txBody>
      </p:sp>
      <p:sp>
        <p:nvSpPr>
          <p:cNvPr id="39" name="Text 37"/>
          <p:cNvSpPr/>
          <p:nvPr/>
        </p:nvSpPr>
        <p:spPr>
          <a:xfrm>
            <a:off x="4956048" y="3758184"/>
            <a:ext cx="3749040" cy="182880"/>
          </a:xfrm>
          <a:prstGeom prst="rect">
            <a:avLst/>
          </a:prstGeom>
          <a:noFill/>
          <a:ln/>
        </p:spPr>
        <p:txBody>
          <a:bodyPr wrap="square" lIns="0" tIns="0" rIns="0" bIns="0" rtlCol="0" anchor="ctr"/>
          <a:lstStyle/>
          <a:p>
            <a:pPr marL="0" indent="0">
              <a:buNone/>
            </a:pPr>
            <a:r>
              <a:rPr lang="en-US" sz="950" dirty="0">
                <a:solidFill>
                  <a:srgbClr val="DCE8F5"/>
                </a:solidFill>
                <a:latin typeface="Calibri" pitchFamily="34" charset="0"/>
                <a:ea typeface="Calibri" pitchFamily="34" charset="-122"/>
                <a:cs typeface="Calibri" pitchFamily="34" charset="-120"/>
              </a:rPr>
              <a:t>Heart rate, daily steps, and sleep duration — independently</a:t>
            </a:r>
            <a:endParaRPr lang="en-US" sz="950" dirty="0"/>
          </a:p>
        </p:txBody>
      </p:sp>
      <p:sp>
        <p:nvSpPr>
          <p:cNvPr id="40" name="Shape 38"/>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p:cNvSpPr/>
          <p:nvPr/>
        </p:nvSpPr>
        <p:spPr>
          <a:xfrm>
            <a:off x="365760" y="164592"/>
            <a:ext cx="8412480" cy="502920"/>
          </a:xfrm>
          <a:prstGeom prst="rect">
            <a:avLst/>
          </a:prstGeom>
          <a:noFill/>
          <a:ln/>
        </p:spPr>
        <p:txBody>
          <a:bodyPr wrap="square" lIns="0" tIns="0" rIns="0" bIns="0" rtlCol="0" anchor="ctr"/>
          <a:lstStyle/>
          <a:p>
            <a:pPr marL="0" indent="0">
              <a:buNone/>
            </a:pPr>
            <a:r>
              <a:rPr lang="en-US" sz="2200" b="1" dirty="0">
                <a:solidFill>
                  <a:srgbClr val="A78BFA"/>
                </a:solidFill>
                <a:latin typeface="Calibri" pitchFamily="34" charset="0"/>
                <a:ea typeface="Calibri" pitchFamily="34" charset="-122"/>
                <a:cs typeface="Calibri" pitchFamily="34" charset="-120"/>
              </a:rPr>
              <a:t>Method 3 — DBSCAN Structural Outlier Detection</a:t>
            </a:r>
            <a:endParaRPr lang="en-US" sz="2200" dirty="0"/>
          </a:p>
        </p:txBody>
      </p:sp>
      <p:sp>
        <p:nvSpPr>
          <p:cNvPr id="4" name="Text 2"/>
          <p:cNvSpPr/>
          <p:nvPr/>
        </p:nvSpPr>
        <p:spPr>
          <a:xfrm>
            <a:off x="365760" y="804672"/>
            <a:ext cx="8412480" cy="292608"/>
          </a:xfrm>
          <a:prstGeom prst="rect">
            <a:avLst/>
          </a:prstGeom>
          <a:noFill/>
          <a:ln/>
        </p:spPr>
        <p:txBody>
          <a:bodyPr wrap="square" lIns="0" tIns="0" rIns="0" bIns="0" rtlCol="0" anchor="ctr"/>
          <a:lstStyle/>
          <a:p>
            <a:pPr marL="0" indent="0">
              <a:buNone/>
            </a:pPr>
            <a:r>
              <a:rPr lang="en-US" sz="1300" b="1" dirty="0">
                <a:solidFill>
                  <a:srgbClr val="DCE8F5"/>
                </a:solidFill>
                <a:latin typeface="Calibri" pitchFamily="34" charset="0"/>
                <a:ea typeface="Calibri" pitchFamily="34" charset="-122"/>
                <a:cs typeface="Calibri" pitchFamily="34" charset="-120"/>
              </a:rPr>
              <a:t>How it works:</a:t>
            </a:r>
            <a:endParaRPr lang="en-US" sz="1300" dirty="0"/>
          </a:p>
        </p:txBody>
      </p:sp>
      <p:sp>
        <p:nvSpPr>
          <p:cNvPr id="5" name="Text 3"/>
          <p:cNvSpPr/>
          <p:nvPr/>
        </p:nvSpPr>
        <p:spPr>
          <a:xfrm>
            <a:off x="365760" y="1097280"/>
            <a:ext cx="8412480" cy="685800"/>
          </a:xfrm>
          <a:prstGeom prst="rect">
            <a:avLst/>
          </a:prstGeom>
          <a:noFill/>
          <a:ln/>
        </p:spPr>
        <p:txBody>
          <a:bodyPr wrap="square" lIns="0" tIns="0" rIns="0" bIns="0" rtlCol="0" anchor="ctr"/>
          <a:lstStyle/>
          <a:p>
            <a:pPr marL="0" indent="0">
              <a:buNone/>
            </a:pPr>
            <a:r>
              <a:rPr lang="en-US" sz="1150" dirty="0">
                <a:solidFill>
                  <a:srgbClr val="7A9ABB"/>
                </a:solidFill>
                <a:latin typeface="Calibri" pitchFamily="34" charset="0"/>
                <a:ea typeface="Calibri" pitchFamily="34" charset="-122"/>
                <a:cs typeface="Calibri" pitchFamily="34" charset="-120"/>
              </a:rPr>
              <a:t>Machine learning clustering (DBSCAN) is applied to aggregated user profiles — one row per user, averaging all their daily metrics. Users who do not fit into any cluster are labelled -1 by DBSCAN and identified as structural outliers. These users have an unusual combination of health metrics that doesn't match any other user group.</a:t>
            </a:r>
            <a:endParaRPr lang="en-US" sz="1150" dirty="0"/>
          </a:p>
        </p:txBody>
      </p:sp>
      <p:sp>
        <p:nvSpPr>
          <p:cNvPr id="6" name="Text 4"/>
          <p:cNvSpPr/>
          <p:nvPr/>
        </p:nvSpPr>
        <p:spPr>
          <a:xfrm>
            <a:off x="365760" y="1874520"/>
            <a:ext cx="8412480" cy="292608"/>
          </a:xfrm>
          <a:prstGeom prst="rect">
            <a:avLst/>
          </a:prstGeom>
          <a:noFill/>
          <a:ln/>
        </p:spPr>
        <p:txBody>
          <a:bodyPr wrap="square" lIns="0" tIns="0" rIns="0" bIns="0" rtlCol="0" anchor="ctr"/>
          <a:lstStyle/>
          <a:p>
            <a:pPr marL="0" indent="0">
              <a:buNone/>
            </a:pPr>
            <a:r>
              <a:rPr lang="en-US" sz="1200" b="1" dirty="0">
                <a:solidFill>
                  <a:srgbClr val="A78BFA"/>
                </a:solidFill>
                <a:latin typeface="Calibri" pitchFamily="34" charset="0"/>
                <a:ea typeface="Calibri" pitchFamily="34" charset="-122"/>
                <a:cs typeface="Calibri" pitchFamily="34" charset="-120"/>
              </a:rPr>
              <a:t>System Architecture — Data Flow:</a:t>
            </a:r>
            <a:endParaRPr lang="en-US" sz="1200" dirty="0"/>
          </a:p>
        </p:txBody>
      </p:sp>
      <p:sp>
        <p:nvSpPr>
          <p:cNvPr id="7" name="Shape 5"/>
          <p:cNvSpPr/>
          <p:nvPr/>
        </p:nvSpPr>
        <p:spPr>
          <a:xfrm>
            <a:off x="365760" y="2267712"/>
            <a:ext cx="5029200" cy="320040"/>
          </a:xfrm>
          <a:prstGeom prst="rect">
            <a:avLst/>
          </a:prstGeom>
          <a:solidFill>
            <a:srgbClr val="162A41"/>
          </a:solidFill>
          <a:ln w="12700">
            <a:solidFill>
              <a:srgbClr val="A78BFA"/>
            </a:solidFill>
            <a:prstDash val="solid"/>
          </a:ln>
        </p:spPr>
        <p:txBody>
          <a:bodyPr/>
          <a:lstStyle/>
          <a:p>
            <a:endParaRPr lang="en-IN"/>
          </a:p>
        </p:txBody>
      </p:sp>
      <p:sp>
        <p:nvSpPr>
          <p:cNvPr id="8" name="Text 6"/>
          <p:cNvSpPr/>
          <p:nvPr/>
        </p:nvSpPr>
        <p:spPr>
          <a:xfrm>
            <a:off x="457200" y="2267712"/>
            <a:ext cx="4846320" cy="32004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Raw Fitbit CSVs (5 files)</a:t>
            </a:r>
            <a:endParaRPr lang="en-US" sz="1050" dirty="0"/>
          </a:p>
        </p:txBody>
      </p:sp>
      <p:sp>
        <p:nvSpPr>
          <p:cNvPr id="9" name="Text 7"/>
          <p:cNvSpPr/>
          <p:nvPr/>
        </p:nvSpPr>
        <p:spPr>
          <a:xfrm>
            <a:off x="2651760" y="2578608"/>
            <a:ext cx="457200" cy="164592"/>
          </a:xfrm>
          <a:prstGeom prst="rect">
            <a:avLst/>
          </a:prstGeom>
          <a:noFill/>
          <a:ln/>
        </p:spPr>
        <p:txBody>
          <a:bodyPr wrap="square" rtlCol="0" anchor="ctr"/>
          <a:lstStyle/>
          <a:p>
            <a:pPr marL="0" indent="0" algn="ctr">
              <a:buNone/>
            </a:pPr>
            <a:r>
              <a:rPr lang="en-US" sz="900" dirty="0">
                <a:solidFill>
                  <a:srgbClr val="A78BFA"/>
                </a:solidFill>
                <a:latin typeface="Calibri" pitchFamily="34" charset="0"/>
                <a:ea typeface="Calibri" pitchFamily="34" charset="-122"/>
                <a:cs typeface="Calibri" pitchFamily="34" charset="-120"/>
              </a:rPr>
              <a:t>▼</a:t>
            </a:r>
            <a:endParaRPr lang="en-US" sz="900" dirty="0"/>
          </a:p>
        </p:txBody>
      </p:sp>
      <p:sp>
        <p:nvSpPr>
          <p:cNvPr id="10" name="Shape 8"/>
          <p:cNvSpPr/>
          <p:nvPr/>
        </p:nvSpPr>
        <p:spPr>
          <a:xfrm>
            <a:off x="365760" y="2724912"/>
            <a:ext cx="5029200" cy="320040"/>
          </a:xfrm>
          <a:prstGeom prst="rect">
            <a:avLst/>
          </a:prstGeom>
          <a:solidFill>
            <a:srgbClr val="162A41"/>
          </a:solidFill>
          <a:ln w="12700">
            <a:solidFill>
              <a:srgbClr val="A78BFA"/>
            </a:solidFill>
            <a:prstDash val="solid"/>
          </a:ln>
        </p:spPr>
        <p:txBody>
          <a:bodyPr/>
          <a:lstStyle/>
          <a:p>
            <a:endParaRPr lang="en-IN"/>
          </a:p>
        </p:txBody>
      </p:sp>
      <p:sp>
        <p:nvSpPr>
          <p:cNvPr id="11" name="Text 9"/>
          <p:cNvSpPr/>
          <p:nvPr/>
        </p:nvSpPr>
        <p:spPr>
          <a:xfrm>
            <a:off x="457200" y="2724912"/>
            <a:ext cx="4846320" cy="32004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Merge → Master DataFrame (one row per user per day)</a:t>
            </a:r>
            <a:endParaRPr lang="en-US" sz="1050" dirty="0"/>
          </a:p>
        </p:txBody>
      </p:sp>
      <p:sp>
        <p:nvSpPr>
          <p:cNvPr id="12" name="Text 10"/>
          <p:cNvSpPr/>
          <p:nvPr/>
        </p:nvSpPr>
        <p:spPr>
          <a:xfrm>
            <a:off x="2651760" y="3035808"/>
            <a:ext cx="457200" cy="164592"/>
          </a:xfrm>
          <a:prstGeom prst="rect">
            <a:avLst/>
          </a:prstGeom>
          <a:noFill/>
          <a:ln/>
        </p:spPr>
        <p:txBody>
          <a:bodyPr wrap="square" rtlCol="0" anchor="ctr"/>
          <a:lstStyle/>
          <a:p>
            <a:pPr marL="0" indent="0" algn="ctr">
              <a:buNone/>
            </a:pPr>
            <a:r>
              <a:rPr lang="en-US" sz="900" dirty="0">
                <a:solidFill>
                  <a:srgbClr val="A78BFA"/>
                </a:solidFill>
                <a:latin typeface="Calibri" pitchFamily="34" charset="0"/>
                <a:ea typeface="Calibri" pitchFamily="34" charset="-122"/>
                <a:cs typeface="Calibri" pitchFamily="34" charset="-120"/>
              </a:rPr>
              <a:t>▼</a:t>
            </a:r>
            <a:endParaRPr lang="en-US" sz="900" dirty="0"/>
          </a:p>
        </p:txBody>
      </p:sp>
      <p:sp>
        <p:nvSpPr>
          <p:cNvPr id="13" name="Shape 11"/>
          <p:cNvSpPr/>
          <p:nvPr/>
        </p:nvSpPr>
        <p:spPr>
          <a:xfrm>
            <a:off x="365760" y="3182112"/>
            <a:ext cx="5029200" cy="320040"/>
          </a:xfrm>
          <a:prstGeom prst="rect">
            <a:avLst/>
          </a:prstGeom>
          <a:solidFill>
            <a:srgbClr val="162A41"/>
          </a:solidFill>
          <a:ln w="12700">
            <a:solidFill>
              <a:srgbClr val="A78BFA"/>
            </a:solidFill>
            <a:prstDash val="solid"/>
          </a:ln>
        </p:spPr>
        <p:txBody>
          <a:bodyPr/>
          <a:lstStyle/>
          <a:p>
            <a:endParaRPr lang="en-IN"/>
          </a:p>
        </p:txBody>
      </p:sp>
      <p:sp>
        <p:nvSpPr>
          <p:cNvPr id="14" name="Text 12"/>
          <p:cNvSpPr/>
          <p:nvPr/>
        </p:nvSpPr>
        <p:spPr>
          <a:xfrm>
            <a:off x="457200" y="3182112"/>
            <a:ext cx="4846320" cy="32004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Group by User ID → Average all daily metrics</a:t>
            </a:r>
            <a:endParaRPr lang="en-US" sz="1050" dirty="0"/>
          </a:p>
        </p:txBody>
      </p:sp>
      <p:sp>
        <p:nvSpPr>
          <p:cNvPr id="15" name="Text 13"/>
          <p:cNvSpPr/>
          <p:nvPr/>
        </p:nvSpPr>
        <p:spPr>
          <a:xfrm>
            <a:off x="2651760" y="3493008"/>
            <a:ext cx="457200" cy="164592"/>
          </a:xfrm>
          <a:prstGeom prst="rect">
            <a:avLst/>
          </a:prstGeom>
          <a:noFill/>
          <a:ln/>
        </p:spPr>
        <p:txBody>
          <a:bodyPr wrap="square" rtlCol="0" anchor="ctr"/>
          <a:lstStyle/>
          <a:p>
            <a:pPr marL="0" indent="0" algn="ctr">
              <a:buNone/>
            </a:pPr>
            <a:r>
              <a:rPr lang="en-US" sz="900" dirty="0">
                <a:solidFill>
                  <a:srgbClr val="A78BFA"/>
                </a:solidFill>
                <a:latin typeface="Calibri" pitchFamily="34" charset="0"/>
                <a:ea typeface="Calibri" pitchFamily="34" charset="-122"/>
                <a:cs typeface="Calibri" pitchFamily="34" charset="-120"/>
              </a:rPr>
              <a:t>▼</a:t>
            </a:r>
            <a:endParaRPr lang="en-US" sz="900" dirty="0"/>
          </a:p>
        </p:txBody>
      </p:sp>
      <p:sp>
        <p:nvSpPr>
          <p:cNvPr id="16" name="Shape 14"/>
          <p:cNvSpPr/>
          <p:nvPr/>
        </p:nvSpPr>
        <p:spPr>
          <a:xfrm>
            <a:off x="365760" y="3639312"/>
            <a:ext cx="5029200" cy="320040"/>
          </a:xfrm>
          <a:prstGeom prst="rect">
            <a:avLst/>
          </a:prstGeom>
          <a:solidFill>
            <a:srgbClr val="162A41"/>
          </a:solidFill>
          <a:ln w="12700">
            <a:solidFill>
              <a:srgbClr val="A78BFA"/>
            </a:solidFill>
            <a:prstDash val="solid"/>
          </a:ln>
        </p:spPr>
        <p:txBody>
          <a:bodyPr/>
          <a:lstStyle/>
          <a:p>
            <a:endParaRPr lang="en-IN"/>
          </a:p>
        </p:txBody>
      </p:sp>
      <p:sp>
        <p:nvSpPr>
          <p:cNvPr id="17" name="Text 15"/>
          <p:cNvSpPr/>
          <p:nvPr/>
        </p:nvSpPr>
        <p:spPr>
          <a:xfrm>
            <a:off x="457200" y="3639312"/>
            <a:ext cx="4846320" cy="32004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StandardScaler → Normalise feature values</a:t>
            </a:r>
            <a:endParaRPr lang="en-US" sz="1050" dirty="0"/>
          </a:p>
        </p:txBody>
      </p:sp>
      <p:sp>
        <p:nvSpPr>
          <p:cNvPr id="18" name="Text 16"/>
          <p:cNvSpPr/>
          <p:nvPr/>
        </p:nvSpPr>
        <p:spPr>
          <a:xfrm>
            <a:off x="2651760" y="3950208"/>
            <a:ext cx="457200" cy="164592"/>
          </a:xfrm>
          <a:prstGeom prst="rect">
            <a:avLst/>
          </a:prstGeom>
          <a:noFill/>
          <a:ln/>
        </p:spPr>
        <p:txBody>
          <a:bodyPr wrap="square" rtlCol="0" anchor="ctr"/>
          <a:lstStyle/>
          <a:p>
            <a:pPr marL="0" indent="0" algn="ctr">
              <a:buNone/>
            </a:pPr>
            <a:r>
              <a:rPr lang="en-US" sz="900" dirty="0">
                <a:solidFill>
                  <a:srgbClr val="A78BFA"/>
                </a:solidFill>
                <a:latin typeface="Calibri" pitchFamily="34" charset="0"/>
                <a:ea typeface="Calibri" pitchFamily="34" charset="-122"/>
                <a:cs typeface="Calibri" pitchFamily="34" charset="-120"/>
              </a:rPr>
              <a:t>▼</a:t>
            </a:r>
            <a:endParaRPr lang="en-US" sz="900" dirty="0"/>
          </a:p>
        </p:txBody>
      </p:sp>
      <p:sp>
        <p:nvSpPr>
          <p:cNvPr id="19" name="Shape 17"/>
          <p:cNvSpPr/>
          <p:nvPr/>
        </p:nvSpPr>
        <p:spPr>
          <a:xfrm>
            <a:off x="365760" y="4096512"/>
            <a:ext cx="5029200" cy="320040"/>
          </a:xfrm>
          <a:prstGeom prst="rect">
            <a:avLst/>
          </a:prstGeom>
          <a:solidFill>
            <a:srgbClr val="162A41"/>
          </a:solidFill>
          <a:ln w="12700">
            <a:solidFill>
              <a:srgbClr val="A78BFA"/>
            </a:solidFill>
            <a:prstDash val="solid"/>
          </a:ln>
        </p:spPr>
        <p:txBody>
          <a:bodyPr/>
          <a:lstStyle/>
          <a:p>
            <a:endParaRPr lang="en-IN"/>
          </a:p>
        </p:txBody>
      </p:sp>
      <p:sp>
        <p:nvSpPr>
          <p:cNvPr id="20" name="Text 18"/>
          <p:cNvSpPr/>
          <p:nvPr/>
        </p:nvSpPr>
        <p:spPr>
          <a:xfrm>
            <a:off x="457200" y="4096512"/>
            <a:ext cx="4846320" cy="320040"/>
          </a:xfrm>
          <a:prstGeom prst="rect">
            <a:avLst/>
          </a:prstGeom>
          <a:noFill/>
          <a:ln/>
        </p:spPr>
        <p:txBody>
          <a:bodyPr wrap="square" rtlCol="0" anchor="ctr"/>
          <a:lstStyle/>
          <a:p>
            <a:pPr marL="0" indent="0">
              <a:buNone/>
            </a:pPr>
            <a:r>
              <a:rPr lang="en-US" sz="1050" dirty="0">
                <a:solidFill>
                  <a:srgbClr val="DCE8F5"/>
                </a:solidFill>
                <a:latin typeface="Calibri" pitchFamily="34" charset="0"/>
                <a:ea typeface="Calibri" pitchFamily="34" charset="-122"/>
                <a:cs typeface="Calibri" pitchFamily="34" charset="-120"/>
              </a:rPr>
              <a:t>DBSCAN (eps=2.5, min_samples=2) → Cluster labels</a:t>
            </a:r>
            <a:endParaRPr lang="en-US" sz="1050" dirty="0"/>
          </a:p>
        </p:txBody>
      </p:sp>
      <p:sp>
        <p:nvSpPr>
          <p:cNvPr id="21" name="Text 19"/>
          <p:cNvSpPr/>
          <p:nvPr/>
        </p:nvSpPr>
        <p:spPr>
          <a:xfrm>
            <a:off x="2651760" y="4407408"/>
            <a:ext cx="457200" cy="164592"/>
          </a:xfrm>
          <a:prstGeom prst="rect">
            <a:avLst/>
          </a:prstGeom>
          <a:noFill/>
          <a:ln/>
        </p:spPr>
        <p:txBody>
          <a:bodyPr wrap="square" rtlCol="0" anchor="ctr"/>
          <a:lstStyle/>
          <a:p>
            <a:pPr marL="0" indent="0" algn="ctr">
              <a:buNone/>
            </a:pPr>
            <a:r>
              <a:rPr lang="en-US" sz="900" dirty="0">
                <a:solidFill>
                  <a:srgbClr val="A78BFA"/>
                </a:solidFill>
                <a:latin typeface="Calibri" pitchFamily="34" charset="0"/>
                <a:ea typeface="Calibri" pitchFamily="34" charset="-122"/>
                <a:cs typeface="Calibri" pitchFamily="34" charset="-120"/>
              </a:rPr>
              <a:t>▼</a:t>
            </a:r>
            <a:endParaRPr lang="en-US" sz="900" dirty="0"/>
          </a:p>
        </p:txBody>
      </p:sp>
      <p:sp>
        <p:nvSpPr>
          <p:cNvPr id="22" name="Shape 20"/>
          <p:cNvSpPr/>
          <p:nvPr/>
        </p:nvSpPr>
        <p:spPr>
          <a:xfrm>
            <a:off x="365760" y="4553712"/>
            <a:ext cx="5029200" cy="320040"/>
          </a:xfrm>
          <a:prstGeom prst="rect">
            <a:avLst/>
          </a:prstGeom>
          <a:solidFill>
            <a:srgbClr val="162A41"/>
          </a:solidFill>
          <a:ln w="12700">
            <a:solidFill>
              <a:srgbClr val="EF4444"/>
            </a:solidFill>
            <a:prstDash val="solid"/>
          </a:ln>
        </p:spPr>
        <p:txBody>
          <a:bodyPr/>
          <a:lstStyle/>
          <a:p>
            <a:endParaRPr lang="en-IN"/>
          </a:p>
        </p:txBody>
      </p:sp>
      <p:sp>
        <p:nvSpPr>
          <p:cNvPr id="23" name="Text 21"/>
          <p:cNvSpPr/>
          <p:nvPr/>
        </p:nvSpPr>
        <p:spPr>
          <a:xfrm>
            <a:off x="457200" y="4553712"/>
            <a:ext cx="4846320" cy="320040"/>
          </a:xfrm>
          <a:prstGeom prst="rect">
            <a:avLst/>
          </a:prstGeom>
          <a:noFill/>
          <a:ln/>
        </p:spPr>
        <p:txBody>
          <a:bodyPr wrap="square" rtlCol="0" anchor="ctr"/>
          <a:lstStyle/>
          <a:p>
            <a:pPr marL="0" indent="0">
              <a:buNone/>
            </a:pPr>
            <a:r>
              <a:rPr lang="en-US" sz="1050" b="1" dirty="0">
                <a:solidFill>
                  <a:srgbClr val="EF4444"/>
                </a:solidFill>
                <a:latin typeface="Calibri" pitchFamily="34" charset="0"/>
                <a:ea typeface="Calibri" pitchFamily="34" charset="-122"/>
                <a:cs typeface="Calibri" pitchFamily="34" charset="-120"/>
              </a:rPr>
              <a:t>Users with label -1 → Structural Outliers flagged</a:t>
            </a:r>
            <a:endParaRPr lang="en-US" sz="1050" dirty="0"/>
          </a:p>
        </p:txBody>
      </p:sp>
      <p:sp>
        <p:nvSpPr>
          <p:cNvPr id="24" name="Shape 22"/>
          <p:cNvSpPr/>
          <p:nvPr/>
        </p:nvSpPr>
        <p:spPr>
          <a:xfrm>
            <a:off x="5760720" y="1828800"/>
            <a:ext cx="3154680" cy="3108960"/>
          </a:xfrm>
          <a:prstGeom prst="rect">
            <a:avLst/>
          </a:prstGeom>
          <a:solidFill>
            <a:srgbClr val="162A41"/>
          </a:solidFill>
          <a:ln w="12700">
            <a:solidFill>
              <a:srgbClr val="A78BFA"/>
            </a:solidFill>
            <a:prstDash val="solid"/>
          </a:ln>
          <a:effectLst>
            <a:outerShdw blurRad="101600" dist="38100" dir="8100000" algn="bl" rotWithShape="0">
              <a:srgbClr val="000000">
                <a:alpha val="22000"/>
              </a:srgbClr>
            </a:outerShdw>
          </a:effectLst>
        </p:spPr>
        <p:txBody>
          <a:bodyPr/>
          <a:lstStyle/>
          <a:p>
            <a:endParaRPr lang="en-IN"/>
          </a:p>
        </p:txBody>
      </p:sp>
      <p:sp>
        <p:nvSpPr>
          <p:cNvPr id="25" name="Shape 23"/>
          <p:cNvSpPr/>
          <p:nvPr/>
        </p:nvSpPr>
        <p:spPr>
          <a:xfrm>
            <a:off x="5760720" y="1828800"/>
            <a:ext cx="3154680" cy="384048"/>
          </a:xfrm>
          <a:prstGeom prst="rect">
            <a:avLst/>
          </a:prstGeom>
          <a:solidFill>
            <a:srgbClr val="A78BFA"/>
          </a:solidFill>
          <a:ln w="12700">
            <a:solidFill>
              <a:srgbClr val="A78BFA"/>
            </a:solidFill>
            <a:prstDash val="solid"/>
          </a:ln>
        </p:spPr>
        <p:txBody>
          <a:bodyPr/>
          <a:lstStyle/>
          <a:p>
            <a:endParaRPr lang="en-IN"/>
          </a:p>
        </p:txBody>
      </p:sp>
      <p:sp>
        <p:nvSpPr>
          <p:cNvPr id="26" name="Text 24"/>
          <p:cNvSpPr/>
          <p:nvPr/>
        </p:nvSpPr>
        <p:spPr>
          <a:xfrm>
            <a:off x="5852160" y="1828800"/>
            <a:ext cx="2971800" cy="384048"/>
          </a:xfrm>
          <a:prstGeom prst="rect">
            <a:avLst/>
          </a:prstGeom>
          <a:noFill/>
          <a:ln/>
        </p:spPr>
        <p:txBody>
          <a:bodyPr wrap="square"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DBSCAN Parameters</a:t>
            </a:r>
            <a:endParaRPr lang="en-US" sz="1200" dirty="0"/>
          </a:p>
        </p:txBody>
      </p:sp>
      <p:sp>
        <p:nvSpPr>
          <p:cNvPr id="27" name="Text 25"/>
          <p:cNvSpPr/>
          <p:nvPr/>
        </p:nvSpPr>
        <p:spPr>
          <a:xfrm>
            <a:off x="5870448" y="2331720"/>
            <a:ext cx="2926080" cy="201168"/>
          </a:xfrm>
          <a:prstGeom prst="rect">
            <a:avLst/>
          </a:prstGeom>
          <a:noFill/>
          <a:ln/>
        </p:spPr>
        <p:txBody>
          <a:bodyPr wrap="square" lIns="0" tIns="0" rIns="0" bIns="0" rtlCol="0" anchor="ctr"/>
          <a:lstStyle/>
          <a:p>
            <a:pPr marL="0" indent="0">
              <a:buNone/>
            </a:pPr>
            <a:r>
              <a:rPr lang="en-US" sz="1100" b="1" dirty="0">
                <a:solidFill>
                  <a:srgbClr val="A78BFA"/>
                </a:solidFill>
                <a:latin typeface="Calibri" pitchFamily="34" charset="0"/>
                <a:ea typeface="Calibri" pitchFamily="34" charset="-122"/>
                <a:cs typeface="Calibri" pitchFamily="34" charset="-120"/>
              </a:rPr>
              <a:t>eps = 2.5</a:t>
            </a:r>
            <a:endParaRPr lang="en-US" sz="1100" dirty="0"/>
          </a:p>
        </p:txBody>
      </p:sp>
      <p:sp>
        <p:nvSpPr>
          <p:cNvPr id="28" name="Text 26"/>
          <p:cNvSpPr/>
          <p:nvPr/>
        </p:nvSpPr>
        <p:spPr>
          <a:xfrm>
            <a:off x="5870448" y="2523744"/>
            <a:ext cx="2926080" cy="164592"/>
          </a:xfrm>
          <a:prstGeom prst="rect">
            <a:avLst/>
          </a:prstGeom>
          <a:noFill/>
          <a:ln/>
        </p:spPr>
        <p:txBody>
          <a:bodyPr wrap="square" lIns="0" tIns="0" rIns="0" bIns="0" rtlCol="0" anchor="ctr"/>
          <a:lstStyle/>
          <a:p>
            <a:pPr marL="0" indent="0">
              <a:buNone/>
            </a:pPr>
            <a:r>
              <a:rPr lang="en-US" sz="950" dirty="0">
                <a:solidFill>
                  <a:srgbClr val="7A9ABB"/>
                </a:solidFill>
                <a:latin typeface="Calibri" pitchFamily="34" charset="0"/>
                <a:ea typeface="Calibri" pitchFamily="34" charset="-122"/>
                <a:cs typeface="Calibri" pitchFamily="34" charset="-120"/>
              </a:rPr>
              <a:t>Neighbourhood radius for clustering</a:t>
            </a:r>
            <a:endParaRPr lang="en-US" sz="950" dirty="0"/>
          </a:p>
        </p:txBody>
      </p:sp>
      <p:sp>
        <p:nvSpPr>
          <p:cNvPr id="29" name="Text 27"/>
          <p:cNvSpPr/>
          <p:nvPr/>
        </p:nvSpPr>
        <p:spPr>
          <a:xfrm>
            <a:off x="5870448" y="2743200"/>
            <a:ext cx="2926080" cy="201168"/>
          </a:xfrm>
          <a:prstGeom prst="rect">
            <a:avLst/>
          </a:prstGeom>
          <a:noFill/>
          <a:ln/>
        </p:spPr>
        <p:txBody>
          <a:bodyPr wrap="square" lIns="0" tIns="0" rIns="0" bIns="0" rtlCol="0" anchor="ctr"/>
          <a:lstStyle/>
          <a:p>
            <a:pPr marL="0" indent="0">
              <a:buNone/>
            </a:pPr>
            <a:r>
              <a:rPr lang="en-US" sz="1100" b="1" dirty="0">
                <a:solidFill>
                  <a:srgbClr val="A78BFA"/>
                </a:solidFill>
                <a:latin typeface="Calibri" pitchFamily="34" charset="0"/>
                <a:ea typeface="Calibri" pitchFamily="34" charset="-122"/>
                <a:cs typeface="Calibri" pitchFamily="34" charset="-120"/>
              </a:rPr>
              <a:t>min_samples = 2</a:t>
            </a:r>
            <a:endParaRPr lang="en-US" sz="1100" dirty="0"/>
          </a:p>
        </p:txBody>
      </p:sp>
      <p:sp>
        <p:nvSpPr>
          <p:cNvPr id="30" name="Text 28"/>
          <p:cNvSpPr/>
          <p:nvPr/>
        </p:nvSpPr>
        <p:spPr>
          <a:xfrm>
            <a:off x="5870448" y="2935224"/>
            <a:ext cx="2926080" cy="164592"/>
          </a:xfrm>
          <a:prstGeom prst="rect">
            <a:avLst/>
          </a:prstGeom>
          <a:noFill/>
          <a:ln/>
        </p:spPr>
        <p:txBody>
          <a:bodyPr wrap="square" lIns="0" tIns="0" rIns="0" bIns="0" rtlCol="0" anchor="ctr"/>
          <a:lstStyle/>
          <a:p>
            <a:pPr marL="0" indent="0">
              <a:buNone/>
            </a:pPr>
            <a:r>
              <a:rPr lang="en-US" sz="950" dirty="0">
                <a:solidFill>
                  <a:srgbClr val="7A9ABB"/>
                </a:solidFill>
                <a:latin typeface="Calibri" pitchFamily="34" charset="0"/>
                <a:ea typeface="Calibri" pitchFamily="34" charset="-122"/>
                <a:cs typeface="Calibri" pitchFamily="34" charset="-120"/>
              </a:rPr>
              <a:t>Min users to form a group</a:t>
            </a:r>
            <a:endParaRPr lang="en-US" sz="950" dirty="0"/>
          </a:p>
        </p:txBody>
      </p:sp>
      <p:sp>
        <p:nvSpPr>
          <p:cNvPr id="31" name="Text 29"/>
          <p:cNvSpPr/>
          <p:nvPr/>
        </p:nvSpPr>
        <p:spPr>
          <a:xfrm>
            <a:off x="5870448" y="3154680"/>
            <a:ext cx="2926080" cy="201168"/>
          </a:xfrm>
          <a:prstGeom prst="rect">
            <a:avLst/>
          </a:prstGeom>
          <a:noFill/>
          <a:ln/>
        </p:spPr>
        <p:txBody>
          <a:bodyPr wrap="square" lIns="0" tIns="0" rIns="0" bIns="0" rtlCol="0" anchor="ctr"/>
          <a:lstStyle/>
          <a:p>
            <a:pPr marL="0" indent="0">
              <a:buNone/>
            </a:pPr>
            <a:r>
              <a:rPr lang="en-US" sz="1100" b="1" dirty="0">
                <a:solidFill>
                  <a:srgbClr val="A78BFA"/>
                </a:solidFill>
                <a:latin typeface="Calibri" pitchFamily="34" charset="0"/>
                <a:ea typeface="Calibri" pitchFamily="34" charset="-122"/>
                <a:cs typeface="Calibri" pitchFamily="34" charset="-120"/>
              </a:rPr>
              <a:t>Label = -1</a:t>
            </a:r>
            <a:endParaRPr lang="en-US" sz="1100" dirty="0"/>
          </a:p>
        </p:txBody>
      </p:sp>
      <p:sp>
        <p:nvSpPr>
          <p:cNvPr id="32" name="Text 30"/>
          <p:cNvSpPr/>
          <p:nvPr/>
        </p:nvSpPr>
        <p:spPr>
          <a:xfrm>
            <a:off x="5870448" y="3346704"/>
            <a:ext cx="2926080" cy="164592"/>
          </a:xfrm>
          <a:prstGeom prst="rect">
            <a:avLst/>
          </a:prstGeom>
          <a:noFill/>
          <a:ln/>
        </p:spPr>
        <p:txBody>
          <a:bodyPr wrap="square" lIns="0" tIns="0" rIns="0" bIns="0" rtlCol="0" anchor="ctr"/>
          <a:lstStyle/>
          <a:p>
            <a:pPr marL="0" indent="0">
              <a:buNone/>
            </a:pPr>
            <a:r>
              <a:rPr lang="en-US" sz="950" dirty="0">
                <a:solidFill>
                  <a:srgbClr val="7A9ABB"/>
                </a:solidFill>
                <a:latin typeface="Calibri" pitchFamily="34" charset="0"/>
                <a:ea typeface="Calibri" pitchFamily="34" charset="-122"/>
                <a:cs typeface="Calibri" pitchFamily="34" charset="-120"/>
              </a:rPr>
              <a:t>User is a structural outlier</a:t>
            </a:r>
            <a:endParaRPr lang="en-US" sz="950" dirty="0"/>
          </a:p>
        </p:txBody>
      </p:sp>
      <p:sp>
        <p:nvSpPr>
          <p:cNvPr id="33" name="Text 31"/>
          <p:cNvSpPr/>
          <p:nvPr/>
        </p:nvSpPr>
        <p:spPr>
          <a:xfrm>
            <a:off x="5870448" y="3566160"/>
            <a:ext cx="2926080" cy="201168"/>
          </a:xfrm>
          <a:prstGeom prst="rect">
            <a:avLst/>
          </a:prstGeom>
          <a:noFill/>
          <a:ln/>
        </p:spPr>
        <p:txBody>
          <a:bodyPr wrap="square" lIns="0" tIns="0" rIns="0" bIns="0" rtlCol="0" anchor="ctr"/>
          <a:lstStyle/>
          <a:p>
            <a:pPr marL="0" indent="0">
              <a:buNone/>
            </a:pPr>
            <a:r>
              <a:rPr lang="en-US" sz="1100" b="1" dirty="0">
                <a:solidFill>
                  <a:srgbClr val="A78BFA"/>
                </a:solidFill>
                <a:latin typeface="Calibri" pitchFamily="34" charset="0"/>
                <a:ea typeface="Calibri" pitchFamily="34" charset="-122"/>
                <a:cs typeface="Calibri" pitchFamily="34" charset="-120"/>
              </a:rPr>
              <a:t>StandardScaler</a:t>
            </a:r>
            <a:endParaRPr lang="en-US" sz="1100" dirty="0"/>
          </a:p>
        </p:txBody>
      </p:sp>
      <p:sp>
        <p:nvSpPr>
          <p:cNvPr id="34" name="Text 32"/>
          <p:cNvSpPr/>
          <p:nvPr/>
        </p:nvSpPr>
        <p:spPr>
          <a:xfrm>
            <a:off x="5870448" y="3758184"/>
            <a:ext cx="2926080" cy="164592"/>
          </a:xfrm>
          <a:prstGeom prst="rect">
            <a:avLst/>
          </a:prstGeom>
          <a:noFill/>
          <a:ln/>
        </p:spPr>
        <p:txBody>
          <a:bodyPr wrap="square" lIns="0" tIns="0" rIns="0" bIns="0" rtlCol="0" anchor="ctr"/>
          <a:lstStyle/>
          <a:p>
            <a:pPr marL="0" indent="0">
              <a:buNone/>
            </a:pPr>
            <a:r>
              <a:rPr lang="en-US" sz="950" dirty="0">
                <a:solidFill>
                  <a:srgbClr val="7A9ABB"/>
                </a:solidFill>
                <a:latin typeface="Calibri" pitchFamily="34" charset="0"/>
                <a:ea typeface="Calibri" pitchFamily="34" charset="-122"/>
                <a:cs typeface="Calibri" pitchFamily="34" charset="-120"/>
              </a:rPr>
              <a:t>Normalises features before clustering</a:t>
            </a:r>
            <a:endParaRPr lang="en-US" sz="950" dirty="0"/>
          </a:p>
        </p:txBody>
      </p:sp>
      <p:sp>
        <p:nvSpPr>
          <p:cNvPr id="35" name="Text 33"/>
          <p:cNvSpPr/>
          <p:nvPr/>
        </p:nvSpPr>
        <p:spPr>
          <a:xfrm>
            <a:off x="5870448" y="3977640"/>
            <a:ext cx="2926080" cy="201168"/>
          </a:xfrm>
          <a:prstGeom prst="rect">
            <a:avLst/>
          </a:prstGeom>
          <a:noFill/>
          <a:ln/>
        </p:spPr>
        <p:txBody>
          <a:bodyPr wrap="square" lIns="0" tIns="0" rIns="0" bIns="0" rtlCol="0" anchor="ctr"/>
          <a:lstStyle/>
          <a:p>
            <a:pPr marL="0" indent="0">
              <a:buNone/>
            </a:pPr>
            <a:r>
              <a:rPr lang="en-US" sz="1100" b="1" dirty="0">
                <a:solidFill>
                  <a:srgbClr val="A78BFA"/>
                </a:solidFill>
                <a:latin typeface="Calibri" pitchFamily="34" charset="0"/>
                <a:ea typeface="Calibri" pitchFamily="34" charset="-122"/>
                <a:cs typeface="Calibri" pitchFamily="34" charset="-120"/>
              </a:rPr>
              <a:t>PCA (2D)</a:t>
            </a:r>
            <a:endParaRPr lang="en-US" sz="1100" dirty="0"/>
          </a:p>
        </p:txBody>
      </p:sp>
      <p:sp>
        <p:nvSpPr>
          <p:cNvPr id="36" name="Text 34"/>
          <p:cNvSpPr/>
          <p:nvPr/>
        </p:nvSpPr>
        <p:spPr>
          <a:xfrm>
            <a:off x="5870448" y="4169664"/>
            <a:ext cx="2926080" cy="164592"/>
          </a:xfrm>
          <a:prstGeom prst="rect">
            <a:avLst/>
          </a:prstGeom>
          <a:noFill/>
          <a:ln/>
        </p:spPr>
        <p:txBody>
          <a:bodyPr wrap="square" lIns="0" tIns="0" rIns="0" bIns="0" rtlCol="0" anchor="ctr"/>
          <a:lstStyle/>
          <a:p>
            <a:pPr marL="0" indent="0">
              <a:buNone/>
            </a:pPr>
            <a:r>
              <a:rPr lang="en-US" sz="950" dirty="0">
                <a:solidFill>
                  <a:srgbClr val="7A9ABB"/>
                </a:solidFill>
                <a:latin typeface="Calibri" pitchFamily="34" charset="0"/>
                <a:ea typeface="Calibri" pitchFamily="34" charset="-122"/>
                <a:cs typeface="Calibri" pitchFamily="34" charset="-120"/>
              </a:rPr>
              <a:t>Visualises outliers vs groups</a:t>
            </a:r>
            <a:endParaRPr lang="en-US" sz="950" dirty="0"/>
          </a:p>
        </p:txBody>
      </p:sp>
      <p:sp>
        <p:nvSpPr>
          <p:cNvPr id="37" name="Text 35"/>
          <p:cNvSpPr/>
          <p:nvPr/>
        </p:nvSpPr>
        <p:spPr>
          <a:xfrm>
            <a:off x="5870448" y="4389120"/>
            <a:ext cx="2926080" cy="201168"/>
          </a:xfrm>
          <a:prstGeom prst="rect">
            <a:avLst/>
          </a:prstGeom>
          <a:noFill/>
          <a:ln/>
        </p:spPr>
        <p:txBody>
          <a:bodyPr wrap="square" lIns="0" tIns="0" rIns="0" bIns="0" rtlCol="0" anchor="ctr"/>
          <a:lstStyle/>
          <a:p>
            <a:pPr marL="0" indent="0">
              <a:buNone/>
            </a:pPr>
            <a:r>
              <a:rPr lang="en-US" sz="1100" b="1" dirty="0">
                <a:solidFill>
                  <a:srgbClr val="A78BFA"/>
                </a:solidFill>
                <a:latin typeface="Calibri" pitchFamily="34" charset="0"/>
                <a:ea typeface="Calibri" pitchFamily="34" charset="-122"/>
                <a:cs typeface="Calibri" pitchFamily="34" charset="-120"/>
              </a:rPr>
              <a:t>Red × marker</a:t>
            </a:r>
            <a:endParaRPr lang="en-US" sz="1100" dirty="0"/>
          </a:p>
        </p:txBody>
      </p:sp>
      <p:sp>
        <p:nvSpPr>
          <p:cNvPr id="38" name="Text 36"/>
          <p:cNvSpPr/>
          <p:nvPr/>
        </p:nvSpPr>
        <p:spPr>
          <a:xfrm>
            <a:off x="5870448" y="4581144"/>
            <a:ext cx="2926080" cy="164592"/>
          </a:xfrm>
          <a:prstGeom prst="rect">
            <a:avLst/>
          </a:prstGeom>
          <a:noFill/>
          <a:ln/>
        </p:spPr>
        <p:txBody>
          <a:bodyPr wrap="square" lIns="0" tIns="0" rIns="0" bIns="0" rtlCol="0" anchor="ctr"/>
          <a:lstStyle/>
          <a:p>
            <a:pPr marL="0" indent="0">
              <a:buNone/>
            </a:pPr>
            <a:r>
              <a:rPr lang="en-US" sz="950" dirty="0">
                <a:solidFill>
                  <a:srgbClr val="7A9ABB"/>
                </a:solidFill>
                <a:latin typeface="Calibri" pitchFamily="34" charset="0"/>
                <a:ea typeface="Calibri" pitchFamily="34" charset="-122"/>
                <a:cs typeface="Calibri" pitchFamily="34" charset="-120"/>
              </a:rPr>
              <a:t>Outlier shown on PCA plot</a:t>
            </a:r>
            <a:endParaRPr lang="en-US" sz="950" dirty="0"/>
          </a:p>
        </p:txBody>
      </p:sp>
      <p:sp>
        <p:nvSpPr>
          <p:cNvPr id="39" name="Shape 37"/>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F4444"/>
          </a:solidFill>
          <a:ln w="12700">
            <a:solidFill>
              <a:srgbClr val="EF4444"/>
            </a:solidFill>
            <a:prstDash val="solid"/>
          </a:ln>
        </p:spPr>
        <p:txBody>
          <a:bodyPr/>
          <a:lstStyle/>
          <a:p>
            <a:endParaRPr lang="en-IN"/>
          </a:p>
        </p:txBody>
      </p:sp>
      <p:sp>
        <p:nvSpPr>
          <p:cNvPr id="3" name="Text 1"/>
          <p:cNvSpPr/>
          <p:nvPr/>
        </p:nvSpPr>
        <p:spPr>
          <a:xfrm>
            <a:off x="365760" y="164592"/>
            <a:ext cx="8412480" cy="502920"/>
          </a:xfrm>
          <a:prstGeom prst="rect">
            <a:avLst/>
          </a:prstGeom>
          <a:noFill/>
          <a:ln/>
        </p:spPr>
        <p:txBody>
          <a:bodyPr wrap="square" lIns="0" tIns="0" rIns="0" bIns="0" rtlCol="0" anchor="ctr"/>
          <a:lstStyle/>
          <a:p>
            <a:pPr marL="0" indent="0" algn="ctr">
              <a:buNone/>
            </a:pPr>
            <a:r>
              <a:rPr lang="en-US" sz="2800" b="1" dirty="0">
                <a:solidFill>
                  <a:srgbClr val="EF4444"/>
                </a:solidFill>
                <a:latin typeface="Calibri" pitchFamily="34" charset="0"/>
                <a:ea typeface="Calibri" pitchFamily="34" charset="-122"/>
                <a:cs typeface="Calibri" pitchFamily="34" charset="-120"/>
              </a:rPr>
              <a:t>Milestone 3 — Summary</a:t>
            </a:r>
            <a:endParaRPr lang="en-US" sz="2800" dirty="0"/>
          </a:p>
        </p:txBody>
      </p:sp>
      <p:sp>
        <p:nvSpPr>
          <p:cNvPr id="4" name="Shape 2"/>
          <p:cNvSpPr/>
          <p:nvPr/>
        </p:nvSpPr>
        <p:spPr>
          <a:xfrm>
            <a:off x="320040" y="1005840"/>
            <a:ext cx="4206240" cy="1051560"/>
          </a:xfrm>
          <a:prstGeom prst="rect">
            <a:avLst/>
          </a:prstGeom>
          <a:solidFill>
            <a:srgbClr val="162A41"/>
          </a:solidFill>
          <a:ln w="12700">
            <a:solidFill>
              <a:srgbClr val="10B981"/>
            </a:solidFill>
            <a:prstDash val="solid"/>
          </a:ln>
          <a:effectLst>
            <a:outerShdw blurRad="101600" dist="38100" dir="8100000" algn="bl" rotWithShape="0">
              <a:srgbClr val="000000">
                <a:alpha val="22000"/>
              </a:srgbClr>
            </a:outerShdw>
          </a:effectLst>
        </p:spPr>
        <p:txBody>
          <a:bodyPr/>
          <a:lstStyle/>
          <a:p>
            <a:endParaRPr lang="en-IN"/>
          </a:p>
        </p:txBody>
      </p:sp>
      <p:sp>
        <p:nvSpPr>
          <p:cNvPr id="5" name="Text 3"/>
          <p:cNvSpPr/>
          <p:nvPr/>
        </p:nvSpPr>
        <p:spPr>
          <a:xfrm>
            <a:off x="411480" y="109728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868680" y="1143000"/>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ea typeface="Calibri" pitchFamily="34" charset="-122"/>
                <a:cs typeface="Calibri" pitchFamily="34" charset="-120"/>
              </a:rPr>
              <a:t>Threshold violations: HR, Steps, Sleep vs hard-coded clinical limits</a:t>
            </a:r>
            <a:endParaRPr lang="en-US" sz="1150" dirty="0"/>
          </a:p>
        </p:txBody>
      </p:sp>
      <p:sp>
        <p:nvSpPr>
          <p:cNvPr id="7" name="Shape 5"/>
          <p:cNvSpPr/>
          <p:nvPr/>
        </p:nvSpPr>
        <p:spPr>
          <a:xfrm>
            <a:off x="4754880" y="1005840"/>
            <a:ext cx="4206240" cy="1051560"/>
          </a:xfrm>
          <a:prstGeom prst="rect">
            <a:avLst/>
          </a:prstGeom>
          <a:solidFill>
            <a:srgbClr val="162A41"/>
          </a:solidFill>
          <a:ln w="12700">
            <a:solidFill>
              <a:srgbClr val="38BDF8"/>
            </a:solidFill>
            <a:prstDash val="solid"/>
          </a:ln>
          <a:effectLst>
            <a:outerShdw blurRad="101600" dist="38100" dir="8100000" algn="bl" rotWithShape="0">
              <a:srgbClr val="000000">
                <a:alpha val="22000"/>
              </a:srgbClr>
            </a:outerShdw>
          </a:effectLst>
        </p:spPr>
        <p:txBody>
          <a:bodyPr/>
          <a:lstStyle/>
          <a:p>
            <a:endParaRPr lang="en-IN"/>
          </a:p>
        </p:txBody>
      </p:sp>
      <p:sp>
        <p:nvSpPr>
          <p:cNvPr id="8" name="Text 6"/>
          <p:cNvSpPr/>
          <p:nvPr/>
        </p:nvSpPr>
        <p:spPr>
          <a:xfrm>
            <a:off x="4846320" y="109728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9" name="Text 7"/>
          <p:cNvSpPr/>
          <p:nvPr/>
        </p:nvSpPr>
        <p:spPr>
          <a:xfrm>
            <a:off x="5303520" y="1143000"/>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ea typeface="Calibri" pitchFamily="34" charset="-122"/>
                <a:cs typeface="Calibri" pitchFamily="34" charset="-120"/>
              </a:rPr>
              <a:t>Residual detection: 7-day rolling median ±2σ for all 3 metrics</a:t>
            </a:r>
            <a:endParaRPr lang="en-US" sz="1150" dirty="0"/>
          </a:p>
        </p:txBody>
      </p:sp>
      <p:sp>
        <p:nvSpPr>
          <p:cNvPr id="10" name="Shape 8"/>
          <p:cNvSpPr/>
          <p:nvPr/>
        </p:nvSpPr>
        <p:spPr>
          <a:xfrm>
            <a:off x="320040" y="2267712"/>
            <a:ext cx="4206240" cy="1051560"/>
          </a:xfrm>
          <a:prstGeom prst="rect">
            <a:avLst/>
          </a:prstGeom>
          <a:solidFill>
            <a:srgbClr val="162A41"/>
          </a:solidFill>
          <a:ln w="12700">
            <a:solidFill>
              <a:srgbClr val="A78BFA"/>
            </a:solidFill>
            <a:prstDash val="solid"/>
          </a:ln>
          <a:effectLst>
            <a:outerShdw blurRad="101600" dist="38100" dir="8100000" algn="bl" rotWithShape="0">
              <a:srgbClr val="000000">
                <a:alpha val="22000"/>
              </a:srgbClr>
            </a:outerShdw>
          </a:effectLst>
        </p:spPr>
        <p:txBody>
          <a:bodyPr/>
          <a:lstStyle/>
          <a:p>
            <a:endParaRPr lang="en-IN"/>
          </a:p>
        </p:txBody>
      </p:sp>
      <p:sp>
        <p:nvSpPr>
          <p:cNvPr id="11" name="Text 9"/>
          <p:cNvSpPr/>
          <p:nvPr/>
        </p:nvSpPr>
        <p:spPr>
          <a:xfrm>
            <a:off x="411480" y="2359152"/>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12" name="Text 10"/>
          <p:cNvSpPr/>
          <p:nvPr/>
        </p:nvSpPr>
        <p:spPr>
          <a:xfrm>
            <a:off x="868680" y="2404872"/>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ea typeface="Calibri" pitchFamily="34" charset="-122"/>
                <a:cs typeface="Calibri" pitchFamily="34" charset="-120"/>
              </a:rPr>
              <a:t>DBSCAN outliers: per-user profile clustering, label -1 = anomalous user</a:t>
            </a:r>
            <a:endParaRPr lang="en-US" sz="1150" dirty="0"/>
          </a:p>
        </p:txBody>
      </p:sp>
      <p:sp>
        <p:nvSpPr>
          <p:cNvPr id="13" name="Shape 11"/>
          <p:cNvSpPr/>
          <p:nvPr/>
        </p:nvSpPr>
        <p:spPr>
          <a:xfrm>
            <a:off x="4754880" y="2267712"/>
            <a:ext cx="4206240" cy="1051560"/>
          </a:xfrm>
          <a:prstGeom prst="rect">
            <a:avLst/>
          </a:prstGeom>
          <a:solidFill>
            <a:srgbClr val="162A41"/>
          </a:solidFill>
          <a:ln w="12700">
            <a:solidFill>
              <a:srgbClr val="F59E0B"/>
            </a:solidFill>
            <a:prstDash val="solid"/>
          </a:ln>
          <a:effectLst>
            <a:outerShdw blurRad="101600" dist="38100" dir="8100000" algn="bl" rotWithShape="0">
              <a:srgbClr val="000000">
                <a:alpha val="22000"/>
              </a:srgbClr>
            </a:outerShdw>
          </a:effectLst>
        </p:spPr>
        <p:txBody>
          <a:bodyPr/>
          <a:lstStyle/>
          <a:p>
            <a:endParaRPr lang="en-IN"/>
          </a:p>
        </p:txBody>
      </p:sp>
      <p:sp>
        <p:nvSpPr>
          <p:cNvPr id="14" name="Text 12"/>
          <p:cNvSpPr/>
          <p:nvPr/>
        </p:nvSpPr>
        <p:spPr>
          <a:xfrm>
            <a:off x="4846320" y="2359152"/>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15" name="Text 13"/>
          <p:cNvSpPr/>
          <p:nvPr/>
        </p:nvSpPr>
        <p:spPr>
          <a:xfrm>
            <a:off x="5303520" y="2404872"/>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ea typeface="Calibri" pitchFamily="34" charset="-122"/>
                <a:cs typeface="Calibri" pitchFamily="34" charset="-120"/>
              </a:rPr>
              <a:t>Combined anomaly heatmap — days with multiple simultaneous alerts</a:t>
            </a:r>
            <a:endParaRPr lang="en-US" sz="1150" dirty="0"/>
          </a:p>
        </p:txBody>
      </p:sp>
      <p:sp>
        <p:nvSpPr>
          <p:cNvPr id="16" name="Shape 14"/>
          <p:cNvSpPr/>
          <p:nvPr/>
        </p:nvSpPr>
        <p:spPr>
          <a:xfrm>
            <a:off x="320040" y="3529584"/>
            <a:ext cx="4206240" cy="1051560"/>
          </a:xfrm>
          <a:prstGeom prst="rect">
            <a:avLst/>
          </a:prstGeom>
          <a:solidFill>
            <a:srgbClr val="162A41"/>
          </a:solidFill>
          <a:ln w="12700">
            <a:solidFill>
              <a:srgbClr val="EF4444"/>
            </a:solidFill>
            <a:prstDash val="solid"/>
          </a:ln>
          <a:effectLst>
            <a:outerShdw blurRad="101600" dist="38100" dir="8100000" algn="bl" rotWithShape="0">
              <a:srgbClr val="000000">
                <a:alpha val="22000"/>
              </a:srgbClr>
            </a:outerShdw>
          </a:effectLst>
        </p:spPr>
        <p:txBody>
          <a:bodyPr/>
          <a:lstStyle/>
          <a:p>
            <a:endParaRPr lang="en-IN"/>
          </a:p>
        </p:txBody>
      </p:sp>
      <p:sp>
        <p:nvSpPr>
          <p:cNvPr id="17" name="Text 15"/>
          <p:cNvSpPr/>
          <p:nvPr/>
        </p:nvSpPr>
        <p:spPr>
          <a:xfrm>
            <a:off x="411480" y="3621024"/>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18" name="Text 16"/>
          <p:cNvSpPr/>
          <p:nvPr/>
        </p:nvSpPr>
        <p:spPr>
          <a:xfrm>
            <a:off x="868680" y="3666744"/>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ea typeface="Calibri" pitchFamily="34" charset="-122"/>
                <a:cs typeface="Calibri" pitchFamily="34" charset="-120"/>
              </a:rPr>
              <a:t>Downloadable anomaly report CSV with date, metric, value, method, and note</a:t>
            </a:r>
            <a:endParaRPr lang="en-US" sz="1150" dirty="0"/>
          </a:p>
        </p:txBody>
      </p:sp>
      <p:sp>
        <p:nvSpPr>
          <p:cNvPr id="19" name="Shape 17"/>
          <p:cNvSpPr/>
          <p:nvPr/>
        </p:nvSpPr>
        <p:spPr>
          <a:xfrm>
            <a:off x="4754880" y="3529584"/>
            <a:ext cx="4206240" cy="1051560"/>
          </a:xfrm>
          <a:prstGeom prst="rect">
            <a:avLst/>
          </a:prstGeom>
          <a:solidFill>
            <a:srgbClr val="162A41"/>
          </a:solidFill>
          <a:ln w="12700">
            <a:solidFill>
              <a:srgbClr val="6366F1"/>
            </a:solidFill>
            <a:prstDash val="solid"/>
          </a:ln>
          <a:effectLst>
            <a:outerShdw blurRad="101600" dist="38100" dir="8100000" algn="bl" rotWithShape="0">
              <a:srgbClr val="000000">
                <a:alpha val="22000"/>
              </a:srgbClr>
            </a:outerShdw>
          </a:effectLst>
        </p:spPr>
        <p:txBody>
          <a:bodyPr/>
          <a:lstStyle/>
          <a:p>
            <a:endParaRPr lang="en-IN"/>
          </a:p>
        </p:txBody>
      </p:sp>
      <p:sp>
        <p:nvSpPr>
          <p:cNvPr id="20" name="Text 18"/>
          <p:cNvSpPr/>
          <p:nvPr/>
        </p:nvSpPr>
        <p:spPr>
          <a:xfrm>
            <a:off x="4846320" y="3621024"/>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ea typeface="Calibri" pitchFamily="34" charset="-122"/>
                <a:cs typeface="Calibri" pitchFamily="34" charset="-120"/>
              </a:rPr>
              <a:t>✅</a:t>
            </a:r>
            <a:endParaRPr lang="en-US" sz="2000" dirty="0"/>
          </a:p>
        </p:txBody>
      </p:sp>
      <p:sp>
        <p:nvSpPr>
          <p:cNvPr id="21" name="Text 19"/>
          <p:cNvSpPr/>
          <p:nvPr/>
        </p:nvSpPr>
        <p:spPr>
          <a:xfrm>
            <a:off x="5303520" y="3666744"/>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ea typeface="Calibri" pitchFamily="34" charset="-122"/>
                <a:cs typeface="Calibri" pitchFamily="34" charset="-120"/>
              </a:rPr>
              <a:t>PCA visualisation of structural outliers vs normal user clusters</a:t>
            </a:r>
            <a:endParaRPr lang="en-US" sz="1150" dirty="0"/>
          </a:p>
        </p:txBody>
      </p:sp>
      <p:sp>
        <p:nvSpPr>
          <p:cNvPr id="24" name="Shape 22"/>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78768E6E-2587-5557-3A01-94F59D6F8E5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DF78846-624B-CFD7-250F-096A7EB7C754}"/>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11C87119-6D98-655A-D04E-22943D4ABFEE}"/>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Anomalies in Heart Rate </a:t>
            </a:r>
          </a:p>
          <a:p>
            <a:pPr marL="0" indent="0">
              <a:buNone/>
            </a:pPr>
            <a:endParaRPr lang="en-US" sz="2800" dirty="0"/>
          </a:p>
        </p:txBody>
      </p:sp>
      <p:sp>
        <p:nvSpPr>
          <p:cNvPr id="25" name="Shape 23">
            <a:extLst>
              <a:ext uri="{FF2B5EF4-FFF2-40B4-BE49-F238E27FC236}">
                <a16:creationId xmlns:a16="http://schemas.microsoft.com/office/drawing/2014/main" id="{A5E32511-F8B4-CE9A-0E93-EF03061653FA}"/>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5" name="Picture 4">
            <a:extLst>
              <a:ext uri="{FF2B5EF4-FFF2-40B4-BE49-F238E27FC236}">
                <a16:creationId xmlns:a16="http://schemas.microsoft.com/office/drawing/2014/main" id="{C44979A3-BFAB-7BD8-2E88-9CFF879FA5A3}"/>
              </a:ext>
            </a:extLst>
          </p:cNvPr>
          <p:cNvPicPr>
            <a:picLocks noChangeAspect="1"/>
          </p:cNvPicPr>
          <p:nvPr/>
        </p:nvPicPr>
        <p:blipFill>
          <a:blip r:embed="rId3"/>
          <a:stretch>
            <a:fillRect/>
          </a:stretch>
        </p:blipFill>
        <p:spPr>
          <a:xfrm>
            <a:off x="2068670" y="1280160"/>
            <a:ext cx="4978159" cy="3340800"/>
          </a:xfrm>
          <a:prstGeom prst="rect">
            <a:avLst/>
          </a:prstGeom>
        </p:spPr>
      </p:pic>
    </p:spTree>
    <p:extLst>
      <p:ext uri="{BB962C8B-B14F-4D97-AF65-F5344CB8AC3E}">
        <p14:creationId xmlns:p14="http://schemas.microsoft.com/office/powerpoint/2010/main" val="31284882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E6336BE4-4258-33F2-0C0C-1E64D6E28E7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9720F0F-0E38-AF16-E60A-A317ED680CA5}"/>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4610F598-FFD2-B188-5C7D-E99B15FAC520}"/>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Anomalies in Sleep Rate</a:t>
            </a:r>
          </a:p>
          <a:p>
            <a:pPr marL="0" indent="0">
              <a:buNone/>
            </a:pPr>
            <a:endParaRPr lang="en-US" sz="2800" dirty="0"/>
          </a:p>
        </p:txBody>
      </p:sp>
      <p:sp>
        <p:nvSpPr>
          <p:cNvPr id="25" name="Shape 23">
            <a:extLst>
              <a:ext uri="{FF2B5EF4-FFF2-40B4-BE49-F238E27FC236}">
                <a16:creationId xmlns:a16="http://schemas.microsoft.com/office/drawing/2014/main" id="{907A2AF2-E3A3-445D-E4A4-F75E82A89708}"/>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6" name="Picture 5">
            <a:extLst>
              <a:ext uri="{FF2B5EF4-FFF2-40B4-BE49-F238E27FC236}">
                <a16:creationId xmlns:a16="http://schemas.microsoft.com/office/drawing/2014/main" id="{7C6C6E65-D8EC-D018-9C67-AA7947D84609}"/>
              </a:ext>
            </a:extLst>
          </p:cNvPr>
          <p:cNvPicPr>
            <a:picLocks noChangeAspect="1"/>
          </p:cNvPicPr>
          <p:nvPr/>
        </p:nvPicPr>
        <p:blipFill>
          <a:blip r:embed="rId3"/>
          <a:stretch>
            <a:fillRect/>
          </a:stretch>
        </p:blipFill>
        <p:spPr>
          <a:xfrm>
            <a:off x="2179121" y="1280160"/>
            <a:ext cx="4503097" cy="3221701"/>
          </a:xfrm>
          <a:prstGeom prst="rect">
            <a:avLst/>
          </a:prstGeom>
        </p:spPr>
      </p:pic>
    </p:spTree>
    <p:extLst>
      <p:ext uri="{BB962C8B-B14F-4D97-AF65-F5344CB8AC3E}">
        <p14:creationId xmlns:p14="http://schemas.microsoft.com/office/powerpoint/2010/main" val="16191491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12124B61-125F-23D1-0869-EF52C554DCF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BFB493A-1158-3C56-D627-F827DFB04CB0}"/>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94A5A0FD-9078-4482-DB2F-DF0BE8E0CEED}"/>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Anomalies in Steps </a:t>
            </a:r>
          </a:p>
          <a:p>
            <a:pPr marL="0" indent="0">
              <a:buNone/>
            </a:pPr>
            <a:endParaRPr lang="en-US" sz="2800" dirty="0"/>
          </a:p>
        </p:txBody>
      </p:sp>
      <p:sp>
        <p:nvSpPr>
          <p:cNvPr id="25" name="Shape 23">
            <a:extLst>
              <a:ext uri="{FF2B5EF4-FFF2-40B4-BE49-F238E27FC236}">
                <a16:creationId xmlns:a16="http://schemas.microsoft.com/office/drawing/2014/main" id="{4AC09207-0A55-47CF-3ABC-A5E1BE7D5F6C}"/>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6" name="Picture 5">
            <a:extLst>
              <a:ext uri="{FF2B5EF4-FFF2-40B4-BE49-F238E27FC236}">
                <a16:creationId xmlns:a16="http://schemas.microsoft.com/office/drawing/2014/main" id="{F4DF6D6C-E2FA-0B47-7867-5BA2A8DDFF27}"/>
              </a:ext>
            </a:extLst>
          </p:cNvPr>
          <p:cNvPicPr>
            <a:picLocks noChangeAspect="1"/>
          </p:cNvPicPr>
          <p:nvPr/>
        </p:nvPicPr>
        <p:blipFill>
          <a:blip r:embed="rId3"/>
          <a:stretch>
            <a:fillRect/>
          </a:stretch>
        </p:blipFill>
        <p:spPr>
          <a:xfrm>
            <a:off x="1989560" y="1346239"/>
            <a:ext cx="5136380" cy="3576387"/>
          </a:xfrm>
          <a:prstGeom prst="rect">
            <a:avLst/>
          </a:prstGeom>
        </p:spPr>
      </p:pic>
    </p:spTree>
    <p:extLst>
      <p:ext uri="{BB962C8B-B14F-4D97-AF65-F5344CB8AC3E}">
        <p14:creationId xmlns:p14="http://schemas.microsoft.com/office/powerpoint/2010/main" val="26392059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75E08C4D-74E2-AEDC-F1ED-420E06322F3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DCCC1DF-9067-457A-ACC8-3242AAD2F393}"/>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F812C8AB-4680-C2D3-24E5-20F968FCE4FE}"/>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DBSCAN Outliers</a:t>
            </a:r>
          </a:p>
          <a:p>
            <a:pPr marL="0" indent="0">
              <a:buNone/>
            </a:pPr>
            <a:endParaRPr lang="en-US" sz="2800" dirty="0"/>
          </a:p>
        </p:txBody>
      </p:sp>
      <p:sp>
        <p:nvSpPr>
          <p:cNvPr id="25" name="Shape 23">
            <a:extLst>
              <a:ext uri="{FF2B5EF4-FFF2-40B4-BE49-F238E27FC236}">
                <a16:creationId xmlns:a16="http://schemas.microsoft.com/office/drawing/2014/main" id="{0548707C-7E9D-6918-C3C0-F5E27F3170D3}"/>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5" name="Picture 4">
            <a:extLst>
              <a:ext uri="{FF2B5EF4-FFF2-40B4-BE49-F238E27FC236}">
                <a16:creationId xmlns:a16="http://schemas.microsoft.com/office/drawing/2014/main" id="{BA01AB84-500B-BB91-C0AD-120B3F8522CF}"/>
              </a:ext>
            </a:extLst>
          </p:cNvPr>
          <p:cNvPicPr>
            <a:picLocks noChangeAspect="1"/>
          </p:cNvPicPr>
          <p:nvPr/>
        </p:nvPicPr>
        <p:blipFill>
          <a:blip r:embed="rId3"/>
          <a:stretch>
            <a:fillRect/>
          </a:stretch>
        </p:blipFill>
        <p:spPr>
          <a:xfrm>
            <a:off x="2046919" y="1280160"/>
            <a:ext cx="5050161" cy="3513646"/>
          </a:xfrm>
          <a:prstGeom prst="rect">
            <a:avLst/>
          </a:prstGeom>
        </p:spPr>
      </p:pic>
    </p:spTree>
    <p:extLst>
      <p:ext uri="{BB962C8B-B14F-4D97-AF65-F5344CB8AC3E}">
        <p14:creationId xmlns:p14="http://schemas.microsoft.com/office/powerpoint/2010/main" val="21675382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C8A95BA9-209E-3A5B-66FE-BDC50295A3C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0A1462C-54B0-99A0-050E-E084842523B6}"/>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EDD51505-9FD7-C3D8-E48A-9995ACADED7A}"/>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Anomaly Report Summary</a:t>
            </a:r>
          </a:p>
          <a:p>
            <a:pPr marL="0" indent="0">
              <a:buNone/>
            </a:pPr>
            <a:endParaRPr lang="en-US" sz="2800" dirty="0"/>
          </a:p>
        </p:txBody>
      </p:sp>
      <p:sp>
        <p:nvSpPr>
          <p:cNvPr id="25" name="Shape 23">
            <a:extLst>
              <a:ext uri="{FF2B5EF4-FFF2-40B4-BE49-F238E27FC236}">
                <a16:creationId xmlns:a16="http://schemas.microsoft.com/office/drawing/2014/main" id="{3A6F0EC0-DF55-0E34-8677-7DA6D2BA9A8F}"/>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6" name="Picture 5">
            <a:extLst>
              <a:ext uri="{FF2B5EF4-FFF2-40B4-BE49-F238E27FC236}">
                <a16:creationId xmlns:a16="http://schemas.microsoft.com/office/drawing/2014/main" id="{4B5AE973-DEB0-9C6E-4250-356CEDDC8C7C}"/>
              </a:ext>
            </a:extLst>
          </p:cNvPr>
          <p:cNvPicPr>
            <a:picLocks noChangeAspect="1"/>
          </p:cNvPicPr>
          <p:nvPr/>
        </p:nvPicPr>
        <p:blipFill>
          <a:blip r:embed="rId3"/>
          <a:stretch>
            <a:fillRect/>
          </a:stretch>
        </p:blipFill>
        <p:spPr>
          <a:xfrm>
            <a:off x="774077" y="1356481"/>
            <a:ext cx="7595846" cy="2854931"/>
          </a:xfrm>
          <a:prstGeom prst="rect">
            <a:avLst/>
          </a:prstGeom>
        </p:spPr>
      </p:pic>
    </p:spTree>
    <p:extLst>
      <p:ext uri="{BB962C8B-B14F-4D97-AF65-F5344CB8AC3E}">
        <p14:creationId xmlns:p14="http://schemas.microsoft.com/office/powerpoint/2010/main" val="18178673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C8BE7D89-8E09-4FC9-5EA9-C50E6E0B6DE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590062D-470F-A081-A41C-77007462F878}"/>
              </a:ext>
            </a:extLst>
          </p:cNvPr>
          <p:cNvSpPr/>
          <p:nvPr/>
        </p:nvSpPr>
        <p:spPr>
          <a:xfrm>
            <a:off x="0" y="0"/>
            <a:ext cx="4114800" cy="5143500"/>
          </a:xfrm>
          <a:prstGeom prst="rect">
            <a:avLst/>
          </a:prstGeom>
          <a:solidFill>
            <a:srgbClr val="162A41"/>
          </a:solidFill>
          <a:ln w="12700">
            <a:solidFill>
              <a:srgbClr val="162A41"/>
            </a:solidFill>
            <a:prstDash val="solid"/>
          </a:ln>
        </p:spPr>
        <p:txBody>
          <a:bodyPr/>
          <a:lstStyle/>
          <a:p>
            <a:endParaRPr lang="en-IN"/>
          </a:p>
        </p:txBody>
      </p:sp>
      <p:sp>
        <p:nvSpPr>
          <p:cNvPr id="3" name="Shape 1">
            <a:extLst>
              <a:ext uri="{FF2B5EF4-FFF2-40B4-BE49-F238E27FC236}">
                <a16:creationId xmlns:a16="http://schemas.microsoft.com/office/drawing/2014/main" id="{A4C3A488-80E6-69DB-6FD5-BACD4B2C215C}"/>
              </a:ext>
            </a:extLst>
          </p:cNvPr>
          <p:cNvSpPr/>
          <p:nvPr/>
        </p:nvSpPr>
        <p:spPr>
          <a:xfrm>
            <a:off x="4114800" y="0"/>
            <a:ext cx="54864" cy="5143500"/>
          </a:xfrm>
          <a:prstGeom prst="rect">
            <a:avLst/>
          </a:prstGeom>
          <a:solidFill>
            <a:srgbClr val="A78BFA"/>
          </a:solidFill>
          <a:ln w="12700">
            <a:solidFill>
              <a:srgbClr val="A78BFA"/>
            </a:solidFill>
            <a:prstDash val="solid"/>
          </a:ln>
        </p:spPr>
        <p:txBody>
          <a:bodyPr/>
          <a:lstStyle/>
          <a:p>
            <a:endParaRPr lang="en-IN"/>
          </a:p>
        </p:txBody>
      </p:sp>
      <p:sp>
        <p:nvSpPr>
          <p:cNvPr id="4" name="Text 2">
            <a:extLst>
              <a:ext uri="{FF2B5EF4-FFF2-40B4-BE49-F238E27FC236}">
                <a16:creationId xmlns:a16="http://schemas.microsoft.com/office/drawing/2014/main" id="{1352CAD6-BDE0-8B29-287C-DC859A6CD622}"/>
              </a:ext>
            </a:extLst>
          </p:cNvPr>
          <p:cNvSpPr/>
          <p:nvPr/>
        </p:nvSpPr>
        <p:spPr>
          <a:xfrm>
            <a:off x="274320" y="1097280"/>
            <a:ext cx="3566160" cy="1371600"/>
          </a:xfrm>
          <a:prstGeom prst="rect">
            <a:avLst/>
          </a:prstGeom>
          <a:noFill/>
          <a:ln/>
        </p:spPr>
        <p:txBody>
          <a:bodyPr wrap="square" rtlCol="0" anchor="ctr"/>
          <a:lstStyle/>
          <a:p>
            <a:pPr marL="0" indent="0" algn="ctr">
              <a:buNone/>
            </a:pPr>
            <a:r>
              <a:rPr lang="en-US" sz="9600" b="1" dirty="0">
                <a:solidFill>
                  <a:srgbClr val="A78BFA">
                    <a:alpha val="70000"/>
                  </a:srgbClr>
                </a:solidFill>
                <a:latin typeface="Calibri" pitchFamily="34" charset="0"/>
                <a:ea typeface="Calibri" pitchFamily="34" charset="-122"/>
                <a:cs typeface="Calibri" pitchFamily="34" charset="-120"/>
              </a:rPr>
              <a:t>04</a:t>
            </a:r>
            <a:endParaRPr lang="en-US" sz="9600" dirty="0"/>
          </a:p>
        </p:txBody>
      </p:sp>
      <p:sp>
        <p:nvSpPr>
          <p:cNvPr id="5" name="Text 3">
            <a:extLst>
              <a:ext uri="{FF2B5EF4-FFF2-40B4-BE49-F238E27FC236}">
                <a16:creationId xmlns:a16="http://schemas.microsoft.com/office/drawing/2014/main" id="{5CDB95DC-AB5C-BA06-F719-4DA3C4988C5D}"/>
              </a:ext>
            </a:extLst>
          </p:cNvPr>
          <p:cNvSpPr/>
          <p:nvPr/>
        </p:nvSpPr>
        <p:spPr>
          <a:xfrm>
            <a:off x="274320" y="2560320"/>
            <a:ext cx="3566160" cy="5029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Milestone 4</a:t>
            </a:r>
            <a:endParaRPr lang="en-US" sz="2200" dirty="0"/>
          </a:p>
        </p:txBody>
      </p:sp>
      <p:sp>
        <p:nvSpPr>
          <p:cNvPr id="6" name="Text 4">
            <a:extLst>
              <a:ext uri="{FF2B5EF4-FFF2-40B4-BE49-F238E27FC236}">
                <a16:creationId xmlns:a16="http://schemas.microsoft.com/office/drawing/2014/main" id="{6587E46C-E00A-799E-5443-9E9777DC9DB1}"/>
              </a:ext>
            </a:extLst>
          </p:cNvPr>
          <p:cNvSpPr/>
          <p:nvPr/>
        </p:nvSpPr>
        <p:spPr>
          <a:xfrm>
            <a:off x="274320" y="3063240"/>
            <a:ext cx="3566160" cy="731520"/>
          </a:xfrm>
          <a:prstGeom prst="rect">
            <a:avLst/>
          </a:prstGeom>
          <a:noFill/>
          <a:ln/>
        </p:spPr>
        <p:txBody>
          <a:bodyPr wrap="square" rtlCol="0" anchor="ctr"/>
          <a:lstStyle/>
          <a:p>
            <a:pPr marL="0" indent="0" algn="ctr">
              <a:buNone/>
            </a:pPr>
            <a:r>
              <a:rPr lang="en-US" sz="1400" dirty="0">
                <a:solidFill>
                  <a:srgbClr val="7A9ABB"/>
                </a:solidFill>
                <a:latin typeface="Calibri" pitchFamily="34" charset="0"/>
                <a:ea typeface="Calibri" pitchFamily="34" charset="-122"/>
                <a:cs typeface="Calibri" pitchFamily="34" charset="-120"/>
              </a:rPr>
              <a:t>Insights Dashboard</a:t>
            </a:r>
            <a:endParaRPr lang="en-US" sz="1400" dirty="0"/>
          </a:p>
        </p:txBody>
      </p:sp>
      <p:sp>
        <p:nvSpPr>
          <p:cNvPr id="7" name="Shape 5">
            <a:extLst>
              <a:ext uri="{FF2B5EF4-FFF2-40B4-BE49-F238E27FC236}">
                <a16:creationId xmlns:a16="http://schemas.microsoft.com/office/drawing/2014/main" id="{1EA2140F-6A6E-BE85-851C-50DBD371C479}"/>
              </a:ext>
            </a:extLst>
          </p:cNvPr>
          <p:cNvSpPr/>
          <p:nvPr/>
        </p:nvSpPr>
        <p:spPr>
          <a:xfrm>
            <a:off x="4572000" y="457200"/>
            <a:ext cx="502920" cy="502920"/>
          </a:xfrm>
          <a:prstGeom prst="rect">
            <a:avLst/>
          </a:prstGeom>
          <a:solidFill>
            <a:srgbClr val="A78BFA"/>
          </a:solidFill>
          <a:ln w="12700">
            <a:solidFill>
              <a:srgbClr val="A78BFA"/>
            </a:solidFill>
            <a:prstDash val="solid"/>
          </a:ln>
        </p:spPr>
        <p:txBody>
          <a:bodyPr/>
          <a:lstStyle/>
          <a:p>
            <a:endParaRPr lang="en-IN"/>
          </a:p>
        </p:txBody>
      </p:sp>
      <p:sp>
        <p:nvSpPr>
          <p:cNvPr id="8" name="Text 6">
            <a:extLst>
              <a:ext uri="{FF2B5EF4-FFF2-40B4-BE49-F238E27FC236}">
                <a16:creationId xmlns:a16="http://schemas.microsoft.com/office/drawing/2014/main" id="{9B5F022C-12C4-65EE-0FDE-20C09F51BAE0}"/>
              </a:ext>
            </a:extLst>
          </p:cNvPr>
          <p:cNvSpPr/>
          <p:nvPr/>
        </p:nvSpPr>
        <p:spPr>
          <a:xfrm>
            <a:off x="4572000" y="45720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9" name="Text 7">
            <a:extLst>
              <a:ext uri="{FF2B5EF4-FFF2-40B4-BE49-F238E27FC236}">
                <a16:creationId xmlns:a16="http://schemas.microsoft.com/office/drawing/2014/main" id="{40EBA5F5-A335-44F2-15C5-29EAA7E06068}"/>
              </a:ext>
            </a:extLst>
          </p:cNvPr>
          <p:cNvSpPr/>
          <p:nvPr/>
        </p:nvSpPr>
        <p:spPr>
          <a:xfrm>
            <a:off x="5212080" y="47548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Upload CSV</a:t>
            </a:r>
            <a:endParaRPr lang="en-US" sz="1400" dirty="0"/>
          </a:p>
        </p:txBody>
      </p:sp>
      <p:sp>
        <p:nvSpPr>
          <p:cNvPr id="10" name="Text 8">
            <a:extLst>
              <a:ext uri="{FF2B5EF4-FFF2-40B4-BE49-F238E27FC236}">
                <a16:creationId xmlns:a16="http://schemas.microsoft.com/office/drawing/2014/main" id="{1142B826-0499-210D-F324-AB8C7568D7FC}"/>
              </a:ext>
            </a:extLst>
          </p:cNvPr>
          <p:cNvSpPr/>
          <p:nvPr/>
        </p:nvSpPr>
        <p:spPr>
          <a:xfrm>
            <a:off x="5212080" y="71323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User uploads a fitness tracking CSV file</a:t>
            </a:r>
            <a:endParaRPr lang="en-US" sz="1100" dirty="0"/>
          </a:p>
        </p:txBody>
      </p:sp>
      <p:sp>
        <p:nvSpPr>
          <p:cNvPr id="11" name="Shape 9">
            <a:extLst>
              <a:ext uri="{FF2B5EF4-FFF2-40B4-BE49-F238E27FC236}">
                <a16:creationId xmlns:a16="http://schemas.microsoft.com/office/drawing/2014/main" id="{2FEB7E33-3268-82E3-9FEF-65C23D52A462}"/>
              </a:ext>
            </a:extLst>
          </p:cNvPr>
          <p:cNvSpPr/>
          <p:nvPr/>
        </p:nvSpPr>
        <p:spPr>
          <a:xfrm>
            <a:off x="4572000" y="1554480"/>
            <a:ext cx="502920" cy="502920"/>
          </a:xfrm>
          <a:prstGeom prst="rect">
            <a:avLst/>
          </a:prstGeom>
          <a:solidFill>
            <a:srgbClr val="A78BFA"/>
          </a:solidFill>
          <a:ln w="12700">
            <a:solidFill>
              <a:srgbClr val="A78BFA"/>
            </a:solidFill>
            <a:prstDash val="solid"/>
          </a:ln>
        </p:spPr>
        <p:txBody>
          <a:bodyPr/>
          <a:lstStyle/>
          <a:p>
            <a:endParaRPr lang="en-IN"/>
          </a:p>
        </p:txBody>
      </p:sp>
      <p:sp>
        <p:nvSpPr>
          <p:cNvPr id="12" name="Text 10">
            <a:extLst>
              <a:ext uri="{FF2B5EF4-FFF2-40B4-BE49-F238E27FC236}">
                <a16:creationId xmlns:a16="http://schemas.microsoft.com/office/drawing/2014/main" id="{EB4B7C45-96EE-67A2-1789-DA54E87AD882}"/>
              </a:ext>
            </a:extLst>
          </p:cNvPr>
          <p:cNvSpPr/>
          <p:nvPr/>
        </p:nvSpPr>
        <p:spPr>
          <a:xfrm>
            <a:off x="4572000" y="155448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3" name="Text 11">
            <a:extLst>
              <a:ext uri="{FF2B5EF4-FFF2-40B4-BE49-F238E27FC236}">
                <a16:creationId xmlns:a16="http://schemas.microsoft.com/office/drawing/2014/main" id="{3B07FC16-2A54-25C8-15BF-F66AD82C8E01}"/>
              </a:ext>
            </a:extLst>
          </p:cNvPr>
          <p:cNvSpPr/>
          <p:nvPr/>
        </p:nvSpPr>
        <p:spPr>
          <a:xfrm>
            <a:off x="5212080" y="157276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Overview </a:t>
            </a:r>
            <a:endParaRPr lang="en-US" sz="1400" dirty="0"/>
          </a:p>
        </p:txBody>
      </p:sp>
      <p:sp>
        <p:nvSpPr>
          <p:cNvPr id="14" name="Text 12">
            <a:extLst>
              <a:ext uri="{FF2B5EF4-FFF2-40B4-BE49-F238E27FC236}">
                <a16:creationId xmlns:a16="http://schemas.microsoft.com/office/drawing/2014/main" id="{9B53127B-34DB-1539-42E2-26806D04BEB5}"/>
              </a:ext>
            </a:extLst>
          </p:cNvPr>
          <p:cNvSpPr/>
          <p:nvPr/>
        </p:nvSpPr>
        <p:spPr>
          <a:xfrm>
            <a:off x="5212080" y="181051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All anomaly timeline and log</a:t>
            </a:r>
            <a:endParaRPr lang="en-US" sz="1100" dirty="0"/>
          </a:p>
        </p:txBody>
      </p:sp>
      <p:sp>
        <p:nvSpPr>
          <p:cNvPr id="15" name="Shape 13">
            <a:extLst>
              <a:ext uri="{FF2B5EF4-FFF2-40B4-BE49-F238E27FC236}">
                <a16:creationId xmlns:a16="http://schemas.microsoft.com/office/drawing/2014/main" id="{1BADF4D6-3C8C-8696-B0C3-3377B978F5C2}"/>
              </a:ext>
            </a:extLst>
          </p:cNvPr>
          <p:cNvSpPr/>
          <p:nvPr/>
        </p:nvSpPr>
        <p:spPr>
          <a:xfrm>
            <a:off x="4572000" y="2651760"/>
            <a:ext cx="502920" cy="502920"/>
          </a:xfrm>
          <a:prstGeom prst="rect">
            <a:avLst/>
          </a:prstGeom>
          <a:solidFill>
            <a:srgbClr val="A78BFA"/>
          </a:solidFill>
          <a:ln w="12700">
            <a:solidFill>
              <a:srgbClr val="A78BFA"/>
            </a:solidFill>
            <a:prstDash val="solid"/>
          </a:ln>
        </p:spPr>
        <p:txBody>
          <a:bodyPr/>
          <a:lstStyle/>
          <a:p>
            <a:endParaRPr lang="en-IN"/>
          </a:p>
        </p:txBody>
      </p:sp>
      <p:sp>
        <p:nvSpPr>
          <p:cNvPr id="16" name="Text 14">
            <a:extLst>
              <a:ext uri="{FF2B5EF4-FFF2-40B4-BE49-F238E27FC236}">
                <a16:creationId xmlns:a16="http://schemas.microsoft.com/office/drawing/2014/main" id="{411A9BC1-D3E9-5264-1409-258811D32E14}"/>
              </a:ext>
            </a:extLst>
          </p:cNvPr>
          <p:cNvSpPr/>
          <p:nvPr/>
        </p:nvSpPr>
        <p:spPr>
          <a:xfrm>
            <a:off x="4572000" y="265176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7" name="Text 15">
            <a:extLst>
              <a:ext uri="{FF2B5EF4-FFF2-40B4-BE49-F238E27FC236}">
                <a16:creationId xmlns:a16="http://schemas.microsoft.com/office/drawing/2014/main" id="{3B324738-3C9C-BEE1-0D60-6347A67FEC6B}"/>
              </a:ext>
            </a:extLst>
          </p:cNvPr>
          <p:cNvSpPr/>
          <p:nvPr/>
        </p:nvSpPr>
        <p:spPr>
          <a:xfrm>
            <a:off x="5212080" y="267004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Anomaly Detection Dashboard</a:t>
            </a:r>
            <a:endParaRPr lang="en-US" sz="1400" dirty="0"/>
          </a:p>
        </p:txBody>
      </p:sp>
      <p:sp>
        <p:nvSpPr>
          <p:cNvPr id="18" name="Text 16">
            <a:extLst>
              <a:ext uri="{FF2B5EF4-FFF2-40B4-BE49-F238E27FC236}">
                <a16:creationId xmlns:a16="http://schemas.microsoft.com/office/drawing/2014/main" id="{505BE7A8-5D95-0370-81F8-E74FFF00B52E}"/>
              </a:ext>
            </a:extLst>
          </p:cNvPr>
          <p:cNvSpPr/>
          <p:nvPr/>
        </p:nvSpPr>
        <p:spPr>
          <a:xfrm>
            <a:off x="5212080" y="290779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Statistics and anomaly record</a:t>
            </a:r>
            <a:endParaRPr lang="en-US" sz="1100" dirty="0"/>
          </a:p>
        </p:txBody>
      </p:sp>
      <p:sp>
        <p:nvSpPr>
          <p:cNvPr id="19" name="Shape 17">
            <a:extLst>
              <a:ext uri="{FF2B5EF4-FFF2-40B4-BE49-F238E27FC236}">
                <a16:creationId xmlns:a16="http://schemas.microsoft.com/office/drawing/2014/main" id="{C2829E68-AE82-1E12-7986-4ACF7BC3EE29}"/>
              </a:ext>
            </a:extLst>
          </p:cNvPr>
          <p:cNvSpPr/>
          <p:nvPr/>
        </p:nvSpPr>
        <p:spPr>
          <a:xfrm>
            <a:off x="4572000" y="3749040"/>
            <a:ext cx="502920" cy="502920"/>
          </a:xfrm>
          <a:prstGeom prst="rect">
            <a:avLst/>
          </a:prstGeom>
          <a:solidFill>
            <a:srgbClr val="A78BFA"/>
          </a:solidFill>
          <a:ln w="12700">
            <a:solidFill>
              <a:srgbClr val="A78BFA"/>
            </a:solidFill>
            <a:prstDash val="solid"/>
          </a:ln>
        </p:spPr>
        <p:txBody>
          <a:bodyPr/>
          <a:lstStyle/>
          <a:p>
            <a:endParaRPr lang="en-IN"/>
          </a:p>
        </p:txBody>
      </p:sp>
      <p:sp>
        <p:nvSpPr>
          <p:cNvPr id="20" name="Text 18">
            <a:extLst>
              <a:ext uri="{FF2B5EF4-FFF2-40B4-BE49-F238E27FC236}">
                <a16:creationId xmlns:a16="http://schemas.microsoft.com/office/drawing/2014/main" id="{C88B4278-F7F2-4620-A250-5D0E63C0B703}"/>
              </a:ext>
            </a:extLst>
          </p:cNvPr>
          <p:cNvSpPr/>
          <p:nvPr/>
        </p:nvSpPr>
        <p:spPr>
          <a:xfrm>
            <a:off x="4572000" y="3749040"/>
            <a:ext cx="502920" cy="50292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21" name="Text 19">
            <a:extLst>
              <a:ext uri="{FF2B5EF4-FFF2-40B4-BE49-F238E27FC236}">
                <a16:creationId xmlns:a16="http://schemas.microsoft.com/office/drawing/2014/main" id="{0A1FA6CD-F6F3-A678-8C85-C1A419D3D076}"/>
              </a:ext>
            </a:extLst>
          </p:cNvPr>
          <p:cNvSpPr/>
          <p:nvPr/>
        </p:nvSpPr>
        <p:spPr>
          <a:xfrm>
            <a:off x="5212080" y="3767328"/>
            <a:ext cx="3657600" cy="256032"/>
          </a:xfrm>
          <a:prstGeom prst="rect">
            <a:avLst/>
          </a:prstGeom>
          <a:noFill/>
          <a:ln/>
        </p:spPr>
        <p:txBody>
          <a:bodyPr wrap="square" lIns="0" tIns="0" rIns="0" bIns="0" rtlCol="0" anchor="ctr"/>
          <a:lstStyle/>
          <a:p>
            <a:pPr marL="0" indent="0">
              <a:buNone/>
            </a:pPr>
            <a:r>
              <a:rPr lang="en-US" sz="1400" b="1" dirty="0">
                <a:solidFill>
                  <a:srgbClr val="DCE8F5"/>
                </a:solidFill>
                <a:latin typeface="Calibri" pitchFamily="34" charset="0"/>
                <a:ea typeface="Calibri" pitchFamily="34" charset="-122"/>
                <a:cs typeface="Calibri" pitchFamily="34" charset="-120"/>
              </a:rPr>
              <a:t>File Export</a:t>
            </a:r>
            <a:endParaRPr lang="en-US" sz="1400" dirty="0"/>
          </a:p>
        </p:txBody>
      </p:sp>
      <p:sp>
        <p:nvSpPr>
          <p:cNvPr id="22" name="Text 20">
            <a:extLst>
              <a:ext uri="{FF2B5EF4-FFF2-40B4-BE49-F238E27FC236}">
                <a16:creationId xmlns:a16="http://schemas.microsoft.com/office/drawing/2014/main" id="{F2BB401C-72D9-88E2-293F-52AD0BF80773}"/>
              </a:ext>
            </a:extLst>
          </p:cNvPr>
          <p:cNvSpPr/>
          <p:nvPr/>
        </p:nvSpPr>
        <p:spPr>
          <a:xfrm>
            <a:off x="5212080" y="4005072"/>
            <a:ext cx="3657600" cy="256032"/>
          </a:xfrm>
          <a:prstGeom prst="rect">
            <a:avLst/>
          </a:prstGeom>
          <a:noFill/>
          <a:ln/>
        </p:spPr>
        <p:txBody>
          <a:bodyPr wrap="square" lIns="0" tIns="0" rIns="0" bIns="0" rtlCol="0" anchor="ctr"/>
          <a:lstStyle/>
          <a:p>
            <a:pPr marL="0" indent="0">
              <a:buNone/>
            </a:pPr>
            <a:r>
              <a:rPr lang="en-US" sz="1100" dirty="0">
                <a:solidFill>
                  <a:srgbClr val="7A9ABB"/>
                </a:solidFill>
                <a:latin typeface="Calibri" pitchFamily="34" charset="0"/>
                <a:ea typeface="Calibri" pitchFamily="34" charset="-122"/>
                <a:cs typeface="Calibri" pitchFamily="34" charset="-120"/>
              </a:rPr>
              <a:t>All anomaly record from three signals </a:t>
            </a:r>
            <a:endParaRPr lang="en-US" sz="1100" dirty="0"/>
          </a:p>
        </p:txBody>
      </p:sp>
    </p:spTree>
    <p:extLst>
      <p:ext uri="{BB962C8B-B14F-4D97-AF65-F5344CB8AC3E}">
        <p14:creationId xmlns:p14="http://schemas.microsoft.com/office/powerpoint/2010/main" val="447304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opBar"/>
          <p:cNvSpPr/>
          <p:nvPr/>
        </p:nvSpPr>
        <p:spPr>
          <a:xfrm>
            <a:off x="0" y="0"/>
            <a:ext cx="9144000" cy="73152"/>
          </a:xfrm>
          <a:prstGeom prst="rect">
            <a:avLst/>
          </a:prstGeom>
          <a:solidFill>
            <a:srgbClr val="A78BFA"/>
          </a:solidFill>
          <a:ln w="12700">
            <a:solidFill>
              <a:srgbClr val="A78BFA"/>
            </a:solidFill>
          </a:ln>
        </p:spPr>
        <p:txBody>
          <a:bodyPr/>
          <a:lstStyle/>
          <a:p>
            <a:endParaRPr lang="en-IN"/>
          </a:p>
        </p:txBody>
      </p:sp>
      <p:sp>
        <p:nvSpPr>
          <p:cNvPr id="3" name="Title"/>
          <p:cNvSpPr/>
          <p:nvPr/>
        </p:nvSpPr>
        <p:spPr>
          <a:xfrm>
            <a:off x="365760" y="164592"/>
            <a:ext cx="8412480" cy="50292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rPr>
              <a:t>Milestone 4 — Interactive Dashboard</a:t>
            </a:r>
          </a:p>
        </p:txBody>
      </p:sp>
      <p:sp>
        <p:nvSpPr>
          <p:cNvPr id="4" name="Card1"/>
          <p:cNvSpPr/>
          <p:nvPr/>
        </p:nvSpPr>
        <p:spPr>
          <a:xfrm>
            <a:off x="320040" y="1005840"/>
            <a:ext cx="4206240" cy="1051560"/>
          </a:xfrm>
          <a:prstGeom prst="rect">
            <a:avLst/>
          </a:prstGeom>
          <a:solidFill>
            <a:srgbClr val="162A41"/>
          </a:solidFill>
          <a:ln w="12700">
            <a:solidFill>
              <a:srgbClr val="10B981"/>
            </a:solidFill>
          </a:ln>
          <a:effectLst>
            <a:outerShdw blurRad="101600" dist="38100" dir="8100000" algn="bl" rotWithShape="0">
              <a:srgbClr val="000000">
                <a:alpha val="22000"/>
              </a:srgbClr>
            </a:outerShdw>
          </a:effectLst>
        </p:spPr>
        <p:txBody>
          <a:bodyPr/>
          <a:lstStyle/>
          <a:p>
            <a:endParaRPr lang="en-IN"/>
          </a:p>
        </p:txBody>
      </p:sp>
      <p:sp>
        <p:nvSpPr>
          <p:cNvPr id="5" name="Icon1"/>
          <p:cNvSpPr/>
          <p:nvPr/>
        </p:nvSpPr>
        <p:spPr>
          <a:xfrm>
            <a:off x="411480" y="1097280"/>
            <a:ext cx="457200" cy="822960"/>
          </a:xfrm>
          <a:prstGeom prst="rect">
            <a:avLst/>
          </a:prstGeom>
          <a:noFill/>
          <a:ln/>
        </p:spPr>
        <p:txBody>
          <a:bodyPr wrap="square" rtlCol="0" anchor="ctr"/>
          <a:lstStyle/>
          <a:p>
            <a:pPr marL="0" indent="0">
              <a:buNone/>
            </a:pPr>
            <a:r>
              <a:rPr lang="en-US" sz="2000" dirty="0">
                <a:solidFill>
                  <a:srgbClr val="10B981"/>
                </a:solidFill>
                <a:latin typeface="Calibri" pitchFamily="34" charset="0"/>
              </a:rPr>
              <a:t>✅</a:t>
            </a:r>
          </a:p>
        </p:txBody>
      </p:sp>
      <p:sp>
        <p:nvSpPr>
          <p:cNvPr id="6" name="Text1"/>
          <p:cNvSpPr/>
          <p:nvPr/>
        </p:nvSpPr>
        <p:spPr>
          <a:xfrm>
            <a:off x="868680" y="1097280"/>
            <a:ext cx="3520440" cy="868680"/>
          </a:xfrm>
          <a:prstGeom prst="rect">
            <a:avLst/>
          </a:prstGeom>
          <a:noFill/>
          <a:ln/>
        </p:spPr>
        <p:txBody>
          <a:bodyPr wrap="square" rtlCol="0" anchor="ctr"/>
          <a:lstStyle/>
          <a:p>
            <a:pPr marL="0" indent="0">
              <a:buNone/>
            </a:pPr>
            <a:r>
              <a:rPr lang="en-US" sz="1200" b="1" dirty="0">
                <a:solidFill>
                  <a:srgbClr val="10B981"/>
                </a:solidFill>
                <a:latin typeface="Calibri" pitchFamily="34" charset="0"/>
              </a:rPr>
              <a:t>Auto-Detect File Upload</a:t>
            </a:r>
          </a:p>
          <a:p>
            <a:pPr marL="0" indent="0">
              <a:buNone/>
            </a:pPr>
            <a:r>
              <a:rPr lang="en-US" sz="1000" dirty="0">
                <a:solidFill>
                  <a:srgbClr val="DCE8F5"/>
                </a:solidFill>
                <a:latin typeface="Calibri" pitchFamily="34" charset="0"/>
              </a:rPr>
              <a:t>All 5 CSV files auto-detected by column structure. One-click pipeline trigger builds master dataset.</a:t>
            </a:r>
          </a:p>
        </p:txBody>
      </p:sp>
      <p:sp>
        <p:nvSpPr>
          <p:cNvPr id="7" name="Card2"/>
          <p:cNvSpPr/>
          <p:nvPr/>
        </p:nvSpPr>
        <p:spPr>
          <a:xfrm>
            <a:off x="4754880" y="1005840"/>
            <a:ext cx="4206240" cy="1051560"/>
          </a:xfrm>
          <a:prstGeom prst="rect">
            <a:avLst/>
          </a:prstGeom>
          <a:solidFill>
            <a:srgbClr val="162A41"/>
          </a:solidFill>
          <a:ln w="12700">
            <a:solidFill>
              <a:srgbClr val="38BDF8"/>
            </a:solidFill>
          </a:ln>
          <a:effectLst>
            <a:outerShdw blurRad="101600" dist="38100" dir="8100000" algn="bl" rotWithShape="0">
              <a:srgbClr val="000000">
                <a:alpha val="22000"/>
              </a:srgbClr>
            </a:outerShdw>
          </a:effectLst>
        </p:spPr>
        <p:txBody>
          <a:bodyPr/>
          <a:lstStyle/>
          <a:p>
            <a:endParaRPr lang="en-IN"/>
          </a:p>
        </p:txBody>
      </p:sp>
      <p:sp>
        <p:nvSpPr>
          <p:cNvPr id="8" name="Icon2"/>
          <p:cNvSpPr/>
          <p:nvPr/>
        </p:nvSpPr>
        <p:spPr>
          <a:xfrm>
            <a:off x="4846320" y="1097280"/>
            <a:ext cx="457200" cy="822960"/>
          </a:xfrm>
          <a:prstGeom prst="rect">
            <a:avLst/>
          </a:prstGeom>
          <a:noFill/>
          <a:ln/>
        </p:spPr>
        <p:txBody>
          <a:bodyPr wrap="square" rtlCol="0" anchor="ctr"/>
          <a:lstStyle/>
          <a:p>
            <a:pPr marL="0" indent="0">
              <a:buNone/>
            </a:pPr>
            <a:r>
              <a:rPr lang="en-US" sz="2000" dirty="0">
                <a:solidFill>
                  <a:srgbClr val="38BDF8"/>
                </a:solidFill>
                <a:latin typeface="Calibri" pitchFamily="34" charset="0"/>
              </a:rPr>
              <a:t>✅</a:t>
            </a:r>
          </a:p>
        </p:txBody>
      </p:sp>
      <p:sp>
        <p:nvSpPr>
          <p:cNvPr id="9" name="Text2"/>
          <p:cNvSpPr/>
          <p:nvPr/>
        </p:nvSpPr>
        <p:spPr>
          <a:xfrm>
            <a:off x="5303520" y="1097280"/>
            <a:ext cx="3520440" cy="868680"/>
          </a:xfrm>
          <a:prstGeom prst="rect">
            <a:avLst/>
          </a:prstGeom>
          <a:noFill/>
          <a:ln/>
        </p:spPr>
        <p:txBody>
          <a:bodyPr wrap="square" rtlCol="0" anchor="ctr"/>
          <a:lstStyle/>
          <a:p>
            <a:pPr marL="0" indent="0">
              <a:buNone/>
            </a:pPr>
            <a:r>
              <a:rPr lang="en-US" sz="1200" b="1" dirty="0">
                <a:solidFill>
                  <a:srgbClr val="38BDF8"/>
                </a:solidFill>
                <a:latin typeface="Calibri" pitchFamily="34" charset="0"/>
              </a:rPr>
              <a:t>Live KPI Dashboard</a:t>
            </a:r>
          </a:p>
          <a:p>
            <a:pPr marL="0" indent="0">
              <a:buNone/>
            </a:pPr>
            <a:r>
              <a:rPr lang="en-US" sz="1000" dirty="0">
                <a:solidFill>
                  <a:srgbClr val="DCE8F5"/>
                </a:solidFill>
                <a:latin typeface="Calibri" pitchFamily="34" charset="0"/>
              </a:rPr>
              <a:t>6 KPI cards: total flags, HR / Steps / Sleep anomalies, users, peak HR day.</a:t>
            </a:r>
          </a:p>
        </p:txBody>
      </p:sp>
      <p:sp>
        <p:nvSpPr>
          <p:cNvPr id="10" name="Card3"/>
          <p:cNvSpPr/>
          <p:nvPr/>
        </p:nvSpPr>
        <p:spPr>
          <a:xfrm>
            <a:off x="320040" y="2267712"/>
            <a:ext cx="4206240" cy="1051560"/>
          </a:xfrm>
          <a:prstGeom prst="rect">
            <a:avLst/>
          </a:prstGeom>
          <a:solidFill>
            <a:srgbClr val="162A41"/>
          </a:solidFill>
          <a:ln w="12700">
            <a:solidFill>
              <a:srgbClr val="A78BFA"/>
            </a:solidFill>
          </a:ln>
          <a:effectLst>
            <a:outerShdw blurRad="101600" dist="38100" dir="8100000" algn="bl" rotWithShape="0">
              <a:srgbClr val="000000">
                <a:alpha val="22000"/>
              </a:srgbClr>
            </a:outerShdw>
          </a:effectLst>
        </p:spPr>
        <p:txBody>
          <a:bodyPr/>
          <a:lstStyle/>
          <a:p>
            <a:endParaRPr lang="en-IN"/>
          </a:p>
        </p:txBody>
      </p:sp>
      <p:sp>
        <p:nvSpPr>
          <p:cNvPr id="11" name="Icon3"/>
          <p:cNvSpPr/>
          <p:nvPr/>
        </p:nvSpPr>
        <p:spPr>
          <a:xfrm>
            <a:off x="411480" y="2359152"/>
            <a:ext cx="457200" cy="822960"/>
          </a:xfrm>
          <a:prstGeom prst="rect">
            <a:avLst/>
          </a:prstGeom>
          <a:noFill/>
          <a:ln/>
        </p:spPr>
        <p:txBody>
          <a:bodyPr wrap="square" rtlCol="0" anchor="ctr"/>
          <a:lstStyle/>
          <a:p>
            <a:pPr marL="0" indent="0">
              <a:buNone/>
            </a:pPr>
            <a:r>
              <a:rPr lang="en-US" sz="2000" dirty="0">
                <a:solidFill>
                  <a:srgbClr val="A78BFA"/>
                </a:solidFill>
                <a:latin typeface="Calibri" pitchFamily="34" charset="0"/>
              </a:rPr>
              <a:t>✅</a:t>
            </a:r>
          </a:p>
        </p:txBody>
      </p:sp>
      <p:sp>
        <p:nvSpPr>
          <p:cNvPr id="12" name="Text3"/>
          <p:cNvSpPr/>
          <p:nvPr/>
        </p:nvSpPr>
        <p:spPr>
          <a:xfrm>
            <a:off x="868680" y="2359152"/>
            <a:ext cx="3520440" cy="868680"/>
          </a:xfrm>
          <a:prstGeom prst="rect">
            <a:avLst/>
          </a:prstGeom>
          <a:noFill/>
          <a:ln/>
        </p:spPr>
        <p:txBody>
          <a:bodyPr wrap="square" rtlCol="0" anchor="ctr"/>
          <a:lstStyle/>
          <a:p>
            <a:pPr marL="0" indent="0">
              <a:buNone/>
            </a:pPr>
            <a:r>
              <a:rPr lang="en-US" sz="1200" b="1" dirty="0">
                <a:solidFill>
                  <a:srgbClr val="A78BFA"/>
                </a:solidFill>
                <a:latin typeface="Calibri" pitchFamily="34" charset="0"/>
              </a:rPr>
              <a:t>Date &amp; User Filters</a:t>
            </a:r>
          </a:p>
          <a:p>
            <a:pPr marL="0" indent="0">
              <a:buNone/>
            </a:pPr>
            <a:r>
              <a:rPr lang="en-US" sz="1000" dirty="0">
                <a:solidFill>
                  <a:srgbClr val="DCE8F5"/>
                </a:solidFill>
                <a:latin typeface="Calibri" pitchFamily="34" charset="0"/>
              </a:rPr>
              <a:t>Sidebar date-range picker and per-user selector. All charts and tables update instantly.</a:t>
            </a:r>
          </a:p>
        </p:txBody>
      </p:sp>
      <p:sp>
        <p:nvSpPr>
          <p:cNvPr id="13" name="Card4"/>
          <p:cNvSpPr/>
          <p:nvPr/>
        </p:nvSpPr>
        <p:spPr>
          <a:xfrm>
            <a:off x="4754880" y="2267712"/>
            <a:ext cx="4206240" cy="1051560"/>
          </a:xfrm>
          <a:prstGeom prst="rect">
            <a:avLst/>
          </a:prstGeom>
          <a:solidFill>
            <a:srgbClr val="162A41"/>
          </a:solidFill>
          <a:ln w="12700">
            <a:solidFill>
              <a:srgbClr val="F59E0B"/>
            </a:solidFill>
          </a:ln>
          <a:effectLst>
            <a:outerShdw blurRad="101600" dist="38100" dir="8100000" algn="bl" rotWithShape="0">
              <a:srgbClr val="000000">
                <a:alpha val="22000"/>
              </a:srgbClr>
            </a:outerShdw>
          </a:effectLst>
        </p:spPr>
        <p:txBody>
          <a:bodyPr/>
          <a:lstStyle/>
          <a:p>
            <a:endParaRPr lang="en-IN"/>
          </a:p>
        </p:txBody>
      </p:sp>
      <p:sp>
        <p:nvSpPr>
          <p:cNvPr id="14" name="Icon4"/>
          <p:cNvSpPr/>
          <p:nvPr/>
        </p:nvSpPr>
        <p:spPr>
          <a:xfrm>
            <a:off x="4846320" y="2359152"/>
            <a:ext cx="457200" cy="822960"/>
          </a:xfrm>
          <a:prstGeom prst="rect">
            <a:avLst/>
          </a:prstGeom>
          <a:noFill/>
          <a:ln/>
        </p:spPr>
        <p:txBody>
          <a:bodyPr wrap="square" rtlCol="0" anchor="ctr"/>
          <a:lstStyle/>
          <a:p>
            <a:pPr marL="0" indent="0">
              <a:buNone/>
            </a:pPr>
            <a:r>
              <a:rPr lang="en-US" sz="2000" dirty="0">
                <a:solidFill>
                  <a:srgbClr val="F59E0B"/>
                </a:solidFill>
                <a:latin typeface="Calibri" pitchFamily="34" charset="0"/>
              </a:rPr>
              <a:t>✅</a:t>
            </a:r>
          </a:p>
        </p:txBody>
      </p:sp>
      <p:sp>
        <p:nvSpPr>
          <p:cNvPr id="15" name="Text4"/>
          <p:cNvSpPr/>
          <p:nvPr/>
        </p:nvSpPr>
        <p:spPr>
          <a:xfrm>
            <a:off x="5303520" y="2359152"/>
            <a:ext cx="3520440" cy="868680"/>
          </a:xfrm>
          <a:prstGeom prst="rect">
            <a:avLst/>
          </a:prstGeom>
          <a:noFill/>
          <a:ln/>
        </p:spPr>
        <p:txBody>
          <a:bodyPr wrap="square" rtlCol="0" anchor="ctr"/>
          <a:lstStyle/>
          <a:p>
            <a:pPr marL="0" indent="0">
              <a:buNone/>
            </a:pPr>
            <a:r>
              <a:rPr lang="en-US" sz="1200" b="1" dirty="0">
                <a:solidFill>
                  <a:srgbClr val="F59E0B"/>
                </a:solidFill>
                <a:latin typeface="Calibri" pitchFamily="34" charset="0"/>
              </a:rPr>
              <a:t>Combined Anomaly Timeline</a:t>
            </a:r>
          </a:p>
          <a:p>
            <a:pPr marL="0" indent="0">
              <a:buNone/>
            </a:pPr>
            <a:r>
              <a:rPr lang="en-US" sz="1000" dirty="0">
                <a:solidFill>
                  <a:srgbClr val="DCE8F5"/>
                </a:solidFill>
                <a:latin typeface="Calibri" pitchFamily="34" charset="0"/>
              </a:rPr>
              <a:t>Interactive scatter timeline showing all HR, Steps, Sleep anomaly events in one chart.</a:t>
            </a:r>
          </a:p>
        </p:txBody>
      </p:sp>
      <p:sp>
        <p:nvSpPr>
          <p:cNvPr id="16" name="Card5"/>
          <p:cNvSpPr/>
          <p:nvPr/>
        </p:nvSpPr>
        <p:spPr>
          <a:xfrm>
            <a:off x="320040" y="3529584"/>
            <a:ext cx="4206240" cy="1051560"/>
          </a:xfrm>
          <a:prstGeom prst="rect">
            <a:avLst/>
          </a:prstGeom>
          <a:solidFill>
            <a:srgbClr val="162A41"/>
          </a:solidFill>
          <a:ln w="12700">
            <a:solidFill>
              <a:srgbClr val="EF4444"/>
            </a:solidFill>
          </a:ln>
          <a:effectLst>
            <a:outerShdw blurRad="101600" dist="38100" dir="8100000" algn="bl" rotWithShape="0">
              <a:srgbClr val="000000">
                <a:alpha val="22000"/>
              </a:srgbClr>
            </a:outerShdw>
          </a:effectLst>
        </p:spPr>
        <p:txBody>
          <a:bodyPr/>
          <a:lstStyle/>
          <a:p>
            <a:endParaRPr lang="en-IN"/>
          </a:p>
        </p:txBody>
      </p:sp>
      <p:sp>
        <p:nvSpPr>
          <p:cNvPr id="17" name="Icon5"/>
          <p:cNvSpPr/>
          <p:nvPr/>
        </p:nvSpPr>
        <p:spPr>
          <a:xfrm>
            <a:off x="411480" y="3621024"/>
            <a:ext cx="457200" cy="822960"/>
          </a:xfrm>
          <a:prstGeom prst="rect">
            <a:avLst/>
          </a:prstGeom>
          <a:noFill/>
          <a:ln/>
        </p:spPr>
        <p:txBody>
          <a:bodyPr wrap="square" rtlCol="0" anchor="ctr"/>
          <a:lstStyle/>
          <a:p>
            <a:pPr marL="0" indent="0">
              <a:buNone/>
            </a:pPr>
            <a:r>
              <a:rPr lang="en-US" sz="2000" dirty="0">
                <a:solidFill>
                  <a:srgbClr val="EF4444"/>
                </a:solidFill>
                <a:latin typeface="Calibri" pitchFamily="34" charset="0"/>
              </a:rPr>
              <a:t>✅</a:t>
            </a:r>
          </a:p>
        </p:txBody>
      </p:sp>
      <p:sp>
        <p:nvSpPr>
          <p:cNvPr id="18" name="Text5"/>
          <p:cNvSpPr/>
          <p:nvPr/>
        </p:nvSpPr>
        <p:spPr>
          <a:xfrm>
            <a:off x="868680" y="3621024"/>
            <a:ext cx="3520440" cy="868680"/>
          </a:xfrm>
          <a:prstGeom prst="rect">
            <a:avLst/>
          </a:prstGeom>
          <a:noFill/>
          <a:ln/>
        </p:spPr>
        <p:txBody>
          <a:bodyPr wrap="square" rtlCol="0" anchor="ctr"/>
          <a:lstStyle/>
          <a:p>
            <a:pPr marL="0" indent="0">
              <a:buNone/>
            </a:pPr>
            <a:r>
              <a:rPr lang="en-US" sz="1200" b="1" dirty="0">
                <a:solidFill>
                  <a:srgbClr val="EF4444"/>
                </a:solidFill>
                <a:latin typeface="Calibri" pitchFamily="34" charset="0"/>
              </a:rPr>
              <a:t>PDF Report Export (ReportLab)</a:t>
            </a:r>
          </a:p>
          <a:p>
            <a:pPr marL="0" indent="0">
              <a:buNone/>
            </a:pPr>
            <a:r>
              <a:rPr lang="en-US" sz="1000" dirty="0">
                <a:solidFill>
                  <a:srgbClr val="DCE8F5"/>
                </a:solidFill>
                <a:latin typeface="Calibri" pitchFamily="34" charset="0"/>
              </a:rPr>
              <a:t>9-section PDF with anomaly tables, user profiles, methodology, and conclusions.</a:t>
            </a:r>
          </a:p>
        </p:txBody>
      </p:sp>
      <p:sp>
        <p:nvSpPr>
          <p:cNvPr id="19" name="Card6"/>
          <p:cNvSpPr/>
          <p:nvPr/>
        </p:nvSpPr>
        <p:spPr>
          <a:xfrm>
            <a:off x="4754880" y="3529584"/>
            <a:ext cx="4206240" cy="1051560"/>
          </a:xfrm>
          <a:prstGeom prst="rect">
            <a:avLst/>
          </a:prstGeom>
          <a:solidFill>
            <a:srgbClr val="162A41"/>
          </a:solidFill>
          <a:ln w="12700">
            <a:solidFill>
              <a:srgbClr val="6366F1"/>
            </a:solidFill>
          </a:ln>
          <a:effectLst>
            <a:outerShdw blurRad="101600" dist="38100" dir="8100000" algn="bl" rotWithShape="0">
              <a:srgbClr val="000000">
                <a:alpha val="22000"/>
              </a:srgbClr>
            </a:outerShdw>
          </a:effectLst>
        </p:spPr>
        <p:txBody>
          <a:bodyPr/>
          <a:lstStyle/>
          <a:p>
            <a:endParaRPr lang="en-IN"/>
          </a:p>
        </p:txBody>
      </p:sp>
      <p:sp>
        <p:nvSpPr>
          <p:cNvPr id="20" name="Icon6"/>
          <p:cNvSpPr/>
          <p:nvPr/>
        </p:nvSpPr>
        <p:spPr>
          <a:xfrm>
            <a:off x="4846320" y="3621024"/>
            <a:ext cx="457200" cy="822960"/>
          </a:xfrm>
          <a:prstGeom prst="rect">
            <a:avLst/>
          </a:prstGeom>
          <a:noFill/>
          <a:ln/>
        </p:spPr>
        <p:txBody>
          <a:bodyPr wrap="square" rtlCol="0" anchor="ctr"/>
          <a:lstStyle/>
          <a:p>
            <a:pPr marL="0" indent="0">
              <a:buNone/>
            </a:pPr>
            <a:r>
              <a:rPr lang="en-US" sz="2000" dirty="0">
                <a:solidFill>
                  <a:srgbClr val="6366F1"/>
                </a:solidFill>
                <a:latin typeface="Calibri" pitchFamily="34" charset="0"/>
              </a:rPr>
              <a:t>✅</a:t>
            </a:r>
          </a:p>
        </p:txBody>
      </p:sp>
      <p:sp>
        <p:nvSpPr>
          <p:cNvPr id="21" name="Text6"/>
          <p:cNvSpPr/>
          <p:nvPr/>
        </p:nvSpPr>
        <p:spPr>
          <a:xfrm>
            <a:off x="5303520" y="3621024"/>
            <a:ext cx="3520440" cy="868680"/>
          </a:xfrm>
          <a:prstGeom prst="rect">
            <a:avLst/>
          </a:prstGeom>
          <a:noFill/>
          <a:ln/>
        </p:spPr>
        <p:txBody>
          <a:bodyPr wrap="square" rtlCol="0" anchor="ctr"/>
          <a:lstStyle/>
          <a:p>
            <a:pPr marL="0" indent="0">
              <a:buNone/>
            </a:pPr>
            <a:r>
              <a:rPr lang="en-US" sz="1200" b="1" dirty="0">
                <a:solidFill>
                  <a:srgbClr val="6366F1"/>
                </a:solidFill>
                <a:latin typeface="Calibri" pitchFamily="34" charset="0"/>
              </a:rPr>
              <a:t>CSV Anomaly Export</a:t>
            </a:r>
          </a:p>
          <a:p>
            <a:pPr marL="0" indent="0">
              <a:buNone/>
            </a:pPr>
            <a:r>
              <a:rPr lang="en-US" sz="1000" dirty="0">
                <a:solidFill>
                  <a:srgbClr val="DCE8F5"/>
                </a:solidFill>
                <a:latin typeface="Calibri" pitchFamily="34" charset="0"/>
              </a:rPr>
              <a:t>All anomaly records (signal, date, value, expected, deviation, reason) in one CSV.</a:t>
            </a:r>
          </a:p>
        </p:txBody>
      </p:sp>
      <p:sp>
        <p:nvSpPr>
          <p:cNvPr id="22" name="BotBar"/>
          <p:cNvSpPr/>
          <p:nvPr/>
        </p:nvSpPr>
        <p:spPr>
          <a:xfrm>
            <a:off x="0" y="5070348"/>
            <a:ext cx="9144000" cy="73152"/>
          </a:xfrm>
          <a:prstGeom prst="rect">
            <a:avLst/>
          </a:prstGeom>
          <a:solidFill>
            <a:srgbClr val="6366F1"/>
          </a:solidFill>
          <a:ln w="12700">
            <a:solidFill>
              <a:srgbClr val="6366F1"/>
            </a:solidFill>
          </a:ln>
        </p:spPr>
        <p:txBody>
          <a:bodyPr/>
          <a:lstStyle/>
          <a:p>
            <a:endParaRPr lang="en-IN"/>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opBar"/>
          <p:cNvSpPr/>
          <p:nvPr/>
        </p:nvSpPr>
        <p:spPr>
          <a:xfrm>
            <a:off x="0" y="0"/>
            <a:ext cx="9144000" cy="73152"/>
          </a:xfrm>
          <a:prstGeom prst="rect">
            <a:avLst/>
          </a:prstGeom>
          <a:solidFill>
            <a:srgbClr val="38BDF8"/>
          </a:solidFill>
          <a:ln w="12700">
            <a:solidFill>
              <a:srgbClr val="38BDF8"/>
            </a:solidFill>
          </a:ln>
        </p:spPr>
        <p:txBody>
          <a:bodyPr/>
          <a:lstStyle/>
          <a:p>
            <a:endParaRPr lang="en-IN"/>
          </a:p>
        </p:txBody>
      </p:sp>
      <p:sp>
        <p:nvSpPr>
          <p:cNvPr id="3" name="Title"/>
          <p:cNvSpPr/>
          <p:nvPr/>
        </p:nvSpPr>
        <p:spPr>
          <a:xfrm>
            <a:off x="365760" y="120000"/>
            <a:ext cx="8412480" cy="502920"/>
          </a:xfrm>
          <a:prstGeom prst="rect">
            <a:avLst/>
          </a:prstGeom>
          <a:noFill/>
          <a:ln/>
        </p:spPr>
        <p:txBody>
          <a:bodyPr wrap="square" lIns="0" tIns="0" rIns="0" bIns="0" rtlCol="0" anchor="ctr"/>
          <a:lstStyle/>
          <a:p>
            <a:pPr marL="0" indent="0">
              <a:buNone/>
            </a:pPr>
            <a:r>
              <a:rPr lang="en-US" sz="2400" b="1" dirty="0">
                <a:solidFill>
                  <a:srgbClr val="38BDF8"/>
                </a:solidFill>
                <a:latin typeface="Calibri" pitchFamily="34" charset="0"/>
              </a:rPr>
              <a:t>Milestone 4 — Dashboard Deep Dive</a:t>
            </a:r>
          </a:p>
        </p:txBody>
      </p:sp>
      <p:sp>
        <p:nvSpPr>
          <p:cNvPr id="4" name="ColHead1"/>
          <p:cNvSpPr/>
          <p:nvPr/>
        </p:nvSpPr>
        <p:spPr>
          <a:xfrm>
            <a:off x="200000" y="720000"/>
            <a:ext cx="4100000" cy="370000"/>
          </a:xfrm>
          <a:prstGeom prst="rect">
            <a:avLst/>
          </a:prstGeom>
          <a:solidFill>
            <a:srgbClr val="162A41"/>
          </a:solidFill>
          <a:ln w="12700">
            <a:solidFill>
              <a:srgbClr val="38BDF8"/>
            </a:solidFill>
          </a:ln>
        </p:spPr>
        <p:txBody>
          <a:bodyPr wrap="square" lIns="91440" tIns="45720" rIns="91440" bIns="45720" rtlCol="0" anchor="ctr"/>
          <a:lstStyle/>
          <a:p>
            <a:pPr marL="0" indent="0">
              <a:buNone/>
            </a:pPr>
            <a:r>
              <a:rPr lang="en-US" sz="1400" b="1" dirty="0">
                <a:solidFill>
                  <a:srgbClr val="38BDF8"/>
                </a:solidFill>
                <a:latin typeface="Calibri" pitchFamily="34" charset="0"/>
              </a:rPr>
              <a:t>📊  Overview Tab</a:t>
            </a:r>
          </a:p>
        </p:txBody>
      </p:sp>
      <p:sp>
        <p:nvSpPr>
          <p:cNvPr id="5" name="ColContent1"/>
          <p:cNvSpPr/>
          <p:nvPr/>
        </p:nvSpPr>
        <p:spPr>
          <a:xfrm>
            <a:off x="200000" y="1120000"/>
            <a:ext cx="4100000" cy="2661044"/>
          </a:xfrm>
          <a:prstGeom prst="rect">
            <a:avLst/>
          </a:prstGeom>
          <a:solidFill>
            <a:srgbClr val="111F30"/>
          </a:solidFill>
          <a:ln w="12700">
            <a:solidFill>
              <a:srgbClr val="1E3A5F"/>
            </a:solidFill>
          </a:ln>
        </p:spPr>
        <p:txBody>
          <a:bodyPr wrap="square" lIns="160000" tIns="120000" rIns="120000" bIns="120000" rtlCol="0" anchor="t"/>
          <a:lstStyle/>
          <a:p>
            <a:pPr marL="0" indent="0">
              <a:buNone/>
            </a:pPr>
            <a:r>
              <a:rPr lang="en-US" sz="1100" b="1" dirty="0">
                <a:solidFill>
                  <a:srgbClr val="DCE8F5"/>
                </a:solidFill>
                <a:latin typeface="Calibri" pitchFamily="34" charset="0"/>
              </a:rPr>
              <a:t>Combined Anomaly Timeline</a:t>
            </a:r>
          </a:p>
          <a:p>
            <a:pPr marL="0" indent="0">
              <a:buNone/>
            </a:pPr>
            <a:r>
              <a:rPr lang="en-US" sz="1000" dirty="0">
                <a:solidFill>
                  <a:srgbClr val="5A7A9A"/>
                </a:solidFill>
                <a:latin typeface="Calibri" pitchFamily="34" charset="0"/>
              </a:rPr>
              <a:t>Scatter plot showing HR (blue), Steps (green), Sleep (purple) anomaly events side by side on a shared timeline. Hover for date and reason.</a:t>
            </a:r>
          </a:p>
          <a:p>
            <a:pPr marL="0" indent="0">
              <a:buNone/>
            </a:pPr>
            <a:endParaRPr lang="en-US" sz="950" dirty="0">
              <a:solidFill>
                <a:srgbClr val="5A7A9A"/>
              </a:solidFill>
              <a:latin typeface="Calibri" pitchFamily="34" charset="0"/>
            </a:endParaRPr>
          </a:p>
          <a:p>
            <a:pPr marL="0" indent="0">
              <a:buNone/>
            </a:pPr>
            <a:r>
              <a:rPr lang="en-US" sz="100" dirty="0">
                <a:solidFill>
                  <a:srgbClr val="0D1B2A"/>
                </a:solidFill>
                <a:latin typeface="Calibri"/>
              </a:rPr>
              <a:t> </a:t>
            </a:r>
          </a:p>
          <a:p>
            <a:pPr marL="0" indent="0">
              <a:buNone/>
            </a:pPr>
            <a:r>
              <a:rPr lang="en-US" sz="1100" b="1" dirty="0">
                <a:solidFill>
                  <a:srgbClr val="DCE8F5"/>
                </a:solidFill>
                <a:latin typeface="Calibri" pitchFamily="34" charset="0"/>
              </a:rPr>
              <a:t>Recent Anomaly Log</a:t>
            </a:r>
          </a:p>
          <a:p>
            <a:pPr marL="0" indent="0">
              <a:buNone/>
            </a:pPr>
            <a:r>
              <a:rPr lang="en-US" sz="1000" dirty="0">
                <a:solidFill>
                  <a:srgbClr val="5A7A9A"/>
                </a:solidFill>
                <a:latin typeface="Calibri" pitchFamily="34" charset="0"/>
              </a:rPr>
              <a:t>Last 15 anomaly events (newest first) in a live feed-style log with signal, date, and reason.</a:t>
            </a:r>
          </a:p>
          <a:p>
            <a:pPr marL="0" indent="0">
              <a:buNone/>
            </a:pPr>
            <a:endParaRPr lang="en-US" sz="950" dirty="0">
              <a:solidFill>
                <a:srgbClr val="5A7A9A"/>
              </a:solidFill>
              <a:latin typeface="Calibri" pitchFamily="34" charset="0"/>
            </a:endParaRPr>
          </a:p>
          <a:p>
            <a:pPr marL="0" indent="0">
              <a:buNone/>
            </a:pPr>
            <a:r>
              <a:rPr lang="en-US" sz="100" dirty="0">
                <a:solidFill>
                  <a:srgbClr val="0D1B2A"/>
                </a:solidFill>
                <a:latin typeface="Calibri"/>
              </a:rPr>
              <a:t> </a:t>
            </a:r>
          </a:p>
          <a:p>
            <a:pPr marL="0" indent="0">
              <a:buNone/>
            </a:pPr>
            <a:r>
              <a:rPr lang="en-US" sz="1100" b="1" dirty="0">
                <a:solidFill>
                  <a:srgbClr val="DCE8F5"/>
                </a:solidFill>
                <a:latin typeface="Calibri" pitchFamily="34" charset="0"/>
              </a:rPr>
              <a:t>Deep-Dive Tabs</a:t>
            </a:r>
          </a:p>
          <a:p>
            <a:pPr marL="0" indent="0">
              <a:buNone/>
            </a:pPr>
            <a:r>
              <a:rPr lang="en-US" sz="1000" dirty="0">
                <a:solidFill>
                  <a:srgbClr val="5A7A9A"/>
                </a:solidFill>
                <a:latin typeface="Calibri" pitchFamily="34" charset="0"/>
              </a:rPr>
              <a:t>Separate tabs for Heart Rate, Steps, and Sleep with statistics panel + full anomaly records table.</a:t>
            </a:r>
          </a:p>
        </p:txBody>
      </p:sp>
      <p:sp>
        <p:nvSpPr>
          <p:cNvPr id="6" name="ColHead2"/>
          <p:cNvSpPr/>
          <p:nvPr/>
        </p:nvSpPr>
        <p:spPr>
          <a:xfrm>
            <a:off x="4844000" y="720000"/>
            <a:ext cx="4100000" cy="370000"/>
          </a:xfrm>
          <a:prstGeom prst="rect">
            <a:avLst/>
          </a:prstGeom>
          <a:solidFill>
            <a:srgbClr val="162A41"/>
          </a:solidFill>
          <a:ln w="12700">
            <a:solidFill>
              <a:srgbClr val="10B981"/>
            </a:solidFill>
          </a:ln>
        </p:spPr>
        <p:txBody>
          <a:bodyPr wrap="square" lIns="91440" tIns="45720" rIns="91440" bIns="45720" rtlCol="0" anchor="ctr"/>
          <a:lstStyle/>
          <a:p>
            <a:pPr marL="0" indent="0">
              <a:buNone/>
            </a:pPr>
            <a:r>
              <a:rPr lang="en-US" sz="1400" b="1" dirty="0">
                <a:solidFill>
                  <a:srgbClr val="10B981"/>
                </a:solidFill>
                <a:latin typeface="Calibri" pitchFamily="34" charset="0"/>
              </a:rPr>
              <a:t>📥  Export Tab</a:t>
            </a:r>
          </a:p>
        </p:txBody>
      </p:sp>
      <p:sp>
        <p:nvSpPr>
          <p:cNvPr id="7" name="ColContent2"/>
          <p:cNvSpPr/>
          <p:nvPr/>
        </p:nvSpPr>
        <p:spPr>
          <a:xfrm>
            <a:off x="4844000" y="1120000"/>
            <a:ext cx="4100000" cy="2661044"/>
          </a:xfrm>
          <a:prstGeom prst="rect">
            <a:avLst/>
          </a:prstGeom>
          <a:solidFill>
            <a:srgbClr val="111F30"/>
          </a:solidFill>
          <a:ln w="12700">
            <a:solidFill>
              <a:srgbClr val="1E3A5F"/>
            </a:solidFill>
          </a:ln>
        </p:spPr>
        <p:txBody>
          <a:bodyPr wrap="square" lIns="160000" tIns="120000" rIns="120000" bIns="120000" rtlCol="0" anchor="t"/>
          <a:lstStyle/>
          <a:p>
            <a:pPr marL="0" indent="0">
              <a:buNone/>
            </a:pPr>
            <a:r>
              <a:rPr lang="en-US" sz="1100" b="1" dirty="0">
                <a:solidFill>
                  <a:srgbClr val="DCE8F5"/>
                </a:solidFill>
                <a:latin typeface="Calibri" pitchFamily="34" charset="0"/>
              </a:rPr>
              <a:t>PDF Report (9 Sections)</a:t>
            </a:r>
          </a:p>
          <a:p>
            <a:pPr marL="0" indent="0">
              <a:buNone/>
            </a:pPr>
            <a:r>
              <a:rPr lang="en-US" sz="1000" dirty="0">
                <a:solidFill>
                  <a:srgbClr val="5A7A9A"/>
                </a:solidFill>
                <a:latin typeface="Calibri" pitchFamily="34" charset="0"/>
              </a:rPr>
              <a:t>Dataset overview  ·  Anomaly summary  ·  Thresholds  ·  Methodology  ·  HR / Steps / Sleep tables  ·  User profiles  ·  Conclusion</a:t>
            </a:r>
          </a:p>
          <a:p>
            <a:pPr marL="0" indent="0">
              <a:buNone/>
            </a:pPr>
            <a:endParaRPr lang="en-US" sz="950" dirty="0">
              <a:solidFill>
                <a:srgbClr val="5A7A9A"/>
              </a:solidFill>
              <a:latin typeface="Calibri" pitchFamily="34" charset="0"/>
            </a:endParaRPr>
          </a:p>
          <a:p>
            <a:pPr marL="0" indent="0">
              <a:buNone/>
            </a:pPr>
            <a:r>
              <a:rPr lang="en-US" sz="100" dirty="0">
                <a:solidFill>
                  <a:srgbClr val="0D1B2A"/>
                </a:solidFill>
                <a:latin typeface="Calibri"/>
              </a:rPr>
              <a:t> </a:t>
            </a:r>
          </a:p>
          <a:p>
            <a:pPr marL="0" indent="0">
              <a:buNone/>
            </a:pPr>
            <a:r>
              <a:rPr lang="en-US" sz="1100" b="1" dirty="0">
                <a:solidFill>
                  <a:srgbClr val="DCE8F5"/>
                </a:solidFill>
                <a:latin typeface="Calibri" pitchFamily="34" charset="0"/>
              </a:rPr>
              <a:t>Built with ReportLab</a:t>
            </a:r>
          </a:p>
          <a:p>
            <a:pPr marL="0" indent="0">
              <a:buNone/>
            </a:pPr>
            <a:r>
              <a:rPr lang="en-US" sz="1000" dirty="0">
                <a:solidFill>
                  <a:srgbClr val="5A7A9A"/>
                </a:solidFill>
                <a:latin typeface="Calibri" pitchFamily="34" charset="0"/>
              </a:rPr>
              <a:t>No kaleido or chart image rendering required. Works on any server. Dark-themed pages, styled tables, page headers, and footer.</a:t>
            </a:r>
          </a:p>
          <a:p>
            <a:pPr marL="0" indent="0">
              <a:buNone/>
            </a:pPr>
            <a:endParaRPr lang="en-US" sz="950" dirty="0">
              <a:solidFill>
                <a:srgbClr val="5A7A9A"/>
              </a:solidFill>
              <a:latin typeface="Calibri" pitchFamily="34" charset="0"/>
            </a:endParaRPr>
          </a:p>
          <a:p>
            <a:pPr marL="0" indent="0">
              <a:buNone/>
            </a:pPr>
            <a:r>
              <a:rPr lang="en-US" sz="100" dirty="0">
                <a:solidFill>
                  <a:srgbClr val="0D1B2A"/>
                </a:solidFill>
                <a:latin typeface="Calibri"/>
              </a:rPr>
              <a:t> </a:t>
            </a:r>
          </a:p>
          <a:p>
            <a:pPr marL="0" indent="0">
              <a:buNone/>
            </a:pPr>
            <a:r>
              <a:rPr lang="en-US" sz="1100" b="1" dirty="0">
                <a:solidFill>
                  <a:srgbClr val="DCE8F5"/>
                </a:solidFill>
                <a:latin typeface="Calibri" pitchFamily="34" charset="0"/>
              </a:rPr>
              <a:t>CSV Anomaly Export</a:t>
            </a:r>
          </a:p>
          <a:p>
            <a:pPr marL="0" indent="0">
              <a:buNone/>
            </a:pPr>
            <a:r>
              <a:rPr lang="en-US" sz="1000" dirty="0">
                <a:solidFill>
                  <a:srgbClr val="5A7A9A"/>
                </a:solidFill>
                <a:latin typeface="Calibri" pitchFamily="34" charset="0"/>
              </a:rPr>
              <a:t>Combined file: signal, date, actual value, expected baseline, residual deviation, anomaly reason. Filtered by sidebar selection.</a:t>
            </a:r>
          </a:p>
          <a:p>
            <a:pPr marL="0" indent="0">
              <a:buNone/>
            </a:pPr>
            <a:endParaRPr lang="en-US" sz="950" dirty="0">
              <a:solidFill>
                <a:srgbClr val="5A7A9A"/>
              </a:solidFill>
              <a:latin typeface="Calibri" pitchFamily="34" charset="0"/>
            </a:endParaRPr>
          </a:p>
          <a:p>
            <a:pPr marL="0" indent="0">
              <a:buNone/>
            </a:pPr>
            <a:r>
              <a:rPr lang="en-US" sz="100" dirty="0">
                <a:solidFill>
                  <a:srgbClr val="0D1B2A"/>
                </a:solidFill>
                <a:latin typeface="Calibri"/>
              </a:rPr>
              <a:t> </a:t>
            </a:r>
          </a:p>
          <a:p>
            <a:pPr marL="0" indent="0">
              <a:buNone/>
            </a:pPr>
            <a:r>
              <a:rPr lang="en-US" sz="1100" b="1" dirty="0">
                <a:solidFill>
                  <a:srgbClr val="DCE8F5"/>
                </a:solidFill>
                <a:latin typeface="Calibri" pitchFamily="34" charset="0"/>
              </a:rPr>
              <a:t>Completion Checklist</a:t>
            </a:r>
          </a:p>
          <a:p>
            <a:pPr marL="0" indent="0">
              <a:buNone/>
            </a:pPr>
            <a:r>
              <a:rPr lang="en-US" sz="1000" dirty="0">
                <a:solidFill>
                  <a:srgbClr val="5A7A9A"/>
                </a:solidFill>
                <a:latin typeface="Calibri" pitchFamily="34" charset="0"/>
              </a:rPr>
              <a:t>13-item verified checklist confirming all Milestone 4 deliverables completed.</a:t>
            </a:r>
          </a:p>
        </p:txBody>
      </p:sp>
      <p:sp>
        <p:nvSpPr>
          <p:cNvPr id="8" name="BotBar"/>
          <p:cNvSpPr/>
          <p:nvPr/>
        </p:nvSpPr>
        <p:spPr>
          <a:xfrm>
            <a:off x="0" y="5070348"/>
            <a:ext cx="9144000" cy="73152"/>
          </a:xfrm>
          <a:prstGeom prst="rect">
            <a:avLst/>
          </a:prstGeom>
          <a:solidFill>
            <a:srgbClr val="6366F1"/>
          </a:solidFill>
          <a:ln w="12700">
            <a:solidFill>
              <a:srgbClr val="6366F1"/>
            </a:solidFill>
          </a:ln>
        </p:spPr>
        <p:txBody>
          <a:bodyPr/>
          <a:lstStyle/>
          <a:p>
            <a:endParaRPr lang="en-IN"/>
          </a:p>
        </p:txBody>
      </p:sp>
      <p:sp>
        <p:nvSpPr>
          <p:cNvPr id="9" name="ColHead1">
            <a:extLst>
              <a:ext uri="{FF2B5EF4-FFF2-40B4-BE49-F238E27FC236}">
                <a16:creationId xmlns:a16="http://schemas.microsoft.com/office/drawing/2014/main" id="{982A7DF5-9F49-2DE7-29CB-34F9CCFE8046}"/>
              </a:ext>
            </a:extLst>
          </p:cNvPr>
          <p:cNvSpPr/>
          <p:nvPr/>
        </p:nvSpPr>
        <p:spPr>
          <a:xfrm>
            <a:off x="200000" y="3904924"/>
            <a:ext cx="8744000" cy="370000"/>
          </a:xfrm>
          <a:prstGeom prst="rect">
            <a:avLst/>
          </a:prstGeom>
          <a:solidFill>
            <a:srgbClr val="162A41"/>
          </a:solidFill>
          <a:ln w="12700">
            <a:solidFill>
              <a:srgbClr val="38BDF8"/>
            </a:solidFill>
          </a:ln>
        </p:spPr>
        <p:txBody>
          <a:bodyPr wrap="square" lIns="91440" tIns="45720" rIns="91440" bIns="45720" rtlCol="0" anchor="ctr"/>
          <a:lstStyle/>
          <a:p>
            <a:pPr marL="0" indent="0">
              <a:buNone/>
            </a:pPr>
            <a:r>
              <a:rPr lang="en-US" sz="1400" b="1" dirty="0">
                <a:solidFill>
                  <a:srgbClr val="38BDF8"/>
                </a:solidFill>
                <a:latin typeface="Calibri" pitchFamily="34" charset="0"/>
              </a:rPr>
              <a:t>📊  Anomaly Detection Tab</a:t>
            </a:r>
          </a:p>
        </p:txBody>
      </p:sp>
      <p:sp>
        <p:nvSpPr>
          <p:cNvPr id="10" name="ColContent1">
            <a:extLst>
              <a:ext uri="{FF2B5EF4-FFF2-40B4-BE49-F238E27FC236}">
                <a16:creationId xmlns:a16="http://schemas.microsoft.com/office/drawing/2014/main" id="{7F89610A-F0E5-B5A1-209B-97AC2139D462}"/>
              </a:ext>
            </a:extLst>
          </p:cNvPr>
          <p:cNvSpPr/>
          <p:nvPr/>
        </p:nvSpPr>
        <p:spPr>
          <a:xfrm>
            <a:off x="200000" y="4304924"/>
            <a:ext cx="8744000" cy="641544"/>
          </a:xfrm>
          <a:prstGeom prst="rect">
            <a:avLst/>
          </a:prstGeom>
          <a:solidFill>
            <a:srgbClr val="111F30"/>
          </a:solidFill>
          <a:ln w="12700">
            <a:solidFill>
              <a:srgbClr val="1E3A5F"/>
            </a:solidFill>
          </a:ln>
        </p:spPr>
        <p:txBody>
          <a:bodyPr wrap="square" lIns="160000" tIns="120000" rIns="120000" bIns="120000" rtlCol="0" anchor="t"/>
          <a:lstStyle/>
          <a:p>
            <a:pPr marL="0" indent="0">
              <a:buNone/>
            </a:pPr>
            <a:r>
              <a:rPr lang="en-US" sz="1100" b="1" dirty="0">
                <a:solidFill>
                  <a:srgbClr val="DCE8F5"/>
                </a:solidFill>
                <a:latin typeface="Calibri" pitchFamily="34" charset="0"/>
              </a:rPr>
              <a:t>Individual Statistics and Anomaly Records – For Heart Rate, Steps Count, Sleep Rate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opBar"/>
          <p:cNvSpPr/>
          <p:nvPr/>
        </p:nvSpPr>
        <p:spPr>
          <a:xfrm>
            <a:off x="0" y="0"/>
            <a:ext cx="9144000" cy="73152"/>
          </a:xfrm>
          <a:prstGeom prst="rect">
            <a:avLst/>
          </a:prstGeom>
          <a:solidFill>
            <a:srgbClr val="10B981"/>
          </a:solidFill>
          <a:ln w="12700">
            <a:solidFill>
              <a:srgbClr val="10B981"/>
            </a:solidFill>
          </a:ln>
        </p:spPr>
        <p:txBody>
          <a:bodyPr/>
          <a:lstStyle/>
          <a:p>
            <a:endParaRPr lang="en-IN"/>
          </a:p>
        </p:txBody>
      </p:sp>
      <p:sp>
        <p:nvSpPr>
          <p:cNvPr id="3" name="Title"/>
          <p:cNvSpPr/>
          <p:nvPr/>
        </p:nvSpPr>
        <p:spPr>
          <a:xfrm>
            <a:off x="365760" y="164592"/>
            <a:ext cx="8412480" cy="502920"/>
          </a:xfrm>
          <a:prstGeom prst="rect">
            <a:avLst/>
          </a:prstGeom>
          <a:noFill/>
          <a:ln/>
        </p:spPr>
        <p:txBody>
          <a:bodyPr wrap="square" lIns="0" tIns="0" rIns="0" bIns="0" rtlCol="0" anchor="ctr"/>
          <a:lstStyle/>
          <a:p>
            <a:pPr marL="0" indent="0">
              <a:buNone/>
            </a:pPr>
            <a:r>
              <a:rPr lang="en-US" sz="2800" b="1" dirty="0">
                <a:solidFill>
                  <a:srgbClr val="10B981"/>
                </a:solidFill>
                <a:latin typeface="Calibri" pitchFamily="34" charset="0"/>
              </a:rPr>
              <a:t>Milestone 4 — Summary</a:t>
            </a:r>
          </a:p>
        </p:txBody>
      </p:sp>
      <p:sp>
        <p:nvSpPr>
          <p:cNvPr id="4" name="C1bg"/>
          <p:cNvSpPr/>
          <p:nvPr/>
        </p:nvSpPr>
        <p:spPr>
          <a:xfrm>
            <a:off x="320040" y="1005840"/>
            <a:ext cx="4206240" cy="1051560"/>
          </a:xfrm>
          <a:prstGeom prst="rect">
            <a:avLst/>
          </a:prstGeom>
          <a:solidFill>
            <a:srgbClr val="162A41"/>
          </a:solidFill>
          <a:ln w="12700">
            <a:solidFill>
              <a:srgbClr val="10B981"/>
            </a:solidFill>
          </a:ln>
          <a:effectLst>
            <a:outerShdw blurRad="101600" dist="38100" dir="8100000" algn="bl" rotWithShape="0">
              <a:srgbClr val="000000">
                <a:alpha val="22000"/>
              </a:srgbClr>
            </a:outerShdw>
          </a:effectLst>
        </p:spPr>
        <p:txBody>
          <a:bodyPr/>
          <a:lstStyle/>
          <a:p>
            <a:endParaRPr lang="en-IN"/>
          </a:p>
        </p:txBody>
      </p:sp>
      <p:sp>
        <p:nvSpPr>
          <p:cNvPr id="5" name="I1"/>
          <p:cNvSpPr/>
          <p:nvPr/>
        </p:nvSpPr>
        <p:spPr>
          <a:xfrm>
            <a:off x="411480" y="109728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rPr>
              <a:t>✅</a:t>
            </a:r>
          </a:p>
        </p:txBody>
      </p:sp>
      <p:sp>
        <p:nvSpPr>
          <p:cNvPr id="6" name="T1"/>
          <p:cNvSpPr/>
          <p:nvPr/>
        </p:nvSpPr>
        <p:spPr>
          <a:xfrm>
            <a:off x="868680" y="1143000"/>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rPr>
              <a:t>5 Fitbit CSV files loaded, merged, and cleaned automatically</a:t>
            </a:r>
          </a:p>
        </p:txBody>
      </p:sp>
      <p:sp>
        <p:nvSpPr>
          <p:cNvPr id="7" name="C2bg"/>
          <p:cNvSpPr/>
          <p:nvPr/>
        </p:nvSpPr>
        <p:spPr>
          <a:xfrm>
            <a:off x="4754880" y="1005840"/>
            <a:ext cx="4206240" cy="1051560"/>
          </a:xfrm>
          <a:prstGeom prst="rect">
            <a:avLst/>
          </a:prstGeom>
          <a:solidFill>
            <a:srgbClr val="162A41"/>
          </a:solidFill>
          <a:ln w="12700">
            <a:solidFill>
              <a:srgbClr val="38BDF8"/>
            </a:solidFill>
          </a:ln>
          <a:effectLst>
            <a:outerShdw blurRad="101600" dist="38100" dir="8100000" algn="bl" rotWithShape="0">
              <a:srgbClr val="000000">
                <a:alpha val="22000"/>
              </a:srgbClr>
            </a:outerShdw>
          </a:effectLst>
        </p:spPr>
        <p:txBody>
          <a:bodyPr/>
          <a:lstStyle/>
          <a:p>
            <a:endParaRPr lang="en-IN"/>
          </a:p>
        </p:txBody>
      </p:sp>
      <p:sp>
        <p:nvSpPr>
          <p:cNvPr id="8" name="I2"/>
          <p:cNvSpPr/>
          <p:nvPr/>
        </p:nvSpPr>
        <p:spPr>
          <a:xfrm>
            <a:off x="4846320" y="1097280"/>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rPr>
              <a:t>✅</a:t>
            </a:r>
          </a:p>
        </p:txBody>
      </p:sp>
      <p:sp>
        <p:nvSpPr>
          <p:cNvPr id="9" name="T2"/>
          <p:cNvSpPr/>
          <p:nvPr/>
        </p:nvSpPr>
        <p:spPr>
          <a:xfrm>
            <a:off x="5303520" y="1143000"/>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rPr>
              <a:t>6-KPI summary strip (flags, HR, Steps, Sleep, users, peak day)</a:t>
            </a:r>
          </a:p>
        </p:txBody>
      </p:sp>
      <p:sp>
        <p:nvSpPr>
          <p:cNvPr id="10" name="C3bg"/>
          <p:cNvSpPr/>
          <p:nvPr/>
        </p:nvSpPr>
        <p:spPr>
          <a:xfrm>
            <a:off x="320040" y="2267712"/>
            <a:ext cx="4206240" cy="1051560"/>
          </a:xfrm>
          <a:prstGeom prst="rect">
            <a:avLst/>
          </a:prstGeom>
          <a:solidFill>
            <a:srgbClr val="162A41"/>
          </a:solidFill>
          <a:ln w="12700">
            <a:solidFill>
              <a:srgbClr val="A78BFA"/>
            </a:solidFill>
          </a:ln>
          <a:effectLst>
            <a:outerShdw blurRad="101600" dist="38100" dir="8100000" algn="bl" rotWithShape="0">
              <a:srgbClr val="000000">
                <a:alpha val="22000"/>
              </a:srgbClr>
            </a:outerShdw>
          </a:effectLst>
        </p:spPr>
        <p:txBody>
          <a:bodyPr/>
          <a:lstStyle/>
          <a:p>
            <a:endParaRPr lang="en-IN"/>
          </a:p>
        </p:txBody>
      </p:sp>
      <p:sp>
        <p:nvSpPr>
          <p:cNvPr id="11" name="I3"/>
          <p:cNvSpPr/>
          <p:nvPr/>
        </p:nvSpPr>
        <p:spPr>
          <a:xfrm>
            <a:off x="411480" y="2359152"/>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rPr>
              <a:t>✅</a:t>
            </a:r>
          </a:p>
        </p:txBody>
      </p:sp>
      <p:sp>
        <p:nvSpPr>
          <p:cNvPr id="12" name="T3"/>
          <p:cNvSpPr/>
          <p:nvPr/>
        </p:nvSpPr>
        <p:spPr>
          <a:xfrm>
            <a:off x="868680" y="2404872"/>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rPr>
              <a:t>Combined anomaly timeline, log, and per-metric deep-dive tabs</a:t>
            </a:r>
          </a:p>
        </p:txBody>
      </p:sp>
      <p:sp>
        <p:nvSpPr>
          <p:cNvPr id="13" name="C4bg"/>
          <p:cNvSpPr/>
          <p:nvPr/>
        </p:nvSpPr>
        <p:spPr>
          <a:xfrm>
            <a:off x="4754880" y="2267712"/>
            <a:ext cx="4206240" cy="1051560"/>
          </a:xfrm>
          <a:prstGeom prst="rect">
            <a:avLst/>
          </a:prstGeom>
          <a:solidFill>
            <a:srgbClr val="162A41"/>
          </a:solidFill>
          <a:ln w="12700">
            <a:solidFill>
              <a:srgbClr val="F59E0B"/>
            </a:solidFill>
          </a:ln>
          <a:effectLst>
            <a:outerShdw blurRad="101600" dist="38100" dir="8100000" algn="bl" rotWithShape="0">
              <a:srgbClr val="000000">
                <a:alpha val="22000"/>
              </a:srgbClr>
            </a:outerShdw>
          </a:effectLst>
        </p:spPr>
        <p:txBody>
          <a:bodyPr/>
          <a:lstStyle/>
          <a:p>
            <a:endParaRPr lang="en-IN"/>
          </a:p>
        </p:txBody>
      </p:sp>
      <p:sp>
        <p:nvSpPr>
          <p:cNvPr id="14" name="I4"/>
          <p:cNvSpPr/>
          <p:nvPr/>
        </p:nvSpPr>
        <p:spPr>
          <a:xfrm>
            <a:off x="4846320" y="2359152"/>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rPr>
              <a:t>✅</a:t>
            </a:r>
          </a:p>
        </p:txBody>
      </p:sp>
      <p:sp>
        <p:nvSpPr>
          <p:cNvPr id="15" name="T4"/>
          <p:cNvSpPr/>
          <p:nvPr/>
        </p:nvSpPr>
        <p:spPr>
          <a:xfrm>
            <a:off x="5303520" y="2404872"/>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rPr>
              <a:t>Date range + per-user filter; all views update dynamically</a:t>
            </a:r>
          </a:p>
        </p:txBody>
      </p:sp>
      <p:sp>
        <p:nvSpPr>
          <p:cNvPr id="16" name="C5bg"/>
          <p:cNvSpPr/>
          <p:nvPr/>
        </p:nvSpPr>
        <p:spPr>
          <a:xfrm>
            <a:off x="320040" y="3529584"/>
            <a:ext cx="4206240" cy="1051560"/>
          </a:xfrm>
          <a:prstGeom prst="rect">
            <a:avLst/>
          </a:prstGeom>
          <a:solidFill>
            <a:srgbClr val="162A41"/>
          </a:solidFill>
          <a:ln w="12700">
            <a:solidFill>
              <a:srgbClr val="EF4444"/>
            </a:solidFill>
          </a:ln>
          <a:effectLst>
            <a:outerShdw blurRad="101600" dist="38100" dir="8100000" algn="bl" rotWithShape="0">
              <a:srgbClr val="000000">
                <a:alpha val="22000"/>
              </a:srgbClr>
            </a:outerShdw>
          </a:effectLst>
        </p:spPr>
        <p:txBody>
          <a:bodyPr/>
          <a:lstStyle/>
          <a:p>
            <a:endParaRPr lang="en-IN"/>
          </a:p>
        </p:txBody>
      </p:sp>
      <p:sp>
        <p:nvSpPr>
          <p:cNvPr id="17" name="I5"/>
          <p:cNvSpPr/>
          <p:nvPr/>
        </p:nvSpPr>
        <p:spPr>
          <a:xfrm>
            <a:off x="411480" y="3621024"/>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rPr>
              <a:t>✅</a:t>
            </a:r>
          </a:p>
        </p:txBody>
      </p:sp>
      <p:sp>
        <p:nvSpPr>
          <p:cNvPr id="18" name="T5"/>
          <p:cNvSpPr/>
          <p:nvPr/>
        </p:nvSpPr>
        <p:spPr>
          <a:xfrm>
            <a:off x="868680" y="3666744"/>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rPr>
              <a:t>PDF report (9 sections, ReportLab) — one-click download</a:t>
            </a:r>
          </a:p>
        </p:txBody>
      </p:sp>
      <p:sp>
        <p:nvSpPr>
          <p:cNvPr id="19" name="C6bg"/>
          <p:cNvSpPr/>
          <p:nvPr/>
        </p:nvSpPr>
        <p:spPr>
          <a:xfrm>
            <a:off x="4754880" y="3529584"/>
            <a:ext cx="4206240" cy="1051560"/>
          </a:xfrm>
          <a:prstGeom prst="rect">
            <a:avLst/>
          </a:prstGeom>
          <a:solidFill>
            <a:srgbClr val="162A41"/>
          </a:solidFill>
          <a:ln w="12700">
            <a:solidFill>
              <a:srgbClr val="6366F1"/>
            </a:solidFill>
          </a:ln>
          <a:effectLst>
            <a:outerShdw blurRad="101600" dist="38100" dir="8100000" algn="bl" rotWithShape="0">
              <a:srgbClr val="000000">
                <a:alpha val="22000"/>
              </a:srgbClr>
            </a:outerShdw>
          </a:effectLst>
        </p:spPr>
        <p:txBody>
          <a:bodyPr/>
          <a:lstStyle/>
          <a:p>
            <a:endParaRPr lang="en-IN"/>
          </a:p>
        </p:txBody>
      </p:sp>
      <p:sp>
        <p:nvSpPr>
          <p:cNvPr id="20" name="I6"/>
          <p:cNvSpPr/>
          <p:nvPr/>
        </p:nvSpPr>
        <p:spPr>
          <a:xfrm>
            <a:off x="4846320" y="3621024"/>
            <a:ext cx="457200" cy="822960"/>
          </a:xfrm>
          <a:prstGeom prst="rect">
            <a:avLst/>
          </a:prstGeom>
          <a:noFill/>
          <a:ln/>
        </p:spPr>
        <p:txBody>
          <a:bodyPr wrap="square" rtlCol="0" anchor="ctr"/>
          <a:lstStyle/>
          <a:p>
            <a:pPr marL="0" indent="0">
              <a:buNone/>
            </a:pPr>
            <a:r>
              <a:rPr lang="en-US" sz="2000" dirty="0">
                <a:solidFill>
                  <a:srgbClr val="000000"/>
                </a:solidFill>
                <a:latin typeface="Calibri" pitchFamily="34" charset="0"/>
              </a:rPr>
              <a:t>✅</a:t>
            </a:r>
          </a:p>
        </p:txBody>
      </p:sp>
      <p:sp>
        <p:nvSpPr>
          <p:cNvPr id="21" name="T6"/>
          <p:cNvSpPr/>
          <p:nvPr/>
        </p:nvSpPr>
        <p:spPr>
          <a:xfrm>
            <a:off x="5303520" y="3666744"/>
            <a:ext cx="3520440" cy="777240"/>
          </a:xfrm>
          <a:prstGeom prst="rect">
            <a:avLst/>
          </a:prstGeom>
          <a:noFill/>
          <a:ln/>
        </p:spPr>
        <p:txBody>
          <a:bodyPr wrap="square" rtlCol="0" anchor="ctr"/>
          <a:lstStyle/>
          <a:p>
            <a:pPr marL="0" indent="0">
              <a:buNone/>
            </a:pPr>
            <a:r>
              <a:rPr lang="en-US" sz="1150" dirty="0">
                <a:solidFill>
                  <a:srgbClr val="DCE8F5"/>
                </a:solidFill>
                <a:latin typeface="Calibri" pitchFamily="34" charset="0"/>
              </a:rPr>
              <a:t>CSV export of all anomaly records with full metadata</a:t>
            </a:r>
          </a:p>
        </p:txBody>
      </p:sp>
      <p:sp>
        <p:nvSpPr>
          <p:cNvPr id="22" name="BotBar"/>
          <p:cNvSpPr/>
          <p:nvPr/>
        </p:nvSpPr>
        <p:spPr>
          <a:xfrm>
            <a:off x="0" y="5070348"/>
            <a:ext cx="9144000" cy="73152"/>
          </a:xfrm>
          <a:prstGeom prst="rect">
            <a:avLst/>
          </a:prstGeom>
          <a:solidFill>
            <a:srgbClr val="6366F1"/>
          </a:solidFill>
          <a:ln w="12700">
            <a:solidFill>
              <a:srgbClr val="6366F1"/>
            </a:solidFill>
          </a:ln>
        </p:spPr>
        <p:txBody>
          <a:bodyPr/>
          <a:lstStyle/>
          <a:p>
            <a:endParaRPr lang="en-IN"/>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2A28B37B-071D-3788-F786-79CA0B3A888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FF3F663-CB60-08A7-DE5B-73C9D270DA5E}"/>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65E2F665-9F8D-46E6-BCA5-C50C6AA62E2B}"/>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Overview Tab</a:t>
            </a:r>
          </a:p>
          <a:p>
            <a:pPr marL="0" indent="0">
              <a:buNone/>
            </a:pPr>
            <a:endParaRPr lang="en-US" sz="2800" dirty="0"/>
          </a:p>
        </p:txBody>
      </p:sp>
      <p:sp>
        <p:nvSpPr>
          <p:cNvPr id="25" name="Shape 23">
            <a:extLst>
              <a:ext uri="{FF2B5EF4-FFF2-40B4-BE49-F238E27FC236}">
                <a16:creationId xmlns:a16="http://schemas.microsoft.com/office/drawing/2014/main" id="{B8B458E9-83FF-D24C-1341-E9BEB1AFBA04}"/>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5" name="Picture 4">
            <a:extLst>
              <a:ext uri="{FF2B5EF4-FFF2-40B4-BE49-F238E27FC236}">
                <a16:creationId xmlns:a16="http://schemas.microsoft.com/office/drawing/2014/main" id="{4EE73A26-2493-8C4A-9522-A7CEEF63D210}"/>
              </a:ext>
            </a:extLst>
          </p:cNvPr>
          <p:cNvPicPr>
            <a:picLocks noChangeAspect="1"/>
          </p:cNvPicPr>
          <p:nvPr/>
        </p:nvPicPr>
        <p:blipFill>
          <a:blip r:embed="rId3"/>
          <a:srcRect b="1924"/>
          <a:stretch>
            <a:fillRect/>
          </a:stretch>
        </p:blipFill>
        <p:spPr>
          <a:xfrm>
            <a:off x="1330036" y="1280160"/>
            <a:ext cx="6727371" cy="3594661"/>
          </a:xfrm>
          <a:prstGeom prst="rect">
            <a:avLst/>
          </a:prstGeom>
        </p:spPr>
      </p:pic>
    </p:spTree>
    <p:extLst>
      <p:ext uri="{BB962C8B-B14F-4D97-AF65-F5344CB8AC3E}">
        <p14:creationId xmlns:p14="http://schemas.microsoft.com/office/powerpoint/2010/main" val="12150408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DE7714FD-8C34-6B81-E69B-4F4AB205AFE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2820908-0098-C1B5-57BA-A8F1C855B6AB}"/>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D69DE344-99C2-7805-E9C6-87DB1163B217}"/>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KPI Strips with Anomaly counts</a:t>
            </a:r>
          </a:p>
          <a:p>
            <a:pPr marL="0" indent="0">
              <a:buNone/>
            </a:pPr>
            <a:endParaRPr lang="en-US" sz="2800" dirty="0"/>
          </a:p>
        </p:txBody>
      </p:sp>
      <p:sp>
        <p:nvSpPr>
          <p:cNvPr id="25" name="Shape 23">
            <a:extLst>
              <a:ext uri="{FF2B5EF4-FFF2-40B4-BE49-F238E27FC236}">
                <a16:creationId xmlns:a16="http://schemas.microsoft.com/office/drawing/2014/main" id="{71CA1425-9E52-FB5D-AF6D-3833449A0073}"/>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5" name="Picture 4">
            <a:extLst>
              <a:ext uri="{FF2B5EF4-FFF2-40B4-BE49-F238E27FC236}">
                <a16:creationId xmlns:a16="http://schemas.microsoft.com/office/drawing/2014/main" id="{7E20D4C3-C1EA-D239-0951-0FA9217E0123}"/>
              </a:ext>
            </a:extLst>
          </p:cNvPr>
          <p:cNvPicPr>
            <a:picLocks noChangeAspect="1"/>
          </p:cNvPicPr>
          <p:nvPr/>
        </p:nvPicPr>
        <p:blipFill>
          <a:blip r:embed="rId3"/>
          <a:stretch>
            <a:fillRect/>
          </a:stretch>
        </p:blipFill>
        <p:spPr>
          <a:xfrm>
            <a:off x="887680" y="1938518"/>
            <a:ext cx="7368639" cy="1668452"/>
          </a:xfrm>
          <a:prstGeom prst="rect">
            <a:avLst/>
          </a:prstGeom>
        </p:spPr>
      </p:pic>
    </p:spTree>
    <p:extLst>
      <p:ext uri="{BB962C8B-B14F-4D97-AF65-F5344CB8AC3E}">
        <p14:creationId xmlns:p14="http://schemas.microsoft.com/office/powerpoint/2010/main" val="19867403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AD22570F-D919-FD7C-F6D3-0FEB8E4FFE0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25457EF-FB56-27DC-178F-109B518DCBFC}"/>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278E1F98-9D47-8BEE-6E73-9FF17929A5A5}"/>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Sidebar with filters</a:t>
            </a:r>
          </a:p>
          <a:p>
            <a:pPr marL="0" indent="0">
              <a:buNone/>
            </a:pPr>
            <a:endParaRPr lang="en-US" sz="2800" dirty="0"/>
          </a:p>
        </p:txBody>
      </p:sp>
      <p:sp>
        <p:nvSpPr>
          <p:cNvPr id="25" name="Shape 23">
            <a:extLst>
              <a:ext uri="{FF2B5EF4-FFF2-40B4-BE49-F238E27FC236}">
                <a16:creationId xmlns:a16="http://schemas.microsoft.com/office/drawing/2014/main" id="{24BFA7EE-11B4-EB60-5133-C1D65D12168A}"/>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8" name="Picture 7">
            <a:extLst>
              <a:ext uri="{FF2B5EF4-FFF2-40B4-BE49-F238E27FC236}">
                <a16:creationId xmlns:a16="http://schemas.microsoft.com/office/drawing/2014/main" id="{2600CF76-09A8-705B-3BFC-40CD287E34C8}"/>
              </a:ext>
            </a:extLst>
          </p:cNvPr>
          <p:cNvPicPr>
            <a:picLocks noChangeAspect="1"/>
          </p:cNvPicPr>
          <p:nvPr/>
        </p:nvPicPr>
        <p:blipFill>
          <a:blip r:embed="rId3"/>
          <a:stretch>
            <a:fillRect/>
          </a:stretch>
        </p:blipFill>
        <p:spPr>
          <a:xfrm>
            <a:off x="1258784" y="1280160"/>
            <a:ext cx="6804561" cy="3756348"/>
          </a:xfrm>
          <a:prstGeom prst="rect">
            <a:avLst/>
          </a:prstGeom>
        </p:spPr>
      </p:pic>
    </p:spTree>
    <p:extLst>
      <p:ext uri="{BB962C8B-B14F-4D97-AF65-F5344CB8AC3E}">
        <p14:creationId xmlns:p14="http://schemas.microsoft.com/office/powerpoint/2010/main" val="13142177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CDF78A04-AF24-A7D5-24A4-DAEB9523992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2B9316B-1872-DB7A-DA58-F072CA6ED0A5}"/>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F89029C0-E58E-0438-5E4D-5C37933E8CDA}"/>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Downloadable Report Buttons</a:t>
            </a:r>
          </a:p>
          <a:p>
            <a:pPr marL="0" indent="0">
              <a:buNone/>
            </a:pPr>
            <a:endParaRPr lang="en-US" sz="2800" dirty="0"/>
          </a:p>
        </p:txBody>
      </p:sp>
      <p:sp>
        <p:nvSpPr>
          <p:cNvPr id="25" name="Shape 23">
            <a:extLst>
              <a:ext uri="{FF2B5EF4-FFF2-40B4-BE49-F238E27FC236}">
                <a16:creationId xmlns:a16="http://schemas.microsoft.com/office/drawing/2014/main" id="{8205A52E-768D-C494-8172-AB0E1AC6CDCD}"/>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5" name="Picture 4">
            <a:extLst>
              <a:ext uri="{FF2B5EF4-FFF2-40B4-BE49-F238E27FC236}">
                <a16:creationId xmlns:a16="http://schemas.microsoft.com/office/drawing/2014/main" id="{2C12B06B-1232-F63D-48C5-7D8C5C201827}"/>
              </a:ext>
            </a:extLst>
          </p:cNvPr>
          <p:cNvPicPr>
            <a:picLocks noChangeAspect="1"/>
          </p:cNvPicPr>
          <p:nvPr/>
        </p:nvPicPr>
        <p:blipFill>
          <a:blip r:embed="rId3"/>
          <a:stretch>
            <a:fillRect/>
          </a:stretch>
        </p:blipFill>
        <p:spPr>
          <a:xfrm>
            <a:off x="1474036" y="1339189"/>
            <a:ext cx="6195927" cy="3498877"/>
          </a:xfrm>
          <a:prstGeom prst="rect">
            <a:avLst/>
          </a:prstGeom>
        </p:spPr>
      </p:pic>
    </p:spTree>
    <p:extLst>
      <p:ext uri="{BB962C8B-B14F-4D97-AF65-F5344CB8AC3E}">
        <p14:creationId xmlns:p14="http://schemas.microsoft.com/office/powerpoint/2010/main" val="26146552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AE4EA75F-4FF2-D282-A9A9-CEC18F75C1C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10596BA-D251-AF8F-07BF-DE724922270C}"/>
              </a:ext>
            </a:extLst>
          </p:cNvPr>
          <p:cNvSpPr/>
          <p:nvPr/>
        </p:nvSpPr>
        <p:spPr>
          <a:xfrm>
            <a:off x="0" y="0"/>
            <a:ext cx="9144000" cy="73152"/>
          </a:xfrm>
          <a:prstGeom prst="rect">
            <a:avLst/>
          </a:prstGeom>
          <a:solidFill>
            <a:srgbClr val="A78BFA"/>
          </a:solidFill>
          <a:ln w="12700">
            <a:solidFill>
              <a:srgbClr val="A78BFA"/>
            </a:solidFill>
            <a:prstDash val="solid"/>
          </a:ln>
        </p:spPr>
        <p:txBody>
          <a:bodyPr/>
          <a:lstStyle/>
          <a:p>
            <a:endParaRPr lang="en-IN"/>
          </a:p>
        </p:txBody>
      </p:sp>
      <p:sp>
        <p:nvSpPr>
          <p:cNvPr id="3" name="Text 1">
            <a:extLst>
              <a:ext uri="{FF2B5EF4-FFF2-40B4-BE49-F238E27FC236}">
                <a16:creationId xmlns:a16="http://schemas.microsoft.com/office/drawing/2014/main" id="{EA7E1960-0A64-D18B-6CFD-4E52D5C76407}"/>
              </a:ext>
            </a:extLst>
          </p:cNvPr>
          <p:cNvSpPr/>
          <p:nvPr/>
        </p:nvSpPr>
        <p:spPr>
          <a:xfrm>
            <a:off x="351510" y="731520"/>
            <a:ext cx="8412480" cy="54864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ea typeface="Calibri" pitchFamily="34" charset="-122"/>
                <a:cs typeface="Calibri" pitchFamily="34" charset="-120"/>
              </a:rPr>
              <a:t>Output Screenshots: </a:t>
            </a:r>
          </a:p>
          <a:p>
            <a:pPr marL="0" indent="0">
              <a:buNone/>
            </a:pPr>
            <a:endParaRPr lang="en-US" sz="1200" b="1" dirty="0">
              <a:solidFill>
                <a:srgbClr val="A78BFA"/>
              </a:solidFill>
              <a:latin typeface="Calibri" pitchFamily="34" charset="0"/>
              <a:ea typeface="Calibri" pitchFamily="34" charset="-122"/>
              <a:cs typeface="Calibri" pitchFamily="34" charset="-120"/>
            </a:endParaRPr>
          </a:p>
          <a:p>
            <a:pPr marL="0" indent="0">
              <a:buNone/>
            </a:pPr>
            <a:r>
              <a:rPr lang="en-US" sz="1200" b="1" dirty="0">
                <a:solidFill>
                  <a:schemeClr val="accent5">
                    <a:lumMod val="75000"/>
                  </a:schemeClr>
                </a:solidFill>
                <a:latin typeface="Calibri" pitchFamily="34" charset="0"/>
                <a:ea typeface="Calibri" pitchFamily="34" charset="-122"/>
                <a:cs typeface="Calibri" pitchFamily="34" charset="-120"/>
              </a:rPr>
              <a:t>HR / Steps / Sleep rate Deep Dives</a:t>
            </a:r>
          </a:p>
          <a:p>
            <a:pPr marL="0" indent="0">
              <a:buNone/>
            </a:pPr>
            <a:endParaRPr lang="en-US" sz="2800" dirty="0"/>
          </a:p>
        </p:txBody>
      </p:sp>
      <p:sp>
        <p:nvSpPr>
          <p:cNvPr id="25" name="Shape 23">
            <a:extLst>
              <a:ext uri="{FF2B5EF4-FFF2-40B4-BE49-F238E27FC236}">
                <a16:creationId xmlns:a16="http://schemas.microsoft.com/office/drawing/2014/main" id="{A10ACB7D-A8B0-4A6D-FCA1-B80D105A5F14}"/>
              </a:ext>
            </a:extLst>
          </p:cNvPr>
          <p:cNvSpPr/>
          <p:nvPr/>
        </p:nvSpPr>
        <p:spPr>
          <a:xfrm>
            <a:off x="0" y="5070348"/>
            <a:ext cx="9144000" cy="73152"/>
          </a:xfrm>
          <a:prstGeom prst="rect">
            <a:avLst/>
          </a:prstGeom>
          <a:solidFill>
            <a:srgbClr val="6366F1"/>
          </a:solidFill>
          <a:ln w="12700">
            <a:solidFill>
              <a:srgbClr val="6366F1"/>
            </a:solidFill>
            <a:prstDash val="solid"/>
          </a:ln>
        </p:spPr>
        <p:txBody>
          <a:bodyPr/>
          <a:lstStyle/>
          <a:p>
            <a:endParaRPr lang="en-IN"/>
          </a:p>
        </p:txBody>
      </p:sp>
      <p:pic>
        <p:nvPicPr>
          <p:cNvPr id="5" name="Picture 4">
            <a:extLst>
              <a:ext uri="{FF2B5EF4-FFF2-40B4-BE49-F238E27FC236}">
                <a16:creationId xmlns:a16="http://schemas.microsoft.com/office/drawing/2014/main" id="{4B07B78F-DC4E-7F1A-39F0-4B096D21C4C9}"/>
              </a:ext>
            </a:extLst>
          </p:cNvPr>
          <p:cNvPicPr>
            <a:picLocks noChangeAspect="1"/>
          </p:cNvPicPr>
          <p:nvPr/>
        </p:nvPicPr>
        <p:blipFill>
          <a:blip r:embed="rId3"/>
          <a:stretch>
            <a:fillRect/>
          </a:stretch>
        </p:blipFill>
        <p:spPr>
          <a:xfrm>
            <a:off x="184067" y="1549740"/>
            <a:ext cx="4310741" cy="1724296"/>
          </a:xfrm>
          <a:prstGeom prst="rect">
            <a:avLst/>
          </a:prstGeom>
        </p:spPr>
      </p:pic>
      <p:pic>
        <p:nvPicPr>
          <p:cNvPr id="8" name="Picture 7">
            <a:extLst>
              <a:ext uri="{FF2B5EF4-FFF2-40B4-BE49-F238E27FC236}">
                <a16:creationId xmlns:a16="http://schemas.microsoft.com/office/drawing/2014/main" id="{AC311EAC-3F82-78EA-2A4A-D6F83A1B3D08}"/>
              </a:ext>
            </a:extLst>
          </p:cNvPr>
          <p:cNvPicPr>
            <a:picLocks noChangeAspect="1"/>
          </p:cNvPicPr>
          <p:nvPr/>
        </p:nvPicPr>
        <p:blipFill>
          <a:blip r:embed="rId4"/>
          <a:stretch>
            <a:fillRect/>
          </a:stretch>
        </p:blipFill>
        <p:spPr>
          <a:xfrm>
            <a:off x="4572000" y="1567544"/>
            <a:ext cx="3942608" cy="1688688"/>
          </a:xfrm>
          <a:prstGeom prst="rect">
            <a:avLst/>
          </a:prstGeom>
        </p:spPr>
      </p:pic>
      <p:pic>
        <p:nvPicPr>
          <p:cNvPr id="10" name="Picture 9">
            <a:extLst>
              <a:ext uri="{FF2B5EF4-FFF2-40B4-BE49-F238E27FC236}">
                <a16:creationId xmlns:a16="http://schemas.microsoft.com/office/drawing/2014/main" id="{819A943D-7BA4-79E4-CA65-E3782D4BDB1A}"/>
              </a:ext>
            </a:extLst>
          </p:cNvPr>
          <p:cNvPicPr>
            <a:picLocks noChangeAspect="1"/>
          </p:cNvPicPr>
          <p:nvPr/>
        </p:nvPicPr>
        <p:blipFill>
          <a:blip r:embed="rId5"/>
          <a:stretch>
            <a:fillRect/>
          </a:stretch>
        </p:blipFill>
        <p:spPr>
          <a:xfrm>
            <a:off x="2232559" y="3256232"/>
            <a:ext cx="4396837" cy="1745765"/>
          </a:xfrm>
          <a:prstGeom prst="rect">
            <a:avLst/>
          </a:prstGeom>
        </p:spPr>
      </p:pic>
    </p:spTree>
    <p:extLst>
      <p:ext uri="{BB962C8B-B14F-4D97-AF65-F5344CB8AC3E}">
        <p14:creationId xmlns:p14="http://schemas.microsoft.com/office/powerpoint/2010/main" val="22295217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LeftPanel"/>
          <p:cNvSpPr/>
          <p:nvPr/>
        </p:nvSpPr>
        <p:spPr>
          <a:xfrm>
            <a:off x="0" y="0"/>
            <a:ext cx="4500000" cy="5143500"/>
          </a:xfrm>
          <a:prstGeom prst="rect">
            <a:avLst/>
          </a:prstGeom>
          <a:solidFill>
            <a:srgbClr val="162A41"/>
          </a:solidFill>
          <a:ln>
            <a:noFill/>
          </a:ln>
        </p:spPr>
        <p:txBody>
          <a:bodyPr/>
          <a:lstStyle/>
          <a:p>
            <a:endParaRPr lang="en-IN"/>
          </a:p>
        </p:txBody>
      </p:sp>
      <p:sp>
        <p:nvSpPr>
          <p:cNvPr id="3" name="Divider"/>
          <p:cNvSpPr/>
          <p:nvPr/>
        </p:nvSpPr>
        <p:spPr>
          <a:xfrm>
            <a:off x="4500000" y="0"/>
            <a:ext cx="54864" cy="5143500"/>
          </a:xfrm>
          <a:prstGeom prst="rect">
            <a:avLst/>
          </a:prstGeom>
          <a:solidFill>
            <a:srgbClr val="A78BFA"/>
          </a:solidFill>
          <a:ln>
            <a:noFill/>
          </a:ln>
        </p:spPr>
        <p:txBody>
          <a:bodyPr/>
          <a:lstStyle/>
          <a:p>
            <a:endParaRPr lang="en-IN"/>
          </a:p>
        </p:txBody>
      </p:sp>
      <p:sp>
        <p:nvSpPr>
          <p:cNvPr id="4" name="Label"/>
          <p:cNvSpPr/>
          <p:nvPr/>
        </p:nvSpPr>
        <p:spPr>
          <a:xfrm>
            <a:off x="320040" y="320000"/>
            <a:ext cx="3860000" cy="300000"/>
          </a:xfrm>
          <a:prstGeom prst="rect">
            <a:avLst/>
          </a:prstGeom>
          <a:noFill/>
          <a:ln/>
        </p:spPr>
        <p:txBody>
          <a:bodyPr wrap="square" rtlCol="0" anchor="ctr"/>
          <a:lstStyle/>
          <a:p>
            <a:pPr marL="0" indent="0">
              <a:buNone/>
            </a:pPr>
            <a:r>
              <a:rPr lang="en-US" sz="1100" b="1" dirty="0">
                <a:solidFill>
                  <a:srgbClr val="A78BFA"/>
                </a:solidFill>
                <a:latin typeface="Calibri" pitchFamily="34" charset="0"/>
              </a:rPr>
              <a:t>WHAT WE BUILT</a:t>
            </a:r>
          </a:p>
        </p:txBody>
      </p:sp>
      <p:sp>
        <p:nvSpPr>
          <p:cNvPr id="5" name="Heading"/>
          <p:cNvSpPr/>
          <p:nvPr/>
        </p:nvSpPr>
        <p:spPr>
          <a:xfrm>
            <a:off x="320040" y="650000"/>
            <a:ext cx="3860000" cy="1100000"/>
          </a:xfrm>
          <a:prstGeom prst="rect">
            <a:avLst/>
          </a:prstGeom>
          <a:noFill/>
          <a:ln/>
        </p:spPr>
        <p:txBody>
          <a:bodyPr wrap="square" rtlCol="0" anchor="t"/>
          <a:lstStyle/>
          <a:p>
            <a:pPr marL="0" indent="0">
              <a:buNone/>
            </a:pPr>
            <a:r>
              <a:rPr lang="en-US" sz="3200" b="1" dirty="0">
                <a:solidFill>
                  <a:srgbClr val="DCE8F5"/>
                </a:solidFill>
                <a:latin typeface="Calibri" pitchFamily="34" charset="0"/>
              </a:rPr>
              <a:t>FitPulse</a:t>
            </a:r>
          </a:p>
          <a:p>
            <a:pPr marL="0" indent="0">
              <a:buNone/>
            </a:pPr>
            <a:r>
              <a:rPr lang="en-US" sz="1600" dirty="0">
                <a:solidFill>
                  <a:srgbClr val="5A7A9A"/>
                </a:solidFill>
                <a:latin typeface="Calibri" pitchFamily="34" charset="0"/>
              </a:rPr>
              <a:t>Health Anomaly Detection Platform</a:t>
            </a:r>
          </a:p>
        </p:txBody>
      </p:sp>
      <p:sp>
        <p:nvSpPr>
          <p:cNvPr id="6" name="Stat1bg"/>
          <p:cNvSpPr/>
          <p:nvPr/>
        </p:nvSpPr>
        <p:spPr>
          <a:xfrm>
            <a:off x="320040" y="1900000"/>
            <a:ext cx="1750000" cy="900000"/>
          </a:xfrm>
          <a:prstGeom prst="rect">
            <a:avLst/>
          </a:prstGeom>
          <a:solidFill>
            <a:srgbClr val="0D1B2A"/>
          </a:solidFill>
          <a:ln w="12700">
            <a:solidFill>
              <a:srgbClr val="A78BFA"/>
            </a:solidFill>
          </a:ln>
        </p:spPr>
        <p:txBody>
          <a:bodyPr wrap="square" lIns="91440" tIns="91440" rIns="91440" bIns="91440" rtlCol="0" anchor="ctr"/>
          <a:lstStyle/>
          <a:p>
            <a:pPr marL="0" indent="0" algn="ctr">
              <a:buNone/>
            </a:pPr>
            <a:r>
              <a:rPr lang="en-US" sz="3200" b="1" dirty="0">
                <a:solidFill>
                  <a:srgbClr val="A78BFA"/>
                </a:solidFill>
                <a:latin typeface="Calibri" pitchFamily="34" charset="0"/>
              </a:rPr>
              <a:t>4</a:t>
            </a:r>
          </a:p>
          <a:p>
            <a:pPr marL="0" indent="0" algn="ctr">
              <a:buNone/>
            </a:pPr>
            <a:r>
              <a:rPr lang="en-US" sz="950" dirty="0">
                <a:solidFill>
                  <a:srgbClr val="5A7A9A"/>
                </a:solidFill>
                <a:latin typeface="Calibri" pitchFamily="34" charset="0"/>
              </a:rPr>
              <a:t>Milestones</a:t>
            </a:r>
          </a:p>
        </p:txBody>
      </p:sp>
      <p:sp>
        <p:nvSpPr>
          <p:cNvPr id="7" name="Stat2bg"/>
          <p:cNvSpPr/>
          <p:nvPr/>
        </p:nvSpPr>
        <p:spPr>
          <a:xfrm>
            <a:off x="2150000" y="1900000"/>
            <a:ext cx="1750000" cy="900000"/>
          </a:xfrm>
          <a:prstGeom prst="rect">
            <a:avLst/>
          </a:prstGeom>
          <a:solidFill>
            <a:srgbClr val="0D1B2A"/>
          </a:solidFill>
          <a:ln w="12700">
            <a:solidFill>
              <a:srgbClr val="38BDF8"/>
            </a:solidFill>
          </a:ln>
        </p:spPr>
        <p:txBody>
          <a:bodyPr wrap="square" lIns="91440" tIns="91440" rIns="91440" bIns="91440" rtlCol="0" anchor="ctr"/>
          <a:lstStyle/>
          <a:p>
            <a:pPr marL="0" indent="0" algn="ctr">
              <a:buNone/>
            </a:pPr>
            <a:r>
              <a:rPr lang="en-US" sz="3200" b="1" dirty="0">
                <a:solidFill>
                  <a:srgbClr val="38BDF8"/>
                </a:solidFill>
                <a:latin typeface="Calibri" pitchFamily="34" charset="0"/>
              </a:rPr>
              <a:t>35</a:t>
            </a:r>
          </a:p>
          <a:p>
            <a:pPr marL="0" indent="0" algn="ctr">
              <a:buNone/>
            </a:pPr>
            <a:r>
              <a:rPr lang="en-US" sz="950" dirty="0">
                <a:solidFill>
                  <a:srgbClr val="5A7A9A"/>
                </a:solidFill>
                <a:latin typeface="Calibri" pitchFamily="34" charset="0"/>
              </a:rPr>
              <a:t>Users Analysed</a:t>
            </a:r>
          </a:p>
        </p:txBody>
      </p:sp>
      <p:sp>
        <p:nvSpPr>
          <p:cNvPr id="8" name="Stat3bg"/>
          <p:cNvSpPr/>
          <p:nvPr/>
        </p:nvSpPr>
        <p:spPr>
          <a:xfrm>
            <a:off x="320040" y="2950000"/>
            <a:ext cx="1750000" cy="900000"/>
          </a:xfrm>
          <a:prstGeom prst="rect">
            <a:avLst/>
          </a:prstGeom>
          <a:solidFill>
            <a:srgbClr val="0D1B2A"/>
          </a:solidFill>
          <a:ln w="12700">
            <a:solidFill>
              <a:srgbClr val="10B981"/>
            </a:solidFill>
          </a:ln>
        </p:spPr>
        <p:txBody>
          <a:bodyPr wrap="square" lIns="91440" tIns="91440" rIns="91440" bIns="91440" rtlCol="0" anchor="ctr"/>
          <a:lstStyle/>
          <a:p>
            <a:pPr marL="0" indent="0" algn="ctr">
              <a:buNone/>
            </a:pPr>
            <a:r>
              <a:rPr lang="en-US" sz="3200" b="1" dirty="0">
                <a:solidFill>
                  <a:srgbClr val="10B981"/>
                </a:solidFill>
                <a:latin typeface="Calibri" pitchFamily="34" charset="0"/>
              </a:rPr>
              <a:t>3</a:t>
            </a:r>
          </a:p>
          <a:p>
            <a:pPr marL="0" indent="0" algn="ctr">
              <a:buNone/>
            </a:pPr>
            <a:r>
              <a:rPr lang="en-US" sz="950" dirty="0">
                <a:solidFill>
                  <a:srgbClr val="5A7A9A"/>
                </a:solidFill>
                <a:latin typeface="Calibri" pitchFamily="34" charset="0"/>
              </a:rPr>
              <a:t>Detection Methods</a:t>
            </a:r>
          </a:p>
        </p:txBody>
      </p:sp>
      <p:sp>
        <p:nvSpPr>
          <p:cNvPr id="9" name="Stat4bg"/>
          <p:cNvSpPr/>
          <p:nvPr/>
        </p:nvSpPr>
        <p:spPr>
          <a:xfrm>
            <a:off x="2150000" y="2950000"/>
            <a:ext cx="1750000" cy="900000"/>
          </a:xfrm>
          <a:prstGeom prst="rect">
            <a:avLst/>
          </a:prstGeom>
          <a:solidFill>
            <a:srgbClr val="0D1B2A"/>
          </a:solidFill>
          <a:ln w="12700">
            <a:solidFill>
              <a:srgbClr val="EF4444"/>
            </a:solidFill>
          </a:ln>
        </p:spPr>
        <p:txBody>
          <a:bodyPr wrap="square" lIns="91440" tIns="91440" rIns="91440" bIns="91440" rtlCol="0" anchor="ctr"/>
          <a:lstStyle/>
          <a:p>
            <a:pPr marL="0" indent="0" algn="ctr">
              <a:buNone/>
            </a:pPr>
            <a:r>
              <a:rPr lang="en-US" sz="3200" b="1" dirty="0">
                <a:solidFill>
                  <a:srgbClr val="EF4444"/>
                </a:solidFill>
                <a:latin typeface="Calibri" pitchFamily="34" charset="0"/>
              </a:rPr>
              <a:t>3</a:t>
            </a:r>
          </a:p>
          <a:p>
            <a:pPr marL="0" indent="0" algn="ctr">
              <a:buNone/>
            </a:pPr>
            <a:r>
              <a:rPr lang="en-US" sz="950" dirty="0">
                <a:solidFill>
                  <a:srgbClr val="5A7A9A"/>
                </a:solidFill>
                <a:latin typeface="Calibri" pitchFamily="34" charset="0"/>
              </a:rPr>
              <a:t>Health Signals Tracked</a:t>
            </a:r>
          </a:p>
        </p:txBody>
      </p:sp>
      <p:sp>
        <p:nvSpPr>
          <p:cNvPr id="10" name="WhyTitle"/>
          <p:cNvSpPr/>
          <p:nvPr/>
        </p:nvSpPr>
        <p:spPr>
          <a:xfrm>
            <a:off x="4700000" y="300000"/>
            <a:ext cx="4200000" cy="400000"/>
          </a:xfrm>
          <a:prstGeom prst="rect">
            <a:avLst/>
          </a:prstGeom>
          <a:noFill/>
          <a:ln/>
        </p:spPr>
        <p:txBody>
          <a:bodyPr wrap="square" rtlCol="0" anchor="ctr"/>
          <a:lstStyle/>
          <a:p>
            <a:pPr marL="0" indent="0">
              <a:buNone/>
            </a:pPr>
            <a:r>
              <a:rPr lang="en-US" sz="2000" b="1" dirty="0">
                <a:solidFill>
                  <a:srgbClr val="DCE8F5"/>
                </a:solidFill>
                <a:latin typeface="Calibri" pitchFamily="34" charset="0"/>
              </a:rPr>
              <a:t>Why Use FitPulse?</a:t>
            </a:r>
          </a:p>
        </p:txBody>
      </p:sp>
      <p:sp>
        <p:nvSpPr>
          <p:cNvPr id="11" name="W1"/>
          <p:cNvSpPr/>
          <p:nvPr/>
        </p:nvSpPr>
        <p:spPr>
          <a:xfrm>
            <a:off x="4700000" y="800000"/>
            <a:ext cx="4100000" cy="860000"/>
          </a:xfrm>
          <a:prstGeom prst="rect">
            <a:avLst/>
          </a:prstGeom>
          <a:solidFill>
            <a:srgbClr val="111F30"/>
          </a:solidFill>
          <a:ln w="12700">
            <a:solidFill>
              <a:srgbClr val="A78BFA"/>
            </a:solidFill>
          </a:ln>
        </p:spPr>
        <p:txBody>
          <a:bodyPr wrap="square" lIns="160000" tIns="100000" rIns="120000" bIns="100000" rtlCol="0" anchor="t"/>
          <a:lstStyle/>
          <a:p>
            <a:pPr marL="0" indent="0">
              <a:buNone/>
            </a:pPr>
            <a:r>
              <a:rPr lang="en-US" sz="1100" b="1" dirty="0">
                <a:solidFill>
                  <a:srgbClr val="A78BFA"/>
                </a:solidFill>
                <a:latin typeface="Calibri" pitchFamily="34" charset="0"/>
              </a:rPr>
              <a:t>💪  Proactive Health Monitoring</a:t>
            </a:r>
          </a:p>
          <a:p>
            <a:pPr marL="0" indent="0">
              <a:buNone/>
            </a:pPr>
            <a:r>
              <a:rPr lang="en-US" sz="1000" dirty="0">
                <a:solidFill>
                  <a:srgbClr val="5A7A9A"/>
                </a:solidFill>
                <a:latin typeface="Calibri" pitchFamily="34" charset="0"/>
              </a:rPr>
              <a:t>Catches early warning signs in heart rate, activity, and sleep before they become serious problems.</a:t>
            </a:r>
          </a:p>
        </p:txBody>
      </p:sp>
      <p:sp>
        <p:nvSpPr>
          <p:cNvPr id="12" name="W2"/>
          <p:cNvSpPr/>
          <p:nvPr/>
        </p:nvSpPr>
        <p:spPr>
          <a:xfrm>
            <a:off x="4700000" y="1740000"/>
            <a:ext cx="4100000" cy="860000"/>
          </a:xfrm>
          <a:prstGeom prst="rect">
            <a:avLst/>
          </a:prstGeom>
          <a:solidFill>
            <a:srgbClr val="111F30"/>
          </a:solidFill>
          <a:ln w="12700">
            <a:solidFill>
              <a:srgbClr val="38BDF8"/>
            </a:solidFill>
          </a:ln>
        </p:spPr>
        <p:txBody>
          <a:bodyPr wrap="square" lIns="160000" tIns="100000" rIns="120000" bIns="100000" rtlCol="0" anchor="t"/>
          <a:lstStyle/>
          <a:p>
            <a:pPr marL="0" indent="0">
              <a:buNone/>
            </a:pPr>
            <a:r>
              <a:rPr lang="en-US" sz="1100" b="1" dirty="0">
                <a:solidFill>
                  <a:srgbClr val="38BDF8"/>
                </a:solidFill>
                <a:latin typeface="Calibri" pitchFamily="34" charset="0"/>
              </a:rPr>
              <a:t>🧠  Three Methods, One Platform</a:t>
            </a:r>
          </a:p>
          <a:p>
            <a:pPr marL="0" indent="0">
              <a:buNone/>
            </a:pPr>
            <a:r>
              <a:rPr lang="en-US" sz="1000" dirty="0">
                <a:solidFill>
                  <a:srgbClr val="5A7A9A"/>
                </a:solidFill>
                <a:latin typeface="Calibri" pitchFamily="34" charset="0"/>
              </a:rPr>
              <a:t>Combines rule-based, statistical, and ML-based detection — catching anomalies that single methods miss.</a:t>
            </a:r>
          </a:p>
        </p:txBody>
      </p:sp>
      <p:sp>
        <p:nvSpPr>
          <p:cNvPr id="13" name="W3"/>
          <p:cNvSpPr/>
          <p:nvPr/>
        </p:nvSpPr>
        <p:spPr>
          <a:xfrm>
            <a:off x="4700000" y="2680000"/>
            <a:ext cx="4100000" cy="860000"/>
          </a:xfrm>
          <a:prstGeom prst="rect">
            <a:avLst/>
          </a:prstGeom>
          <a:solidFill>
            <a:srgbClr val="111F30"/>
          </a:solidFill>
          <a:ln w="12700">
            <a:solidFill>
              <a:srgbClr val="10B981"/>
            </a:solidFill>
          </a:ln>
        </p:spPr>
        <p:txBody>
          <a:bodyPr wrap="square" lIns="160000" tIns="100000" rIns="120000" bIns="100000" rtlCol="0" anchor="t"/>
          <a:lstStyle/>
          <a:p>
            <a:pPr marL="0" indent="0">
              <a:buNone/>
            </a:pPr>
            <a:r>
              <a:rPr lang="en-US" sz="1100" b="1" dirty="0">
                <a:solidFill>
                  <a:srgbClr val="10B981"/>
                </a:solidFill>
                <a:latin typeface="Calibri" pitchFamily="34" charset="0"/>
              </a:rPr>
              <a:t>📊  Fully Exportable Insights</a:t>
            </a:r>
          </a:p>
          <a:p>
            <a:pPr marL="0" indent="0">
              <a:buNone/>
            </a:pPr>
            <a:r>
              <a:rPr lang="en-US" sz="1000" dirty="0">
                <a:solidFill>
                  <a:srgbClr val="5A7A9A"/>
                </a:solidFill>
                <a:latin typeface="Calibri" pitchFamily="34" charset="0"/>
              </a:rPr>
              <a:t>PDF reports and CSV data ready to share with doctors, researchers, or healthcare teams.</a:t>
            </a:r>
          </a:p>
        </p:txBody>
      </p:sp>
      <p:sp>
        <p:nvSpPr>
          <p:cNvPr id="14" name="W4"/>
          <p:cNvSpPr/>
          <p:nvPr/>
        </p:nvSpPr>
        <p:spPr>
          <a:xfrm>
            <a:off x="4700000" y="3620000"/>
            <a:ext cx="4100000" cy="860000"/>
          </a:xfrm>
          <a:prstGeom prst="rect">
            <a:avLst/>
          </a:prstGeom>
          <a:solidFill>
            <a:srgbClr val="111F30"/>
          </a:solidFill>
          <a:ln w="12700">
            <a:solidFill>
              <a:srgbClr val="F59E0B"/>
            </a:solidFill>
          </a:ln>
        </p:spPr>
        <p:txBody>
          <a:bodyPr wrap="square" lIns="160000" tIns="100000" rIns="120000" bIns="100000" rtlCol="0" anchor="t"/>
          <a:lstStyle/>
          <a:p>
            <a:pPr marL="0" indent="0">
              <a:buNone/>
            </a:pPr>
            <a:r>
              <a:rPr lang="en-US" sz="1100" b="1" dirty="0">
                <a:solidFill>
                  <a:srgbClr val="F59E0B"/>
                </a:solidFill>
                <a:latin typeface="Calibri" pitchFamily="34" charset="0"/>
              </a:rPr>
              <a:t>🔍  No Technical Knowledge Needed</a:t>
            </a:r>
          </a:p>
          <a:p>
            <a:pPr marL="0" indent="0">
              <a:buNone/>
            </a:pPr>
            <a:r>
              <a:rPr lang="en-US" sz="1000" dirty="0">
                <a:solidFill>
                  <a:srgbClr val="5A7A9A"/>
                </a:solidFill>
                <a:latin typeface="Calibri" pitchFamily="34" charset="0"/>
              </a:rPr>
              <a:t>Upload CSVs, click one button. Plain-English explanations and visual indicators for every result.</a:t>
            </a:r>
          </a:p>
        </p:txBody>
      </p:sp>
      <p:sp>
        <p:nvSpPr>
          <p:cNvPr id="15" name="BotBar"/>
          <p:cNvSpPr/>
          <p:nvPr/>
        </p:nvSpPr>
        <p:spPr>
          <a:xfrm>
            <a:off x="0" y="5070348"/>
            <a:ext cx="9144000" cy="73152"/>
          </a:xfrm>
          <a:prstGeom prst="rect">
            <a:avLst/>
          </a:prstGeom>
          <a:solidFill>
            <a:srgbClr val="A78BFA"/>
          </a:solidFill>
          <a:ln w="12700">
            <a:solidFill>
              <a:srgbClr val="A78BFA"/>
            </a:solidFill>
          </a:ln>
        </p:spPr>
        <p:txBody>
          <a:bodyPr/>
          <a:lstStyle/>
          <a:p>
            <a:endParaRPr lang="en-IN"/>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opBar"/>
          <p:cNvSpPr/>
          <p:nvPr/>
        </p:nvSpPr>
        <p:spPr>
          <a:xfrm>
            <a:off x="0" y="0"/>
            <a:ext cx="9144000" cy="73152"/>
          </a:xfrm>
          <a:prstGeom prst="rect">
            <a:avLst/>
          </a:prstGeom>
          <a:solidFill>
            <a:srgbClr val="A78BFA"/>
          </a:solidFill>
          <a:ln w="12700">
            <a:solidFill>
              <a:srgbClr val="A78BFA"/>
            </a:solidFill>
          </a:ln>
        </p:spPr>
        <p:txBody>
          <a:bodyPr/>
          <a:lstStyle/>
          <a:p>
            <a:endParaRPr lang="en-IN"/>
          </a:p>
        </p:txBody>
      </p:sp>
      <p:sp>
        <p:nvSpPr>
          <p:cNvPr id="3" name="Title"/>
          <p:cNvSpPr/>
          <p:nvPr/>
        </p:nvSpPr>
        <p:spPr>
          <a:xfrm>
            <a:off x="365760" y="164592"/>
            <a:ext cx="8412480" cy="502920"/>
          </a:xfrm>
          <a:prstGeom prst="rect">
            <a:avLst/>
          </a:prstGeom>
          <a:noFill/>
          <a:ln/>
        </p:spPr>
        <p:txBody>
          <a:bodyPr wrap="square" lIns="0" tIns="0" rIns="0" bIns="0" rtlCol="0" anchor="ctr"/>
          <a:lstStyle/>
          <a:p>
            <a:pPr marL="0" indent="0">
              <a:buNone/>
            </a:pPr>
            <a:r>
              <a:rPr lang="en-US" sz="2800" b="1" dirty="0">
                <a:solidFill>
                  <a:srgbClr val="A78BFA"/>
                </a:solidFill>
                <a:latin typeface="Calibri" pitchFamily="34" charset="0"/>
              </a:rPr>
              <a:t>Full Technology Stack — All 4 Milestones</a:t>
            </a:r>
          </a:p>
        </p:txBody>
      </p:sp>
      <p:sp>
        <p:nvSpPr>
          <p:cNvPr id="4" name="Tech1"/>
          <p:cNvSpPr/>
          <p:nvPr/>
        </p:nvSpPr>
        <p:spPr>
          <a:xfrm>
            <a:off x="200000" y="820000"/>
            <a:ext cx="2000000" cy="820000"/>
          </a:xfrm>
          <a:prstGeom prst="rect">
            <a:avLst/>
          </a:prstGeom>
          <a:solidFill>
            <a:srgbClr val="162A41"/>
          </a:solidFill>
          <a:ln w="12700">
            <a:solidFill>
              <a:srgbClr val="A78BFA"/>
            </a:solidFill>
          </a:ln>
        </p:spPr>
        <p:txBody>
          <a:bodyPr wrap="square" lIns="120000" tIns="80000" rIns="80000" bIns="80000" rtlCol="0" anchor="ctr"/>
          <a:lstStyle/>
          <a:p>
            <a:pPr marL="0" indent="0">
              <a:buNone/>
            </a:pPr>
            <a:r>
              <a:rPr lang="en-US" sz="1300" b="1" dirty="0">
                <a:solidFill>
                  <a:srgbClr val="A78BFA"/>
                </a:solidFill>
                <a:latin typeface="Calibri" pitchFamily="34" charset="0"/>
              </a:rPr>
              <a:t>Streamlit</a:t>
            </a:r>
          </a:p>
          <a:p>
            <a:pPr marL="0" indent="0">
              <a:buNone/>
            </a:pPr>
            <a:r>
              <a:rPr lang="en-US" sz="950" dirty="0">
                <a:solidFill>
                  <a:srgbClr val="5A7A9A"/>
                </a:solidFill>
                <a:latin typeface="Calibri" pitchFamily="34" charset="0"/>
              </a:rPr>
              <a:t>Web app framework</a:t>
            </a:r>
          </a:p>
        </p:txBody>
      </p:sp>
      <p:sp>
        <p:nvSpPr>
          <p:cNvPr id="5" name="Tech2"/>
          <p:cNvSpPr/>
          <p:nvPr/>
        </p:nvSpPr>
        <p:spPr>
          <a:xfrm>
            <a:off x="2350000" y="820000"/>
            <a:ext cx="2000000" cy="820000"/>
          </a:xfrm>
          <a:prstGeom prst="rect">
            <a:avLst/>
          </a:prstGeom>
          <a:solidFill>
            <a:srgbClr val="162A41"/>
          </a:solidFill>
          <a:ln w="12700">
            <a:solidFill>
              <a:srgbClr val="38BDF8"/>
            </a:solidFill>
          </a:ln>
        </p:spPr>
        <p:txBody>
          <a:bodyPr wrap="square" lIns="120000" tIns="80000" rIns="80000" bIns="80000" rtlCol="0" anchor="ctr"/>
          <a:lstStyle/>
          <a:p>
            <a:pPr marL="0" indent="0">
              <a:buNone/>
            </a:pPr>
            <a:r>
              <a:rPr lang="en-US" sz="1300" b="1" dirty="0">
                <a:solidFill>
                  <a:srgbClr val="38BDF8"/>
                </a:solidFill>
                <a:latin typeface="Calibri" pitchFamily="34" charset="0"/>
              </a:rPr>
              <a:t>Pandas / NumPy</a:t>
            </a:r>
          </a:p>
          <a:p>
            <a:pPr marL="0" indent="0">
              <a:buNone/>
            </a:pPr>
            <a:r>
              <a:rPr lang="en-US" sz="950" dirty="0">
                <a:solidFill>
                  <a:srgbClr val="5A7A9A"/>
                </a:solidFill>
                <a:latin typeface="Calibri" pitchFamily="34" charset="0"/>
              </a:rPr>
              <a:t>Data loading, cleaning, merging</a:t>
            </a:r>
          </a:p>
        </p:txBody>
      </p:sp>
      <p:sp>
        <p:nvSpPr>
          <p:cNvPr id="6" name="Tech3"/>
          <p:cNvSpPr/>
          <p:nvPr/>
        </p:nvSpPr>
        <p:spPr>
          <a:xfrm>
            <a:off x="4500000" y="820000"/>
            <a:ext cx="2000000" cy="820000"/>
          </a:xfrm>
          <a:prstGeom prst="rect">
            <a:avLst/>
          </a:prstGeom>
          <a:solidFill>
            <a:srgbClr val="162A41"/>
          </a:solidFill>
          <a:ln w="12700">
            <a:solidFill>
              <a:srgbClr val="10B981"/>
            </a:solidFill>
          </a:ln>
        </p:spPr>
        <p:txBody>
          <a:bodyPr wrap="square" lIns="120000" tIns="80000" rIns="80000" bIns="80000" rtlCol="0" anchor="ctr"/>
          <a:lstStyle/>
          <a:p>
            <a:pPr marL="0" indent="0">
              <a:buNone/>
            </a:pPr>
            <a:r>
              <a:rPr lang="en-US" sz="1300" b="1" dirty="0">
                <a:solidFill>
                  <a:srgbClr val="10B981"/>
                </a:solidFill>
                <a:latin typeface="Calibri" pitchFamily="34" charset="0"/>
              </a:rPr>
              <a:t>Plotly</a:t>
            </a:r>
          </a:p>
          <a:p>
            <a:pPr marL="0" indent="0">
              <a:buNone/>
            </a:pPr>
            <a:r>
              <a:rPr lang="en-US" sz="950" dirty="0">
                <a:solidFill>
                  <a:srgbClr val="5A7A9A"/>
                </a:solidFill>
                <a:latin typeface="Calibri" pitchFamily="34" charset="0"/>
              </a:rPr>
              <a:t>Interactive charts &amp; subplots</a:t>
            </a:r>
          </a:p>
        </p:txBody>
      </p:sp>
      <p:sp>
        <p:nvSpPr>
          <p:cNvPr id="7" name="Tech4"/>
          <p:cNvSpPr/>
          <p:nvPr/>
        </p:nvSpPr>
        <p:spPr>
          <a:xfrm>
            <a:off x="6650000" y="820000"/>
            <a:ext cx="2200000" cy="820000"/>
          </a:xfrm>
          <a:prstGeom prst="rect">
            <a:avLst/>
          </a:prstGeom>
          <a:solidFill>
            <a:srgbClr val="162A41"/>
          </a:solidFill>
          <a:ln w="12700">
            <a:solidFill>
              <a:srgbClr val="F59E0B"/>
            </a:solidFill>
          </a:ln>
        </p:spPr>
        <p:txBody>
          <a:bodyPr wrap="square" lIns="120000" tIns="80000" rIns="80000" bIns="80000" rtlCol="0" anchor="ctr"/>
          <a:lstStyle/>
          <a:p>
            <a:pPr marL="0" indent="0">
              <a:buNone/>
            </a:pPr>
            <a:r>
              <a:rPr lang="en-US" sz="1300" b="1" dirty="0">
                <a:solidFill>
                  <a:srgbClr val="F59E0B"/>
                </a:solidFill>
                <a:latin typeface="Calibri" pitchFamily="34" charset="0"/>
              </a:rPr>
              <a:t>Scikit-learn</a:t>
            </a:r>
          </a:p>
          <a:p>
            <a:pPr marL="0" indent="0">
              <a:buNone/>
            </a:pPr>
            <a:r>
              <a:rPr lang="en-US" sz="950" dirty="0">
                <a:solidFill>
                  <a:srgbClr val="5A7A9A"/>
                </a:solidFill>
                <a:latin typeface="Calibri" pitchFamily="34" charset="0"/>
              </a:rPr>
              <a:t>KMeans, DBSCAN, PCA, t-SNE</a:t>
            </a:r>
          </a:p>
        </p:txBody>
      </p:sp>
      <p:sp>
        <p:nvSpPr>
          <p:cNvPr id="8" name="Tech5"/>
          <p:cNvSpPr/>
          <p:nvPr/>
        </p:nvSpPr>
        <p:spPr>
          <a:xfrm>
            <a:off x="200000" y="1800000"/>
            <a:ext cx="2000000" cy="820000"/>
          </a:xfrm>
          <a:prstGeom prst="rect">
            <a:avLst/>
          </a:prstGeom>
          <a:solidFill>
            <a:srgbClr val="162A41"/>
          </a:solidFill>
          <a:ln w="12700">
            <a:solidFill>
              <a:srgbClr val="EF4444"/>
            </a:solidFill>
          </a:ln>
        </p:spPr>
        <p:txBody>
          <a:bodyPr wrap="square" lIns="120000" tIns="80000" rIns="80000" bIns="80000" rtlCol="0" anchor="ctr"/>
          <a:lstStyle/>
          <a:p>
            <a:pPr marL="0" indent="0">
              <a:buNone/>
            </a:pPr>
            <a:r>
              <a:rPr lang="en-US" sz="1300" b="1" dirty="0">
                <a:solidFill>
                  <a:srgbClr val="EF4444"/>
                </a:solidFill>
                <a:latin typeface="Calibri" pitchFamily="34" charset="0"/>
              </a:rPr>
              <a:t>TSFresh</a:t>
            </a:r>
          </a:p>
          <a:p>
            <a:pPr marL="0" indent="0">
              <a:buNone/>
            </a:pPr>
            <a:r>
              <a:rPr lang="en-US" sz="950" dirty="0">
                <a:solidFill>
                  <a:srgbClr val="5A7A9A"/>
                </a:solidFill>
                <a:latin typeface="Calibri" pitchFamily="34" charset="0"/>
              </a:rPr>
              <a:t>Automated feature extraction</a:t>
            </a:r>
          </a:p>
        </p:txBody>
      </p:sp>
      <p:sp>
        <p:nvSpPr>
          <p:cNvPr id="9" name="Tech6"/>
          <p:cNvSpPr/>
          <p:nvPr/>
        </p:nvSpPr>
        <p:spPr>
          <a:xfrm>
            <a:off x="2350000" y="1800000"/>
            <a:ext cx="2000000" cy="820000"/>
          </a:xfrm>
          <a:prstGeom prst="rect">
            <a:avLst/>
          </a:prstGeom>
          <a:solidFill>
            <a:srgbClr val="162A41"/>
          </a:solidFill>
          <a:ln w="12700">
            <a:solidFill>
              <a:srgbClr val="6366F1"/>
            </a:solidFill>
          </a:ln>
        </p:spPr>
        <p:txBody>
          <a:bodyPr wrap="square" lIns="120000" tIns="80000" rIns="80000" bIns="80000" rtlCol="0" anchor="ctr"/>
          <a:lstStyle/>
          <a:p>
            <a:pPr marL="0" indent="0">
              <a:buNone/>
            </a:pPr>
            <a:r>
              <a:rPr lang="en-US" sz="1300" b="1" dirty="0">
                <a:solidFill>
                  <a:srgbClr val="6366F1"/>
                </a:solidFill>
                <a:latin typeface="Calibri" pitchFamily="34" charset="0"/>
              </a:rPr>
              <a:t>Prophet</a:t>
            </a:r>
          </a:p>
          <a:p>
            <a:pPr marL="0" indent="0">
              <a:buNone/>
            </a:pPr>
            <a:r>
              <a:rPr lang="en-US" sz="950" dirty="0">
                <a:solidFill>
                  <a:srgbClr val="5A7A9A"/>
                </a:solidFill>
                <a:latin typeface="Calibri" pitchFamily="34" charset="0"/>
              </a:rPr>
              <a:t>Time series forecasting</a:t>
            </a:r>
          </a:p>
        </p:txBody>
      </p:sp>
      <p:sp>
        <p:nvSpPr>
          <p:cNvPr id="10" name="Tech7"/>
          <p:cNvSpPr/>
          <p:nvPr/>
        </p:nvSpPr>
        <p:spPr>
          <a:xfrm>
            <a:off x="4500000" y="1800000"/>
            <a:ext cx="2000000" cy="820000"/>
          </a:xfrm>
          <a:prstGeom prst="rect">
            <a:avLst/>
          </a:prstGeom>
          <a:solidFill>
            <a:srgbClr val="162A41"/>
          </a:solidFill>
          <a:ln w="12700">
            <a:solidFill>
              <a:srgbClr val="F472B6"/>
            </a:solidFill>
          </a:ln>
        </p:spPr>
        <p:txBody>
          <a:bodyPr wrap="square" lIns="120000" tIns="80000" rIns="80000" bIns="80000" rtlCol="0" anchor="ctr"/>
          <a:lstStyle/>
          <a:p>
            <a:pPr marL="0" indent="0">
              <a:buNone/>
            </a:pPr>
            <a:r>
              <a:rPr lang="en-US" sz="1300" b="1" dirty="0">
                <a:solidFill>
                  <a:srgbClr val="F472B6"/>
                </a:solidFill>
                <a:latin typeface="Calibri" pitchFamily="34" charset="0"/>
              </a:rPr>
              <a:t>ReportLab</a:t>
            </a:r>
          </a:p>
          <a:p>
            <a:pPr marL="0" indent="0">
              <a:buNone/>
            </a:pPr>
            <a:r>
              <a:rPr lang="en-US" sz="950" dirty="0">
                <a:solidFill>
                  <a:srgbClr val="5A7A9A"/>
                </a:solidFill>
                <a:latin typeface="Calibri" pitchFamily="34" charset="0"/>
              </a:rPr>
              <a:t>PDF report generation</a:t>
            </a:r>
          </a:p>
        </p:txBody>
      </p:sp>
      <p:sp>
        <p:nvSpPr>
          <p:cNvPr id="11" name="Tech8"/>
          <p:cNvSpPr/>
          <p:nvPr/>
        </p:nvSpPr>
        <p:spPr>
          <a:xfrm>
            <a:off x="6650000" y="1800000"/>
            <a:ext cx="2200000" cy="820000"/>
          </a:xfrm>
          <a:prstGeom prst="rect">
            <a:avLst/>
          </a:prstGeom>
          <a:solidFill>
            <a:srgbClr val="162A41"/>
          </a:solidFill>
          <a:ln w="12700">
            <a:solidFill>
              <a:srgbClr val="10B981"/>
            </a:solidFill>
          </a:ln>
        </p:spPr>
        <p:txBody>
          <a:bodyPr wrap="square" lIns="120000" tIns="80000" rIns="80000" bIns="80000" rtlCol="0" anchor="ctr"/>
          <a:lstStyle/>
          <a:p>
            <a:pPr marL="0" indent="0">
              <a:buNone/>
            </a:pPr>
            <a:r>
              <a:rPr lang="en-US" sz="1300" b="1" dirty="0">
                <a:solidFill>
                  <a:srgbClr val="10B981"/>
                </a:solidFill>
                <a:latin typeface="Calibri" pitchFamily="34" charset="0"/>
              </a:rPr>
              <a:t>Preprocessing.py</a:t>
            </a:r>
          </a:p>
          <a:p>
            <a:pPr marL="0" indent="0">
              <a:buNone/>
            </a:pPr>
            <a:r>
              <a:rPr lang="en-US" sz="950" dirty="0">
                <a:solidFill>
                  <a:srgbClr val="5A7A9A"/>
                </a:solidFill>
                <a:latin typeface="Calibri" pitchFamily="34" charset="0"/>
              </a:rPr>
              <a:t>Custom shared pipeline module</a:t>
            </a:r>
          </a:p>
        </p:txBody>
      </p:sp>
      <p:sp>
        <p:nvSpPr>
          <p:cNvPr id="12" name="ArchBox"/>
          <p:cNvSpPr/>
          <p:nvPr/>
        </p:nvSpPr>
        <p:spPr>
          <a:xfrm>
            <a:off x="200000" y="2800000"/>
            <a:ext cx="8740000" cy="2100000"/>
          </a:xfrm>
          <a:prstGeom prst="rect">
            <a:avLst/>
          </a:prstGeom>
          <a:solidFill>
            <a:srgbClr val="111F30"/>
          </a:solidFill>
          <a:ln w="12700">
            <a:solidFill>
              <a:srgbClr val="1E3A5F"/>
            </a:solidFill>
          </a:ln>
        </p:spPr>
        <p:txBody>
          <a:bodyPr wrap="square" lIns="200000" tIns="160000" rIns="200000" bIns="160000" rtlCol="0" anchor="t"/>
          <a:lstStyle/>
          <a:p>
            <a:pPr marL="0" indent="0">
              <a:buNone/>
            </a:pPr>
            <a:r>
              <a:rPr lang="en-US" sz="1200" b="1" dirty="0">
                <a:solidFill>
                  <a:srgbClr val="A78BFA"/>
                </a:solidFill>
                <a:latin typeface="Calibri" pitchFamily="34" charset="0"/>
              </a:rPr>
              <a:t>End-to-End Pipeline Architecture</a:t>
            </a:r>
          </a:p>
          <a:p>
            <a:pPr marL="0" indent="0">
              <a:buNone/>
            </a:pPr>
            <a:endParaRPr lang="en-US" sz="1200" b="1" dirty="0">
              <a:solidFill>
                <a:srgbClr val="A78BFA"/>
              </a:solidFill>
              <a:latin typeface="Calibri" pitchFamily="34" charset="0"/>
            </a:endParaRPr>
          </a:p>
          <a:p>
            <a:pPr marL="0" indent="0">
              <a:buNone/>
            </a:pPr>
            <a:r>
              <a:rPr lang="en-US" sz="100" dirty="0">
                <a:solidFill>
                  <a:srgbClr val="0D1B2A"/>
                </a:solidFill>
                <a:latin typeface="Calibri"/>
              </a:rPr>
              <a:t> </a:t>
            </a:r>
          </a:p>
          <a:p>
            <a:pPr marL="0" indent="0">
              <a:buNone/>
            </a:pPr>
            <a:r>
              <a:rPr lang="en-US" sz="1050" dirty="0">
                <a:solidFill>
                  <a:srgbClr val="DCE8F5"/>
                </a:solidFill>
                <a:latin typeface="Calibri" pitchFamily="34" charset="0"/>
              </a:rPr>
              <a:t>Raw CSVs (5 files)  →  Load &amp; Clean (preprocessing.py)  →  Merge Master DataFrame  →  Feature Extraction (TSFresh)  →  Forecasting (Prophet)  →  Clustering (KMeans + DBSCAN)  →  Anomaly Detection (Threshold + Residual)  →  Dashboard (Streamlit)  →  Export (PDF + CSV)</a:t>
            </a:r>
          </a:p>
          <a:p>
            <a:pPr marL="0" indent="0">
              <a:buNone/>
            </a:pPr>
            <a:endParaRPr lang="en-US" sz="1000" dirty="0">
              <a:solidFill>
                <a:srgbClr val="0D1B2A"/>
              </a:solidFill>
              <a:latin typeface="Calibri"/>
            </a:endParaRPr>
          </a:p>
          <a:p>
            <a:pPr marL="0" indent="0">
              <a:buNone/>
            </a:pPr>
            <a:r>
              <a:rPr lang="en-US" sz="1050" dirty="0">
                <a:solidFill>
                  <a:srgbClr val="5A7A9A"/>
                </a:solidFill>
                <a:latin typeface="Calibri" pitchFamily="34" charset="0"/>
              </a:rPr>
              <a:t>All 4 milestones are integrated into a single multi-page Streamlit application. One unified app.py file with milestone selector in the sidebar. preprocessing.py is the shared data pipeline used by all milestones.</a:t>
            </a:r>
          </a:p>
        </p:txBody>
      </p:sp>
      <p:sp>
        <p:nvSpPr>
          <p:cNvPr id="13" name="BotBar"/>
          <p:cNvSpPr/>
          <p:nvPr/>
        </p:nvSpPr>
        <p:spPr>
          <a:xfrm>
            <a:off x="0" y="5070348"/>
            <a:ext cx="9144000" cy="73152"/>
          </a:xfrm>
          <a:prstGeom prst="rect">
            <a:avLst/>
          </a:prstGeom>
          <a:solidFill>
            <a:srgbClr val="6366F1"/>
          </a:solidFill>
          <a:ln w="12700">
            <a:solidFill>
              <a:srgbClr val="6366F1"/>
            </a:solidFill>
          </a:ln>
        </p:spPr>
        <p:txBody>
          <a:bodyPr/>
          <a:lstStyle/>
          <a:p>
            <a:endParaRPr lang="en-IN"/>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opBar"/>
          <p:cNvSpPr/>
          <p:nvPr/>
        </p:nvSpPr>
        <p:spPr>
          <a:xfrm>
            <a:off x="0" y="0"/>
            <a:ext cx="9144000" cy="73152"/>
          </a:xfrm>
          <a:prstGeom prst="rect">
            <a:avLst/>
          </a:prstGeom>
          <a:solidFill>
            <a:srgbClr val="A78BFA"/>
          </a:solidFill>
          <a:ln w="12700">
            <a:solidFill>
              <a:srgbClr val="A78BFA"/>
            </a:solidFill>
          </a:ln>
        </p:spPr>
        <p:txBody>
          <a:bodyPr/>
          <a:lstStyle/>
          <a:p>
            <a:endParaRPr lang="en-IN"/>
          </a:p>
        </p:txBody>
      </p:sp>
      <p:sp>
        <p:nvSpPr>
          <p:cNvPr id="3" name="Title"/>
          <p:cNvSpPr/>
          <p:nvPr/>
        </p:nvSpPr>
        <p:spPr>
          <a:xfrm>
            <a:off x="365760" y="164592"/>
            <a:ext cx="8412480" cy="502920"/>
          </a:xfrm>
          <a:prstGeom prst="rect">
            <a:avLst/>
          </a:prstGeom>
          <a:noFill/>
          <a:ln/>
        </p:spPr>
        <p:txBody>
          <a:bodyPr wrap="square" lIns="0" tIns="0" rIns="0" bIns="0" rtlCol="0" anchor="ctr"/>
          <a:lstStyle/>
          <a:p>
            <a:pPr marL="0" indent="0">
              <a:buNone/>
            </a:pPr>
            <a:r>
              <a:rPr lang="en-US" sz="2400" b="1" dirty="0">
                <a:solidFill>
                  <a:srgbClr val="A78BFA"/>
                </a:solidFill>
                <a:latin typeface="Calibri" pitchFamily="34" charset="0"/>
              </a:rPr>
              <a:t>What Did We Build? — Use Case &amp; Value</a:t>
            </a:r>
          </a:p>
        </p:txBody>
      </p:sp>
      <p:sp>
        <p:nvSpPr>
          <p:cNvPr id="4" name="WhatHdr"/>
          <p:cNvSpPr/>
          <p:nvPr/>
        </p:nvSpPr>
        <p:spPr>
          <a:xfrm>
            <a:off x="200000" y="820000"/>
            <a:ext cx="4100000" cy="380000"/>
          </a:xfrm>
          <a:prstGeom prst="rect">
            <a:avLst/>
          </a:prstGeom>
          <a:solidFill>
            <a:srgbClr val="162A41"/>
          </a:solidFill>
          <a:ln w="12700">
            <a:solidFill>
              <a:srgbClr val="A78BFA"/>
            </a:solidFill>
          </a:ln>
        </p:spPr>
        <p:txBody>
          <a:bodyPr wrap="square" lIns="91440" tIns="60000" rIns="91440" bIns="60000" rtlCol="0" anchor="ctr"/>
          <a:lstStyle/>
          <a:p>
            <a:pPr marL="0" indent="0">
              <a:buNone/>
            </a:pPr>
            <a:r>
              <a:rPr lang="en-US" sz="1300" b="1" dirty="0">
                <a:solidFill>
                  <a:srgbClr val="A78BFA"/>
                </a:solidFill>
                <a:latin typeface="Calibri" pitchFamily="34" charset="0"/>
              </a:rPr>
              <a:t>📌  What We Did</a:t>
            </a:r>
          </a:p>
        </p:txBody>
      </p:sp>
      <p:sp>
        <p:nvSpPr>
          <p:cNvPr id="5" name="WhatBody"/>
          <p:cNvSpPr/>
          <p:nvPr/>
        </p:nvSpPr>
        <p:spPr>
          <a:xfrm>
            <a:off x="200000" y="1230000"/>
            <a:ext cx="4100000" cy="3750000"/>
          </a:xfrm>
          <a:prstGeom prst="rect">
            <a:avLst/>
          </a:prstGeom>
          <a:solidFill>
            <a:srgbClr val="111F30"/>
          </a:solidFill>
          <a:ln w="12700">
            <a:solidFill>
              <a:srgbClr val="1E3A5F"/>
            </a:solidFill>
          </a:ln>
        </p:spPr>
        <p:txBody>
          <a:bodyPr wrap="square" lIns="180000" tIns="160000" rIns="120000" bIns="160000" rtlCol="0" anchor="t"/>
          <a:lstStyle/>
          <a:p>
            <a:pPr marL="0" indent="0">
              <a:buNone/>
            </a:pPr>
            <a:r>
              <a:rPr lang="en-US" sz="1050" b="1" dirty="0">
                <a:solidFill>
                  <a:srgbClr val="DCE8F5"/>
                </a:solidFill>
                <a:latin typeface="Calibri" pitchFamily="34" charset="0"/>
              </a:rPr>
              <a:t>M1 — Data Preprocessing</a:t>
            </a:r>
          </a:p>
          <a:p>
            <a:pPr marL="0" indent="0">
              <a:buNone/>
            </a:pPr>
            <a:r>
              <a:rPr lang="en-US" sz="1000" dirty="0">
                <a:solidFill>
                  <a:srgbClr val="5A7A9A"/>
                </a:solidFill>
                <a:latin typeface="Calibri" pitchFamily="34" charset="0"/>
              </a:rPr>
              <a:t>Loaded, cleaned and normalised real Fitbit CSV data from 30 users. Fixed timestamps, interpolated gaps, exported clean dataset.</a:t>
            </a:r>
          </a:p>
          <a:p>
            <a:pPr marL="0" indent="0">
              <a:buNone/>
            </a:pPr>
            <a:r>
              <a:rPr lang="en-US" sz="200" dirty="0">
                <a:solidFill>
                  <a:srgbClr val="0D1B2A"/>
                </a:solidFill>
                <a:latin typeface="Calibri"/>
              </a:rPr>
              <a:t> </a:t>
            </a:r>
          </a:p>
          <a:p>
            <a:pPr marL="0" indent="0">
              <a:buNone/>
            </a:pPr>
            <a:endParaRPr lang="en-US" sz="1050" b="1" dirty="0">
              <a:solidFill>
                <a:srgbClr val="DCE8F5"/>
              </a:solidFill>
              <a:latin typeface="Calibri" pitchFamily="34" charset="0"/>
            </a:endParaRPr>
          </a:p>
          <a:p>
            <a:pPr marL="0" indent="0">
              <a:buNone/>
            </a:pPr>
            <a:r>
              <a:rPr lang="en-US" sz="1050" b="1" dirty="0">
                <a:solidFill>
                  <a:srgbClr val="DCE8F5"/>
                </a:solidFill>
                <a:latin typeface="Calibri" pitchFamily="34" charset="0"/>
              </a:rPr>
              <a:t>M2 — Feature Extraction &amp; Modelling</a:t>
            </a:r>
          </a:p>
          <a:p>
            <a:pPr marL="0" indent="0">
              <a:buNone/>
            </a:pPr>
            <a:r>
              <a:rPr lang="en-US" sz="1000" dirty="0">
                <a:solidFill>
                  <a:srgbClr val="5A7A9A"/>
                </a:solidFill>
                <a:latin typeface="Calibri" pitchFamily="34" charset="0"/>
              </a:rPr>
              <a:t>Extracted 10 TSFresh features from 196K+ HR readings, ran Prophet forecasts for 30 days, clustered users with KMeans + DBSCAN, visualised with PCA + t-SNE.</a:t>
            </a:r>
          </a:p>
          <a:p>
            <a:pPr marL="0" indent="0">
              <a:buNone/>
            </a:pPr>
            <a:endParaRPr lang="en-US" sz="1000" dirty="0">
              <a:solidFill>
                <a:srgbClr val="5A7A9A"/>
              </a:solidFill>
              <a:latin typeface="Calibri" pitchFamily="34" charset="0"/>
            </a:endParaRPr>
          </a:p>
          <a:p>
            <a:pPr marL="0" indent="0">
              <a:buNone/>
            </a:pPr>
            <a:r>
              <a:rPr lang="en-US" sz="200" dirty="0">
                <a:solidFill>
                  <a:srgbClr val="0D1B2A"/>
                </a:solidFill>
                <a:latin typeface="Calibri"/>
              </a:rPr>
              <a:t> </a:t>
            </a:r>
          </a:p>
          <a:p>
            <a:pPr marL="0" indent="0">
              <a:buNone/>
            </a:pPr>
            <a:r>
              <a:rPr lang="en-US" sz="1050" b="1" dirty="0">
                <a:solidFill>
                  <a:srgbClr val="DCE8F5"/>
                </a:solidFill>
                <a:latin typeface="Calibri" pitchFamily="34" charset="0"/>
              </a:rPr>
              <a:t>M3 — Anomaly Detection</a:t>
            </a:r>
          </a:p>
          <a:p>
            <a:pPr marL="0" indent="0">
              <a:buNone/>
            </a:pPr>
            <a:r>
              <a:rPr lang="en-US" sz="1000" dirty="0">
                <a:solidFill>
                  <a:srgbClr val="5A7A9A"/>
                </a:solidFill>
                <a:latin typeface="Calibri" pitchFamily="34" charset="0"/>
              </a:rPr>
              <a:t>Applied threshold rules, rolling-median residuals, and DBSCAN structural outliers to flag abnormal HR, step, and sleep patterns across 30 days.</a:t>
            </a:r>
          </a:p>
          <a:p>
            <a:pPr marL="0" indent="0">
              <a:buNone/>
            </a:pPr>
            <a:endParaRPr lang="en-US" sz="1000" dirty="0">
              <a:solidFill>
                <a:srgbClr val="5A7A9A"/>
              </a:solidFill>
              <a:latin typeface="Calibri" pitchFamily="34" charset="0"/>
            </a:endParaRPr>
          </a:p>
          <a:p>
            <a:pPr marL="0" indent="0">
              <a:buNone/>
            </a:pPr>
            <a:r>
              <a:rPr lang="en-US" sz="200" dirty="0">
                <a:solidFill>
                  <a:srgbClr val="0D1B2A"/>
                </a:solidFill>
                <a:latin typeface="Calibri"/>
              </a:rPr>
              <a:t> </a:t>
            </a:r>
          </a:p>
          <a:p>
            <a:pPr marL="0" indent="0">
              <a:buNone/>
            </a:pPr>
            <a:r>
              <a:rPr lang="en-US" sz="1050" b="1" dirty="0">
                <a:solidFill>
                  <a:srgbClr val="DCE8F5"/>
                </a:solidFill>
                <a:latin typeface="Calibri" pitchFamily="34" charset="0"/>
              </a:rPr>
              <a:t>M4 — Insights Dashboard &amp; Export</a:t>
            </a:r>
          </a:p>
          <a:p>
            <a:pPr marL="0" indent="0">
              <a:buNone/>
            </a:pPr>
            <a:r>
              <a:rPr lang="en-US" sz="1000" dirty="0">
                <a:solidFill>
                  <a:srgbClr val="5A7A9A"/>
                </a:solidFill>
                <a:latin typeface="Calibri" pitchFamily="34" charset="0"/>
              </a:rPr>
              <a:t>Built an interactive Streamlit dashboard with KPI strip, anomaly timeline, per-metric deep-dive tabs, date/user filters, PDF report export and CSV download</a:t>
            </a:r>
            <a:r>
              <a:rPr lang="en-US" sz="920" dirty="0">
                <a:solidFill>
                  <a:srgbClr val="5A7A9A"/>
                </a:solidFill>
                <a:latin typeface="Calibri" pitchFamily="34" charset="0"/>
              </a:rPr>
              <a:t>.</a:t>
            </a:r>
          </a:p>
        </p:txBody>
      </p:sp>
      <p:sp>
        <p:nvSpPr>
          <p:cNvPr id="6" name="WhyHdr"/>
          <p:cNvSpPr/>
          <p:nvPr/>
        </p:nvSpPr>
        <p:spPr>
          <a:xfrm>
            <a:off x="4644000" y="820000"/>
            <a:ext cx="4300000" cy="380000"/>
          </a:xfrm>
          <a:prstGeom prst="rect">
            <a:avLst/>
          </a:prstGeom>
          <a:solidFill>
            <a:srgbClr val="162A41"/>
          </a:solidFill>
          <a:ln w="12700">
            <a:solidFill>
              <a:srgbClr val="10B981"/>
            </a:solidFill>
          </a:ln>
        </p:spPr>
        <p:txBody>
          <a:bodyPr wrap="square" lIns="91440" tIns="60000" rIns="91440" bIns="60000" rtlCol="0" anchor="ctr"/>
          <a:lstStyle/>
          <a:p>
            <a:pPr marL="0" indent="0">
              <a:buNone/>
            </a:pPr>
            <a:r>
              <a:rPr lang="en-US" sz="1300" b="1" dirty="0">
                <a:solidFill>
                  <a:srgbClr val="10B981"/>
                </a:solidFill>
                <a:latin typeface="Calibri" pitchFamily="34" charset="0"/>
              </a:rPr>
              <a:t>✨  Why You Should Use This App</a:t>
            </a:r>
          </a:p>
        </p:txBody>
      </p:sp>
      <p:sp>
        <p:nvSpPr>
          <p:cNvPr id="7" name="W1"/>
          <p:cNvSpPr/>
          <p:nvPr/>
        </p:nvSpPr>
        <p:spPr>
          <a:xfrm>
            <a:off x="4644000" y="1230000"/>
            <a:ext cx="4300000" cy="830000"/>
          </a:xfrm>
          <a:prstGeom prst="rect">
            <a:avLst/>
          </a:prstGeom>
          <a:solidFill>
            <a:srgbClr val="111F30"/>
          </a:solidFill>
          <a:ln w="12700">
            <a:solidFill>
              <a:srgbClr val="A78BFA"/>
            </a:solidFill>
          </a:ln>
        </p:spPr>
        <p:txBody>
          <a:bodyPr wrap="square" lIns="160000" tIns="100000" rIns="120000" bIns="80000" rtlCol="0" anchor="t"/>
          <a:lstStyle/>
          <a:p>
            <a:pPr marL="0" indent="0">
              <a:buNone/>
            </a:pPr>
            <a:r>
              <a:rPr lang="en-US" sz="1050" b="1" dirty="0">
                <a:solidFill>
                  <a:srgbClr val="A78BFA"/>
                </a:solidFill>
                <a:latin typeface="Calibri" pitchFamily="34" charset="0"/>
              </a:rPr>
              <a:t>💪  Catch Health Problems Early</a:t>
            </a:r>
          </a:p>
          <a:p>
            <a:pPr marL="0" indent="0">
              <a:buNone/>
            </a:pPr>
            <a:r>
              <a:rPr lang="en-US" sz="1000" dirty="0">
                <a:solidFill>
                  <a:srgbClr val="5A7A9A"/>
                </a:solidFill>
                <a:latin typeface="Calibri" pitchFamily="34" charset="0"/>
              </a:rPr>
              <a:t>Flags subtle anomalies in HR, sleep, and activity before they escalate into serious conditions.</a:t>
            </a:r>
          </a:p>
        </p:txBody>
      </p:sp>
      <p:sp>
        <p:nvSpPr>
          <p:cNvPr id="8" name="W2"/>
          <p:cNvSpPr/>
          <p:nvPr/>
        </p:nvSpPr>
        <p:spPr>
          <a:xfrm>
            <a:off x="4644000" y="2110000"/>
            <a:ext cx="4300000" cy="830000"/>
          </a:xfrm>
          <a:prstGeom prst="rect">
            <a:avLst/>
          </a:prstGeom>
          <a:solidFill>
            <a:srgbClr val="111F30"/>
          </a:solidFill>
          <a:ln w="12700">
            <a:solidFill>
              <a:srgbClr val="38BDF8"/>
            </a:solidFill>
          </a:ln>
        </p:spPr>
        <p:txBody>
          <a:bodyPr wrap="square" lIns="160000" tIns="100000" rIns="120000" bIns="80000" rtlCol="0" anchor="t"/>
          <a:lstStyle/>
          <a:p>
            <a:pPr marL="0" indent="0">
              <a:buNone/>
            </a:pPr>
            <a:r>
              <a:rPr lang="en-US" sz="1050" b="1" dirty="0">
                <a:solidFill>
                  <a:srgbClr val="38BDF8"/>
                </a:solidFill>
                <a:latin typeface="Calibri" pitchFamily="34" charset="0"/>
              </a:rPr>
              <a:t>🧠  No Data Science Degree Needed</a:t>
            </a:r>
          </a:p>
          <a:p>
            <a:pPr marL="0" indent="0">
              <a:buNone/>
            </a:pPr>
            <a:r>
              <a:rPr lang="en-US" sz="1000" dirty="0">
                <a:solidFill>
                  <a:srgbClr val="5A7A9A"/>
                </a:solidFill>
                <a:latin typeface="Calibri" pitchFamily="34" charset="0"/>
              </a:rPr>
              <a:t>Upload CSVs, click one button. Results explained in plain English with visual indicators and anomaly reasons.</a:t>
            </a:r>
          </a:p>
        </p:txBody>
      </p:sp>
      <p:sp>
        <p:nvSpPr>
          <p:cNvPr id="9" name="W3"/>
          <p:cNvSpPr/>
          <p:nvPr/>
        </p:nvSpPr>
        <p:spPr>
          <a:xfrm>
            <a:off x="4644000" y="2990000"/>
            <a:ext cx="4300000" cy="830000"/>
          </a:xfrm>
          <a:prstGeom prst="rect">
            <a:avLst/>
          </a:prstGeom>
          <a:solidFill>
            <a:srgbClr val="111F30"/>
          </a:solidFill>
          <a:ln w="12700">
            <a:solidFill>
              <a:srgbClr val="10B981"/>
            </a:solidFill>
          </a:ln>
        </p:spPr>
        <p:txBody>
          <a:bodyPr wrap="square" lIns="160000" tIns="100000" rIns="120000" bIns="80000" rtlCol="0" anchor="t"/>
          <a:lstStyle/>
          <a:p>
            <a:pPr marL="0" indent="0">
              <a:buNone/>
            </a:pPr>
            <a:r>
              <a:rPr lang="en-US" sz="1050" b="1" dirty="0">
                <a:solidFill>
                  <a:srgbClr val="10B981"/>
                </a:solidFill>
                <a:latin typeface="Calibri" pitchFamily="34" charset="0"/>
              </a:rPr>
              <a:t>📄  Shareable Reports</a:t>
            </a:r>
          </a:p>
          <a:p>
            <a:pPr marL="0" indent="0">
              <a:buNone/>
            </a:pPr>
            <a:r>
              <a:rPr lang="en-US" sz="1000" dirty="0">
                <a:solidFill>
                  <a:srgbClr val="5A7A9A"/>
                </a:solidFill>
                <a:latin typeface="Calibri" pitchFamily="34" charset="0"/>
              </a:rPr>
              <a:t>One-click PDF and CSV exports ready to hand to doctors, coaches, or health teams.</a:t>
            </a:r>
          </a:p>
        </p:txBody>
      </p:sp>
      <p:sp>
        <p:nvSpPr>
          <p:cNvPr id="10" name="W4"/>
          <p:cNvSpPr/>
          <p:nvPr/>
        </p:nvSpPr>
        <p:spPr>
          <a:xfrm>
            <a:off x="4644000" y="3870000"/>
            <a:ext cx="4300000" cy="830000"/>
          </a:xfrm>
          <a:prstGeom prst="rect">
            <a:avLst/>
          </a:prstGeom>
          <a:solidFill>
            <a:srgbClr val="111F30"/>
          </a:solidFill>
          <a:ln w="12700">
            <a:solidFill>
              <a:srgbClr val="F59E0B"/>
            </a:solidFill>
          </a:ln>
        </p:spPr>
        <p:txBody>
          <a:bodyPr wrap="square" lIns="160000" tIns="100000" rIns="120000" bIns="80000" rtlCol="0" anchor="t"/>
          <a:lstStyle/>
          <a:p>
            <a:pPr marL="0" indent="0">
              <a:buNone/>
            </a:pPr>
            <a:r>
              <a:rPr lang="en-US" sz="1050" b="1" dirty="0">
                <a:solidFill>
                  <a:srgbClr val="F59E0B"/>
                </a:solidFill>
                <a:latin typeface="Calibri" pitchFamily="34" charset="0"/>
              </a:rPr>
              <a:t>📊  Real Data, Real Insights</a:t>
            </a:r>
          </a:p>
          <a:p>
            <a:pPr marL="0" indent="0">
              <a:buNone/>
            </a:pPr>
            <a:r>
              <a:rPr lang="en-US" sz="1000" dirty="0">
                <a:solidFill>
                  <a:srgbClr val="5A7A9A"/>
                </a:solidFill>
                <a:latin typeface="Calibri" pitchFamily="34" charset="0"/>
              </a:rPr>
              <a:t>Trained and tested on real consented Fitbit data from 30 users. Not synthetic — not simulated.</a:t>
            </a:r>
          </a:p>
        </p:txBody>
      </p:sp>
      <p:sp>
        <p:nvSpPr>
          <p:cNvPr id="11" name="BotBar"/>
          <p:cNvSpPr/>
          <p:nvPr/>
        </p:nvSpPr>
        <p:spPr>
          <a:xfrm>
            <a:off x="0" y="5070348"/>
            <a:ext cx="9144000" cy="73152"/>
          </a:xfrm>
          <a:prstGeom prst="rect">
            <a:avLst/>
          </a:prstGeom>
          <a:solidFill>
            <a:srgbClr val="6366F1"/>
          </a:solidFill>
          <a:ln w="12700">
            <a:solidFill>
              <a:srgbClr val="6366F1"/>
            </a:solidFill>
          </a:ln>
        </p:spPr>
        <p:txBody>
          <a:bodyPr/>
          <a:lstStyle/>
          <a:p>
            <a:endParaRPr lang="en-IN"/>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LeftPanel"/>
          <p:cNvSpPr/>
          <p:nvPr/>
        </p:nvSpPr>
        <p:spPr>
          <a:xfrm>
            <a:off x="0" y="0"/>
            <a:ext cx="9144000" cy="5143500"/>
          </a:xfrm>
          <a:prstGeom prst="rect">
            <a:avLst/>
          </a:prstGeom>
          <a:solidFill>
            <a:srgbClr val="0D1B2A"/>
          </a:solidFill>
          <a:ln>
            <a:noFill/>
          </a:ln>
        </p:spPr>
        <p:txBody>
          <a:bodyPr/>
          <a:lstStyle/>
          <a:p>
            <a:endParaRPr lang="en-IN"/>
          </a:p>
        </p:txBody>
      </p:sp>
      <p:sp>
        <p:nvSpPr>
          <p:cNvPr id="3" name="TopBar"/>
          <p:cNvSpPr/>
          <p:nvPr/>
        </p:nvSpPr>
        <p:spPr>
          <a:xfrm>
            <a:off x="0" y="0"/>
            <a:ext cx="9144000" cy="73152"/>
          </a:xfrm>
          <a:prstGeom prst="rect">
            <a:avLst/>
          </a:prstGeom>
          <a:solidFill>
            <a:srgbClr val="A78BFA"/>
          </a:solidFill>
          <a:ln>
            <a:noFill/>
          </a:ln>
        </p:spPr>
        <p:txBody>
          <a:bodyPr/>
          <a:lstStyle/>
          <a:p>
            <a:endParaRPr lang="en-IN"/>
          </a:p>
        </p:txBody>
      </p:sp>
      <p:sp>
        <p:nvSpPr>
          <p:cNvPr id="4" name="BotBar"/>
          <p:cNvSpPr/>
          <p:nvPr/>
        </p:nvSpPr>
        <p:spPr>
          <a:xfrm>
            <a:off x="0" y="5070348"/>
            <a:ext cx="9144000" cy="73152"/>
          </a:xfrm>
          <a:prstGeom prst="rect">
            <a:avLst/>
          </a:prstGeom>
          <a:solidFill>
            <a:srgbClr val="6366F1"/>
          </a:solidFill>
          <a:ln>
            <a:noFill/>
          </a:ln>
        </p:spPr>
        <p:txBody>
          <a:bodyPr/>
          <a:lstStyle/>
          <a:p>
            <a:endParaRPr lang="en-IN"/>
          </a:p>
        </p:txBody>
      </p:sp>
      <p:sp>
        <p:nvSpPr>
          <p:cNvPr id="5" name="Circle1"/>
          <p:cNvSpPr/>
          <p:nvPr/>
        </p:nvSpPr>
        <p:spPr>
          <a:xfrm>
            <a:off x="6800000" y="400000"/>
            <a:ext cx="3000000" cy="3000000"/>
          </a:xfrm>
          <a:prstGeom prst="ellipse">
            <a:avLst/>
          </a:prstGeom>
          <a:solidFill>
            <a:srgbClr val="162A41">
              <a:alpha val="40000"/>
            </a:srgbClr>
          </a:solidFill>
          <a:ln>
            <a:noFill/>
          </a:ln>
        </p:spPr>
        <p:txBody>
          <a:bodyPr/>
          <a:lstStyle/>
          <a:p>
            <a:endParaRPr lang="en-IN"/>
          </a:p>
        </p:txBody>
      </p:sp>
      <p:sp>
        <p:nvSpPr>
          <p:cNvPr id="6" name="Circle2"/>
          <p:cNvSpPr/>
          <p:nvPr/>
        </p:nvSpPr>
        <p:spPr>
          <a:xfrm>
            <a:off x="7200000" y="800000"/>
            <a:ext cx="2200000" cy="2200000"/>
          </a:xfrm>
          <a:prstGeom prst="ellipse">
            <a:avLst/>
          </a:prstGeom>
          <a:solidFill>
            <a:srgbClr val="A78BFA">
              <a:alpha val="8000"/>
            </a:srgbClr>
          </a:solidFill>
          <a:ln w="19050">
            <a:solidFill>
              <a:srgbClr val="A78BFA">
                <a:alpha val="25000"/>
              </a:srgbClr>
            </a:solidFill>
          </a:ln>
        </p:spPr>
        <p:txBody>
          <a:bodyPr/>
          <a:lstStyle/>
          <a:p>
            <a:endParaRPr lang="en-IN"/>
          </a:p>
        </p:txBody>
      </p:sp>
      <p:sp>
        <p:nvSpPr>
          <p:cNvPr id="7" name="Brand"/>
          <p:cNvSpPr/>
          <p:nvPr/>
        </p:nvSpPr>
        <p:spPr>
          <a:xfrm>
            <a:off x="365760" y="600000"/>
            <a:ext cx="6500000" cy="600000"/>
          </a:xfrm>
          <a:prstGeom prst="rect">
            <a:avLst/>
          </a:prstGeom>
          <a:noFill/>
          <a:ln/>
        </p:spPr>
        <p:txBody>
          <a:bodyPr wrap="square" lIns="0" tIns="0" rIns="0" bIns="0" rtlCol="0" anchor="ctr"/>
          <a:lstStyle/>
          <a:p>
            <a:pPr marL="0" indent="0">
              <a:buNone/>
            </a:pPr>
            <a:r>
              <a:rPr lang="en-US" sz="1200" b="1" dirty="0">
                <a:solidFill>
                  <a:srgbClr val="A78BFA"/>
                </a:solidFill>
                <a:latin typeface="Calibri" pitchFamily="34" charset="0"/>
              </a:rPr>
              <a:t>FitPulse  ·  Health Anomaly Detection Platform</a:t>
            </a:r>
          </a:p>
        </p:txBody>
      </p:sp>
      <p:sp>
        <p:nvSpPr>
          <p:cNvPr id="8" name="ThankyouMain"/>
          <p:cNvSpPr/>
          <p:nvPr/>
        </p:nvSpPr>
        <p:spPr>
          <a:xfrm>
            <a:off x="365760" y="1300000"/>
            <a:ext cx="6200000" cy="1300000"/>
          </a:xfrm>
          <a:prstGeom prst="rect">
            <a:avLst/>
          </a:prstGeom>
          <a:noFill/>
          <a:ln/>
        </p:spPr>
        <p:txBody>
          <a:bodyPr wrap="square" lIns="0" tIns="0" rIns="0" bIns="0" rtlCol="0" anchor="ctr"/>
          <a:lstStyle/>
          <a:p>
            <a:pPr marL="0" indent="0">
              <a:buNone/>
            </a:pPr>
            <a:r>
              <a:rPr lang="en-US" sz="6400" b="1" dirty="0">
                <a:solidFill>
                  <a:srgbClr val="DCE8F5"/>
                </a:solidFill>
                <a:latin typeface="Calibri" pitchFamily="34" charset="0"/>
              </a:rPr>
              <a:t>Thank You</a:t>
            </a:r>
          </a:p>
        </p:txBody>
      </p:sp>
      <p:sp>
        <p:nvSpPr>
          <p:cNvPr id="9" name="Subtitle"/>
          <p:cNvSpPr/>
          <p:nvPr/>
        </p:nvSpPr>
        <p:spPr>
          <a:xfrm>
            <a:off x="365760" y="2650000"/>
            <a:ext cx="6200000" cy="500000"/>
          </a:xfrm>
          <a:prstGeom prst="rect">
            <a:avLst/>
          </a:prstGeom>
          <a:noFill/>
          <a:ln/>
        </p:spPr>
        <p:txBody>
          <a:bodyPr wrap="square" lIns="0" tIns="0" rIns="0" bIns="0" rtlCol="0" anchor="ctr"/>
          <a:lstStyle/>
          <a:p>
            <a:pPr marL="0" indent="0">
              <a:buNone/>
            </a:pPr>
            <a:r>
              <a:rPr lang="en-US" sz="1800" dirty="0">
                <a:solidFill>
                  <a:srgbClr val="5A7A9A"/>
                </a:solidFill>
                <a:latin typeface="Calibri" pitchFamily="34" charset="0"/>
              </a:rPr>
              <a:t>for your time, attention, and evaluation</a:t>
            </a:r>
          </a:p>
        </p:txBody>
      </p:sp>
      <p:sp>
        <p:nvSpPr>
          <p:cNvPr id="10" name="NameBatch"/>
          <p:cNvSpPr/>
          <p:nvPr/>
        </p:nvSpPr>
        <p:spPr>
          <a:xfrm>
            <a:off x="365760" y="3300000"/>
            <a:ext cx="6200000" cy="700000"/>
          </a:xfrm>
          <a:prstGeom prst="rect">
            <a:avLst/>
          </a:prstGeom>
          <a:noFill/>
          <a:ln/>
        </p:spPr>
        <p:txBody>
          <a:bodyPr wrap="square" lIns="0" tIns="0" rIns="0" bIns="0" rtlCol="0" anchor="ctr"/>
          <a:lstStyle/>
          <a:p>
            <a:pPr marL="0" indent="0">
              <a:buNone/>
            </a:pPr>
            <a:r>
              <a:rPr lang="en-US" sz="1800" b="1" dirty="0">
                <a:solidFill>
                  <a:srgbClr val="A78BFA"/>
                </a:solidFill>
                <a:latin typeface="Calibri" pitchFamily="34" charset="0"/>
              </a:rPr>
              <a:t>Thejomayie K  ·  Batch 13</a:t>
            </a:r>
          </a:p>
          <a:p>
            <a:pPr marL="0" indent="0">
              <a:buNone/>
            </a:pPr>
            <a:r>
              <a:rPr lang="en-US" sz="1100" dirty="0">
                <a:solidFill>
                  <a:srgbClr val="4A6A8A"/>
                </a:solidFill>
                <a:latin typeface="Calibri" pitchFamily="34" charset="0"/>
              </a:rPr>
              <a:t>Infosys Springboard Virtual Internship</a:t>
            </a:r>
          </a:p>
        </p:txBody>
      </p:sp>
      <p:sp>
        <p:nvSpPr>
          <p:cNvPr id="11" name="B1"/>
          <p:cNvSpPr/>
          <p:nvPr/>
        </p:nvSpPr>
        <p:spPr>
          <a:xfrm>
            <a:off x="365760" y="4100000"/>
            <a:ext cx="1900000" cy="600000"/>
          </a:xfrm>
          <a:prstGeom prst="roundRect">
            <a:avLst>
              <a:gd name="adj" fmla="val 16667"/>
            </a:avLst>
          </a:prstGeom>
          <a:solidFill>
            <a:srgbClr val="162A41"/>
          </a:solidFill>
          <a:ln w="12700">
            <a:solidFill>
              <a:srgbClr val="A78BFA"/>
            </a:solidFill>
          </a:ln>
        </p:spPr>
        <p:txBody>
          <a:bodyPr wrap="square" lIns="91440" tIns="91440" rIns="91440" bIns="91440" rtlCol="0" anchor="ctr"/>
          <a:lstStyle/>
          <a:p>
            <a:pPr marL="0" indent="0" algn="ctr">
              <a:buNone/>
            </a:pPr>
            <a:r>
              <a:rPr lang="en-US" sz="1000" b="1" dirty="0">
                <a:solidFill>
                  <a:srgbClr val="A78BFA"/>
                </a:solidFill>
                <a:latin typeface="Calibri" pitchFamily="34" charset="0"/>
              </a:rPr>
              <a:t>M1 Preprocessing</a:t>
            </a:r>
          </a:p>
        </p:txBody>
      </p:sp>
      <p:sp>
        <p:nvSpPr>
          <p:cNvPr id="12" name="B2"/>
          <p:cNvSpPr/>
          <p:nvPr/>
        </p:nvSpPr>
        <p:spPr>
          <a:xfrm>
            <a:off x="2365760" y="4100000"/>
            <a:ext cx="1900000" cy="600000"/>
          </a:xfrm>
          <a:prstGeom prst="roundRect">
            <a:avLst>
              <a:gd name="adj" fmla="val 16667"/>
            </a:avLst>
          </a:prstGeom>
          <a:solidFill>
            <a:srgbClr val="162A41"/>
          </a:solidFill>
          <a:ln w="12700">
            <a:solidFill>
              <a:srgbClr val="38BDF8"/>
            </a:solidFill>
          </a:ln>
        </p:spPr>
        <p:txBody>
          <a:bodyPr wrap="square" lIns="91440" tIns="91440" rIns="91440" bIns="91440" rtlCol="0" anchor="ctr"/>
          <a:lstStyle/>
          <a:p>
            <a:pPr marL="0" indent="0" algn="ctr">
              <a:buNone/>
            </a:pPr>
            <a:r>
              <a:rPr lang="en-US" sz="1000" b="1" dirty="0">
                <a:solidFill>
                  <a:srgbClr val="38BDF8"/>
                </a:solidFill>
                <a:latin typeface="Calibri" pitchFamily="34" charset="0"/>
              </a:rPr>
              <a:t>M2 Modelling</a:t>
            </a:r>
          </a:p>
        </p:txBody>
      </p:sp>
      <p:sp>
        <p:nvSpPr>
          <p:cNvPr id="13" name="B3"/>
          <p:cNvSpPr/>
          <p:nvPr/>
        </p:nvSpPr>
        <p:spPr>
          <a:xfrm>
            <a:off x="4365760" y="4100000"/>
            <a:ext cx="1900000" cy="600000"/>
          </a:xfrm>
          <a:prstGeom prst="roundRect">
            <a:avLst>
              <a:gd name="adj" fmla="val 16667"/>
            </a:avLst>
          </a:prstGeom>
          <a:solidFill>
            <a:srgbClr val="162A41"/>
          </a:solidFill>
          <a:ln w="12700">
            <a:solidFill>
              <a:srgbClr val="EF4444"/>
            </a:solidFill>
          </a:ln>
        </p:spPr>
        <p:txBody>
          <a:bodyPr wrap="square" lIns="91440" tIns="91440" rIns="91440" bIns="91440" rtlCol="0" anchor="ctr"/>
          <a:lstStyle/>
          <a:p>
            <a:pPr marL="0" indent="0" algn="ctr">
              <a:buNone/>
            </a:pPr>
            <a:r>
              <a:rPr lang="en-US" sz="1000" b="1" dirty="0">
                <a:solidFill>
                  <a:srgbClr val="EF4444"/>
                </a:solidFill>
                <a:latin typeface="Calibri" pitchFamily="34" charset="0"/>
              </a:rPr>
              <a:t>M3 Anomaly Detection</a:t>
            </a:r>
          </a:p>
        </p:txBody>
      </p:sp>
      <p:sp>
        <p:nvSpPr>
          <p:cNvPr id="14" name="B4"/>
          <p:cNvSpPr/>
          <p:nvPr/>
        </p:nvSpPr>
        <p:spPr>
          <a:xfrm>
            <a:off x="6365760" y="4100000"/>
            <a:ext cx="1900000" cy="600000"/>
          </a:xfrm>
          <a:prstGeom prst="roundRect">
            <a:avLst>
              <a:gd name="adj" fmla="val 16667"/>
            </a:avLst>
          </a:prstGeom>
          <a:solidFill>
            <a:srgbClr val="162A41"/>
          </a:solidFill>
          <a:ln w="12700">
            <a:solidFill>
              <a:srgbClr val="10B981"/>
            </a:solidFill>
          </a:ln>
        </p:spPr>
        <p:txBody>
          <a:bodyPr wrap="square" lIns="91440" tIns="91440" rIns="91440" bIns="91440" rtlCol="0" anchor="ctr"/>
          <a:lstStyle/>
          <a:p>
            <a:pPr marL="0" indent="0" algn="ctr">
              <a:buNone/>
            </a:pPr>
            <a:r>
              <a:rPr lang="en-US" sz="1000" b="1" dirty="0">
                <a:solidFill>
                  <a:srgbClr val="10B981"/>
                </a:solidFill>
                <a:latin typeface="Calibri" pitchFamily="34" charset="0"/>
              </a:rPr>
              <a:t>M4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353</TotalTime>
  <Words>2787</Words>
  <Application>Microsoft Office PowerPoint</Application>
  <PresentationFormat>On-screen Show (16:9)</PresentationFormat>
  <Paragraphs>510</Paragraphs>
  <Slides>42</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FitPulse — Health Anomaly Detection</dc:title>
  <dc:subject>PptxGenJS Presentation</dc:subject>
  <dc:creator>PptxGenJS</dc:creator>
  <cp:lastModifiedBy>Thejomayie K</cp:lastModifiedBy>
  <cp:revision>10</cp:revision>
  <dcterms:created xsi:type="dcterms:W3CDTF">2026-03-26T12:34:38Z</dcterms:created>
  <dcterms:modified xsi:type="dcterms:W3CDTF">2026-03-31T08:53:23Z</dcterms:modified>
</cp:coreProperties>
</file>