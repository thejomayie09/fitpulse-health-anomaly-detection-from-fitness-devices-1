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6" r:id="rId3"/>
    <p:sldId id="257" r:id="rId4"/>
    <p:sldId id="258" r:id="rId5"/>
    <p:sldId id="259" r:id="rId6"/>
    <p:sldId id="267" r:id="rId7"/>
    <p:sldId id="268" r:id="rId8"/>
    <p:sldId id="260" r:id="rId9"/>
    <p:sldId id="261" r:id="rId10"/>
    <p:sldId id="262" r:id="rId11"/>
    <p:sldId id="263" r:id="rId12"/>
    <p:sldId id="264" r:id="rId13"/>
    <p:sldId id="265"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506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5F023-24E9-FC00-C832-9239E387B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E3905-A293-2602-78C8-348A20A24F5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8071D9-6622-BF55-B949-32C9A963E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FAB8E8-ABE1-11E0-F3B7-E79A6C86935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29355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BF224-8988-FE19-F98D-BE1616AFA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34646-9A46-A35C-836A-2FFB8E996E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B1B4814-E34C-E0E1-E4B9-FFDB93EDC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E2673A-2123-74B8-F5D5-992BA57C817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2126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5C45E-5A26-8126-B42F-F1A99FBE0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40369-220B-EFF4-E9B3-787D1FD787E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819A00-B785-B4DF-62EF-65FAE45C0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03B680-61C1-0DC2-2D76-F8D4272F05B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78652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1B52-C70A-6560-701B-CCB0C075B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86836-EF8D-830B-34FF-6ED10ABA265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633E2F5-D141-6283-0D06-3A524AFEA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1D436A-2F9F-3234-50E5-E7CC69A9078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07011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8B51-706C-09C5-2116-D4415BEAF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3424C-0AB3-2DB8-36C6-AD3EB14F259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7E6764-636A-305C-0C93-320D5E7AD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BD734-66EC-C9FB-AAEC-174911603A1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79712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0621-36F3-49FB-FA3D-7F8769112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662CF-A08A-439C-3E9E-E52898E9D79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D0430D8-9418-A1D0-9F6B-0E3928E66F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C0A2EF-9E6B-342A-3589-06C7F008F08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48985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9B9B-C0EA-B884-68A0-90BE7E70B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BDE22-8557-CBFD-DC56-D8C20ACC08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A99B4E2-8B0D-3AC1-D342-677533E41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A483C9-4A61-563F-5C57-DA23A4C0422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36435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A779-0BD3-2085-8298-0849C28FD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A6B4E-C366-4B56-6840-E07AEB89482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3E15119-0A45-E342-6E12-B790754F26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A001D2-BEA3-F659-AED8-3DE1C3A83C4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89927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5FDF-73A5-1018-565A-BE030978A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BDA45-8321-EE57-AF59-217B5AE408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CAEB53F-40A3-5FAC-414B-84BC0D0493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07BF08-D764-4383-27CB-864108A541B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95011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7DF4-06F1-FFC1-A061-D1962C11F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738E2-9622-1BBF-856D-F0C47D5E50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5A3A17-F4AD-BB58-9E8F-98DD38197B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E963B7-E1B9-4B83-F9C6-83647CAFAE53}"/>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278841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1712-B9D9-3F8F-2E3B-D74718620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8803E-CA0C-26FA-DDC7-71C83482CD6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AE9B07-0AD0-6568-F139-7B290B6400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CC81A3-B6DF-5BB0-6B53-78A068CA9B67}"/>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868631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Shape 1"/>
          <p:cNvSpPr/>
          <p:nvPr/>
        </p:nvSpPr>
        <p:spPr>
          <a:xfrm>
            <a:off x="0" y="73152"/>
            <a:ext cx="109728" cy="5070348"/>
          </a:xfrm>
          <a:prstGeom prst="rect">
            <a:avLst/>
          </a:prstGeom>
          <a:solidFill>
            <a:srgbClr val="6366F1"/>
          </a:solidFill>
          <a:ln w="12700">
            <a:solidFill>
              <a:srgbClr val="6366F1"/>
            </a:solidFill>
            <a:prstDash val="solid"/>
          </a:ln>
        </p:spPr>
        <p:txBody>
          <a:bodyPr/>
          <a:lstStyle/>
          <a:p>
            <a:endParaRPr lang="en-IN"/>
          </a:p>
        </p:txBody>
      </p:sp>
      <p:sp>
        <p:nvSpPr>
          <p:cNvPr id="4" name="Text 2"/>
          <p:cNvSpPr/>
          <p:nvPr/>
        </p:nvSpPr>
        <p:spPr>
          <a:xfrm>
            <a:off x="365760" y="1097280"/>
            <a:ext cx="8412480" cy="1005840"/>
          </a:xfrm>
          <a:prstGeom prst="rect">
            <a:avLst/>
          </a:prstGeom>
          <a:noFill/>
          <a:ln/>
        </p:spPr>
        <p:txBody>
          <a:bodyPr wrap="square" lIns="0" tIns="0" rIns="0" bIns="0" rtlCol="0" anchor="ctr"/>
          <a:lstStyle/>
          <a:p>
            <a:pPr marL="0" indent="0" algn="ctr">
              <a:buNone/>
            </a:pPr>
            <a:r>
              <a:rPr lang="en-US" sz="5400" b="1" dirty="0">
                <a:solidFill>
                  <a:srgbClr val="A78BFA"/>
                </a:solidFill>
                <a:latin typeface="Calibri" pitchFamily="34" charset="0"/>
                <a:ea typeface="Calibri" pitchFamily="34" charset="-122"/>
                <a:cs typeface="Calibri" pitchFamily="34" charset="-120"/>
              </a:rPr>
              <a:t>FitPulse</a:t>
            </a:r>
            <a:endParaRPr lang="en-US" sz="5400" dirty="0"/>
          </a:p>
        </p:txBody>
      </p:sp>
      <p:sp>
        <p:nvSpPr>
          <p:cNvPr id="5" name="Text 3"/>
          <p:cNvSpPr/>
          <p:nvPr/>
        </p:nvSpPr>
        <p:spPr>
          <a:xfrm>
            <a:off x="365760" y="2103120"/>
            <a:ext cx="8412480" cy="640080"/>
          </a:xfrm>
          <a:prstGeom prst="rect">
            <a:avLst/>
          </a:prstGeom>
          <a:noFill/>
          <a:ln/>
        </p:spPr>
        <p:txBody>
          <a:bodyPr wrap="square" lIns="0" tIns="0" rIns="0" bIns="0" rtlCol="0" anchor="ctr"/>
          <a:lstStyle/>
          <a:p>
            <a:pPr marL="0" indent="0" algn="ctr">
              <a:buNone/>
            </a:pPr>
            <a:r>
              <a:rPr lang="en-US" sz="2000" dirty="0">
                <a:solidFill>
                  <a:srgbClr val="38BDF8"/>
                </a:solidFill>
                <a:latin typeface="Calibri" pitchFamily="34" charset="0"/>
                <a:ea typeface="Calibri" pitchFamily="34" charset="-122"/>
                <a:cs typeface="Calibri" pitchFamily="34" charset="-120"/>
              </a:rPr>
              <a:t>Health Anomaly Detection from Fitness Devices</a:t>
            </a:r>
            <a:endParaRPr lang="en-US" sz="2000" dirty="0"/>
          </a:p>
        </p:txBody>
      </p:sp>
      <p:sp>
        <p:nvSpPr>
          <p:cNvPr id="6" name="Shape 4"/>
          <p:cNvSpPr/>
          <p:nvPr/>
        </p:nvSpPr>
        <p:spPr>
          <a:xfrm>
            <a:off x="3200400" y="2834640"/>
            <a:ext cx="2743200" cy="36576"/>
          </a:xfrm>
          <a:prstGeom prst="rect">
            <a:avLst/>
          </a:prstGeom>
          <a:solidFill>
            <a:srgbClr val="A78BFA"/>
          </a:solidFill>
          <a:ln w="12700">
            <a:solidFill>
              <a:srgbClr val="A78BFA"/>
            </a:solidFill>
            <a:prstDash val="solid"/>
          </a:ln>
        </p:spPr>
        <p:txBody>
          <a:bodyPr/>
          <a:lstStyle/>
          <a:p>
            <a:endParaRPr lang="en-IN"/>
          </a:p>
        </p:txBody>
      </p:sp>
      <p:sp>
        <p:nvSpPr>
          <p:cNvPr id="14" name="Shape 12"/>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
        <p:nvSpPr>
          <p:cNvPr id="19" name="Text 11"/>
          <p:cNvSpPr/>
          <p:nvPr/>
        </p:nvSpPr>
        <p:spPr>
          <a:xfrm>
            <a:off x="6118166" y="3733038"/>
            <a:ext cx="2075807" cy="347472"/>
          </a:xfrm>
          <a:prstGeom prst="rect">
            <a:avLst/>
          </a:prstGeom>
          <a:noFill/>
          <a:ln/>
        </p:spPr>
        <p:txBody>
          <a:bodyPr wrap="square" rtlCol="0" anchor="ctr"/>
          <a:lstStyle/>
          <a:p>
            <a:pPr algn="ctr"/>
            <a:r>
              <a:rPr lang="en-US" sz="2400" b="1" dirty="0">
                <a:solidFill>
                  <a:srgbClr val="A78BFA"/>
                </a:solidFill>
                <a:latin typeface="Calibri" pitchFamily="34" charset="0"/>
                <a:ea typeface="Calibri" pitchFamily="34" charset="-122"/>
                <a:cs typeface="Calibri" pitchFamily="34" charset="-120"/>
              </a:rPr>
              <a:t>Thejomayie K</a:t>
            </a:r>
          </a:p>
          <a:p>
            <a:pPr algn="ctr"/>
            <a:r>
              <a:rPr lang="en-US" sz="2400" b="1" dirty="0">
                <a:solidFill>
                  <a:srgbClr val="A78BFA"/>
                </a:solidFill>
                <a:latin typeface="Calibri" pitchFamily="34" charset="0"/>
                <a:ea typeface="Calibri" pitchFamily="34" charset="-122"/>
                <a:cs typeface="Calibri" pitchFamily="34" charset="-120"/>
              </a:rPr>
              <a:t>Batch 13</a:t>
            </a:r>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130444B-8FDF-CF71-CF19-A2F53BCA5B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708B78-DA0F-F727-1AF2-1BF05A46BC70}"/>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Shape 1">
            <a:extLst>
              <a:ext uri="{FF2B5EF4-FFF2-40B4-BE49-F238E27FC236}">
                <a16:creationId xmlns:a16="http://schemas.microsoft.com/office/drawing/2014/main" id="{885E3F76-D26A-F94F-89F5-B6ED8759E98A}"/>
              </a:ext>
            </a:extLst>
          </p:cNvPr>
          <p:cNvSpPr/>
          <p:nvPr/>
        </p:nvSpPr>
        <p:spPr>
          <a:xfrm>
            <a:off x="0" y="73152"/>
            <a:ext cx="109728" cy="5070348"/>
          </a:xfrm>
          <a:prstGeom prst="rect">
            <a:avLst/>
          </a:prstGeom>
          <a:solidFill>
            <a:srgbClr val="6366F1"/>
          </a:solidFill>
          <a:ln w="12700">
            <a:solidFill>
              <a:srgbClr val="6366F1"/>
            </a:solidFill>
            <a:prstDash val="solid"/>
          </a:ln>
        </p:spPr>
        <p:txBody>
          <a:bodyPr/>
          <a:lstStyle/>
          <a:p>
            <a:endParaRPr lang="en-IN"/>
          </a:p>
        </p:txBody>
      </p:sp>
      <p:sp>
        <p:nvSpPr>
          <p:cNvPr id="4" name="Text 2">
            <a:extLst>
              <a:ext uri="{FF2B5EF4-FFF2-40B4-BE49-F238E27FC236}">
                <a16:creationId xmlns:a16="http://schemas.microsoft.com/office/drawing/2014/main" id="{A20245E1-9076-6BBC-8471-DB285489288B}"/>
              </a:ext>
            </a:extLst>
          </p:cNvPr>
          <p:cNvSpPr/>
          <p:nvPr/>
        </p:nvSpPr>
        <p:spPr>
          <a:xfrm>
            <a:off x="365760" y="1097280"/>
            <a:ext cx="8412480" cy="1005840"/>
          </a:xfrm>
          <a:prstGeom prst="rect">
            <a:avLst/>
          </a:prstGeom>
          <a:noFill/>
          <a:ln/>
        </p:spPr>
        <p:txBody>
          <a:bodyPr wrap="square" lIns="0" tIns="0" rIns="0" bIns="0" rtlCol="0" anchor="ctr"/>
          <a:lstStyle/>
          <a:p>
            <a:pPr marL="0" indent="0" algn="ctr">
              <a:buNone/>
            </a:pPr>
            <a:r>
              <a:rPr lang="en-US" sz="5400" b="1" dirty="0">
                <a:solidFill>
                  <a:srgbClr val="A78BFA"/>
                </a:solidFill>
                <a:latin typeface="Calibri" pitchFamily="34" charset="0"/>
                <a:ea typeface="Calibri" pitchFamily="34" charset="-122"/>
                <a:cs typeface="Calibri" pitchFamily="34" charset="-120"/>
              </a:rPr>
              <a:t>FitPulse</a:t>
            </a:r>
            <a:endParaRPr lang="en-US" sz="5400" dirty="0"/>
          </a:p>
        </p:txBody>
      </p:sp>
      <p:sp>
        <p:nvSpPr>
          <p:cNvPr id="5" name="Text 3">
            <a:extLst>
              <a:ext uri="{FF2B5EF4-FFF2-40B4-BE49-F238E27FC236}">
                <a16:creationId xmlns:a16="http://schemas.microsoft.com/office/drawing/2014/main" id="{B53029BF-92A9-4AE2-F63B-DC0E541D5867}"/>
              </a:ext>
            </a:extLst>
          </p:cNvPr>
          <p:cNvSpPr/>
          <p:nvPr/>
        </p:nvSpPr>
        <p:spPr>
          <a:xfrm>
            <a:off x="365760" y="2103120"/>
            <a:ext cx="8412480" cy="640080"/>
          </a:xfrm>
          <a:prstGeom prst="rect">
            <a:avLst/>
          </a:prstGeom>
          <a:noFill/>
          <a:ln/>
        </p:spPr>
        <p:txBody>
          <a:bodyPr wrap="square" lIns="0" tIns="0" rIns="0" bIns="0" rtlCol="0" anchor="ctr"/>
          <a:lstStyle/>
          <a:p>
            <a:pPr marL="0" indent="0" algn="ctr">
              <a:buNone/>
            </a:pPr>
            <a:r>
              <a:rPr lang="en-US" sz="2000" dirty="0">
                <a:solidFill>
                  <a:srgbClr val="38BDF8"/>
                </a:solidFill>
                <a:latin typeface="Calibri" pitchFamily="34" charset="0"/>
                <a:ea typeface="Calibri" pitchFamily="34" charset="-122"/>
                <a:cs typeface="Calibri" pitchFamily="34" charset="-120"/>
              </a:rPr>
              <a:t>Health Anomaly Detection from Fitness Devices</a:t>
            </a:r>
            <a:endParaRPr lang="en-US" sz="2000" dirty="0"/>
          </a:p>
        </p:txBody>
      </p:sp>
      <p:sp>
        <p:nvSpPr>
          <p:cNvPr id="6" name="Shape 4">
            <a:extLst>
              <a:ext uri="{FF2B5EF4-FFF2-40B4-BE49-F238E27FC236}">
                <a16:creationId xmlns:a16="http://schemas.microsoft.com/office/drawing/2014/main" id="{3F9846B2-F7FD-EC01-D530-49FD106A1B90}"/>
              </a:ext>
            </a:extLst>
          </p:cNvPr>
          <p:cNvSpPr/>
          <p:nvPr/>
        </p:nvSpPr>
        <p:spPr>
          <a:xfrm>
            <a:off x="3200400" y="2834640"/>
            <a:ext cx="2743200" cy="36576"/>
          </a:xfrm>
          <a:prstGeom prst="rect">
            <a:avLst/>
          </a:prstGeom>
          <a:solidFill>
            <a:srgbClr val="A78BFA"/>
          </a:solidFill>
          <a:ln w="12700">
            <a:solidFill>
              <a:srgbClr val="A78BFA"/>
            </a:solidFill>
            <a:prstDash val="solid"/>
          </a:ln>
        </p:spPr>
        <p:txBody>
          <a:bodyPr/>
          <a:lstStyle/>
          <a:p>
            <a:endParaRPr lang="en-IN"/>
          </a:p>
        </p:txBody>
      </p:sp>
      <p:sp>
        <p:nvSpPr>
          <p:cNvPr id="7" name="Text 5">
            <a:extLst>
              <a:ext uri="{FF2B5EF4-FFF2-40B4-BE49-F238E27FC236}">
                <a16:creationId xmlns:a16="http://schemas.microsoft.com/office/drawing/2014/main" id="{DA192659-34D2-5AC0-93B7-BF1CECEAEB5A}"/>
              </a:ext>
            </a:extLst>
          </p:cNvPr>
          <p:cNvSpPr/>
          <p:nvPr/>
        </p:nvSpPr>
        <p:spPr>
          <a:xfrm>
            <a:off x="365760" y="3017520"/>
            <a:ext cx="8412480" cy="457200"/>
          </a:xfrm>
          <a:prstGeom prst="rect">
            <a:avLst/>
          </a:prstGeom>
          <a:noFill/>
          <a:ln/>
        </p:spPr>
        <p:txBody>
          <a:bodyPr wrap="square" lIns="0" tIns="0" rIns="0" bIns="0" rtlCol="0" anchor="ctr"/>
          <a:lstStyle/>
          <a:p>
            <a:pPr marL="0" indent="0" algn="ctr">
              <a:buNone/>
            </a:pPr>
            <a:r>
              <a:rPr lang="en-US" sz="1500" dirty="0">
                <a:solidFill>
                  <a:srgbClr val="7A9ABB"/>
                </a:solidFill>
                <a:latin typeface="Calibri" pitchFamily="34" charset="0"/>
                <a:ea typeface="Calibri" pitchFamily="34" charset="-122"/>
                <a:cs typeface="Calibri" pitchFamily="34" charset="-120"/>
              </a:rPr>
              <a:t>Milestone 1  ·  Milestone 2</a:t>
            </a:r>
            <a:endParaRPr lang="en-US" sz="1500" dirty="0"/>
          </a:p>
        </p:txBody>
      </p:sp>
      <p:sp>
        <p:nvSpPr>
          <p:cNvPr id="8" name="Shape 6">
            <a:extLst>
              <a:ext uri="{FF2B5EF4-FFF2-40B4-BE49-F238E27FC236}">
                <a16:creationId xmlns:a16="http://schemas.microsoft.com/office/drawing/2014/main" id="{19B3A3E5-49F9-8DD9-38BB-16204A13034B}"/>
              </a:ext>
            </a:extLst>
          </p:cNvPr>
          <p:cNvSpPr/>
          <p:nvPr/>
        </p:nvSpPr>
        <p:spPr>
          <a:xfrm>
            <a:off x="228600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9" name="Text 7">
            <a:extLst>
              <a:ext uri="{FF2B5EF4-FFF2-40B4-BE49-F238E27FC236}">
                <a16:creationId xmlns:a16="http://schemas.microsoft.com/office/drawing/2014/main" id="{E30419C6-5DDF-ADF4-9A8A-F694FA34151C}"/>
              </a:ext>
            </a:extLst>
          </p:cNvPr>
          <p:cNvSpPr/>
          <p:nvPr/>
        </p:nvSpPr>
        <p:spPr>
          <a:xfrm>
            <a:off x="228600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Streamlit</a:t>
            </a:r>
            <a:endParaRPr lang="en-US" sz="1000" dirty="0"/>
          </a:p>
        </p:txBody>
      </p:sp>
      <p:sp>
        <p:nvSpPr>
          <p:cNvPr id="10" name="Shape 8">
            <a:extLst>
              <a:ext uri="{FF2B5EF4-FFF2-40B4-BE49-F238E27FC236}">
                <a16:creationId xmlns:a16="http://schemas.microsoft.com/office/drawing/2014/main" id="{B4E3956F-9F03-9CC7-E454-9D37C8E7A454}"/>
              </a:ext>
            </a:extLst>
          </p:cNvPr>
          <p:cNvSpPr/>
          <p:nvPr/>
        </p:nvSpPr>
        <p:spPr>
          <a:xfrm>
            <a:off x="393192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11" name="Text 9">
            <a:extLst>
              <a:ext uri="{FF2B5EF4-FFF2-40B4-BE49-F238E27FC236}">
                <a16:creationId xmlns:a16="http://schemas.microsoft.com/office/drawing/2014/main" id="{2B9A4B5B-B779-797F-67CC-321010EAB756}"/>
              </a:ext>
            </a:extLst>
          </p:cNvPr>
          <p:cNvSpPr/>
          <p:nvPr/>
        </p:nvSpPr>
        <p:spPr>
          <a:xfrm>
            <a:off x="393192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Python</a:t>
            </a:r>
            <a:endParaRPr lang="en-US" sz="1000" dirty="0"/>
          </a:p>
        </p:txBody>
      </p:sp>
      <p:sp>
        <p:nvSpPr>
          <p:cNvPr id="12" name="Shape 10">
            <a:extLst>
              <a:ext uri="{FF2B5EF4-FFF2-40B4-BE49-F238E27FC236}">
                <a16:creationId xmlns:a16="http://schemas.microsoft.com/office/drawing/2014/main" id="{46376ADB-81D7-98D7-9CB8-E6BE20CCF12C}"/>
              </a:ext>
            </a:extLst>
          </p:cNvPr>
          <p:cNvSpPr/>
          <p:nvPr/>
        </p:nvSpPr>
        <p:spPr>
          <a:xfrm>
            <a:off x="5577840" y="3749040"/>
            <a:ext cx="1371600" cy="347472"/>
          </a:xfrm>
          <a:prstGeom prst="roundRect">
            <a:avLst>
              <a:gd name="adj" fmla="val 21053"/>
            </a:avLst>
          </a:prstGeom>
          <a:solidFill>
            <a:srgbClr val="162A41"/>
          </a:solidFill>
          <a:ln w="12700">
            <a:solidFill>
              <a:srgbClr val="1E3A5F"/>
            </a:solidFill>
            <a:prstDash val="solid"/>
          </a:ln>
        </p:spPr>
        <p:txBody>
          <a:bodyPr/>
          <a:lstStyle/>
          <a:p>
            <a:endParaRPr lang="en-IN"/>
          </a:p>
        </p:txBody>
      </p:sp>
      <p:sp>
        <p:nvSpPr>
          <p:cNvPr id="13" name="Text 11">
            <a:extLst>
              <a:ext uri="{FF2B5EF4-FFF2-40B4-BE49-F238E27FC236}">
                <a16:creationId xmlns:a16="http://schemas.microsoft.com/office/drawing/2014/main" id="{24A10F54-BE25-E7B1-B0D9-3F17093FF086}"/>
              </a:ext>
            </a:extLst>
          </p:cNvPr>
          <p:cNvSpPr/>
          <p:nvPr/>
        </p:nvSpPr>
        <p:spPr>
          <a:xfrm>
            <a:off x="5577840" y="3749040"/>
            <a:ext cx="1371600" cy="347472"/>
          </a:xfrm>
          <a:prstGeom prst="rect">
            <a:avLst/>
          </a:prstGeom>
          <a:noFill/>
          <a:ln/>
        </p:spPr>
        <p:txBody>
          <a:bodyPr wrap="square"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Machine Learning</a:t>
            </a:r>
            <a:endParaRPr lang="en-US" sz="1000" dirty="0"/>
          </a:p>
        </p:txBody>
      </p:sp>
      <p:sp>
        <p:nvSpPr>
          <p:cNvPr id="14" name="Shape 12">
            <a:extLst>
              <a:ext uri="{FF2B5EF4-FFF2-40B4-BE49-F238E27FC236}">
                <a16:creationId xmlns:a16="http://schemas.microsoft.com/office/drawing/2014/main" id="{DF58B459-CE8D-95F6-E032-D07651755B05}"/>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extLst>
      <p:ext uri="{BB962C8B-B14F-4D97-AF65-F5344CB8AC3E}">
        <p14:creationId xmlns:p14="http://schemas.microsoft.com/office/powerpoint/2010/main" val="1706861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Project Overview</a:t>
            </a:r>
            <a:endParaRPr lang="en-US" sz="2800" dirty="0"/>
          </a:p>
        </p:txBody>
      </p:sp>
      <p:sp>
        <p:nvSpPr>
          <p:cNvPr id="4" name="Text 2"/>
          <p:cNvSpPr/>
          <p:nvPr/>
        </p:nvSpPr>
        <p:spPr>
          <a:xfrm>
            <a:off x="365760" y="868680"/>
            <a:ext cx="841248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What is FitPulse?</a:t>
            </a:r>
            <a:endParaRPr lang="en-US" sz="1600" dirty="0"/>
          </a:p>
        </p:txBody>
      </p:sp>
      <p:sp>
        <p:nvSpPr>
          <p:cNvPr id="5" name="Text 3"/>
          <p:cNvSpPr/>
          <p:nvPr/>
        </p:nvSpPr>
        <p:spPr>
          <a:xfrm>
            <a:off x="365760" y="1234440"/>
            <a:ext cx="8412480" cy="731520"/>
          </a:xfrm>
          <a:prstGeom prst="rect">
            <a:avLst/>
          </a:prstGeom>
          <a:noFill/>
          <a:ln/>
        </p:spPr>
        <p:txBody>
          <a:bodyPr wrap="square" lIns="0" tIns="0" rIns="0" bIns="0" rtlCol="0" anchor="ctr"/>
          <a:lstStyle/>
          <a:p>
            <a:pPr marL="0" indent="0">
              <a:buNone/>
            </a:pPr>
            <a:r>
              <a:rPr lang="en-US" sz="1300" dirty="0">
                <a:solidFill>
                  <a:srgbClr val="DCE8F5"/>
                </a:solidFill>
                <a:latin typeface="Calibri" pitchFamily="34" charset="0"/>
                <a:ea typeface="Calibri" pitchFamily="34" charset="-122"/>
                <a:cs typeface="Calibri" pitchFamily="34" charset="-120"/>
              </a:rPr>
              <a:t>FitPulse is a complete data science platform that takes raw Fitbit sensor data from 30 users, cleans it, extracts patterns, forecasts health trends, and groups users by their fitness behaviour — all in an interactive web application.</a:t>
            </a:r>
            <a:endParaRPr lang="en-US" sz="1300" dirty="0"/>
          </a:p>
        </p:txBody>
      </p:sp>
      <p:sp>
        <p:nvSpPr>
          <p:cNvPr id="6" name="Shape 4"/>
          <p:cNvSpPr/>
          <p:nvPr/>
        </p:nvSpPr>
        <p:spPr>
          <a:xfrm>
            <a:off x="320040" y="2103120"/>
            <a:ext cx="1920240" cy="118872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7" name="Text 5"/>
          <p:cNvSpPr/>
          <p:nvPr/>
        </p:nvSpPr>
        <p:spPr>
          <a:xfrm>
            <a:off x="320040" y="2148840"/>
            <a:ext cx="1920240" cy="594360"/>
          </a:xfrm>
          <a:prstGeom prst="rect">
            <a:avLst/>
          </a:prstGeom>
          <a:noFill/>
          <a:ln/>
        </p:spPr>
        <p:txBody>
          <a:bodyPr wrap="square" rtlCol="0" anchor="ctr"/>
          <a:lstStyle/>
          <a:p>
            <a:pPr marL="0" indent="0" algn="ctr">
              <a:buNone/>
            </a:pPr>
            <a:r>
              <a:rPr lang="en-US" sz="3600" b="1" dirty="0">
                <a:solidFill>
                  <a:srgbClr val="A78BFA"/>
                </a:solidFill>
                <a:latin typeface="Calibri" pitchFamily="34" charset="0"/>
                <a:ea typeface="Calibri" pitchFamily="34" charset="-122"/>
                <a:cs typeface="Calibri" pitchFamily="34" charset="-120"/>
              </a:rPr>
              <a:t>30</a:t>
            </a:r>
            <a:endParaRPr lang="en-US" sz="3600" dirty="0"/>
          </a:p>
        </p:txBody>
      </p:sp>
      <p:sp>
        <p:nvSpPr>
          <p:cNvPr id="8" name="Text 6"/>
          <p:cNvSpPr/>
          <p:nvPr/>
        </p:nvSpPr>
        <p:spPr>
          <a:xfrm>
            <a:off x="32004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Users</a:t>
            </a:r>
            <a:endParaRPr lang="en-US" sz="1200" dirty="0"/>
          </a:p>
        </p:txBody>
      </p:sp>
      <p:sp>
        <p:nvSpPr>
          <p:cNvPr id="9" name="Shape 7"/>
          <p:cNvSpPr/>
          <p:nvPr/>
        </p:nvSpPr>
        <p:spPr>
          <a:xfrm>
            <a:off x="2468880" y="2103120"/>
            <a:ext cx="1920240" cy="118872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8"/>
          <p:cNvSpPr/>
          <p:nvPr/>
        </p:nvSpPr>
        <p:spPr>
          <a:xfrm>
            <a:off x="2468880" y="2148840"/>
            <a:ext cx="1920240" cy="594360"/>
          </a:xfrm>
          <a:prstGeom prst="rect">
            <a:avLst/>
          </a:prstGeom>
          <a:noFill/>
          <a:ln/>
        </p:spPr>
        <p:txBody>
          <a:bodyPr wrap="square" rtlCol="0" anchor="ctr"/>
          <a:lstStyle/>
          <a:p>
            <a:pPr marL="0" indent="0" algn="ctr">
              <a:buNone/>
            </a:pPr>
            <a:r>
              <a:rPr lang="en-US" sz="3600" b="1" dirty="0">
                <a:solidFill>
                  <a:srgbClr val="38BDF8"/>
                </a:solidFill>
                <a:latin typeface="Calibri" pitchFamily="34" charset="0"/>
                <a:ea typeface="Calibri" pitchFamily="34" charset="-122"/>
                <a:cs typeface="Calibri" pitchFamily="34" charset="-120"/>
              </a:rPr>
              <a:t>5</a:t>
            </a:r>
            <a:endParaRPr lang="en-US" sz="3600" dirty="0"/>
          </a:p>
        </p:txBody>
      </p:sp>
      <p:sp>
        <p:nvSpPr>
          <p:cNvPr id="11" name="Text 9"/>
          <p:cNvSpPr/>
          <p:nvPr/>
        </p:nvSpPr>
        <p:spPr>
          <a:xfrm>
            <a:off x="246888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Sensor Files</a:t>
            </a:r>
            <a:endParaRPr lang="en-US" sz="1200" dirty="0"/>
          </a:p>
        </p:txBody>
      </p:sp>
      <p:sp>
        <p:nvSpPr>
          <p:cNvPr id="12" name="Shape 10"/>
          <p:cNvSpPr/>
          <p:nvPr/>
        </p:nvSpPr>
        <p:spPr>
          <a:xfrm>
            <a:off x="4617720" y="2103120"/>
            <a:ext cx="1920240" cy="118872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Text 11"/>
          <p:cNvSpPr/>
          <p:nvPr/>
        </p:nvSpPr>
        <p:spPr>
          <a:xfrm>
            <a:off x="4617720" y="2148840"/>
            <a:ext cx="1920240" cy="594360"/>
          </a:xfrm>
          <a:prstGeom prst="rect">
            <a:avLst/>
          </a:prstGeom>
          <a:noFill/>
          <a:ln/>
        </p:spPr>
        <p:txBody>
          <a:bodyPr wrap="square" rtlCol="0" anchor="ctr"/>
          <a:lstStyle/>
          <a:p>
            <a:pPr marL="0" indent="0" algn="ctr">
              <a:buNone/>
            </a:pPr>
            <a:r>
              <a:rPr lang="en-US" sz="3600" b="1" dirty="0">
                <a:solidFill>
                  <a:srgbClr val="10B981"/>
                </a:solidFill>
                <a:latin typeface="Calibri" pitchFamily="34" charset="0"/>
                <a:ea typeface="Calibri" pitchFamily="34" charset="-122"/>
                <a:cs typeface="Calibri" pitchFamily="34" charset="-120"/>
              </a:rPr>
              <a:t>30</a:t>
            </a:r>
            <a:endParaRPr lang="en-US" sz="3600" dirty="0"/>
          </a:p>
        </p:txBody>
      </p:sp>
      <p:sp>
        <p:nvSpPr>
          <p:cNvPr id="14" name="Text 12"/>
          <p:cNvSpPr/>
          <p:nvPr/>
        </p:nvSpPr>
        <p:spPr>
          <a:xfrm>
            <a:off x="461772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Days of Data</a:t>
            </a:r>
            <a:endParaRPr lang="en-US" sz="1200" dirty="0"/>
          </a:p>
        </p:txBody>
      </p:sp>
      <p:sp>
        <p:nvSpPr>
          <p:cNvPr id="15" name="Shape 13"/>
          <p:cNvSpPr/>
          <p:nvPr/>
        </p:nvSpPr>
        <p:spPr>
          <a:xfrm>
            <a:off x="6766560" y="2103120"/>
            <a:ext cx="1920240" cy="118872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6" name="Text 14"/>
          <p:cNvSpPr/>
          <p:nvPr/>
        </p:nvSpPr>
        <p:spPr>
          <a:xfrm>
            <a:off x="6766560" y="2148840"/>
            <a:ext cx="1920240" cy="594360"/>
          </a:xfrm>
          <a:prstGeom prst="rect">
            <a:avLst/>
          </a:prstGeom>
          <a:noFill/>
          <a:ln/>
        </p:spPr>
        <p:txBody>
          <a:bodyPr wrap="square"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2</a:t>
            </a:r>
            <a:endParaRPr lang="en-US" sz="3600" dirty="0"/>
          </a:p>
        </p:txBody>
      </p:sp>
      <p:sp>
        <p:nvSpPr>
          <p:cNvPr id="17" name="Text 15"/>
          <p:cNvSpPr/>
          <p:nvPr/>
        </p:nvSpPr>
        <p:spPr>
          <a:xfrm>
            <a:off x="6766560" y="2743200"/>
            <a:ext cx="1920240" cy="320040"/>
          </a:xfrm>
          <a:prstGeom prst="rect">
            <a:avLst/>
          </a:prstGeom>
          <a:noFill/>
          <a:ln/>
        </p:spPr>
        <p:txBody>
          <a:bodyPr wrap="square" rtlCol="0" anchor="ctr"/>
          <a:lstStyle/>
          <a:p>
            <a:pPr marL="0" indent="0" algn="ctr">
              <a:buNone/>
            </a:pPr>
            <a:r>
              <a:rPr lang="en-US" sz="1200" dirty="0">
                <a:solidFill>
                  <a:srgbClr val="7A9ABB"/>
                </a:solidFill>
                <a:latin typeface="Calibri" pitchFamily="34" charset="0"/>
                <a:ea typeface="Calibri" pitchFamily="34" charset="-122"/>
                <a:cs typeface="Calibri" pitchFamily="34" charset="-120"/>
              </a:rPr>
              <a:t>Milestones</a:t>
            </a:r>
            <a:endParaRPr lang="en-US" sz="1200" dirty="0"/>
          </a:p>
        </p:txBody>
      </p:sp>
      <p:sp>
        <p:nvSpPr>
          <p:cNvPr id="18" name="Shape 16"/>
          <p:cNvSpPr/>
          <p:nvPr/>
        </p:nvSpPr>
        <p:spPr>
          <a:xfrm>
            <a:off x="320040" y="3474720"/>
            <a:ext cx="8503920" cy="1280160"/>
          </a:xfrm>
          <a:prstGeom prst="rect">
            <a:avLst/>
          </a:prstGeom>
          <a:solidFill>
            <a:srgbClr val="162A41"/>
          </a:solidFill>
          <a:ln w="12700">
            <a:solidFill>
              <a:srgbClr val="1E3A5F"/>
            </a:solidFill>
            <a:prstDash val="solid"/>
          </a:ln>
        </p:spPr>
        <p:txBody>
          <a:bodyPr/>
          <a:lstStyle/>
          <a:p>
            <a:endParaRPr lang="en-IN"/>
          </a:p>
        </p:txBody>
      </p:sp>
      <p:sp>
        <p:nvSpPr>
          <p:cNvPr id="19" name="Text 17"/>
          <p:cNvSpPr/>
          <p:nvPr/>
        </p:nvSpPr>
        <p:spPr>
          <a:xfrm>
            <a:off x="502920" y="3547872"/>
            <a:ext cx="1828800" cy="32004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Dataset</a:t>
            </a:r>
            <a:endParaRPr lang="en-US" sz="1300" dirty="0"/>
          </a:p>
        </p:txBody>
      </p:sp>
      <p:sp>
        <p:nvSpPr>
          <p:cNvPr id="20" name="Text 18"/>
          <p:cNvSpPr/>
          <p:nvPr/>
        </p:nvSpPr>
        <p:spPr>
          <a:xfrm>
            <a:off x="502920" y="3858768"/>
            <a:ext cx="8229600" cy="731520"/>
          </a:xfrm>
          <a:prstGeom prst="rect">
            <a:avLst/>
          </a:prstGeom>
          <a:noFill/>
          <a:ln/>
        </p:spPr>
        <p:txBody>
          <a:bodyPr wrap="square" lIns="0" tIns="0" rIns="0" bIns="0" rtlCol="0" anchor="ctr"/>
          <a:lstStyle/>
          <a:p>
            <a:pPr marL="0" indent="0">
              <a:buNone/>
            </a:pPr>
            <a:r>
              <a:rPr lang="en-US" sz="1200" dirty="0">
                <a:solidFill>
                  <a:srgbClr val="DCE8F5"/>
                </a:solidFill>
                <a:latin typeface="Calibri" pitchFamily="34" charset="0"/>
                <a:ea typeface="Calibri" pitchFamily="34" charset="-122"/>
                <a:cs typeface="Calibri" pitchFamily="34" charset="-120"/>
              </a:rPr>
              <a:t>FitBit Fitness Tracker Dataset — real data from 30 Fitbit users who consented to share their personal tracker data covering steps, heart rate, sleep, calories, and activity intensity over 30 days (March–May 2016). Publicly available dataset used for academic research.</a:t>
            </a:r>
            <a:endParaRPr lang="en-US" sz="1200" dirty="0"/>
          </a:p>
        </p:txBody>
      </p:sp>
      <p:sp>
        <p:nvSpPr>
          <p:cNvPr id="21" name="Shape 19"/>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62A41"/>
          </a:solidFill>
          <a:ln w="12700">
            <a:solidFill>
              <a:srgbClr val="162A41"/>
            </a:solidFill>
            <a:prstDash val="solid"/>
          </a:ln>
        </p:spPr>
        <p:txBody>
          <a:bodyPr/>
          <a:lstStyle/>
          <a:p>
            <a:endParaRPr lang="en-IN"/>
          </a:p>
        </p:txBody>
      </p:sp>
      <p:sp>
        <p:nvSpPr>
          <p:cNvPr id="3" name="Shape 1"/>
          <p:cNvSpPr/>
          <p:nvPr/>
        </p:nvSpPr>
        <p:spPr>
          <a:xfrm>
            <a:off x="4114800" y="0"/>
            <a:ext cx="54864" cy="5143500"/>
          </a:xfrm>
          <a:prstGeom prst="rect">
            <a:avLst/>
          </a:prstGeom>
          <a:solidFill>
            <a:srgbClr val="A78BFA"/>
          </a:solidFill>
          <a:ln w="12700">
            <a:solidFill>
              <a:srgbClr val="A78BFA"/>
            </a:solidFill>
            <a:prstDash val="solid"/>
          </a:ln>
        </p:spPr>
        <p:txBody>
          <a:bodyPr/>
          <a:lstStyle/>
          <a:p>
            <a:endParaRPr lang="en-IN"/>
          </a:p>
        </p:txBody>
      </p:sp>
      <p:sp>
        <p:nvSpPr>
          <p:cNvPr id="4" name="Text 2"/>
          <p:cNvSpPr/>
          <p:nvPr/>
        </p:nvSpPr>
        <p:spPr>
          <a:xfrm>
            <a:off x="274320" y="1097280"/>
            <a:ext cx="3566160" cy="1371600"/>
          </a:xfrm>
          <a:prstGeom prst="rect">
            <a:avLst/>
          </a:prstGeom>
          <a:noFill/>
          <a:ln/>
        </p:spPr>
        <p:txBody>
          <a:bodyPr wrap="square" rtlCol="0" anchor="ctr"/>
          <a:lstStyle/>
          <a:p>
            <a:pPr marL="0" indent="0" algn="ctr">
              <a:buNone/>
            </a:pPr>
            <a:r>
              <a:rPr lang="en-US" sz="9600" b="1" dirty="0">
                <a:solidFill>
                  <a:srgbClr val="A78BFA">
                    <a:alpha val="70000"/>
                  </a:srgbClr>
                </a:solidFill>
                <a:latin typeface="Calibri" pitchFamily="34" charset="0"/>
                <a:ea typeface="Calibri" pitchFamily="34" charset="-122"/>
                <a:cs typeface="Calibri" pitchFamily="34" charset="-120"/>
              </a:rPr>
              <a:t>01</a:t>
            </a:r>
            <a:endParaRPr lang="en-US" sz="9600" dirty="0"/>
          </a:p>
        </p:txBody>
      </p:sp>
      <p:sp>
        <p:nvSpPr>
          <p:cNvPr id="5" name="Text 3"/>
          <p:cNvSpPr/>
          <p:nvPr/>
        </p:nvSpPr>
        <p:spPr>
          <a:xfrm>
            <a:off x="274320" y="2560320"/>
            <a:ext cx="356616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Milestone 1</a:t>
            </a:r>
            <a:endParaRPr lang="en-US" sz="2200" dirty="0"/>
          </a:p>
        </p:txBody>
      </p:sp>
      <p:sp>
        <p:nvSpPr>
          <p:cNvPr id="6" name="Text 4"/>
          <p:cNvSpPr/>
          <p:nvPr/>
        </p:nvSpPr>
        <p:spPr>
          <a:xfrm>
            <a:off x="274320" y="3063240"/>
            <a:ext cx="3566160" cy="731520"/>
          </a:xfrm>
          <a:prstGeom prst="rect">
            <a:avLst/>
          </a:prstGeom>
          <a:noFill/>
          <a:ln/>
        </p:spPr>
        <p:txBody>
          <a:bodyPr wrap="square" rtlCol="0" anchor="ctr"/>
          <a:lstStyle/>
          <a:p>
            <a:pPr marL="0" indent="0" algn="ctr">
              <a:buNone/>
            </a:pPr>
            <a:r>
              <a:rPr lang="en-US" sz="1400" dirty="0">
                <a:solidFill>
                  <a:srgbClr val="7A9ABB"/>
                </a:solidFill>
                <a:latin typeface="Calibri" pitchFamily="34" charset="0"/>
                <a:ea typeface="Calibri" pitchFamily="34" charset="-122"/>
                <a:cs typeface="Calibri" pitchFamily="34" charset="-120"/>
              </a:rPr>
              <a:t>Data Collection &amp;</a:t>
            </a:r>
            <a:endParaRPr lang="en-US" sz="1400" dirty="0"/>
          </a:p>
          <a:p>
            <a:pPr marL="0" indent="0" algn="ctr">
              <a:buNone/>
            </a:pPr>
            <a:r>
              <a:rPr lang="en-US" sz="1400" dirty="0">
                <a:solidFill>
                  <a:srgbClr val="7A9ABB"/>
                </a:solidFill>
                <a:latin typeface="Calibri" pitchFamily="34" charset="0"/>
                <a:ea typeface="Calibri" pitchFamily="34" charset="-122"/>
                <a:cs typeface="Calibri" pitchFamily="34" charset="-120"/>
              </a:rPr>
              <a:t>Preprocessing</a:t>
            </a:r>
            <a:endParaRPr lang="en-US" sz="1400" dirty="0"/>
          </a:p>
        </p:txBody>
      </p:sp>
      <p:sp>
        <p:nvSpPr>
          <p:cNvPr id="7" name="Shape 5"/>
          <p:cNvSpPr/>
          <p:nvPr/>
        </p:nvSpPr>
        <p:spPr>
          <a:xfrm>
            <a:off x="4572000" y="457200"/>
            <a:ext cx="502920" cy="502920"/>
          </a:xfrm>
          <a:prstGeom prst="rect">
            <a:avLst/>
          </a:prstGeom>
          <a:solidFill>
            <a:srgbClr val="A78BFA"/>
          </a:solidFill>
          <a:ln w="12700">
            <a:solidFill>
              <a:srgbClr val="A78BFA"/>
            </a:solidFill>
            <a:prstDash val="solid"/>
          </a:ln>
        </p:spPr>
        <p:txBody>
          <a:bodyPr/>
          <a:lstStyle/>
          <a:p>
            <a:endParaRPr lang="en-IN"/>
          </a:p>
        </p:txBody>
      </p:sp>
      <p:sp>
        <p:nvSpPr>
          <p:cNvPr id="8" name="Text 6"/>
          <p:cNvSpPr/>
          <p:nvPr/>
        </p:nvSpPr>
        <p:spPr>
          <a:xfrm>
            <a:off x="4572000" y="45720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5212080" y="47548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Upload CSV</a:t>
            </a:r>
            <a:endParaRPr lang="en-US" sz="1400" dirty="0"/>
          </a:p>
        </p:txBody>
      </p:sp>
      <p:sp>
        <p:nvSpPr>
          <p:cNvPr id="10" name="Text 8"/>
          <p:cNvSpPr/>
          <p:nvPr/>
        </p:nvSpPr>
        <p:spPr>
          <a:xfrm>
            <a:off x="5212080" y="71323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User uploads a fitness tracking CSV file</a:t>
            </a:r>
            <a:endParaRPr lang="en-US" sz="1100" dirty="0"/>
          </a:p>
        </p:txBody>
      </p:sp>
      <p:sp>
        <p:nvSpPr>
          <p:cNvPr id="11" name="Shape 9"/>
          <p:cNvSpPr/>
          <p:nvPr/>
        </p:nvSpPr>
        <p:spPr>
          <a:xfrm>
            <a:off x="4572000" y="1554480"/>
            <a:ext cx="502920" cy="502920"/>
          </a:xfrm>
          <a:prstGeom prst="rect">
            <a:avLst/>
          </a:prstGeom>
          <a:solidFill>
            <a:srgbClr val="A78BFA"/>
          </a:solidFill>
          <a:ln w="12700">
            <a:solidFill>
              <a:srgbClr val="A78BFA"/>
            </a:solidFill>
            <a:prstDash val="solid"/>
          </a:ln>
        </p:spPr>
        <p:txBody>
          <a:bodyPr/>
          <a:lstStyle/>
          <a:p>
            <a:endParaRPr lang="en-IN"/>
          </a:p>
        </p:txBody>
      </p:sp>
      <p:sp>
        <p:nvSpPr>
          <p:cNvPr id="12" name="Text 10"/>
          <p:cNvSpPr/>
          <p:nvPr/>
        </p:nvSpPr>
        <p:spPr>
          <a:xfrm>
            <a:off x="4572000" y="155448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212080" y="157276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Inspect</a:t>
            </a:r>
            <a:endParaRPr lang="en-US" sz="1400" dirty="0"/>
          </a:p>
        </p:txBody>
      </p:sp>
      <p:sp>
        <p:nvSpPr>
          <p:cNvPr id="14" name="Text 12"/>
          <p:cNvSpPr/>
          <p:nvPr/>
        </p:nvSpPr>
        <p:spPr>
          <a:xfrm>
            <a:off x="5212080" y="181051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Preview raw data, check missing values &amp; types</a:t>
            </a:r>
            <a:endParaRPr lang="en-US" sz="1100" dirty="0"/>
          </a:p>
        </p:txBody>
      </p:sp>
      <p:sp>
        <p:nvSpPr>
          <p:cNvPr id="15" name="Shape 13"/>
          <p:cNvSpPr/>
          <p:nvPr/>
        </p:nvSpPr>
        <p:spPr>
          <a:xfrm>
            <a:off x="4572000" y="2651760"/>
            <a:ext cx="502920" cy="502920"/>
          </a:xfrm>
          <a:prstGeom prst="rect">
            <a:avLst/>
          </a:prstGeom>
          <a:solidFill>
            <a:srgbClr val="A78BFA"/>
          </a:solidFill>
          <a:ln w="12700">
            <a:solidFill>
              <a:srgbClr val="A78BFA"/>
            </a:solidFill>
            <a:prstDash val="solid"/>
          </a:ln>
        </p:spPr>
        <p:txBody>
          <a:bodyPr/>
          <a:lstStyle/>
          <a:p>
            <a:endParaRPr lang="en-IN"/>
          </a:p>
        </p:txBody>
      </p:sp>
      <p:sp>
        <p:nvSpPr>
          <p:cNvPr id="16" name="Text 14"/>
          <p:cNvSpPr/>
          <p:nvPr/>
        </p:nvSpPr>
        <p:spPr>
          <a:xfrm>
            <a:off x="4572000" y="265176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5212080" y="267004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Clean</a:t>
            </a:r>
            <a:endParaRPr lang="en-US" sz="1400" dirty="0"/>
          </a:p>
        </p:txBody>
      </p:sp>
      <p:sp>
        <p:nvSpPr>
          <p:cNvPr id="18" name="Text 16"/>
          <p:cNvSpPr/>
          <p:nvPr/>
        </p:nvSpPr>
        <p:spPr>
          <a:xfrm>
            <a:off x="5212080" y="290779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Fix dates, interpolate numbers, fill categories</a:t>
            </a:r>
            <a:endParaRPr lang="en-US" sz="1100" dirty="0"/>
          </a:p>
        </p:txBody>
      </p:sp>
      <p:sp>
        <p:nvSpPr>
          <p:cNvPr id="19" name="Shape 17"/>
          <p:cNvSpPr/>
          <p:nvPr/>
        </p:nvSpPr>
        <p:spPr>
          <a:xfrm>
            <a:off x="4572000" y="3749040"/>
            <a:ext cx="502920" cy="502920"/>
          </a:xfrm>
          <a:prstGeom prst="rect">
            <a:avLst/>
          </a:prstGeom>
          <a:solidFill>
            <a:srgbClr val="A78BFA"/>
          </a:solidFill>
          <a:ln w="12700">
            <a:solidFill>
              <a:srgbClr val="A78BFA"/>
            </a:solidFill>
            <a:prstDash val="solid"/>
          </a:ln>
        </p:spPr>
        <p:txBody>
          <a:bodyPr/>
          <a:lstStyle/>
          <a:p>
            <a:endParaRPr lang="en-IN"/>
          </a:p>
        </p:txBody>
      </p:sp>
      <p:sp>
        <p:nvSpPr>
          <p:cNvPr id="20" name="Text 18"/>
          <p:cNvSpPr/>
          <p:nvPr/>
        </p:nvSpPr>
        <p:spPr>
          <a:xfrm>
            <a:off x="4572000" y="374904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12080" y="376732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Visualise</a:t>
            </a:r>
            <a:endParaRPr lang="en-US" sz="1400" dirty="0"/>
          </a:p>
        </p:txBody>
      </p:sp>
      <p:sp>
        <p:nvSpPr>
          <p:cNvPr id="22" name="Text 20"/>
          <p:cNvSpPr/>
          <p:nvPr/>
        </p:nvSpPr>
        <p:spPr>
          <a:xfrm>
            <a:off x="5212080" y="400507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Detect outliers with Box Plot &amp; Histogram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Milestone 1 — Key Features</a:t>
            </a:r>
            <a:endParaRPr lang="en-US" sz="2800" dirty="0"/>
          </a:p>
        </p:txBody>
      </p:sp>
      <p:sp>
        <p:nvSpPr>
          <p:cNvPr id="4" name="Shape 2"/>
          <p:cNvSpPr/>
          <p:nvPr/>
        </p:nvSpPr>
        <p:spPr>
          <a:xfrm>
            <a:off x="228600" y="914400"/>
            <a:ext cx="2834640" cy="3840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28600" y="914400"/>
            <a:ext cx="2834640" cy="411480"/>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200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Data Cleaning Engine</a:t>
            </a:r>
            <a:endParaRPr lang="en-US" sz="1200" dirty="0"/>
          </a:p>
        </p:txBody>
      </p:sp>
      <p:sp>
        <p:nvSpPr>
          <p:cNvPr id="7" name="Text 5"/>
          <p:cNvSpPr/>
          <p:nvPr/>
        </p:nvSpPr>
        <p:spPr>
          <a:xfrm>
            <a:off x="3383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Normalise date columns to proper format</a:t>
            </a:r>
            <a:endParaRPr lang="en-US" sz="1100" dirty="0"/>
          </a:p>
        </p:txBody>
      </p:sp>
      <p:sp>
        <p:nvSpPr>
          <p:cNvPr id="8" name="Text 6"/>
          <p:cNvSpPr/>
          <p:nvPr/>
        </p:nvSpPr>
        <p:spPr>
          <a:xfrm>
            <a:off x="3383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Interpolate missing numeric values (linear method)</a:t>
            </a:r>
            <a:endParaRPr lang="en-US" sz="1100" dirty="0"/>
          </a:p>
        </p:txBody>
      </p:sp>
      <p:sp>
        <p:nvSpPr>
          <p:cNvPr id="9" name="Text 7"/>
          <p:cNvSpPr/>
          <p:nvPr/>
        </p:nvSpPr>
        <p:spPr>
          <a:xfrm>
            <a:off x="3383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Fill empty text columns with 'Unknown'</a:t>
            </a:r>
            <a:endParaRPr lang="en-US" sz="1100" dirty="0"/>
          </a:p>
        </p:txBody>
      </p:sp>
      <p:sp>
        <p:nvSpPr>
          <p:cNvPr id="10" name="Text 8"/>
          <p:cNvSpPr/>
          <p:nvPr/>
        </p:nvSpPr>
        <p:spPr>
          <a:xfrm>
            <a:off x="3383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Download cleaned CSV after processing</a:t>
            </a:r>
            <a:endParaRPr lang="en-US" sz="1100" dirty="0"/>
          </a:p>
        </p:txBody>
      </p:sp>
      <p:sp>
        <p:nvSpPr>
          <p:cNvPr id="11" name="Shape 9"/>
          <p:cNvSpPr/>
          <p:nvPr/>
        </p:nvSpPr>
        <p:spPr>
          <a:xfrm>
            <a:off x="3200400" y="914400"/>
            <a:ext cx="2834640" cy="3840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10"/>
          <p:cNvSpPr/>
          <p:nvPr/>
        </p:nvSpPr>
        <p:spPr>
          <a:xfrm>
            <a:off x="3200400" y="914400"/>
            <a:ext cx="2834640" cy="411480"/>
          </a:xfrm>
          <a:prstGeom prst="rect">
            <a:avLst/>
          </a:prstGeom>
          <a:solidFill>
            <a:srgbClr val="38BDF8"/>
          </a:solidFill>
          <a:ln w="12700">
            <a:solidFill>
              <a:srgbClr val="38BDF8"/>
            </a:solidFill>
            <a:prstDash val="solid"/>
          </a:ln>
        </p:spPr>
        <p:txBody>
          <a:bodyPr/>
          <a:lstStyle/>
          <a:p>
            <a:endParaRPr lang="en-IN"/>
          </a:p>
        </p:txBody>
      </p:sp>
      <p:sp>
        <p:nvSpPr>
          <p:cNvPr id="13" name="Text 11"/>
          <p:cNvSpPr/>
          <p:nvPr/>
        </p:nvSpPr>
        <p:spPr>
          <a:xfrm>
            <a:off x="32918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Data Inspection</a:t>
            </a:r>
            <a:endParaRPr lang="en-US" sz="1200" dirty="0"/>
          </a:p>
        </p:txBody>
      </p:sp>
      <p:sp>
        <p:nvSpPr>
          <p:cNvPr id="14" name="Text 12"/>
          <p:cNvSpPr/>
          <p:nvPr/>
        </p:nvSpPr>
        <p:spPr>
          <a:xfrm>
            <a:off x="33101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Raw dataset preview — first 10 rows</a:t>
            </a:r>
            <a:endParaRPr lang="en-US" sz="1100" dirty="0"/>
          </a:p>
        </p:txBody>
      </p:sp>
      <p:sp>
        <p:nvSpPr>
          <p:cNvPr id="15" name="Text 13"/>
          <p:cNvSpPr/>
          <p:nvPr/>
        </p:nvSpPr>
        <p:spPr>
          <a:xfrm>
            <a:off x="33101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Missing values bar chart per column</a:t>
            </a:r>
            <a:endParaRPr lang="en-US" sz="1100" dirty="0"/>
          </a:p>
        </p:txBody>
      </p:sp>
      <p:sp>
        <p:nvSpPr>
          <p:cNvPr id="16" name="Text 14"/>
          <p:cNvSpPr/>
          <p:nvPr/>
        </p:nvSpPr>
        <p:spPr>
          <a:xfrm>
            <a:off x="33101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Data types table for all columns</a:t>
            </a:r>
            <a:endParaRPr lang="en-US" sz="1100" dirty="0"/>
          </a:p>
        </p:txBody>
      </p:sp>
      <p:sp>
        <p:nvSpPr>
          <p:cNvPr id="17" name="Text 15"/>
          <p:cNvSpPr/>
          <p:nvPr/>
        </p:nvSpPr>
        <p:spPr>
          <a:xfrm>
            <a:off x="33101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4 summary metrics — rows, columns, missing, completeness</a:t>
            </a:r>
            <a:endParaRPr lang="en-US" sz="1100" dirty="0"/>
          </a:p>
        </p:txBody>
      </p:sp>
      <p:sp>
        <p:nvSpPr>
          <p:cNvPr id="18" name="Shape 16"/>
          <p:cNvSpPr/>
          <p:nvPr/>
        </p:nvSpPr>
        <p:spPr>
          <a:xfrm>
            <a:off x="6172200" y="914400"/>
            <a:ext cx="2834640" cy="3840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6172200" y="914400"/>
            <a:ext cx="2834640" cy="411480"/>
          </a:xfrm>
          <a:prstGeom prst="rect">
            <a:avLst/>
          </a:prstGeom>
          <a:solidFill>
            <a:srgbClr val="10B981"/>
          </a:solidFill>
          <a:ln w="12700">
            <a:solidFill>
              <a:srgbClr val="10B981"/>
            </a:solidFill>
            <a:prstDash val="solid"/>
          </a:ln>
        </p:spPr>
        <p:txBody>
          <a:bodyPr/>
          <a:lstStyle/>
          <a:p>
            <a:endParaRPr lang="en-IN"/>
          </a:p>
        </p:txBody>
      </p:sp>
      <p:sp>
        <p:nvSpPr>
          <p:cNvPr id="20" name="Text 18"/>
          <p:cNvSpPr/>
          <p:nvPr/>
        </p:nvSpPr>
        <p:spPr>
          <a:xfrm>
            <a:off x="6263640" y="914400"/>
            <a:ext cx="26517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Outlier Detection</a:t>
            </a:r>
            <a:endParaRPr lang="en-US" sz="1200" dirty="0"/>
          </a:p>
        </p:txBody>
      </p:sp>
      <p:sp>
        <p:nvSpPr>
          <p:cNvPr id="21" name="Text 19"/>
          <p:cNvSpPr/>
          <p:nvPr/>
        </p:nvSpPr>
        <p:spPr>
          <a:xfrm>
            <a:off x="6281928" y="1417320"/>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IQR method — Q1, Q3, and 1.5×IQR rule</a:t>
            </a:r>
            <a:endParaRPr lang="en-US" sz="1100" dirty="0"/>
          </a:p>
        </p:txBody>
      </p:sp>
      <p:sp>
        <p:nvSpPr>
          <p:cNvPr id="22" name="Text 20"/>
          <p:cNvSpPr/>
          <p:nvPr/>
        </p:nvSpPr>
        <p:spPr>
          <a:xfrm>
            <a:off x="6281928" y="2075688"/>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Box plot — shows normal range and outlier dots</a:t>
            </a:r>
            <a:endParaRPr lang="en-US" sz="1100" dirty="0"/>
          </a:p>
        </p:txBody>
      </p:sp>
      <p:sp>
        <p:nvSpPr>
          <p:cNvPr id="23" name="Text 21"/>
          <p:cNvSpPr/>
          <p:nvPr/>
        </p:nvSpPr>
        <p:spPr>
          <a:xfrm>
            <a:off x="6281928" y="2734056"/>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Histogram — frequency distribution with outlier zones</a:t>
            </a:r>
            <a:endParaRPr lang="en-US" sz="1100" dirty="0"/>
          </a:p>
        </p:txBody>
      </p:sp>
      <p:sp>
        <p:nvSpPr>
          <p:cNvPr id="24" name="Text 22"/>
          <p:cNvSpPr/>
          <p:nvPr/>
        </p:nvSpPr>
        <p:spPr>
          <a:xfrm>
            <a:off x="6281928" y="3392424"/>
            <a:ext cx="260604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Mean and Median reference lines on histogram</a:t>
            </a:r>
            <a:endParaRPr lang="en-US" sz="1100" dirty="0"/>
          </a:p>
        </p:txBody>
      </p:sp>
      <p:sp>
        <p:nvSpPr>
          <p:cNvPr id="25" name="Shape 23"/>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DF6C618-3A7C-A3EC-7D50-B7264155C0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785BE-203D-6220-879F-C3C9D9044EC3}"/>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40487EF7-E813-5FA0-EC59-DCDEF0576945}"/>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File Upload:</a:t>
            </a:r>
          </a:p>
          <a:p>
            <a:pPr marL="0" indent="0">
              <a:buNone/>
            </a:pPr>
            <a:endParaRPr lang="en-US" sz="2800" dirty="0"/>
          </a:p>
        </p:txBody>
      </p:sp>
      <p:sp>
        <p:nvSpPr>
          <p:cNvPr id="25" name="Shape 23">
            <a:extLst>
              <a:ext uri="{FF2B5EF4-FFF2-40B4-BE49-F238E27FC236}">
                <a16:creationId xmlns:a16="http://schemas.microsoft.com/office/drawing/2014/main" id="{F7A8E021-6AAF-F62A-2317-993376FCBC3C}"/>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27" name="Picture 26">
            <a:extLst>
              <a:ext uri="{FF2B5EF4-FFF2-40B4-BE49-F238E27FC236}">
                <a16:creationId xmlns:a16="http://schemas.microsoft.com/office/drawing/2014/main" id="{7C4E322A-13D5-7943-2F68-7E5EFC774E72}"/>
              </a:ext>
            </a:extLst>
          </p:cNvPr>
          <p:cNvPicPr>
            <a:picLocks noChangeAspect="1"/>
          </p:cNvPicPr>
          <p:nvPr/>
        </p:nvPicPr>
        <p:blipFill>
          <a:blip r:embed="rId3"/>
          <a:stretch>
            <a:fillRect/>
          </a:stretch>
        </p:blipFill>
        <p:spPr>
          <a:xfrm>
            <a:off x="1460664" y="1365422"/>
            <a:ext cx="6412675" cy="3437303"/>
          </a:xfrm>
          <a:prstGeom prst="rect">
            <a:avLst/>
          </a:prstGeom>
        </p:spPr>
      </p:pic>
    </p:spTree>
    <p:extLst>
      <p:ext uri="{BB962C8B-B14F-4D97-AF65-F5344CB8AC3E}">
        <p14:creationId xmlns:p14="http://schemas.microsoft.com/office/powerpoint/2010/main" val="2890411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3A11501-2EEA-E2A5-34E5-1B7A942039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56DC6B-1A0A-8E02-37D9-7E35876AA635}"/>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9D36F246-C1BD-F009-F698-18C1B241A07C}"/>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Cleaned Dataset Preview: </a:t>
            </a:r>
          </a:p>
          <a:p>
            <a:pPr marL="0" indent="0">
              <a:buNone/>
            </a:pPr>
            <a:endParaRPr lang="en-US" sz="2800" dirty="0"/>
          </a:p>
        </p:txBody>
      </p:sp>
      <p:sp>
        <p:nvSpPr>
          <p:cNvPr id="25" name="Shape 23">
            <a:extLst>
              <a:ext uri="{FF2B5EF4-FFF2-40B4-BE49-F238E27FC236}">
                <a16:creationId xmlns:a16="http://schemas.microsoft.com/office/drawing/2014/main" id="{C706BE60-32BB-258A-B977-5F22374A3A52}"/>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8C5020FA-404D-A749-3E9B-23815BF51928}"/>
              </a:ext>
            </a:extLst>
          </p:cNvPr>
          <p:cNvPicPr>
            <a:picLocks noChangeAspect="1"/>
          </p:cNvPicPr>
          <p:nvPr/>
        </p:nvPicPr>
        <p:blipFill>
          <a:blip r:embed="rId3"/>
          <a:stretch>
            <a:fillRect/>
          </a:stretch>
        </p:blipFill>
        <p:spPr>
          <a:xfrm>
            <a:off x="1384069" y="1361328"/>
            <a:ext cx="6347361" cy="3393502"/>
          </a:xfrm>
          <a:prstGeom prst="rect">
            <a:avLst/>
          </a:prstGeom>
        </p:spPr>
      </p:pic>
    </p:spTree>
    <p:extLst>
      <p:ext uri="{BB962C8B-B14F-4D97-AF65-F5344CB8AC3E}">
        <p14:creationId xmlns:p14="http://schemas.microsoft.com/office/powerpoint/2010/main" val="3701883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62A41"/>
          </a:solidFill>
          <a:ln w="12700">
            <a:solidFill>
              <a:srgbClr val="162A41"/>
            </a:solidFill>
            <a:prstDash val="solid"/>
          </a:ln>
        </p:spPr>
        <p:txBody>
          <a:bodyPr/>
          <a:lstStyle/>
          <a:p>
            <a:endParaRPr lang="en-IN"/>
          </a:p>
        </p:txBody>
      </p:sp>
      <p:sp>
        <p:nvSpPr>
          <p:cNvPr id="3" name="Shape 1"/>
          <p:cNvSpPr/>
          <p:nvPr/>
        </p:nvSpPr>
        <p:spPr>
          <a:xfrm>
            <a:off x="4114800" y="0"/>
            <a:ext cx="54864" cy="5143500"/>
          </a:xfrm>
          <a:prstGeom prst="rect">
            <a:avLst/>
          </a:prstGeom>
          <a:solidFill>
            <a:srgbClr val="38BDF8"/>
          </a:solidFill>
          <a:ln w="12700">
            <a:solidFill>
              <a:srgbClr val="38BDF8"/>
            </a:solidFill>
            <a:prstDash val="solid"/>
          </a:ln>
        </p:spPr>
        <p:txBody>
          <a:bodyPr/>
          <a:lstStyle/>
          <a:p>
            <a:endParaRPr lang="en-IN"/>
          </a:p>
        </p:txBody>
      </p:sp>
      <p:sp>
        <p:nvSpPr>
          <p:cNvPr id="4" name="Text 2"/>
          <p:cNvSpPr/>
          <p:nvPr/>
        </p:nvSpPr>
        <p:spPr>
          <a:xfrm>
            <a:off x="274320" y="1097280"/>
            <a:ext cx="3566160" cy="1371600"/>
          </a:xfrm>
          <a:prstGeom prst="rect">
            <a:avLst/>
          </a:prstGeom>
          <a:noFill/>
          <a:ln/>
        </p:spPr>
        <p:txBody>
          <a:bodyPr wrap="square" rtlCol="0" anchor="ctr"/>
          <a:lstStyle/>
          <a:p>
            <a:pPr marL="0" indent="0" algn="ctr">
              <a:buNone/>
            </a:pPr>
            <a:r>
              <a:rPr lang="en-US" sz="9600" b="1" dirty="0">
                <a:solidFill>
                  <a:srgbClr val="38BDF8">
                    <a:alpha val="70000"/>
                  </a:srgbClr>
                </a:solidFill>
                <a:latin typeface="Calibri" pitchFamily="34" charset="0"/>
                <a:ea typeface="Calibri" pitchFamily="34" charset="-122"/>
                <a:cs typeface="Calibri" pitchFamily="34" charset="-120"/>
              </a:rPr>
              <a:t>02</a:t>
            </a:r>
            <a:endParaRPr lang="en-US" sz="9600" dirty="0"/>
          </a:p>
        </p:txBody>
      </p:sp>
      <p:sp>
        <p:nvSpPr>
          <p:cNvPr id="5" name="Text 3"/>
          <p:cNvSpPr/>
          <p:nvPr/>
        </p:nvSpPr>
        <p:spPr>
          <a:xfrm>
            <a:off x="274320" y="2560320"/>
            <a:ext cx="356616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Milestone 2</a:t>
            </a:r>
            <a:endParaRPr lang="en-US" sz="2200" dirty="0"/>
          </a:p>
        </p:txBody>
      </p:sp>
      <p:sp>
        <p:nvSpPr>
          <p:cNvPr id="6" name="Text 4"/>
          <p:cNvSpPr/>
          <p:nvPr/>
        </p:nvSpPr>
        <p:spPr>
          <a:xfrm>
            <a:off x="274320" y="3063240"/>
            <a:ext cx="3566160" cy="731520"/>
          </a:xfrm>
          <a:prstGeom prst="rect">
            <a:avLst/>
          </a:prstGeom>
          <a:noFill/>
          <a:ln/>
        </p:spPr>
        <p:txBody>
          <a:bodyPr wrap="square" rtlCol="0" anchor="ctr"/>
          <a:lstStyle/>
          <a:p>
            <a:pPr marL="0" indent="0" algn="ctr">
              <a:buNone/>
            </a:pPr>
            <a:r>
              <a:rPr lang="en-US" sz="1400" dirty="0">
                <a:solidFill>
                  <a:srgbClr val="7A9ABB"/>
                </a:solidFill>
                <a:latin typeface="Calibri" pitchFamily="34" charset="0"/>
                <a:ea typeface="Calibri" pitchFamily="34" charset="-122"/>
                <a:cs typeface="Calibri" pitchFamily="34" charset="-120"/>
              </a:rPr>
              <a:t>Feature Extraction</a:t>
            </a:r>
            <a:endParaRPr lang="en-US" sz="1400" dirty="0"/>
          </a:p>
          <a:p>
            <a:pPr marL="0" indent="0" algn="ctr">
              <a:buNone/>
            </a:pPr>
            <a:r>
              <a:rPr lang="en-US" sz="1400" dirty="0">
                <a:solidFill>
                  <a:srgbClr val="7A9ABB"/>
                </a:solidFill>
                <a:latin typeface="Calibri" pitchFamily="34" charset="0"/>
                <a:ea typeface="Calibri" pitchFamily="34" charset="-122"/>
                <a:cs typeface="Calibri" pitchFamily="34" charset="-120"/>
              </a:rPr>
              <a:t>&amp; Modelling</a:t>
            </a:r>
            <a:endParaRPr lang="en-US" sz="1400" dirty="0"/>
          </a:p>
        </p:txBody>
      </p:sp>
      <p:sp>
        <p:nvSpPr>
          <p:cNvPr id="7" name="Shape 5"/>
          <p:cNvSpPr/>
          <p:nvPr/>
        </p:nvSpPr>
        <p:spPr>
          <a:xfrm>
            <a:off x="4572000" y="457200"/>
            <a:ext cx="502920" cy="502920"/>
          </a:xfrm>
          <a:prstGeom prst="rect">
            <a:avLst/>
          </a:prstGeom>
          <a:solidFill>
            <a:srgbClr val="38BDF8"/>
          </a:solidFill>
          <a:ln w="12700">
            <a:solidFill>
              <a:srgbClr val="38BDF8"/>
            </a:solidFill>
            <a:prstDash val="solid"/>
          </a:ln>
        </p:spPr>
        <p:txBody>
          <a:bodyPr/>
          <a:lstStyle/>
          <a:p>
            <a:endParaRPr lang="en-IN"/>
          </a:p>
        </p:txBody>
      </p:sp>
      <p:sp>
        <p:nvSpPr>
          <p:cNvPr id="8" name="Text 6"/>
          <p:cNvSpPr/>
          <p:nvPr/>
        </p:nvSpPr>
        <p:spPr>
          <a:xfrm>
            <a:off x="4572000" y="45720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5212080" y="47548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5 Files Merged</a:t>
            </a:r>
            <a:endParaRPr lang="en-US" sz="1400" dirty="0"/>
          </a:p>
        </p:txBody>
      </p:sp>
      <p:sp>
        <p:nvSpPr>
          <p:cNvPr id="10" name="Text 8"/>
          <p:cNvSpPr/>
          <p:nvPr/>
        </p:nvSpPr>
        <p:spPr>
          <a:xfrm>
            <a:off x="5212080" y="71323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Daily activity, heart rate, sleep, steps, intensity</a:t>
            </a:r>
            <a:endParaRPr lang="en-US" sz="1100" dirty="0"/>
          </a:p>
        </p:txBody>
      </p:sp>
      <p:sp>
        <p:nvSpPr>
          <p:cNvPr id="11" name="Shape 9"/>
          <p:cNvSpPr/>
          <p:nvPr/>
        </p:nvSpPr>
        <p:spPr>
          <a:xfrm>
            <a:off x="4572000" y="1554480"/>
            <a:ext cx="502920" cy="502920"/>
          </a:xfrm>
          <a:prstGeom prst="rect">
            <a:avLst/>
          </a:prstGeom>
          <a:solidFill>
            <a:srgbClr val="38BDF8"/>
          </a:solidFill>
          <a:ln w="12700">
            <a:solidFill>
              <a:srgbClr val="38BDF8"/>
            </a:solidFill>
            <a:prstDash val="solid"/>
          </a:ln>
        </p:spPr>
        <p:txBody>
          <a:bodyPr/>
          <a:lstStyle/>
          <a:p>
            <a:endParaRPr lang="en-IN"/>
          </a:p>
        </p:txBody>
      </p:sp>
      <p:sp>
        <p:nvSpPr>
          <p:cNvPr id="12" name="Text 10"/>
          <p:cNvSpPr/>
          <p:nvPr/>
        </p:nvSpPr>
        <p:spPr>
          <a:xfrm>
            <a:off x="4572000" y="155448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212080" y="157276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TSFresh</a:t>
            </a:r>
            <a:endParaRPr lang="en-US" sz="1400" dirty="0"/>
          </a:p>
        </p:txBody>
      </p:sp>
      <p:sp>
        <p:nvSpPr>
          <p:cNvPr id="14" name="Text 12"/>
          <p:cNvSpPr/>
          <p:nvPr/>
        </p:nvSpPr>
        <p:spPr>
          <a:xfrm>
            <a:off x="5212080" y="181051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Extract 10 features from 196K+ heart rate readings</a:t>
            </a:r>
            <a:endParaRPr lang="en-US" sz="1100" dirty="0"/>
          </a:p>
        </p:txBody>
      </p:sp>
      <p:sp>
        <p:nvSpPr>
          <p:cNvPr id="15" name="Shape 13"/>
          <p:cNvSpPr/>
          <p:nvPr/>
        </p:nvSpPr>
        <p:spPr>
          <a:xfrm>
            <a:off x="4572000" y="2651760"/>
            <a:ext cx="502920" cy="502920"/>
          </a:xfrm>
          <a:prstGeom prst="rect">
            <a:avLst/>
          </a:prstGeom>
          <a:solidFill>
            <a:srgbClr val="38BDF8"/>
          </a:solidFill>
          <a:ln w="12700">
            <a:solidFill>
              <a:srgbClr val="38BDF8"/>
            </a:solidFill>
            <a:prstDash val="solid"/>
          </a:ln>
        </p:spPr>
        <p:txBody>
          <a:bodyPr/>
          <a:lstStyle/>
          <a:p>
            <a:endParaRPr lang="en-IN"/>
          </a:p>
        </p:txBody>
      </p:sp>
      <p:sp>
        <p:nvSpPr>
          <p:cNvPr id="16" name="Text 14"/>
          <p:cNvSpPr/>
          <p:nvPr/>
        </p:nvSpPr>
        <p:spPr>
          <a:xfrm>
            <a:off x="4572000" y="265176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5212080" y="267004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Prophet Forecast</a:t>
            </a:r>
            <a:endParaRPr lang="en-US" sz="1400" dirty="0"/>
          </a:p>
        </p:txBody>
      </p:sp>
      <p:sp>
        <p:nvSpPr>
          <p:cNvPr id="18" name="Text 16"/>
          <p:cNvSpPr/>
          <p:nvPr/>
        </p:nvSpPr>
        <p:spPr>
          <a:xfrm>
            <a:off x="5212080" y="290779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Predict next 30 days — heart rate, steps, sleep</a:t>
            </a:r>
            <a:endParaRPr lang="en-US" sz="1100" dirty="0"/>
          </a:p>
        </p:txBody>
      </p:sp>
      <p:sp>
        <p:nvSpPr>
          <p:cNvPr id="19" name="Shape 17"/>
          <p:cNvSpPr/>
          <p:nvPr/>
        </p:nvSpPr>
        <p:spPr>
          <a:xfrm>
            <a:off x="4572000" y="3749040"/>
            <a:ext cx="502920" cy="502920"/>
          </a:xfrm>
          <a:prstGeom prst="rect">
            <a:avLst/>
          </a:prstGeom>
          <a:solidFill>
            <a:srgbClr val="38BDF8"/>
          </a:solidFill>
          <a:ln w="12700">
            <a:solidFill>
              <a:srgbClr val="38BDF8"/>
            </a:solidFill>
            <a:prstDash val="solid"/>
          </a:ln>
        </p:spPr>
        <p:txBody>
          <a:bodyPr/>
          <a:lstStyle/>
          <a:p>
            <a:endParaRPr lang="en-IN"/>
          </a:p>
        </p:txBody>
      </p:sp>
      <p:sp>
        <p:nvSpPr>
          <p:cNvPr id="20" name="Text 18"/>
          <p:cNvSpPr/>
          <p:nvPr/>
        </p:nvSpPr>
        <p:spPr>
          <a:xfrm>
            <a:off x="4572000" y="3749040"/>
            <a:ext cx="502920" cy="502920"/>
          </a:xfrm>
          <a:prstGeom prst="rect">
            <a:avLst/>
          </a:prstGeom>
          <a:noFill/>
          <a:ln/>
        </p:spPr>
        <p:txBody>
          <a:bodyPr wrap="square"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12080" y="376732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Clustering</a:t>
            </a:r>
            <a:endParaRPr lang="en-US" sz="1400" dirty="0"/>
          </a:p>
        </p:txBody>
      </p:sp>
      <p:sp>
        <p:nvSpPr>
          <p:cNvPr id="22" name="Text 20"/>
          <p:cNvSpPr/>
          <p:nvPr/>
        </p:nvSpPr>
        <p:spPr>
          <a:xfrm>
            <a:off x="5212080" y="400507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KMeans + DBSCAN + PCA + t-SNE group visualisation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8BDF8"/>
          </a:solidFill>
          <a:ln w="12700">
            <a:solidFill>
              <a:srgbClr val="38BDF8"/>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Milestone 2 — Data Pipeline &amp; Feature Extraction</a:t>
            </a:r>
            <a:endParaRPr lang="en-US" sz="2400" dirty="0"/>
          </a:p>
        </p:txBody>
      </p:sp>
      <p:sp>
        <p:nvSpPr>
          <p:cNvPr id="4" name="Text 2"/>
          <p:cNvSpPr/>
          <p:nvPr/>
        </p:nvSpPr>
        <p:spPr>
          <a:xfrm>
            <a:off x="365760" y="777240"/>
            <a:ext cx="4114800" cy="320040"/>
          </a:xfrm>
          <a:prstGeom prst="rect">
            <a:avLst/>
          </a:prstGeom>
          <a:noFill/>
          <a:ln/>
        </p:spPr>
        <p:txBody>
          <a:bodyPr wrap="square" lIns="0" tIns="0" rIns="0" bIns="0"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5 Input Files</a:t>
            </a:r>
            <a:endParaRPr lang="en-US" sz="1400" dirty="0"/>
          </a:p>
        </p:txBody>
      </p:sp>
      <p:sp>
        <p:nvSpPr>
          <p:cNvPr id="5" name="Shape 3"/>
          <p:cNvSpPr/>
          <p:nvPr/>
        </p:nvSpPr>
        <p:spPr>
          <a:xfrm>
            <a:off x="274320" y="1143000"/>
            <a:ext cx="73152" cy="457200"/>
          </a:xfrm>
          <a:prstGeom prst="rect">
            <a:avLst/>
          </a:prstGeom>
          <a:solidFill>
            <a:srgbClr val="A78BFA"/>
          </a:solidFill>
          <a:ln w="12700">
            <a:solidFill>
              <a:srgbClr val="A78BFA"/>
            </a:solidFill>
            <a:prstDash val="solid"/>
          </a:ln>
        </p:spPr>
        <p:txBody>
          <a:bodyPr/>
          <a:lstStyle/>
          <a:p>
            <a:endParaRPr lang="en-IN"/>
          </a:p>
        </p:txBody>
      </p:sp>
      <p:sp>
        <p:nvSpPr>
          <p:cNvPr id="6" name="Shape 4"/>
          <p:cNvSpPr/>
          <p:nvPr/>
        </p:nvSpPr>
        <p:spPr>
          <a:xfrm>
            <a:off x="411480" y="1143000"/>
            <a:ext cx="3749040" cy="457200"/>
          </a:xfrm>
          <a:prstGeom prst="rect">
            <a:avLst/>
          </a:prstGeom>
          <a:solidFill>
            <a:srgbClr val="162A41"/>
          </a:solidFill>
          <a:ln w="12700">
            <a:solidFill>
              <a:srgbClr val="1E3A5F"/>
            </a:solidFill>
            <a:prstDash val="solid"/>
          </a:ln>
        </p:spPr>
        <p:txBody>
          <a:bodyPr/>
          <a:lstStyle/>
          <a:p>
            <a:endParaRPr lang="en-IN"/>
          </a:p>
        </p:txBody>
      </p:sp>
      <p:sp>
        <p:nvSpPr>
          <p:cNvPr id="7" name="Text 5"/>
          <p:cNvSpPr/>
          <p:nvPr/>
        </p:nvSpPr>
        <p:spPr>
          <a:xfrm>
            <a:off x="548640" y="1179576"/>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Daily Activity</a:t>
            </a:r>
            <a:endParaRPr lang="en-US" sz="1200" dirty="0"/>
          </a:p>
        </p:txBody>
      </p:sp>
      <p:sp>
        <p:nvSpPr>
          <p:cNvPr id="8" name="Text 6"/>
          <p:cNvSpPr/>
          <p:nvPr/>
        </p:nvSpPr>
        <p:spPr>
          <a:xfrm>
            <a:off x="548640" y="1371600"/>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Steps, calories, distance per day</a:t>
            </a:r>
            <a:endParaRPr lang="en-US" sz="1000" dirty="0"/>
          </a:p>
        </p:txBody>
      </p:sp>
      <p:sp>
        <p:nvSpPr>
          <p:cNvPr id="9" name="Shape 7"/>
          <p:cNvSpPr/>
          <p:nvPr/>
        </p:nvSpPr>
        <p:spPr>
          <a:xfrm>
            <a:off x="274320" y="1892808"/>
            <a:ext cx="73152" cy="457200"/>
          </a:xfrm>
          <a:prstGeom prst="rect">
            <a:avLst/>
          </a:prstGeom>
          <a:solidFill>
            <a:srgbClr val="38BDF8"/>
          </a:solidFill>
          <a:ln w="12700">
            <a:solidFill>
              <a:srgbClr val="38BDF8"/>
            </a:solidFill>
            <a:prstDash val="solid"/>
          </a:ln>
        </p:spPr>
        <p:txBody>
          <a:bodyPr/>
          <a:lstStyle/>
          <a:p>
            <a:endParaRPr lang="en-IN"/>
          </a:p>
        </p:txBody>
      </p:sp>
      <p:sp>
        <p:nvSpPr>
          <p:cNvPr id="10" name="Shape 8"/>
          <p:cNvSpPr/>
          <p:nvPr/>
        </p:nvSpPr>
        <p:spPr>
          <a:xfrm>
            <a:off x="411480" y="1892808"/>
            <a:ext cx="3749040" cy="457200"/>
          </a:xfrm>
          <a:prstGeom prst="rect">
            <a:avLst/>
          </a:prstGeom>
          <a:solidFill>
            <a:srgbClr val="162A41"/>
          </a:solidFill>
          <a:ln w="12700">
            <a:solidFill>
              <a:srgbClr val="1E3A5F"/>
            </a:solidFill>
            <a:prstDash val="solid"/>
          </a:ln>
        </p:spPr>
        <p:txBody>
          <a:bodyPr/>
          <a:lstStyle/>
          <a:p>
            <a:endParaRPr lang="en-IN"/>
          </a:p>
        </p:txBody>
      </p:sp>
      <p:sp>
        <p:nvSpPr>
          <p:cNvPr id="11" name="Text 9"/>
          <p:cNvSpPr/>
          <p:nvPr/>
        </p:nvSpPr>
        <p:spPr>
          <a:xfrm>
            <a:off x="548640" y="1929384"/>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Heart Rate</a:t>
            </a:r>
            <a:endParaRPr lang="en-US" sz="1200" dirty="0"/>
          </a:p>
        </p:txBody>
      </p:sp>
      <p:sp>
        <p:nvSpPr>
          <p:cNvPr id="12" name="Text 10"/>
          <p:cNvSpPr/>
          <p:nvPr/>
        </p:nvSpPr>
        <p:spPr>
          <a:xfrm>
            <a:off x="548640" y="2121408"/>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Readings every few seconds</a:t>
            </a:r>
            <a:endParaRPr lang="en-US" sz="1000" dirty="0"/>
          </a:p>
        </p:txBody>
      </p:sp>
      <p:sp>
        <p:nvSpPr>
          <p:cNvPr id="13" name="Shape 11"/>
          <p:cNvSpPr/>
          <p:nvPr/>
        </p:nvSpPr>
        <p:spPr>
          <a:xfrm>
            <a:off x="274320" y="2642616"/>
            <a:ext cx="73152" cy="457200"/>
          </a:xfrm>
          <a:prstGeom prst="rect">
            <a:avLst/>
          </a:prstGeom>
          <a:solidFill>
            <a:srgbClr val="10B981"/>
          </a:solidFill>
          <a:ln w="12700">
            <a:solidFill>
              <a:srgbClr val="10B981"/>
            </a:solidFill>
            <a:prstDash val="solid"/>
          </a:ln>
        </p:spPr>
        <p:txBody>
          <a:bodyPr/>
          <a:lstStyle/>
          <a:p>
            <a:endParaRPr lang="en-IN"/>
          </a:p>
        </p:txBody>
      </p:sp>
      <p:sp>
        <p:nvSpPr>
          <p:cNvPr id="14" name="Shape 12"/>
          <p:cNvSpPr/>
          <p:nvPr/>
        </p:nvSpPr>
        <p:spPr>
          <a:xfrm>
            <a:off x="411480" y="2642616"/>
            <a:ext cx="3749040" cy="457200"/>
          </a:xfrm>
          <a:prstGeom prst="rect">
            <a:avLst/>
          </a:prstGeom>
          <a:solidFill>
            <a:srgbClr val="162A41"/>
          </a:solidFill>
          <a:ln w="12700">
            <a:solidFill>
              <a:srgbClr val="1E3A5F"/>
            </a:solidFill>
            <a:prstDash val="solid"/>
          </a:ln>
        </p:spPr>
        <p:txBody>
          <a:bodyPr/>
          <a:lstStyle/>
          <a:p>
            <a:endParaRPr lang="en-IN"/>
          </a:p>
        </p:txBody>
      </p:sp>
      <p:sp>
        <p:nvSpPr>
          <p:cNvPr id="15" name="Text 13"/>
          <p:cNvSpPr/>
          <p:nvPr/>
        </p:nvSpPr>
        <p:spPr>
          <a:xfrm>
            <a:off x="548640" y="2679192"/>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Hourly Intensities</a:t>
            </a:r>
            <a:endParaRPr lang="en-US" sz="1200" dirty="0"/>
          </a:p>
        </p:txBody>
      </p:sp>
      <p:sp>
        <p:nvSpPr>
          <p:cNvPr id="16" name="Text 14"/>
          <p:cNvSpPr/>
          <p:nvPr/>
        </p:nvSpPr>
        <p:spPr>
          <a:xfrm>
            <a:off x="548640" y="2871216"/>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Activity intensity each hour</a:t>
            </a:r>
            <a:endParaRPr lang="en-US" sz="1000" dirty="0"/>
          </a:p>
        </p:txBody>
      </p:sp>
      <p:sp>
        <p:nvSpPr>
          <p:cNvPr id="17" name="Shape 15"/>
          <p:cNvSpPr/>
          <p:nvPr/>
        </p:nvSpPr>
        <p:spPr>
          <a:xfrm>
            <a:off x="274320" y="3392424"/>
            <a:ext cx="73152" cy="457200"/>
          </a:xfrm>
          <a:prstGeom prst="rect">
            <a:avLst/>
          </a:prstGeom>
          <a:solidFill>
            <a:srgbClr val="F59E0B"/>
          </a:solidFill>
          <a:ln w="12700">
            <a:solidFill>
              <a:srgbClr val="F59E0B"/>
            </a:solidFill>
            <a:prstDash val="solid"/>
          </a:ln>
        </p:spPr>
        <p:txBody>
          <a:bodyPr/>
          <a:lstStyle/>
          <a:p>
            <a:endParaRPr lang="en-IN"/>
          </a:p>
        </p:txBody>
      </p:sp>
      <p:sp>
        <p:nvSpPr>
          <p:cNvPr id="18" name="Shape 16"/>
          <p:cNvSpPr/>
          <p:nvPr/>
        </p:nvSpPr>
        <p:spPr>
          <a:xfrm>
            <a:off x="411480" y="3392424"/>
            <a:ext cx="3749040" cy="457200"/>
          </a:xfrm>
          <a:prstGeom prst="rect">
            <a:avLst/>
          </a:prstGeom>
          <a:solidFill>
            <a:srgbClr val="162A41"/>
          </a:solidFill>
          <a:ln w="12700">
            <a:solidFill>
              <a:srgbClr val="1E3A5F"/>
            </a:solidFill>
            <a:prstDash val="solid"/>
          </a:ln>
        </p:spPr>
        <p:txBody>
          <a:bodyPr/>
          <a:lstStyle/>
          <a:p>
            <a:endParaRPr lang="en-IN"/>
          </a:p>
        </p:txBody>
      </p:sp>
      <p:sp>
        <p:nvSpPr>
          <p:cNvPr id="19" name="Text 17"/>
          <p:cNvSpPr/>
          <p:nvPr/>
        </p:nvSpPr>
        <p:spPr>
          <a:xfrm>
            <a:off x="548640" y="3429000"/>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Hourly Steps</a:t>
            </a:r>
            <a:endParaRPr lang="en-US" sz="1200" dirty="0"/>
          </a:p>
        </p:txBody>
      </p:sp>
      <p:sp>
        <p:nvSpPr>
          <p:cNvPr id="20" name="Text 18"/>
          <p:cNvSpPr/>
          <p:nvPr/>
        </p:nvSpPr>
        <p:spPr>
          <a:xfrm>
            <a:off x="548640" y="3621024"/>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Step count each hour</a:t>
            </a:r>
            <a:endParaRPr lang="en-US" sz="1000" dirty="0"/>
          </a:p>
        </p:txBody>
      </p:sp>
      <p:sp>
        <p:nvSpPr>
          <p:cNvPr id="21" name="Shape 19"/>
          <p:cNvSpPr/>
          <p:nvPr/>
        </p:nvSpPr>
        <p:spPr>
          <a:xfrm>
            <a:off x="274320" y="4142232"/>
            <a:ext cx="73152" cy="457200"/>
          </a:xfrm>
          <a:prstGeom prst="rect">
            <a:avLst/>
          </a:prstGeom>
          <a:solidFill>
            <a:srgbClr val="6366F1"/>
          </a:solidFill>
          <a:ln w="12700">
            <a:solidFill>
              <a:srgbClr val="6366F1"/>
            </a:solidFill>
            <a:prstDash val="solid"/>
          </a:ln>
        </p:spPr>
        <p:txBody>
          <a:bodyPr/>
          <a:lstStyle/>
          <a:p>
            <a:endParaRPr lang="en-IN"/>
          </a:p>
        </p:txBody>
      </p:sp>
      <p:sp>
        <p:nvSpPr>
          <p:cNvPr id="22" name="Shape 20"/>
          <p:cNvSpPr/>
          <p:nvPr/>
        </p:nvSpPr>
        <p:spPr>
          <a:xfrm>
            <a:off x="411480" y="4142232"/>
            <a:ext cx="3749040" cy="457200"/>
          </a:xfrm>
          <a:prstGeom prst="rect">
            <a:avLst/>
          </a:prstGeom>
          <a:solidFill>
            <a:srgbClr val="162A41"/>
          </a:solidFill>
          <a:ln w="12700">
            <a:solidFill>
              <a:srgbClr val="1E3A5F"/>
            </a:solidFill>
            <a:prstDash val="solid"/>
          </a:ln>
        </p:spPr>
        <p:txBody>
          <a:bodyPr/>
          <a:lstStyle/>
          <a:p>
            <a:endParaRPr lang="en-IN"/>
          </a:p>
        </p:txBody>
      </p:sp>
      <p:sp>
        <p:nvSpPr>
          <p:cNvPr id="23" name="Text 21"/>
          <p:cNvSpPr/>
          <p:nvPr/>
        </p:nvSpPr>
        <p:spPr>
          <a:xfrm>
            <a:off x="548640" y="4178808"/>
            <a:ext cx="3566160" cy="201168"/>
          </a:xfrm>
          <a:prstGeom prst="rect">
            <a:avLst/>
          </a:prstGeom>
          <a:noFill/>
          <a:ln/>
        </p:spPr>
        <p:txBody>
          <a:bodyPr wrap="square" lIns="0" tIns="0" rIns="0" bIns="0" rtlCol="0" anchor="ctr"/>
          <a:lstStyle/>
          <a:p>
            <a:pPr marL="0" indent="0">
              <a:buNone/>
            </a:pPr>
            <a:r>
              <a:rPr lang="en-US" sz="1200" b="1" dirty="0">
                <a:solidFill>
                  <a:srgbClr val="DCE8F5"/>
                </a:solidFill>
                <a:latin typeface="Calibri" pitchFamily="34" charset="0"/>
                <a:ea typeface="Calibri" pitchFamily="34" charset="-122"/>
                <a:cs typeface="Calibri" pitchFamily="34" charset="-120"/>
              </a:rPr>
              <a:t>Minute Sleep</a:t>
            </a:r>
            <a:endParaRPr lang="en-US" sz="1200" dirty="0"/>
          </a:p>
        </p:txBody>
      </p:sp>
      <p:sp>
        <p:nvSpPr>
          <p:cNvPr id="24" name="Text 22"/>
          <p:cNvSpPr/>
          <p:nvPr/>
        </p:nvSpPr>
        <p:spPr>
          <a:xfrm>
            <a:off x="548640" y="4370832"/>
            <a:ext cx="3566160" cy="182880"/>
          </a:xfrm>
          <a:prstGeom prst="rect">
            <a:avLst/>
          </a:prstGeom>
          <a:noFill/>
          <a:ln/>
        </p:spPr>
        <p:txBody>
          <a:bodyPr wrap="square" lIns="0" tIns="0" rIns="0" bIns="0" rtlCol="0" anchor="ctr"/>
          <a:lstStyle/>
          <a:p>
            <a:pPr marL="0" indent="0">
              <a:buNone/>
            </a:pPr>
            <a:r>
              <a:rPr lang="en-US" sz="1000" dirty="0">
                <a:solidFill>
                  <a:srgbClr val="7A9ABB"/>
                </a:solidFill>
                <a:latin typeface="Calibri" pitchFamily="34" charset="0"/>
                <a:ea typeface="Calibri" pitchFamily="34" charset="-122"/>
                <a:cs typeface="Calibri" pitchFamily="34" charset="-120"/>
              </a:rPr>
              <a:t>Sleep state every minute</a:t>
            </a:r>
            <a:endParaRPr lang="en-US" sz="1000" dirty="0"/>
          </a:p>
        </p:txBody>
      </p:sp>
      <p:sp>
        <p:nvSpPr>
          <p:cNvPr id="25" name="Shape 23"/>
          <p:cNvSpPr/>
          <p:nvPr/>
        </p:nvSpPr>
        <p:spPr>
          <a:xfrm>
            <a:off x="4572000" y="777240"/>
            <a:ext cx="4297680" cy="411480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4"/>
          <p:cNvSpPr/>
          <p:nvPr/>
        </p:nvSpPr>
        <p:spPr>
          <a:xfrm>
            <a:off x="4572000" y="777240"/>
            <a:ext cx="4297680" cy="384048"/>
          </a:xfrm>
          <a:prstGeom prst="rect">
            <a:avLst/>
          </a:prstGeom>
          <a:solidFill>
            <a:srgbClr val="38BDF8"/>
          </a:solidFill>
          <a:ln w="12700">
            <a:solidFill>
              <a:srgbClr val="38BDF8"/>
            </a:solidFill>
            <a:prstDash val="solid"/>
          </a:ln>
        </p:spPr>
        <p:txBody>
          <a:bodyPr/>
          <a:lstStyle/>
          <a:p>
            <a:endParaRPr lang="en-IN"/>
          </a:p>
        </p:txBody>
      </p:sp>
      <p:sp>
        <p:nvSpPr>
          <p:cNvPr id="27" name="Text 25"/>
          <p:cNvSpPr/>
          <p:nvPr/>
        </p:nvSpPr>
        <p:spPr>
          <a:xfrm>
            <a:off x="4663440" y="777240"/>
            <a:ext cx="411480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TSFresh Feature Extraction</a:t>
            </a:r>
            <a:endParaRPr lang="en-US" sz="1300" dirty="0"/>
          </a:p>
        </p:txBody>
      </p:sp>
      <p:sp>
        <p:nvSpPr>
          <p:cNvPr id="28" name="Text 26"/>
          <p:cNvSpPr/>
          <p:nvPr/>
        </p:nvSpPr>
        <p:spPr>
          <a:xfrm>
            <a:off x="4709160" y="12618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196,537 heart rate readings → 10 features per user</a:t>
            </a:r>
            <a:endParaRPr lang="en-US" sz="1100" dirty="0"/>
          </a:p>
        </p:txBody>
      </p:sp>
      <p:sp>
        <p:nvSpPr>
          <p:cNvPr id="29" name="Text 27"/>
          <p:cNvSpPr/>
          <p:nvPr/>
        </p:nvSpPr>
        <p:spPr>
          <a:xfrm>
            <a:off x="4709160" y="19476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Features: Mean, Median, Variance, Max, Min, Standard Deviation, Root Mean Square, Sum, Absolute Max, Length</a:t>
            </a:r>
            <a:endParaRPr lang="en-US" sz="1100" dirty="0"/>
          </a:p>
        </p:txBody>
      </p:sp>
      <p:sp>
        <p:nvSpPr>
          <p:cNvPr id="30" name="Text 28"/>
          <p:cNvSpPr/>
          <p:nvPr/>
        </p:nvSpPr>
        <p:spPr>
          <a:xfrm>
            <a:off x="4709160" y="26334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MinimalFCParameters used for speed</a:t>
            </a:r>
            <a:endParaRPr lang="en-US" sz="1100" dirty="0"/>
          </a:p>
        </p:txBody>
      </p:sp>
      <p:sp>
        <p:nvSpPr>
          <p:cNvPr id="31" name="Text 29"/>
          <p:cNvSpPr/>
          <p:nvPr/>
        </p:nvSpPr>
        <p:spPr>
          <a:xfrm>
            <a:off x="4709160" y="33192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Results shown as normalised heatmap (0 = lowest, 1 = highest among all users)</a:t>
            </a:r>
            <a:endParaRPr lang="en-US" sz="1100" dirty="0"/>
          </a:p>
        </p:txBody>
      </p:sp>
      <p:sp>
        <p:nvSpPr>
          <p:cNvPr id="32" name="Text 30"/>
          <p:cNvSpPr/>
          <p:nvPr/>
        </p:nvSpPr>
        <p:spPr>
          <a:xfrm>
            <a:off x="4709160" y="4005072"/>
            <a:ext cx="4069080" cy="59436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Why heart rate only? Steps &amp; sleep are already 1 number per day. Heart rate has 50,000+ raw readings that need summarising.</a:t>
            </a:r>
            <a:endParaRPr lang="en-US" sz="1100" dirty="0"/>
          </a:p>
        </p:txBody>
      </p:sp>
      <p:sp>
        <p:nvSpPr>
          <p:cNvPr id="33" name="Shape 31"/>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F59E0B"/>
                </a:solidFill>
                <a:latin typeface="Calibri" pitchFamily="34" charset="0"/>
                <a:ea typeface="Calibri" pitchFamily="34" charset="-122"/>
                <a:cs typeface="Calibri" pitchFamily="34" charset="-120"/>
              </a:rPr>
              <a:t>Prophet Forecasting</a:t>
            </a:r>
            <a:endParaRPr lang="en-US" sz="2800" dirty="0"/>
          </a:p>
        </p:txBody>
      </p:sp>
      <p:sp>
        <p:nvSpPr>
          <p:cNvPr id="4" name="Text 2"/>
          <p:cNvSpPr/>
          <p:nvPr/>
        </p:nvSpPr>
        <p:spPr>
          <a:xfrm>
            <a:off x="365760" y="777240"/>
            <a:ext cx="8229600" cy="320040"/>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What is Prophet?</a:t>
            </a:r>
            <a:endParaRPr lang="en-US" sz="1400" dirty="0"/>
          </a:p>
        </p:txBody>
      </p:sp>
      <p:sp>
        <p:nvSpPr>
          <p:cNvPr id="5" name="Text 3"/>
          <p:cNvSpPr/>
          <p:nvPr/>
        </p:nvSpPr>
        <p:spPr>
          <a:xfrm>
            <a:off x="365760" y="1097280"/>
            <a:ext cx="8229600" cy="502920"/>
          </a:xfrm>
          <a:prstGeom prst="rect">
            <a:avLst/>
          </a:prstGeom>
          <a:noFill/>
          <a:ln/>
        </p:spPr>
        <p:txBody>
          <a:bodyPr wrap="square" lIns="0" tIns="0" rIns="0" bIns="0" rtlCol="0" anchor="ctr"/>
          <a:lstStyle/>
          <a:p>
            <a:pPr marL="0" indent="0">
              <a:buNone/>
            </a:pPr>
            <a:r>
              <a:rPr lang="en-US" sz="1200" dirty="0">
                <a:solidFill>
                  <a:srgbClr val="7A9ABB"/>
                </a:solidFill>
                <a:latin typeface="Calibri" pitchFamily="34" charset="0"/>
                <a:ea typeface="Calibri" pitchFamily="34" charset="-122"/>
                <a:cs typeface="Calibri" pitchFamily="34" charset="-120"/>
              </a:rPr>
              <a:t>Prophet is a Facebook-developed time series forecasting tool. It looks at historical data and predicts future values while accounting for weekly seasonality and uncertainty.</a:t>
            </a:r>
            <a:endParaRPr lang="en-US" sz="1200" dirty="0"/>
          </a:p>
        </p:txBody>
      </p:sp>
      <p:sp>
        <p:nvSpPr>
          <p:cNvPr id="6" name="Shape 4"/>
          <p:cNvSpPr/>
          <p:nvPr/>
        </p:nvSpPr>
        <p:spPr>
          <a:xfrm>
            <a:off x="274320" y="1737360"/>
            <a:ext cx="2743200" cy="256032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1737360"/>
            <a:ext cx="2743200" cy="384048"/>
          </a:xfrm>
          <a:prstGeom prst="rect">
            <a:avLst/>
          </a:prstGeom>
          <a:solidFill>
            <a:srgbClr val="38BDF8"/>
          </a:solidFill>
          <a:ln w="12700">
            <a:solidFill>
              <a:srgbClr val="38BDF8"/>
            </a:solidFill>
            <a:prstDash val="solid"/>
          </a:ln>
        </p:spPr>
        <p:txBody>
          <a:bodyPr/>
          <a:lstStyle/>
          <a:p>
            <a:endParaRPr lang="en-IN"/>
          </a:p>
        </p:txBody>
      </p:sp>
      <p:sp>
        <p:nvSpPr>
          <p:cNvPr id="8" name="Text 6"/>
          <p:cNvSpPr/>
          <p:nvPr/>
        </p:nvSpPr>
        <p:spPr>
          <a:xfrm>
            <a:off x="36576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Heart Rate</a:t>
            </a:r>
            <a:endParaRPr lang="en-US" sz="1300" dirty="0"/>
          </a:p>
        </p:txBody>
      </p:sp>
      <p:sp>
        <p:nvSpPr>
          <p:cNvPr id="9" name="Text 7"/>
          <p:cNvSpPr/>
          <p:nvPr/>
        </p:nvSpPr>
        <p:spPr>
          <a:xfrm>
            <a:off x="36576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Daily average heart rate</a:t>
            </a:r>
            <a:endParaRPr lang="en-US" sz="1100" dirty="0"/>
          </a:p>
        </p:txBody>
      </p:sp>
      <p:sp>
        <p:nvSpPr>
          <p:cNvPr id="10" name="Text 8"/>
          <p:cNvSpPr/>
          <p:nvPr/>
        </p:nvSpPr>
        <p:spPr>
          <a:xfrm>
            <a:off x="36576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Teal dots = actual values</a:t>
            </a:r>
            <a:endParaRPr lang="en-US" sz="1100" dirty="0"/>
          </a:p>
        </p:txBody>
      </p:sp>
      <p:sp>
        <p:nvSpPr>
          <p:cNvPr id="11" name="Text 9"/>
          <p:cNvSpPr/>
          <p:nvPr/>
        </p:nvSpPr>
        <p:spPr>
          <a:xfrm>
            <a:off x="36576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Teal shaded band = 80% CI</a:t>
            </a:r>
            <a:endParaRPr lang="en-US" sz="1100" dirty="0"/>
          </a:p>
        </p:txBody>
      </p:sp>
      <p:sp>
        <p:nvSpPr>
          <p:cNvPr id="12" name="Shape 10"/>
          <p:cNvSpPr/>
          <p:nvPr/>
        </p:nvSpPr>
        <p:spPr>
          <a:xfrm>
            <a:off x="3200400" y="1737360"/>
            <a:ext cx="2743200" cy="256032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200400" y="1737360"/>
            <a:ext cx="2743200" cy="384048"/>
          </a:xfrm>
          <a:prstGeom prst="rect">
            <a:avLst/>
          </a:prstGeom>
          <a:solidFill>
            <a:srgbClr val="10B981"/>
          </a:solidFill>
          <a:ln w="12700">
            <a:solidFill>
              <a:srgbClr val="10B981"/>
            </a:solidFill>
            <a:prstDash val="solid"/>
          </a:ln>
        </p:spPr>
        <p:txBody>
          <a:bodyPr/>
          <a:lstStyle/>
          <a:p>
            <a:endParaRPr lang="en-IN"/>
          </a:p>
        </p:txBody>
      </p:sp>
      <p:sp>
        <p:nvSpPr>
          <p:cNvPr id="14" name="Text 12"/>
          <p:cNvSpPr/>
          <p:nvPr/>
        </p:nvSpPr>
        <p:spPr>
          <a:xfrm>
            <a:off x="329184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Daily Steps</a:t>
            </a:r>
            <a:endParaRPr lang="en-US" sz="1300" dirty="0"/>
          </a:p>
        </p:txBody>
      </p:sp>
      <p:sp>
        <p:nvSpPr>
          <p:cNvPr id="15" name="Text 13"/>
          <p:cNvSpPr/>
          <p:nvPr/>
        </p:nvSpPr>
        <p:spPr>
          <a:xfrm>
            <a:off x="329184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Average steps per day</a:t>
            </a:r>
            <a:endParaRPr lang="en-US" sz="1100" dirty="0"/>
          </a:p>
        </p:txBody>
      </p:sp>
      <p:sp>
        <p:nvSpPr>
          <p:cNvPr id="16" name="Text 14"/>
          <p:cNvSpPr/>
          <p:nvPr/>
        </p:nvSpPr>
        <p:spPr>
          <a:xfrm>
            <a:off x="329184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Green dots = actual values</a:t>
            </a:r>
            <a:endParaRPr lang="en-US" sz="1100" dirty="0"/>
          </a:p>
        </p:txBody>
      </p:sp>
      <p:sp>
        <p:nvSpPr>
          <p:cNvPr id="17" name="Text 15"/>
          <p:cNvSpPr/>
          <p:nvPr/>
        </p:nvSpPr>
        <p:spPr>
          <a:xfrm>
            <a:off x="329184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Green shaded band = 80% CI</a:t>
            </a:r>
            <a:endParaRPr lang="en-US" sz="1100" dirty="0"/>
          </a:p>
        </p:txBody>
      </p:sp>
      <p:sp>
        <p:nvSpPr>
          <p:cNvPr id="18" name="Shape 16"/>
          <p:cNvSpPr/>
          <p:nvPr/>
        </p:nvSpPr>
        <p:spPr>
          <a:xfrm>
            <a:off x="6126480" y="1737360"/>
            <a:ext cx="2743200" cy="256032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6126480" y="1737360"/>
            <a:ext cx="2743200" cy="384048"/>
          </a:xfrm>
          <a:prstGeom prst="rect">
            <a:avLst/>
          </a:prstGeom>
          <a:solidFill>
            <a:srgbClr val="A78BFA"/>
          </a:solidFill>
          <a:ln w="12700">
            <a:solidFill>
              <a:srgbClr val="A78BFA"/>
            </a:solidFill>
            <a:prstDash val="solid"/>
          </a:ln>
        </p:spPr>
        <p:txBody>
          <a:bodyPr/>
          <a:lstStyle/>
          <a:p>
            <a:endParaRPr lang="en-IN"/>
          </a:p>
        </p:txBody>
      </p:sp>
      <p:sp>
        <p:nvSpPr>
          <p:cNvPr id="20" name="Text 18"/>
          <p:cNvSpPr/>
          <p:nvPr/>
        </p:nvSpPr>
        <p:spPr>
          <a:xfrm>
            <a:off x="6217920" y="1737360"/>
            <a:ext cx="256032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Sleep</a:t>
            </a:r>
            <a:endParaRPr lang="en-US" sz="1300" dirty="0"/>
          </a:p>
        </p:txBody>
      </p:sp>
      <p:sp>
        <p:nvSpPr>
          <p:cNvPr id="21" name="Text 19"/>
          <p:cNvSpPr/>
          <p:nvPr/>
        </p:nvSpPr>
        <p:spPr>
          <a:xfrm>
            <a:off x="6217920" y="219456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Total sleep in minutes/day</a:t>
            </a:r>
            <a:endParaRPr lang="en-US" sz="1100" dirty="0"/>
          </a:p>
        </p:txBody>
      </p:sp>
      <p:sp>
        <p:nvSpPr>
          <p:cNvPr id="22" name="Text 20"/>
          <p:cNvSpPr/>
          <p:nvPr/>
        </p:nvSpPr>
        <p:spPr>
          <a:xfrm>
            <a:off x="6217920" y="283464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Purple dots = actual values</a:t>
            </a:r>
            <a:endParaRPr lang="en-US" sz="1100" dirty="0"/>
          </a:p>
        </p:txBody>
      </p:sp>
      <p:sp>
        <p:nvSpPr>
          <p:cNvPr id="23" name="Text 21"/>
          <p:cNvSpPr/>
          <p:nvPr/>
        </p:nvSpPr>
        <p:spPr>
          <a:xfrm>
            <a:off x="6217920" y="3474720"/>
            <a:ext cx="2560320" cy="548640"/>
          </a:xfrm>
          <a:prstGeom prst="rect">
            <a:avLst/>
          </a:prstGeom>
          <a:noFill/>
          <a:ln/>
        </p:spPr>
        <p:txBody>
          <a:bodyPr wrap="square" rtlCol="0" anchor="ctr"/>
          <a:lstStyle/>
          <a:p>
            <a:pPr marL="342900" indent="-342900">
              <a:buSzPct val="100000"/>
              <a:buChar char="•"/>
            </a:pPr>
            <a:r>
              <a:rPr lang="en-US" sz="1100" dirty="0">
                <a:solidFill>
                  <a:srgbClr val="DCE8F5"/>
                </a:solidFill>
                <a:latin typeface="Calibri" pitchFamily="34" charset="0"/>
                <a:ea typeface="Calibri" pitchFamily="34" charset="-122"/>
                <a:cs typeface="Calibri" pitchFamily="34" charset="-120"/>
              </a:rPr>
              <a:t>Purple shaded band = 80% CI</a:t>
            </a:r>
            <a:endParaRPr lang="en-US" sz="1100" dirty="0"/>
          </a:p>
        </p:txBody>
      </p:sp>
      <p:sp>
        <p:nvSpPr>
          <p:cNvPr id="24" name="Shape 22"/>
          <p:cNvSpPr/>
          <p:nvPr/>
        </p:nvSpPr>
        <p:spPr>
          <a:xfrm>
            <a:off x="274320" y="4434840"/>
            <a:ext cx="8595360" cy="548640"/>
          </a:xfrm>
          <a:prstGeom prst="rect">
            <a:avLst/>
          </a:prstGeom>
          <a:solidFill>
            <a:srgbClr val="162A41"/>
          </a:solidFill>
          <a:ln w="12700">
            <a:solidFill>
              <a:srgbClr val="F59E0B"/>
            </a:solidFill>
            <a:prstDash val="solid"/>
          </a:ln>
        </p:spPr>
        <p:txBody>
          <a:bodyPr/>
          <a:lstStyle/>
          <a:p>
            <a:endParaRPr lang="en-IN"/>
          </a:p>
        </p:txBody>
      </p:sp>
      <p:sp>
        <p:nvSpPr>
          <p:cNvPr id="25" name="Text 23"/>
          <p:cNvSpPr/>
          <p:nvPr/>
        </p:nvSpPr>
        <p:spPr>
          <a:xfrm>
            <a:off x="457200" y="4434840"/>
            <a:ext cx="8229600" cy="54864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30-day forecast  ·  80% Confidence Interval shown  ·  CI Upper &amp; Lower visible on hover  ·  Orange dashed line = forecast start</a:t>
            </a:r>
            <a:endParaRPr lang="en-US" sz="1200" dirty="0"/>
          </a:p>
        </p:txBody>
      </p:sp>
      <p:sp>
        <p:nvSpPr>
          <p:cNvPr id="26" name="Shape 24"/>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10B981"/>
                </a:solidFill>
                <a:latin typeface="Calibri" pitchFamily="34" charset="0"/>
                <a:ea typeface="Calibri" pitchFamily="34" charset="-122"/>
                <a:cs typeface="Calibri" pitchFamily="34" charset="-120"/>
              </a:rPr>
              <a:t>User Clustering &amp; Visualisation</a:t>
            </a:r>
            <a:endParaRPr lang="en-US" sz="2800" dirty="0"/>
          </a:p>
        </p:txBody>
      </p:sp>
      <p:sp>
        <p:nvSpPr>
          <p:cNvPr id="4" name="Shape 2"/>
          <p:cNvSpPr/>
          <p:nvPr/>
        </p:nvSpPr>
        <p:spPr>
          <a:xfrm>
            <a:off x="274320" y="822960"/>
            <a:ext cx="4114800" cy="192024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822960"/>
            <a:ext cx="4114800" cy="365760"/>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65760" y="822960"/>
            <a:ext cx="393192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KMeans</a:t>
            </a:r>
            <a:endParaRPr lang="en-US" sz="1400" dirty="0"/>
          </a:p>
        </p:txBody>
      </p:sp>
      <p:sp>
        <p:nvSpPr>
          <p:cNvPr id="7" name="Text 5"/>
          <p:cNvSpPr/>
          <p:nvPr/>
        </p:nvSpPr>
        <p:spPr>
          <a:xfrm>
            <a:off x="411480" y="1261872"/>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You choose number of groups (k)</a:t>
            </a:r>
            <a:endParaRPr lang="en-US" sz="1050" dirty="0"/>
          </a:p>
        </p:txBody>
      </p:sp>
      <p:sp>
        <p:nvSpPr>
          <p:cNvPr id="8" name="Text 6"/>
          <p:cNvSpPr/>
          <p:nvPr/>
        </p:nvSpPr>
        <p:spPr>
          <a:xfrm>
            <a:off x="411480" y="1618488"/>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Use Elbow Chart to find best k</a:t>
            </a:r>
            <a:endParaRPr lang="en-US" sz="1050" dirty="0"/>
          </a:p>
        </p:txBody>
      </p:sp>
      <p:sp>
        <p:nvSpPr>
          <p:cNvPr id="9" name="Text 7"/>
          <p:cNvSpPr/>
          <p:nvPr/>
        </p:nvSpPr>
        <p:spPr>
          <a:xfrm>
            <a:off x="411480" y="1975104"/>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Every user forced into exactly one group</a:t>
            </a:r>
            <a:endParaRPr lang="en-US" sz="1050" dirty="0"/>
          </a:p>
        </p:txBody>
      </p:sp>
      <p:sp>
        <p:nvSpPr>
          <p:cNvPr id="10" name="Text 8"/>
          <p:cNvSpPr/>
          <p:nvPr/>
        </p:nvSpPr>
        <p:spPr>
          <a:xfrm>
            <a:off x="411480" y="2331720"/>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Groups: Highly Active / Moderate / Sedentary</a:t>
            </a:r>
            <a:endParaRPr lang="en-US" sz="1050" dirty="0"/>
          </a:p>
        </p:txBody>
      </p:sp>
      <p:sp>
        <p:nvSpPr>
          <p:cNvPr id="11" name="Shape 9"/>
          <p:cNvSpPr/>
          <p:nvPr/>
        </p:nvSpPr>
        <p:spPr>
          <a:xfrm>
            <a:off x="274320" y="2926080"/>
            <a:ext cx="4114800" cy="192024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10"/>
          <p:cNvSpPr/>
          <p:nvPr/>
        </p:nvSpPr>
        <p:spPr>
          <a:xfrm>
            <a:off x="274320" y="2926080"/>
            <a:ext cx="4114800" cy="365760"/>
          </a:xfrm>
          <a:prstGeom prst="rect">
            <a:avLst/>
          </a:prstGeom>
          <a:solidFill>
            <a:srgbClr val="38BDF8"/>
          </a:solidFill>
          <a:ln w="12700">
            <a:solidFill>
              <a:srgbClr val="38BDF8"/>
            </a:solidFill>
            <a:prstDash val="solid"/>
          </a:ln>
        </p:spPr>
        <p:txBody>
          <a:bodyPr/>
          <a:lstStyle/>
          <a:p>
            <a:endParaRPr lang="en-IN"/>
          </a:p>
        </p:txBody>
      </p:sp>
      <p:sp>
        <p:nvSpPr>
          <p:cNvPr id="13" name="Text 11"/>
          <p:cNvSpPr/>
          <p:nvPr/>
        </p:nvSpPr>
        <p:spPr>
          <a:xfrm>
            <a:off x="365760" y="2926080"/>
            <a:ext cx="393192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DBSCAN</a:t>
            </a:r>
            <a:endParaRPr lang="en-US" sz="1400" dirty="0"/>
          </a:p>
        </p:txBody>
      </p:sp>
      <p:sp>
        <p:nvSpPr>
          <p:cNvPr id="14" name="Text 12"/>
          <p:cNvSpPr/>
          <p:nvPr/>
        </p:nvSpPr>
        <p:spPr>
          <a:xfrm>
            <a:off x="411480" y="3364992"/>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Auto-detects number of groups</a:t>
            </a:r>
            <a:endParaRPr lang="en-US" sz="1050" dirty="0"/>
          </a:p>
        </p:txBody>
      </p:sp>
      <p:sp>
        <p:nvSpPr>
          <p:cNvPr id="15" name="Text 13"/>
          <p:cNvSpPr/>
          <p:nvPr/>
        </p:nvSpPr>
        <p:spPr>
          <a:xfrm>
            <a:off x="411480" y="3721608"/>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eps = friendship radius between users</a:t>
            </a:r>
            <a:endParaRPr lang="en-US" sz="1050" dirty="0"/>
          </a:p>
        </p:txBody>
      </p:sp>
      <p:sp>
        <p:nvSpPr>
          <p:cNvPr id="16" name="Text 14"/>
          <p:cNvSpPr/>
          <p:nvPr/>
        </p:nvSpPr>
        <p:spPr>
          <a:xfrm>
            <a:off x="411480" y="4078224"/>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Outliers = users who don't fit any group</a:t>
            </a:r>
            <a:endParaRPr lang="en-US" sz="1050" dirty="0"/>
          </a:p>
        </p:txBody>
      </p:sp>
      <p:sp>
        <p:nvSpPr>
          <p:cNvPr id="17" name="Text 15"/>
          <p:cNvSpPr/>
          <p:nvPr/>
        </p:nvSpPr>
        <p:spPr>
          <a:xfrm>
            <a:off x="411480" y="4434840"/>
            <a:ext cx="3931920" cy="329184"/>
          </a:xfrm>
          <a:prstGeom prst="rect">
            <a:avLst/>
          </a:prstGeom>
          <a:noFill/>
          <a:ln/>
        </p:spPr>
        <p:txBody>
          <a:bodyPr wrap="square" rtlCol="0" anchor="ctr"/>
          <a:lstStyle/>
          <a:p>
            <a:pPr marL="342900" indent="-342900">
              <a:buSzPct val="100000"/>
              <a:buChar char="•"/>
            </a:pPr>
            <a:r>
              <a:rPr lang="en-US" sz="1050" dirty="0">
                <a:solidFill>
                  <a:srgbClr val="DCE8F5"/>
                </a:solidFill>
                <a:latin typeface="Calibri" pitchFamily="34" charset="0"/>
                <a:ea typeface="Calibri" pitchFamily="34" charset="-122"/>
                <a:cs typeface="Calibri" pitchFamily="34" charset="-120"/>
              </a:rPr>
              <a:t>Grey dots = outliers on the chart</a:t>
            </a:r>
            <a:endParaRPr lang="en-US" sz="1050" dirty="0"/>
          </a:p>
        </p:txBody>
      </p:sp>
      <p:sp>
        <p:nvSpPr>
          <p:cNvPr id="18" name="Text 16"/>
          <p:cNvSpPr/>
          <p:nvPr/>
        </p:nvSpPr>
        <p:spPr>
          <a:xfrm>
            <a:off x="4663440" y="777240"/>
            <a:ext cx="420624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Visualisation Methods</a:t>
            </a:r>
            <a:endParaRPr lang="en-US" sz="1400" dirty="0"/>
          </a:p>
        </p:txBody>
      </p:sp>
      <p:sp>
        <p:nvSpPr>
          <p:cNvPr id="19" name="Shape 17"/>
          <p:cNvSpPr/>
          <p:nvPr/>
        </p:nvSpPr>
        <p:spPr>
          <a:xfrm>
            <a:off x="4663440" y="1188720"/>
            <a:ext cx="54864" cy="1005840"/>
          </a:xfrm>
          <a:prstGeom prst="rect">
            <a:avLst/>
          </a:prstGeom>
          <a:solidFill>
            <a:srgbClr val="A78BFA"/>
          </a:solidFill>
          <a:ln w="12700">
            <a:solidFill>
              <a:srgbClr val="A78BFA"/>
            </a:solidFill>
            <a:prstDash val="solid"/>
          </a:ln>
        </p:spPr>
        <p:txBody>
          <a:bodyPr/>
          <a:lstStyle/>
          <a:p>
            <a:endParaRPr lang="en-IN"/>
          </a:p>
        </p:txBody>
      </p:sp>
      <p:sp>
        <p:nvSpPr>
          <p:cNvPr id="20" name="Shape 18"/>
          <p:cNvSpPr/>
          <p:nvPr/>
        </p:nvSpPr>
        <p:spPr>
          <a:xfrm>
            <a:off x="4773168" y="1188720"/>
            <a:ext cx="4114800" cy="1005840"/>
          </a:xfrm>
          <a:prstGeom prst="rect">
            <a:avLst/>
          </a:prstGeom>
          <a:solidFill>
            <a:srgbClr val="162A41"/>
          </a:solidFill>
          <a:ln w="12700">
            <a:solidFill>
              <a:srgbClr val="1E3A5F"/>
            </a:solidFill>
            <a:prstDash val="solid"/>
          </a:ln>
        </p:spPr>
        <p:txBody>
          <a:bodyPr/>
          <a:lstStyle/>
          <a:p>
            <a:endParaRPr lang="en-IN"/>
          </a:p>
        </p:txBody>
      </p:sp>
      <p:sp>
        <p:nvSpPr>
          <p:cNvPr id="21" name="Text 19"/>
          <p:cNvSpPr/>
          <p:nvPr/>
        </p:nvSpPr>
        <p:spPr>
          <a:xfrm>
            <a:off x="4892040" y="1261872"/>
            <a:ext cx="3840480" cy="27432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PCA</a:t>
            </a:r>
            <a:endParaRPr lang="en-US" sz="1300" dirty="0"/>
          </a:p>
        </p:txBody>
      </p:sp>
      <p:sp>
        <p:nvSpPr>
          <p:cNvPr id="22" name="Text 20"/>
          <p:cNvSpPr/>
          <p:nvPr/>
        </p:nvSpPr>
        <p:spPr>
          <a:xfrm>
            <a:off x="4892040" y="153619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Squashes 20+ columns into 2 dimensions so we can plot users on a chart. Dimension 1 = 50% info.</a:t>
            </a:r>
            <a:endParaRPr lang="en-US" sz="1100" dirty="0"/>
          </a:p>
        </p:txBody>
      </p:sp>
      <p:sp>
        <p:nvSpPr>
          <p:cNvPr id="23" name="Shape 21"/>
          <p:cNvSpPr/>
          <p:nvPr/>
        </p:nvSpPr>
        <p:spPr>
          <a:xfrm>
            <a:off x="4663440" y="2468880"/>
            <a:ext cx="54864" cy="1005840"/>
          </a:xfrm>
          <a:prstGeom prst="rect">
            <a:avLst/>
          </a:prstGeom>
          <a:solidFill>
            <a:srgbClr val="F59E0B"/>
          </a:solidFill>
          <a:ln w="12700">
            <a:solidFill>
              <a:srgbClr val="F59E0B"/>
            </a:solidFill>
            <a:prstDash val="solid"/>
          </a:ln>
        </p:spPr>
        <p:txBody>
          <a:bodyPr/>
          <a:lstStyle/>
          <a:p>
            <a:endParaRPr lang="en-IN"/>
          </a:p>
        </p:txBody>
      </p:sp>
      <p:sp>
        <p:nvSpPr>
          <p:cNvPr id="24" name="Shape 22"/>
          <p:cNvSpPr/>
          <p:nvPr/>
        </p:nvSpPr>
        <p:spPr>
          <a:xfrm>
            <a:off x="4773168" y="2468880"/>
            <a:ext cx="4114800" cy="1005840"/>
          </a:xfrm>
          <a:prstGeom prst="rect">
            <a:avLst/>
          </a:prstGeom>
          <a:solidFill>
            <a:srgbClr val="162A41"/>
          </a:solidFill>
          <a:ln w="12700">
            <a:solidFill>
              <a:srgbClr val="1E3A5F"/>
            </a:solidFill>
            <a:prstDash val="solid"/>
          </a:ln>
        </p:spPr>
        <p:txBody>
          <a:bodyPr/>
          <a:lstStyle/>
          <a:p>
            <a:endParaRPr lang="en-IN"/>
          </a:p>
        </p:txBody>
      </p:sp>
      <p:sp>
        <p:nvSpPr>
          <p:cNvPr id="25" name="Text 23"/>
          <p:cNvSpPr/>
          <p:nvPr/>
        </p:nvSpPr>
        <p:spPr>
          <a:xfrm>
            <a:off x="4892040" y="2542032"/>
            <a:ext cx="384048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t-SNE</a:t>
            </a:r>
            <a:endParaRPr lang="en-US" sz="1300" dirty="0"/>
          </a:p>
        </p:txBody>
      </p:sp>
      <p:sp>
        <p:nvSpPr>
          <p:cNvPr id="26" name="Text 24"/>
          <p:cNvSpPr/>
          <p:nvPr/>
        </p:nvSpPr>
        <p:spPr>
          <a:xfrm>
            <a:off x="4892040" y="281635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Better than PCA at separating close groups visually. Takes ~20 seconds to compute.</a:t>
            </a:r>
            <a:endParaRPr lang="en-US" sz="1100" dirty="0"/>
          </a:p>
        </p:txBody>
      </p:sp>
      <p:sp>
        <p:nvSpPr>
          <p:cNvPr id="27" name="Shape 25"/>
          <p:cNvSpPr/>
          <p:nvPr/>
        </p:nvSpPr>
        <p:spPr>
          <a:xfrm>
            <a:off x="4663440" y="3749040"/>
            <a:ext cx="54864" cy="1005840"/>
          </a:xfrm>
          <a:prstGeom prst="rect">
            <a:avLst/>
          </a:prstGeom>
          <a:solidFill>
            <a:srgbClr val="10B981"/>
          </a:solidFill>
          <a:ln w="12700">
            <a:solidFill>
              <a:srgbClr val="10B981"/>
            </a:solidFill>
            <a:prstDash val="solid"/>
          </a:ln>
        </p:spPr>
        <p:txBody>
          <a:bodyPr/>
          <a:lstStyle/>
          <a:p>
            <a:endParaRPr lang="en-IN"/>
          </a:p>
        </p:txBody>
      </p:sp>
      <p:sp>
        <p:nvSpPr>
          <p:cNvPr id="28" name="Shape 26"/>
          <p:cNvSpPr/>
          <p:nvPr/>
        </p:nvSpPr>
        <p:spPr>
          <a:xfrm>
            <a:off x="4773168" y="3749040"/>
            <a:ext cx="4114800" cy="1005840"/>
          </a:xfrm>
          <a:prstGeom prst="rect">
            <a:avLst/>
          </a:prstGeom>
          <a:solidFill>
            <a:srgbClr val="162A41"/>
          </a:solidFill>
          <a:ln w="12700">
            <a:solidFill>
              <a:srgbClr val="1E3A5F"/>
            </a:solidFill>
            <a:prstDash val="solid"/>
          </a:ln>
        </p:spPr>
        <p:txBody>
          <a:bodyPr/>
          <a:lstStyle/>
          <a:p>
            <a:endParaRPr lang="en-IN"/>
          </a:p>
        </p:txBody>
      </p:sp>
      <p:sp>
        <p:nvSpPr>
          <p:cNvPr id="29" name="Text 27"/>
          <p:cNvSpPr/>
          <p:nvPr/>
        </p:nvSpPr>
        <p:spPr>
          <a:xfrm>
            <a:off x="4892040" y="3822192"/>
            <a:ext cx="3840480" cy="274320"/>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Group Profiles</a:t>
            </a:r>
            <a:endParaRPr lang="en-US" sz="1300" dirty="0"/>
          </a:p>
        </p:txBody>
      </p:sp>
      <p:sp>
        <p:nvSpPr>
          <p:cNvPr id="30" name="Text 28"/>
          <p:cNvSpPr/>
          <p:nvPr/>
        </p:nvSpPr>
        <p:spPr>
          <a:xfrm>
            <a:off x="4892040" y="4096512"/>
            <a:ext cx="3840480" cy="548640"/>
          </a:xfrm>
          <a:prstGeom prst="rect">
            <a:avLst/>
          </a:prstGeom>
          <a:noFill/>
          <a:ln/>
        </p:spPr>
        <p:txBody>
          <a:bodyPr wrap="square" lIns="0" tIns="0" rIns="0" bIns="0" rtlCol="0" anchor="ctr"/>
          <a:lstStyle/>
          <a:p>
            <a:pPr marL="0" indent="0">
              <a:buNone/>
            </a:pPr>
            <a:r>
              <a:rPr lang="en-US" sz="1100" dirty="0">
                <a:solidFill>
                  <a:srgbClr val="DCE8F5"/>
                </a:solidFill>
                <a:latin typeface="Calibri" pitchFamily="34" charset="0"/>
                <a:ea typeface="Calibri" pitchFamily="34" charset="-122"/>
                <a:cs typeface="Calibri" pitchFamily="34" charset="-120"/>
              </a:rPr>
              <a:t>Bar chart showing average steps, sleep, calories, heart rate per group side by side.</a:t>
            </a:r>
            <a:endParaRPr lang="en-US" sz="1100" dirty="0"/>
          </a:p>
        </p:txBody>
      </p:sp>
      <p:sp>
        <p:nvSpPr>
          <p:cNvPr id="31" name="Shape 29"/>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txBody>
          <a:bodyPr/>
          <a:lstStyle/>
          <a:p>
            <a:endParaRPr lang="en-IN"/>
          </a:p>
        </p:txBody>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Technology Stack</a:t>
            </a:r>
            <a:endParaRPr lang="en-US" sz="2800" dirty="0"/>
          </a:p>
        </p:txBody>
      </p:sp>
      <p:sp>
        <p:nvSpPr>
          <p:cNvPr id="4" name="Shape 2"/>
          <p:cNvSpPr/>
          <p:nvPr/>
        </p:nvSpPr>
        <p:spPr>
          <a:xfrm>
            <a:off x="274320" y="914400"/>
            <a:ext cx="2011680" cy="1554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914400"/>
            <a:ext cx="2011680" cy="73152"/>
          </a:xfrm>
          <a:prstGeom prst="rect">
            <a:avLst/>
          </a:prstGeom>
          <a:solidFill>
            <a:srgbClr val="A78BFA"/>
          </a:solidFill>
          <a:ln w="12700">
            <a:solidFill>
              <a:srgbClr val="A78BFA"/>
            </a:solidFill>
            <a:prstDash val="solid"/>
          </a:ln>
        </p:spPr>
        <p:txBody>
          <a:bodyPr/>
          <a:lstStyle/>
          <a:p>
            <a:endParaRPr lang="en-IN"/>
          </a:p>
        </p:txBody>
      </p:sp>
      <p:sp>
        <p:nvSpPr>
          <p:cNvPr id="6" name="Text 4"/>
          <p:cNvSpPr/>
          <p:nvPr/>
        </p:nvSpPr>
        <p:spPr>
          <a:xfrm>
            <a:off x="365760" y="1051560"/>
            <a:ext cx="1828800" cy="411480"/>
          </a:xfrm>
          <a:prstGeom prst="rect">
            <a:avLst/>
          </a:prstGeom>
          <a:noFill/>
          <a:ln/>
        </p:spPr>
        <p:txBody>
          <a:bodyPr wrap="square"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Streamlit</a:t>
            </a:r>
            <a:endParaRPr lang="en-US" sz="1400" dirty="0"/>
          </a:p>
        </p:txBody>
      </p:sp>
      <p:sp>
        <p:nvSpPr>
          <p:cNvPr id="7" name="Text 5"/>
          <p:cNvSpPr/>
          <p:nvPr/>
        </p:nvSpPr>
        <p:spPr>
          <a:xfrm>
            <a:off x="365760"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Web application framework</a:t>
            </a:r>
            <a:endParaRPr lang="en-US" sz="1050" dirty="0"/>
          </a:p>
        </p:txBody>
      </p:sp>
      <p:sp>
        <p:nvSpPr>
          <p:cNvPr id="8" name="Shape 6"/>
          <p:cNvSpPr/>
          <p:nvPr/>
        </p:nvSpPr>
        <p:spPr>
          <a:xfrm>
            <a:off x="2450592" y="914400"/>
            <a:ext cx="2011680" cy="1554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2450592" y="914400"/>
            <a:ext cx="2011680" cy="73152"/>
          </a:xfrm>
          <a:prstGeom prst="rect">
            <a:avLst/>
          </a:prstGeom>
          <a:solidFill>
            <a:srgbClr val="38BDF8"/>
          </a:solidFill>
          <a:ln w="12700">
            <a:solidFill>
              <a:srgbClr val="38BDF8"/>
            </a:solidFill>
            <a:prstDash val="solid"/>
          </a:ln>
        </p:spPr>
        <p:txBody>
          <a:bodyPr/>
          <a:lstStyle/>
          <a:p>
            <a:endParaRPr lang="en-IN"/>
          </a:p>
        </p:txBody>
      </p:sp>
      <p:sp>
        <p:nvSpPr>
          <p:cNvPr id="10" name="Text 8"/>
          <p:cNvSpPr/>
          <p:nvPr/>
        </p:nvSpPr>
        <p:spPr>
          <a:xfrm>
            <a:off x="2542032" y="1051560"/>
            <a:ext cx="1828800" cy="411480"/>
          </a:xfrm>
          <a:prstGeom prst="rect">
            <a:avLst/>
          </a:prstGeom>
          <a:noFill/>
          <a:ln/>
        </p:spPr>
        <p:txBody>
          <a:bodyPr wrap="square"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Pandas</a:t>
            </a:r>
            <a:endParaRPr lang="en-US" sz="1400" dirty="0"/>
          </a:p>
        </p:txBody>
      </p:sp>
      <p:sp>
        <p:nvSpPr>
          <p:cNvPr id="11" name="Text 9"/>
          <p:cNvSpPr/>
          <p:nvPr/>
        </p:nvSpPr>
        <p:spPr>
          <a:xfrm>
            <a:off x="2542032"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Data loading, cleaning &amp; merging</a:t>
            </a:r>
            <a:endParaRPr lang="en-US" sz="1050" dirty="0"/>
          </a:p>
        </p:txBody>
      </p:sp>
      <p:sp>
        <p:nvSpPr>
          <p:cNvPr id="12" name="Shape 10"/>
          <p:cNvSpPr/>
          <p:nvPr/>
        </p:nvSpPr>
        <p:spPr>
          <a:xfrm>
            <a:off x="4626864" y="914400"/>
            <a:ext cx="2011680" cy="1554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4626864" y="914400"/>
            <a:ext cx="2011680" cy="73152"/>
          </a:xfrm>
          <a:prstGeom prst="rect">
            <a:avLst/>
          </a:prstGeom>
          <a:solidFill>
            <a:srgbClr val="10B981"/>
          </a:solidFill>
          <a:ln w="12700">
            <a:solidFill>
              <a:srgbClr val="10B981"/>
            </a:solidFill>
            <a:prstDash val="solid"/>
          </a:ln>
        </p:spPr>
        <p:txBody>
          <a:bodyPr/>
          <a:lstStyle/>
          <a:p>
            <a:endParaRPr lang="en-IN"/>
          </a:p>
        </p:txBody>
      </p:sp>
      <p:sp>
        <p:nvSpPr>
          <p:cNvPr id="14" name="Text 12"/>
          <p:cNvSpPr/>
          <p:nvPr/>
        </p:nvSpPr>
        <p:spPr>
          <a:xfrm>
            <a:off x="4718304" y="1051560"/>
            <a:ext cx="1828800" cy="411480"/>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NumPy</a:t>
            </a:r>
            <a:endParaRPr lang="en-US" sz="1400" dirty="0"/>
          </a:p>
        </p:txBody>
      </p:sp>
      <p:sp>
        <p:nvSpPr>
          <p:cNvPr id="15" name="Text 13"/>
          <p:cNvSpPr/>
          <p:nvPr/>
        </p:nvSpPr>
        <p:spPr>
          <a:xfrm>
            <a:off x="4718304"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Numerical computing</a:t>
            </a:r>
            <a:endParaRPr lang="en-US" sz="1050" dirty="0"/>
          </a:p>
        </p:txBody>
      </p:sp>
      <p:sp>
        <p:nvSpPr>
          <p:cNvPr id="16" name="Shape 14"/>
          <p:cNvSpPr/>
          <p:nvPr/>
        </p:nvSpPr>
        <p:spPr>
          <a:xfrm>
            <a:off x="6803136" y="914400"/>
            <a:ext cx="2011680" cy="155448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6803136" y="914400"/>
            <a:ext cx="2011680" cy="73152"/>
          </a:xfrm>
          <a:prstGeom prst="rect">
            <a:avLst/>
          </a:prstGeom>
          <a:solidFill>
            <a:srgbClr val="F59E0B"/>
          </a:solidFill>
          <a:ln w="12700">
            <a:solidFill>
              <a:srgbClr val="F59E0B"/>
            </a:solidFill>
            <a:prstDash val="solid"/>
          </a:ln>
        </p:spPr>
        <p:txBody>
          <a:bodyPr/>
          <a:lstStyle/>
          <a:p>
            <a:endParaRPr lang="en-IN"/>
          </a:p>
        </p:txBody>
      </p:sp>
      <p:sp>
        <p:nvSpPr>
          <p:cNvPr id="18" name="Text 16"/>
          <p:cNvSpPr/>
          <p:nvPr/>
        </p:nvSpPr>
        <p:spPr>
          <a:xfrm>
            <a:off x="6894576" y="1051560"/>
            <a:ext cx="1828800" cy="41148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Plotly</a:t>
            </a:r>
            <a:endParaRPr lang="en-US" sz="1400" dirty="0"/>
          </a:p>
        </p:txBody>
      </p:sp>
      <p:sp>
        <p:nvSpPr>
          <p:cNvPr id="19" name="Text 17"/>
          <p:cNvSpPr/>
          <p:nvPr/>
        </p:nvSpPr>
        <p:spPr>
          <a:xfrm>
            <a:off x="6894576" y="15087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Interactive charts &amp; visualisations</a:t>
            </a:r>
            <a:endParaRPr lang="en-US" sz="1050" dirty="0"/>
          </a:p>
        </p:txBody>
      </p:sp>
      <p:sp>
        <p:nvSpPr>
          <p:cNvPr id="20" name="Shape 18"/>
          <p:cNvSpPr/>
          <p:nvPr/>
        </p:nvSpPr>
        <p:spPr>
          <a:xfrm>
            <a:off x="274320" y="2743200"/>
            <a:ext cx="2011680" cy="1554480"/>
          </a:xfrm>
          <a:prstGeom prst="rect">
            <a:avLst/>
          </a:prstGeom>
          <a:solidFill>
            <a:srgbClr val="162A41"/>
          </a:solidFill>
          <a:ln w="12700">
            <a:solidFill>
              <a:srgbClr val="6366F1"/>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274320" y="2743200"/>
            <a:ext cx="2011680" cy="73152"/>
          </a:xfrm>
          <a:prstGeom prst="rect">
            <a:avLst/>
          </a:prstGeom>
          <a:solidFill>
            <a:srgbClr val="6366F1"/>
          </a:solidFill>
          <a:ln w="12700">
            <a:solidFill>
              <a:srgbClr val="6366F1"/>
            </a:solidFill>
            <a:prstDash val="solid"/>
          </a:ln>
        </p:spPr>
        <p:txBody>
          <a:bodyPr/>
          <a:lstStyle/>
          <a:p>
            <a:endParaRPr lang="en-IN"/>
          </a:p>
        </p:txBody>
      </p:sp>
      <p:sp>
        <p:nvSpPr>
          <p:cNvPr id="22" name="Text 20"/>
          <p:cNvSpPr/>
          <p:nvPr/>
        </p:nvSpPr>
        <p:spPr>
          <a:xfrm>
            <a:off x="365760" y="2880360"/>
            <a:ext cx="1828800" cy="411480"/>
          </a:xfrm>
          <a:prstGeom prst="rect">
            <a:avLst/>
          </a:prstGeom>
          <a:noFill/>
          <a:ln/>
        </p:spPr>
        <p:txBody>
          <a:bodyPr wrap="square" rtlCol="0" anchor="ctr"/>
          <a:lstStyle/>
          <a:p>
            <a:pPr marL="0" indent="0">
              <a:buNone/>
            </a:pPr>
            <a:r>
              <a:rPr lang="en-US" sz="1400" b="1" dirty="0">
                <a:solidFill>
                  <a:srgbClr val="6366F1"/>
                </a:solidFill>
                <a:latin typeface="Calibri" pitchFamily="34" charset="0"/>
                <a:ea typeface="Calibri" pitchFamily="34" charset="-122"/>
                <a:cs typeface="Calibri" pitchFamily="34" charset="-120"/>
              </a:rPr>
              <a:t>Scikit-learn</a:t>
            </a:r>
            <a:endParaRPr lang="en-US" sz="1400" dirty="0"/>
          </a:p>
        </p:txBody>
      </p:sp>
      <p:sp>
        <p:nvSpPr>
          <p:cNvPr id="23" name="Text 21"/>
          <p:cNvSpPr/>
          <p:nvPr/>
        </p:nvSpPr>
        <p:spPr>
          <a:xfrm>
            <a:off x="365760"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KMeans, DBSCAN, PCA, t-SNE</a:t>
            </a:r>
            <a:endParaRPr lang="en-US" sz="1050" dirty="0"/>
          </a:p>
        </p:txBody>
      </p:sp>
      <p:sp>
        <p:nvSpPr>
          <p:cNvPr id="24" name="Shape 22"/>
          <p:cNvSpPr/>
          <p:nvPr/>
        </p:nvSpPr>
        <p:spPr>
          <a:xfrm>
            <a:off x="2450592" y="2743200"/>
            <a:ext cx="2011680" cy="155448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2450592" y="2743200"/>
            <a:ext cx="2011680" cy="73152"/>
          </a:xfrm>
          <a:prstGeom prst="rect">
            <a:avLst/>
          </a:prstGeom>
          <a:solidFill>
            <a:srgbClr val="A78BFA"/>
          </a:solidFill>
          <a:ln w="12700">
            <a:solidFill>
              <a:srgbClr val="A78BFA"/>
            </a:solidFill>
            <a:prstDash val="solid"/>
          </a:ln>
        </p:spPr>
        <p:txBody>
          <a:bodyPr/>
          <a:lstStyle/>
          <a:p>
            <a:endParaRPr lang="en-IN"/>
          </a:p>
        </p:txBody>
      </p:sp>
      <p:sp>
        <p:nvSpPr>
          <p:cNvPr id="26" name="Text 24"/>
          <p:cNvSpPr/>
          <p:nvPr/>
        </p:nvSpPr>
        <p:spPr>
          <a:xfrm>
            <a:off x="2542032" y="2880360"/>
            <a:ext cx="1828800" cy="411480"/>
          </a:xfrm>
          <a:prstGeom prst="rect">
            <a:avLst/>
          </a:prstGeom>
          <a:noFill/>
          <a:ln/>
        </p:spPr>
        <p:txBody>
          <a:bodyPr wrap="square"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TSFresh</a:t>
            </a:r>
            <a:endParaRPr lang="en-US" sz="1400" dirty="0"/>
          </a:p>
        </p:txBody>
      </p:sp>
      <p:sp>
        <p:nvSpPr>
          <p:cNvPr id="27" name="Text 25"/>
          <p:cNvSpPr/>
          <p:nvPr/>
        </p:nvSpPr>
        <p:spPr>
          <a:xfrm>
            <a:off x="2542032"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Automated time series feature extraction</a:t>
            </a:r>
            <a:endParaRPr lang="en-US" sz="1050" dirty="0"/>
          </a:p>
        </p:txBody>
      </p:sp>
      <p:sp>
        <p:nvSpPr>
          <p:cNvPr id="28" name="Shape 26"/>
          <p:cNvSpPr/>
          <p:nvPr/>
        </p:nvSpPr>
        <p:spPr>
          <a:xfrm>
            <a:off x="4626864" y="2743200"/>
            <a:ext cx="2011680" cy="155448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4626864" y="2743200"/>
            <a:ext cx="2011680" cy="73152"/>
          </a:xfrm>
          <a:prstGeom prst="rect">
            <a:avLst/>
          </a:prstGeom>
          <a:solidFill>
            <a:srgbClr val="38BDF8"/>
          </a:solidFill>
          <a:ln w="12700">
            <a:solidFill>
              <a:srgbClr val="38BDF8"/>
            </a:solidFill>
            <a:prstDash val="solid"/>
          </a:ln>
        </p:spPr>
        <p:txBody>
          <a:bodyPr/>
          <a:lstStyle/>
          <a:p>
            <a:endParaRPr lang="en-IN"/>
          </a:p>
        </p:txBody>
      </p:sp>
      <p:sp>
        <p:nvSpPr>
          <p:cNvPr id="30" name="Text 28"/>
          <p:cNvSpPr/>
          <p:nvPr/>
        </p:nvSpPr>
        <p:spPr>
          <a:xfrm>
            <a:off x="4718304" y="2880360"/>
            <a:ext cx="1828800" cy="411480"/>
          </a:xfrm>
          <a:prstGeom prst="rect">
            <a:avLst/>
          </a:prstGeom>
          <a:noFill/>
          <a:ln/>
        </p:spPr>
        <p:txBody>
          <a:bodyPr wrap="square"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Prophet</a:t>
            </a:r>
            <a:endParaRPr lang="en-US" sz="1400" dirty="0"/>
          </a:p>
        </p:txBody>
      </p:sp>
      <p:sp>
        <p:nvSpPr>
          <p:cNvPr id="31" name="Text 29"/>
          <p:cNvSpPr/>
          <p:nvPr/>
        </p:nvSpPr>
        <p:spPr>
          <a:xfrm>
            <a:off x="4718304"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Time series forecasting</a:t>
            </a:r>
            <a:endParaRPr lang="en-US" sz="1050" dirty="0"/>
          </a:p>
        </p:txBody>
      </p:sp>
      <p:sp>
        <p:nvSpPr>
          <p:cNvPr id="32" name="Shape 30"/>
          <p:cNvSpPr/>
          <p:nvPr/>
        </p:nvSpPr>
        <p:spPr>
          <a:xfrm>
            <a:off x="6803136" y="2743200"/>
            <a:ext cx="2011680" cy="155448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33" name="Shape 31"/>
          <p:cNvSpPr/>
          <p:nvPr/>
        </p:nvSpPr>
        <p:spPr>
          <a:xfrm>
            <a:off x="6803136" y="2743200"/>
            <a:ext cx="2011680" cy="73152"/>
          </a:xfrm>
          <a:prstGeom prst="rect">
            <a:avLst/>
          </a:prstGeom>
          <a:solidFill>
            <a:srgbClr val="10B981"/>
          </a:solidFill>
          <a:ln w="12700">
            <a:solidFill>
              <a:srgbClr val="10B981"/>
            </a:solidFill>
            <a:prstDash val="solid"/>
          </a:ln>
        </p:spPr>
        <p:txBody>
          <a:bodyPr/>
          <a:lstStyle/>
          <a:p>
            <a:endParaRPr lang="en-IN"/>
          </a:p>
        </p:txBody>
      </p:sp>
      <p:sp>
        <p:nvSpPr>
          <p:cNvPr id="34" name="Text 32"/>
          <p:cNvSpPr/>
          <p:nvPr/>
        </p:nvSpPr>
        <p:spPr>
          <a:xfrm>
            <a:off x="6894576" y="2880360"/>
            <a:ext cx="1828800" cy="411480"/>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Matplotlib</a:t>
            </a:r>
            <a:endParaRPr lang="en-US" sz="1400" dirty="0"/>
          </a:p>
        </p:txBody>
      </p:sp>
      <p:sp>
        <p:nvSpPr>
          <p:cNvPr id="35" name="Text 33"/>
          <p:cNvSpPr/>
          <p:nvPr/>
        </p:nvSpPr>
        <p:spPr>
          <a:xfrm>
            <a:off x="6894576" y="3337560"/>
            <a:ext cx="1828800" cy="82296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Static chart rendering</a:t>
            </a:r>
            <a:endParaRPr lang="en-US" sz="1050" dirty="0"/>
          </a:p>
        </p:txBody>
      </p:sp>
      <p:sp>
        <p:nvSpPr>
          <p:cNvPr id="36" name="Shape 34"/>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lgn="ctr">
              <a:buNone/>
            </a:pPr>
            <a:r>
              <a:rPr lang="en-US" sz="3200" b="1" dirty="0">
                <a:solidFill>
                  <a:srgbClr val="A78BFA"/>
                </a:solidFill>
                <a:latin typeface="Calibri" pitchFamily="34" charset="0"/>
                <a:ea typeface="Calibri" pitchFamily="34" charset="-122"/>
                <a:cs typeface="Calibri" pitchFamily="34" charset="-120"/>
              </a:rPr>
              <a:t>Summary</a:t>
            </a:r>
            <a:endParaRPr lang="en-US" sz="3200" dirty="0"/>
          </a:p>
        </p:txBody>
      </p:sp>
      <p:sp>
        <p:nvSpPr>
          <p:cNvPr id="4" name="Shape 2"/>
          <p:cNvSpPr/>
          <p:nvPr/>
        </p:nvSpPr>
        <p:spPr>
          <a:xfrm>
            <a:off x="365760" y="914400"/>
            <a:ext cx="4114800" cy="105156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5" name="Text 3"/>
          <p:cNvSpPr/>
          <p:nvPr/>
        </p:nvSpPr>
        <p:spPr>
          <a:xfrm>
            <a:off x="457200" y="100584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914400" y="105156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Loaded and cleaned 5 Fitbit sensor files</a:t>
            </a:r>
            <a:endParaRPr lang="en-US" sz="1200" dirty="0"/>
          </a:p>
        </p:txBody>
      </p:sp>
      <p:sp>
        <p:nvSpPr>
          <p:cNvPr id="7" name="Shape 5"/>
          <p:cNvSpPr/>
          <p:nvPr/>
        </p:nvSpPr>
        <p:spPr>
          <a:xfrm>
            <a:off x="4754880" y="914400"/>
            <a:ext cx="4114800" cy="1051560"/>
          </a:xfrm>
          <a:prstGeom prst="rect">
            <a:avLst/>
          </a:prstGeom>
          <a:solidFill>
            <a:srgbClr val="162A41"/>
          </a:solidFill>
          <a:ln w="12700">
            <a:solidFill>
              <a:srgbClr val="10B981"/>
            </a:solidFill>
            <a:prstDash val="solid"/>
          </a:ln>
          <a:effectLst>
            <a:outerShdw blurRad="101600" dist="38100" dir="8100000" algn="bl" rotWithShape="0">
              <a:srgbClr val="000000">
                <a:alpha val="25000"/>
              </a:srgbClr>
            </a:outerShdw>
          </a:effectLst>
        </p:spPr>
        <p:txBody>
          <a:bodyPr/>
          <a:lstStyle/>
          <a:p>
            <a:endParaRPr lang="en-IN"/>
          </a:p>
        </p:txBody>
      </p:sp>
      <p:sp>
        <p:nvSpPr>
          <p:cNvPr id="8" name="Text 6"/>
          <p:cNvSpPr/>
          <p:nvPr/>
        </p:nvSpPr>
        <p:spPr>
          <a:xfrm>
            <a:off x="4846320" y="100584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5303520" y="105156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Built a merged master dataset (one row per user per day)</a:t>
            </a:r>
            <a:endParaRPr lang="en-US" sz="1200" dirty="0"/>
          </a:p>
        </p:txBody>
      </p:sp>
      <p:sp>
        <p:nvSpPr>
          <p:cNvPr id="10" name="Shape 8"/>
          <p:cNvSpPr/>
          <p:nvPr/>
        </p:nvSpPr>
        <p:spPr>
          <a:xfrm>
            <a:off x="365760" y="2194560"/>
            <a:ext cx="4114800" cy="1051560"/>
          </a:xfrm>
          <a:prstGeom prst="rect">
            <a:avLst/>
          </a:prstGeom>
          <a:solidFill>
            <a:srgbClr val="162A41"/>
          </a:solidFill>
          <a:ln w="12700">
            <a:solidFill>
              <a:srgbClr val="38BDF8"/>
            </a:solidFill>
            <a:prstDash val="solid"/>
          </a:ln>
          <a:effectLst>
            <a:outerShdw blurRad="101600" dist="38100" dir="8100000" algn="bl" rotWithShape="0">
              <a:srgbClr val="000000">
                <a:alpha val="25000"/>
              </a:srgbClr>
            </a:outerShdw>
          </a:effectLst>
        </p:spPr>
        <p:txBody>
          <a:bodyPr/>
          <a:lstStyle/>
          <a:p>
            <a:endParaRPr lang="en-IN"/>
          </a:p>
        </p:txBody>
      </p:sp>
      <p:sp>
        <p:nvSpPr>
          <p:cNvPr id="11" name="Text 9"/>
          <p:cNvSpPr/>
          <p:nvPr/>
        </p:nvSpPr>
        <p:spPr>
          <a:xfrm>
            <a:off x="457200" y="228600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914400" y="233172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TSFresh extracted 10 features from 196K+ heart rate readings</a:t>
            </a:r>
            <a:endParaRPr lang="en-US" sz="1200" dirty="0"/>
          </a:p>
        </p:txBody>
      </p:sp>
      <p:sp>
        <p:nvSpPr>
          <p:cNvPr id="13" name="Shape 11"/>
          <p:cNvSpPr/>
          <p:nvPr/>
        </p:nvSpPr>
        <p:spPr>
          <a:xfrm>
            <a:off x="4754880" y="2194560"/>
            <a:ext cx="4114800" cy="1051560"/>
          </a:xfrm>
          <a:prstGeom prst="rect">
            <a:avLst/>
          </a:prstGeom>
          <a:solidFill>
            <a:srgbClr val="162A41"/>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IN"/>
          </a:p>
        </p:txBody>
      </p:sp>
      <p:sp>
        <p:nvSpPr>
          <p:cNvPr id="14" name="Text 12"/>
          <p:cNvSpPr/>
          <p:nvPr/>
        </p:nvSpPr>
        <p:spPr>
          <a:xfrm>
            <a:off x="4846320" y="228600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5303520" y="233172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Prophet forecasted Heart Rate, Steps &amp; Sleep for 30 days</a:t>
            </a:r>
            <a:endParaRPr lang="en-US" sz="1200" dirty="0"/>
          </a:p>
        </p:txBody>
      </p:sp>
      <p:sp>
        <p:nvSpPr>
          <p:cNvPr id="16" name="Shape 14"/>
          <p:cNvSpPr/>
          <p:nvPr/>
        </p:nvSpPr>
        <p:spPr>
          <a:xfrm>
            <a:off x="365760" y="3474720"/>
            <a:ext cx="4114800" cy="1051560"/>
          </a:xfrm>
          <a:prstGeom prst="rect">
            <a:avLst/>
          </a:prstGeom>
          <a:solidFill>
            <a:srgbClr val="162A41"/>
          </a:solidFill>
          <a:ln w="12700">
            <a:solidFill>
              <a:srgbClr val="A78BFA"/>
            </a:solidFill>
            <a:prstDash val="solid"/>
          </a:ln>
          <a:effectLst>
            <a:outerShdw blurRad="101600" dist="38100" dir="8100000" algn="bl" rotWithShape="0">
              <a:srgbClr val="000000">
                <a:alpha val="25000"/>
              </a:srgbClr>
            </a:outerShdw>
          </a:effectLst>
        </p:spPr>
        <p:txBody>
          <a:bodyPr/>
          <a:lstStyle/>
          <a:p>
            <a:endParaRPr lang="en-IN"/>
          </a:p>
        </p:txBody>
      </p:sp>
      <p:sp>
        <p:nvSpPr>
          <p:cNvPr id="17" name="Text 15"/>
          <p:cNvSpPr/>
          <p:nvPr/>
        </p:nvSpPr>
        <p:spPr>
          <a:xfrm>
            <a:off x="457200" y="356616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914400" y="361188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KMeans and DBSCAN clustered users by fitness behaviour</a:t>
            </a:r>
            <a:endParaRPr lang="en-US" sz="1200" dirty="0"/>
          </a:p>
        </p:txBody>
      </p:sp>
      <p:sp>
        <p:nvSpPr>
          <p:cNvPr id="19" name="Shape 17"/>
          <p:cNvSpPr/>
          <p:nvPr/>
        </p:nvSpPr>
        <p:spPr>
          <a:xfrm>
            <a:off x="4754880" y="3474720"/>
            <a:ext cx="4114800" cy="1051560"/>
          </a:xfrm>
          <a:prstGeom prst="rect">
            <a:avLst/>
          </a:prstGeom>
          <a:solidFill>
            <a:srgbClr val="162A41"/>
          </a:solidFill>
          <a:ln w="12700">
            <a:solidFill>
              <a:srgbClr val="6366F1"/>
            </a:solidFill>
            <a:prstDash val="solid"/>
          </a:ln>
          <a:effectLst>
            <a:outerShdw blurRad="101600" dist="38100" dir="8100000" algn="bl" rotWithShape="0">
              <a:srgbClr val="000000">
                <a:alpha val="25000"/>
              </a:srgbClr>
            </a:outerShdw>
          </a:effectLst>
        </p:spPr>
        <p:txBody>
          <a:bodyPr/>
          <a:lstStyle/>
          <a:p>
            <a:endParaRPr lang="en-IN"/>
          </a:p>
        </p:txBody>
      </p:sp>
      <p:sp>
        <p:nvSpPr>
          <p:cNvPr id="20" name="Text 18"/>
          <p:cNvSpPr/>
          <p:nvPr/>
        </p:nvSpPr>
        <p:spPr>
          <a:xfrm>
            <a:off x="4846320" y="356616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5303520" y="3611880"/>
            <a:ext cx="3474720" cy="777240"/>
          </a:xfrm>
          <a:prstGeom prst="rect">
            <a:avLst/>
          </a:prstGeom>
          <a:noFill/>
          <a:ln/>
        </p:spPr>
        <p:txBody>
          <a:bodyPr wrap="square" rtlCol="0" anchor="ctr"/>
          <a:lstStyle/>
          <a:p>
            <a:pPr marL="0" indent="0">
              <a:buNone/>
            </a:pPr>
            <a:r>
              <a:rPr lang="en-US" sz="1200" dirty="0">
                <a:solidFill>
                  <a:srgbClr val="DCE8F5"/>
                </a:solidFill>
                <a:latin typeface="Calibri" pitchFamily="34" charset="0"/>
                <a:ea typeface="Calibri" pitchFamily="34" charset="-122"/>
                <a:cs typeface="Calibri" pitchFamily="34" charset="-120"/>
              </a:rPr>
              <a:t>PCA and t-SNE visualised groups in 2D plots</a:t>
            </a:r>
            <a:endParaRPr lang="en-US" sz="1200" dirty="0"/>
          </a:p>
        </p:txBody>
      </p:sp>
      <p:sp>
        <p:nvSpPr>
          <p:cNvPr id="24" name="Shape 22"/>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A841F48-A957-A590-D8AA-8B83448E36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63A372-E9AB-E1F4-0F72-0CE865CBB3A3}"/>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93455A88-15ED-4B50-131E-5488191CDD99}"/>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File Upload</a:t>
            </a:r>
          </a:p>
          <a:p>
            <a:pPr marL="0" indent="0">
              <a:buNone/>
            </a:pPr>
            <a:endParaRPr lang="en-US" sz="2800" dirty="0"/>
          </a:p>
        </p:txBody>
      </p:sp>
      <p:sp>
        <p:nvSpPr>
          <p:cNvPr id="25" name="Shape 23">
            <a:extLst>
              <a:ext uri="{FF2B5EF4-FFF2-40B4-BE49-F238E27FC236}">
                <a16:creationId xmlns:a16="http://schemas.microsoft.com/office/drawing/2014/main" id="{045FC27E-A2F5-C9F3-9000-FDA5FA74831F}"/>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B4B71926-ABA7-BB99-BD33-94D68F6BE5E9}"/>
              </a:ext>
            </a:extLst>
          </p:cNvPr>
          <p:cNvPicPr>
            <a:picLocks noChangeAspect="1"/>
          </p:cNvPicPr>
          <p:nvPr/>
        </p:nvPicPr>
        <p:blipFill>
          <a:blip r:embed="rId3"/>
          <a:stretch>
            <a:fillRect/>
          </a:stretch>
        </p:blipFill>
        <p:spPr>
          <a:xfrm>
            <a:off x="1556261" y="1323310"/>
            <a:ext cx="6002977" cy="3294356"/>
          </a:xfrm>
          <a:prstGeom prst="rect">
            <a:avLst/>
          </a:prstGeom>
        </p:spPr>
      </p:pic>
    </p:spTree>
    <p:extLst>
      <p:ext uri="{BB962C8B-B14F-4D97-AF65-F5344CB8AC3E}">
        <p14:creationId xmlns:p14="http://schemas.microsoft.com/office/powerpoint/2010/main" val="1161236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042C124-8932-33D1-48B2-BC62746AE0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93AB38-CB8F-3BE0-7C18-B3585F055E5A}"/>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C934DC51-5F1B-3C9B-51D0-0179C8C7A8AD}"/>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TSFresh – Heatmap </a:t>
            </a:r>
          </a:p>
          <a:p>
            <a:pPr marL="0" indent="0">
              <a:buNone/>
            </a:pPr>
            <a:endParaRPr lang="en-US" sz="2800" dirty="0"/>
          </a:p>
        </p:txBody>
      </p:sp>
      <p:sp>
        <p:nvSpPr>
          <p:cNvPr id="25" name="Shape 23">
            <a:extLst>
              <a:ext uri="{FF2B5EF4-FFF2-40B4-BE49-F238E27FC236}">
                <a16:creationId xmlns:a16="http://schemas.microsoft.com/office/drawing/2014/main" id="{6DAD33DD-F1E2-43A1-6C1D-000CAB3E0CA4}"/>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857DFFD3-4B6E-E53F-5A23-624190DDEE3F}"/>
              </a:ext>
            </a:extLst>
          </p:cNvPr>
          <p:cNvPicPr>
            <a:picLocks noChangeAspect="1"/>
          </p:cNvPicPr>
          <p:nvPr/>
        </p:nvPicPr>
        <p:blipFill>
          <a:blip r:embed="rId3"/>
          <a:stretch>
            <a:fillRect/>
          </a:stretch>
        </p:blipFill>
        <p:spPr>
          <a:xfrm>
            <a:off x="1816924" y="1335155"/>
            <a:ext cx="5883710" cy="3416458"/>
          </a:xfrm>
          <a:prstGeom prst="rect">
            <a:avLst/>
          </a:prstGeom>
        </p:spPr>
      </p:pic>
    </p:spTree>
    <p:extLst>
      <p:ext uri="{BB962C8B-B14F-4D97-AF65-F5344CB8AC3E}">
        <p14:creationId xmlns:p14="http://schemas.microsoft.com/office/powerpoint/2010/main" val="362804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BC99055-336C-F2F4-A4B6-1B48DA0D93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6BA3A6-158A-47F8-68BA-7BC7E150301A}"/>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0A30507D-A3BB-B292-8941-9B7F0969D936}"/>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Prophet Analysis : Trend forecasting </a:t>
            </a:r>
          </a:p>
          <a:p>
            <a:pPr marL="0" indent="0">
              <a:buNone/>
            </a:pPr>
            <a:endParaRPr lang="en-US" sz="2800" dirty="0"/>
          </a:p>
        </p:txBody>
      </p:sp>
      <p:sp>
        <p:nvSpPr>
          <p:cNvPr id="25" name="Shape 23">
            <a:extLst>
              <a:ext uri="{FF2B5EF4-FFF2-40B4-BE49-F238E27FC236}">
                <a16:creationId xmlns:a16="http://schemas.microsoft.com/office/drawing/2014/main" id="{D1A14730-2E36-689A-6EF2-CFAC33A3A081}"/>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4D33B52E-A3EA-77E1-7E00-47C30CAD8A72}"/>
              </a:ext>
            </a:extLst>
          </p:cNvPr>
          <p:cNvPicPr>
            <a:picLocks noChangeAspect="1"/>
          </p:cNvPicPr>
          <p:nvPr/>
        </p:nvPicPr>
        <p:blipFill>
          <a:blip r:embed="rId3"/>
          <a:stretch>
            <a:fillRect/>
          </a:stretch>
        </p:blipFill>
        <p:spPr>
          <a:xfrm>
            <a:off x="1562792" y="1413164"/>
            <a:ext cx="6150231" cy="3234290"/>
          </a:xfrm>
          <a:prstGeom prst="rect">
            <a:avLst/>
          </a:prstGeom>
        </p:spPr>
      </p:pic>
    </p:spTree>
    <p:extLst>
      <p:ext uri="{BB962C8B-B14F-4D97-AF65-F5344CB8AC3E}">
        <p14:creationId xmlns:p14="http://schemas.microsoft.com/office/powerpoint/2010/main" val="2407287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7CF9A20-4B56-58B8-7F10-9E578F52D91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E020D5-06F8-079B-398F-30937B95BD0F}"/>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E4276AC4-FEB1-DC6D-E2B2-5014F59DBA30}"/>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Clustering – K-means and DBSCAN</a:t>
            </a:r>
          </a:p>
          <a:p>
            <a:pPr marL="0" indent="0">
              <a:buNone/>
            </a:pPr>
            <a:endParaRPr lang="en-US" sz="2800" dirty="0"/>
          </a:p>
        </p:txBody>
      </p:sp>
      <p:sp>
        <p:nvSpPr>
          <p:cNvPr id="25" name="Shape 23">
            <a:extLst>
              <a:ext uri="{FF2B5EF4-FFF2-40B4-BE49-F238E27FC236}">
                <a16:creationId xmlns:a16="http://schemas.microsoft.com/office/drawing/2014/main" id="{4C944FEE-FBE0-8392-9D23-D5A4A0E03D5E}"/>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66870FEA-0229-1861-BE23-C5FC54D44DA9}"/>
              </a:ext>
            </a:extLst>
          </p:cNvPr>
          <p:cNvPicPr>
            <a:picLocks noChangeAspect="1"/>
          </p:cNvPicPr>
          <p:nvPr/>
        </p:nvPicPr>
        <p:blipFill>
          <a:blip r:embed="rId3"/>
          <a:stretch>
            <a:fillRect/>
          </a:stretch>
        </p:blipFill>
        <p:spPr>
          <a:xfrm>
            <a:off x="1187450" y="1327668"/>
            <a:ext cx="6769100" cy="3363385"/>
          </a:xfrm>
          <a:prstGeom prst="rect">
            <a:avLst/>
          </a:prstGeom>
        </p:spPr>
      </p:pic>
    </p:spTree>
    <p:extLst>
      <p:ext uri="{BB962C8B-B14F-4D97-AF65-F5344CB8AC3E}">
        <p14:creationId xmlns:p14="http://schemas.microsoft.com/office/powerpoint/2010/main" val="3906086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62A41"/>
          </a:solidFill>
          <a:ln w="12700">
            <a:solidFill>
              <a:srgbClr val="162A41"/>
            </a:solidFill>
            <a:prstDash val="solid"/>
          </a:ln>
        </p:spPr>
      </p:sp>
      <p:sp>
        <p:nvSpPr>
          <p:cNvPr id="3" name="Shape 1"/>
          <p:cNvSpPr/>
          <p:nvPr/>
        </p:nvSpPr>
        <p:spPr>
          <a:xfrm>
            <a:off x="4114800" y="0"/>
            <a:ext cx="54864" cy="5143500"/>
          </a:xfrm>
          <a:prstGeom prst="rect">
            <a:avLst/>
          </a:prstGeom>
          <a:solidFill>
            <a:srgbClr val="EF4444"/>
          </a:solidFill>
          <a:ln w="12700">
            <a:solidFill>
              <a:srgbClr val="EF4444"/>
            </a:solidFill>
            <a:prstDash val="solid"/>
          </a:ln>
        </p:spPr>
      </p:sp>
      <p:sp>
        <p:nvSpPr>
          <p:cNvPr id="4" name="Text 2"/>
          <p:cNvSpPr/>
          <p:nvPr/>
        </p:nvSpPr>
        <p:spPr>
          <a:xfrm>
            <a:off x="274320" y="1097280"/>
            <a:ext cx="3566160" cy="1371600"/>
          </a:xfrm>
          <a:prstGeom prst="rect">
            <a:avLst/>
          </a:prstGeom>
          <a:noFill/>
          <a:ln/>
        </p:spPr>
        <p:txBody>
          <a:bodyPr wrap="square" rtlCol="0" anchor="ctr"/>
          <a:lstStyle/>
          <a:p>
            <a:pPr marL="0" indent="0" algn="ctr">
              <a:buNone/>
            </a:pPr>
            <a:r>
              <a:rPr lang="en-US" sz="9600" b="1" dirty="0">
                <a:solidFill>
                  <a:srgbClr val="EF4444">
                    <a:alpha val="70000"/>
                  </a:srgbClr>
                </a:solidFill>
                <a:latin typeface="Calibri" pitchFamily="34" charset="0"/>
                <a:ea typeface="Calibri" pitchFamily="34" charset="-122"/>
                <a:cs typeface="Calibri" pitchFamily="34" charset="-120"/>
              </a:rPr>
              <a:t>03</a:t>
            </a:r>
            <a:endParaRPr lang="en-US" sz="9600" dirty="0"/>
          </a:p>
        </p:txBody>
      </p:sp>
      <p:sp>
        <p:nvSpPr>
          <p:cNvPr id="5" name="Text 3"/>
          <p:cNvSpPr/>
          <p:nvPr/>
        </p:nvSpPr>
        <p:spPr>
          <a:xfrm>
            <a:off x="274320" y="2560320"/>
            <a:ext cx="356616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Milestone 3</a:t>
            </a:r>
            <a:endParaRPr lang="en-US" sz="2200" dirty="0"/>
          </a:p>
        </p:txBody>
      </p:sp>
      <p:sp>
        <p:nvSpPr>
          <p:cNvPr id="6" name="Text 4"/>
          <p:cNvSpPr/>
          <p:nvPr/>
        </p:nvSpPr>
        <p:spPr>
          <a:xfrm>
            <a:off x="274320" y="3063240"/>
            <a:ext cx="3566160" cy="731520"/>
          </a:xfrm>
          <a:prstGeom prst="rect">
            <a:avLst/>
          </a:prstGeom>
          <a:noFill/>
          <a:ln/>
        </p:spPr>
        <p:txBody>
          <a:bodyPr wrap="square" rtlCol="0" anchor="ctr"/>
          <a:lstStyle/>
          <a:p>
            <a:pPr marL="0" indent="0" algn="ctr">
              <a:buNone/>
            </a:pPr>
            <a:r>
              <a:rPr lang="en-US" sz="1400" dirty="0">
                <a:solidFill>
                  <a:srgbClr val="7A9ABB"/>
                </a:solidFill>
                <a:latin typeface="Calibri" pitchFamily="34" charset="0"/>
                <a:ea typeface="Calibri" pitchFamily="34" charset="-122"/>
                <a:cs typeface="Calibri" pitchFamily="34" charset="-120"/>
              </a:rPr>
              <a:t>Anomaly Detection</a:t>
            </a:r>
            <a:endParaRPr lang="en-US" sz="1400" dirty="0"/>
          </a:p>
          <a:p>
            <a:pPr marL="0" indent="0" algn="ctr">
              <a:buNone/>
            </a:pPr>
            <a:r>
              <a:rPr lang="en-US" sz="1400" dirty="0">
                <a:solidFill>
                  <a:srgbClr val="7A9ABB"/>
                </a:solidFill>
                <a:latin typeface="Calibri" pitchFamily="34" charset="0"/>
                <a:ea typeface="Calibri" pitchFamily="34" charset="-122"/>
                <a:cs typeface="Calibri" pitchFamily="34" charset="-120"/>
              </a:rPr>
              <a:t>&amp; Visualization</a:t>
            </a:r>
            <a:endParaRPr lang="en-US" sz="1400" dirty="0"/>
          </a:p>
        </p:txBody>
      </p:sp>
      <p:sp>
        <p:nvSpPr>
          <p:cNvPr id="7" name="Shape 5"/>
          <p:cNvSpPr/>
          <p:nvPr/>
        </p:nvSpPr>
        <p:spPr>
          <a:xfrm>
            <a:off x="4572000" y="457200"/>
            <a:ext cx="502920" cy="502920"/>
          </a:xfrm>
          <a:prstGeom prst="rect">
            <a:avLst/>
          </a:prstGeom>
          <a:solidFill>
            <a:srgbClr val="EF4444"/>
          </a:solidFill>
          <a:ln w="12700">
            <a:solidFill>
              <a:srgbClr val="EF4444"/>
            </a:solidFill>
            <a:prstDash val="solid"/>
          </a:ln>
        </p:spPr>
      </p:sp>
      <p:sp>
        <p:nvSpPr>
          <p:cNvPr id="8" name="Text 6"/>
          <p:cNvSpPr/>
          <p:nvPr/>
        </p:nvSpPr>
        <p:spPr>
          <a:xfrm>
            <a:off x="4572000" y="45720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5212080" y="47548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Upload the 5 CSV files</a:t>
            </a:r>
            <a:endParaRPr lang="en-US" sz="1400" dirty="0"/>
          </a:p>
        </p:txBody>
      </p:sp>
      <p:sp>
        <p:nvSpPr>
          <p:cNvPr id="10" name="Text 8"/>
          <p:cNvSpPr/>
          <p:nvPr/>
        </p:nvSpPr>
        <p:spPr>
          <a:xfrm>
            <a:off x="5212080" y="71323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Upload to M3 pipeline</a:t>
            </a:r>
            <a:endParaRPr lang="en-US" sz="1100" dirty="0"/>
          </a:p>
        </p:txBody>
      </p:sp>
      <p:sp>
        <p:nvSpPr>
          <p:cNvPr id="11" name="Shape 9"/>
          <p:cNvSpPr/>
          <p:nvPr/>
        </p:nvSpPr>
        <p:spPr>
          <a:xfrm>
            <a:off x="4572000" y="1554480"/>
            <a:ext cx="502920" cy="502920"/>
          </a:xfrm>
          <a:prstGeom prst="rect">
            <a:avLst/>
          </a:prstGeom>
          <a:solidFill>
            <a:srgbClr val="EF4444"/>
          </a:solidFill>
          <a:ln w="12700">
            <a:solidFill>
              <a:srgbClr val="EF4444"/>
            </a:solidFill>
            <a:prstDash val="solid"/>
          </a:ln>
        </p:spPr>
      </p:sp>
      <p:sp>
        <p:nvSpPr>
          <p:cNvPr id="12" name="Text 10"/>
          <p:cNvSpPr/>
          <p:nvPr/>
        </p:nvSpPr>
        <p:spPr>
          <a:xfrm>
            <a:off x="4572000" y="155448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212080" y="157276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Threshold Violations</a:t>
            </a:r>
            <a:endParaRPr lang="en-US" sz="1400" dirty="0"/>
          </a:p>
        </p:txBody>
      </p:sp>
      <p:sp>
        <p:nvSpPr>
          <p:cNvPr id="14" name="Text 12"/>
          <p:cNvSpPr/>
          <p:nvPr/>
        </p:nvSpPr>
        <p:spPr>
          <a:xfrm>
            <a:off x="5212080" y="181051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Hard-coded limits on HR, Steps &amp; Sleep</a:t>
            </a:r>
            <a:endParaRPr lang="en-US" sz="1100" dirty="0"/>
          </a:p>
        </p:txBody>
      </p:sp>
      <p:sp>
        <p:nvSpPr>
          <p:cNvPr id="15" name="Shape 13"/>
          <p:cNvSpPr/>
          <p:nvPr/>
        </p:nvSpPr>
        <p:spPr>
          <a:xfrm>
            <a:off x="4572000" y="2651760"/>
            <a:ext cx="502920" cy="502920"/>
          </a:xfrm>
          <a:prstGeom prst="rect">
            <a:avLst/>
          </a:prstGeom>
          <a:solidFill>
            <a:srgbClr val="EF4444"/>
          </a:solidFill>
          <a:ln w="12700">
            <a:solidFill>
              <a:srgbClr val="EF4444"/>
            </a:solidFill>
            <a:prstDash val="solid"/>
          </a:ln>
        </p:spPr>
      </p:sp>
      <p:sp>
        <p:nvSpPr>
          <p:cNvPr id="16" name="Text 14"/>
          <p:cNvSpPr/>
          <p:nvPr/>
        </p:nvSpPr>
        <p:spPr>
          <a:xfrm>
            <a:off x="4572000" y="265176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5212080" y="267004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Residual-Based Detection</a:t>
            </a:r>
            <a:endParaRPr lang="en-US" sz="1400" dirty="0"/>
          </a:p>
        </p:txBody>
      </p:sp>
      <p:sp>
        <p:nvSpPr>
          <p:cNvPr id="18" name="Text 16"/>
          <p:cNvSpPr/>
          <p:nvPr/>
        </p:nvSpPr>
        <p:spPr>
          <a:xfrm>
            <a:off x="5212080" y="290779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Rolling median ±2σ baseline anomalies</a:t>
            </a:r>
            <a:endParaRPr lang="en-US" sz="1100" dirty="0"/>
          </a:p>
        </p:txBody>
      </p:sp>
      <p:sp>
        <p:nvSpPr>
          <p:cNvPr id="19" name="Shape 17"/>
          <p:cNvSpPr/>
          <p:nvPr/>
        </p:nvSpPr>
        <p:spPr>
          <a:xfrm>
            <a:off x="4572000" y="3749040"/>
            <a:ext cx="502920" cy="502920"/>
          </a:xfrm>
          <a:prstGeom prst="rect">
            <a:avLst/>
          </a:prstGeom>
          <a:solidFill>
            <a:srgbClr val="EF4444"/>
          </a:solidFill>
          <a:ln w="12700">
            <a:solidFill>
              <a:srgbClr val="EF4444"/>
            </a:solidFill>
            <a:prstDash val="solid"/>
          </a:ln>
        </p:spPr>
      </p:sp>
      <p:sp>
        <p:nvSpPr>
          <p:cNvPr id="20" name="Text 18"/>
          <p:cNvSpPr/>
          <p:nvPr/>
        </p:nvSpPr>
        <p:spPr>
          <a:xfrm>
            <a:off x="4572000" y="3749040"/>
            <a:ext cx="50292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5212080" y="3767328"/>
            <a:ext cx="3657600" cy="256032"/>
          </a:xfrm>
          <a:prstGeom prst="rect">
            <a:avLst/>
          </a:prstGeom>
          <a:noFill/>
          <a:ln/>
        </p:spPr>
        <p:txBody>
          <a:bodyPr wrap="square" lIns="0" tIns="0" rIns="0" bIns="0" rtlCol="0" anchor="ctr"/>
          <a:lstStyle/>
          <a:p>
            <a:pPr marL="0" indent="0">
              <a:buNone/>
            </a:pPr>
            <a:r>
              <a:rPr lang="en-US" sz="1400" b="1" dirty="0">
                <a:solidFill>
                  <a:srgbClr val="DCE8F5"/>
                </a:solidFill>
                <a:latin typeface="Calibri" pitchFamily="34" charset="0"/>
                <a:ea typeface="Calibri" pitchFamily="34" charset="-122"/>
                <a:cs typeface="Calibri" pitchFamily="34" charset="-120"/>
              </a:rPr>
              <a:t>DBSCAN Structural Outliers</a:t>
            </a:r>
            <a:endParaRPr lang="en-US" sz="1400" dirty="0"/>
          </a:p>
        </p:txBody>
      </p:sp>
      <p:sp>
        <p:nvSpPr>
          <p:cNvPr id="22" name="Text 20"/>
          <p:cNvSpPr/>
          <p:nvPr/>
        </p:nvSpPr>
        <p:spPr>
          <a:xfrm>
            <a:off x="5212080" y="4005072"/>
            <a:ext cx="3657600" cy="256032"/>
          </a:xfrm>
          <a:prstGeom prst="rect">
            <a:avLst/>
          </a:prstGeom>
          <a:noFill/>
          <a:ln/>
        </p:spPr>
        <p:txBody>
          <a:bodyPr wrap="square" lIns="0" tIns="0" rIns="0" bIns="0" rtlCol="0" anchor="ctr"/>
          <a:lstStyle/>
          <a:p>
            <a:pPr marL="0" indent="0">
              <a:buNone/>
            </a:pPr>
            <a:r>
              <a:rPr lang="en-US" sz="1100" dirty="0">
                <a:solidFill>
                  <a:srgbClr val="7A9ABB"/>
                </a:solidFill>
                <a:latin typeface="Calibri" pitchFamily="34" charset="0"/>
                <a:ea typeface="Calibri" pitchFamily="34" charset="-122"/>
                <a:cs typeface="Calibri" pitchFamily="34" charset="-120"/>
              </a:rPr>
              <a:t>Users with abnormal profiles across all metrics</a:t>
            </a:r>
            <a:endParaRPr lang="en-US" sz="1100" dirty="0"/>
          </a:p>
        </p:txBody>
      </p:sp>
      <p:sp>
        <p:nvSpPr>
          <p:cNvPr id="23" name="Shape 21"/>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200" b="1" dirty="0">
                <a:solidFill>
                  <a:srgbClr val="EF4444"/>
                </a:solidFill>
                <a:latin typeface="Calibri" pitchFamily="34" charset="0"/>
                <a:ea typeface="Calibri" pitchFamily="34" charset="-122"/>
                <a:cs typeface="Calibri" pitchFamily="34" charset="-120"/>
              </a:rPr>
              <a:t>Milestone 3 — Three Anomaly Detection Methods</a:t>
            </a:r>
            <a:endParaRPr lang="en-US" sz="2200" dirty="0"/>
          </a:p>
        </p:txBody>
      </p:sp>
      <p:sp>
        <p:nvSpPr>
          <p:cNvPr id="4" name="Shape 2"/>
          <p:cNvSpPr/>
          <p:nvPr/>
        </p:nvSpPr>
        <p:spPr>
          <a:xfrm>
            <a:off x="201168" y="822960"/>
            <a:ext cx="2834640" cy="4114800"/>
          </a:xfrm>
          <a:prstGeom prst="rect">
            <a:avLst/>
          </a:prstGeom>
          <a:solidFill>
            <a:srgbClr val="162A41"/>
          </a:solidFill>
          <a:ln w="12700">
            <a:solidFill>
              <a:srgbClr val="F59E0B"/>
            </a:solidFill>
            <a:prstDash val="solid"/>
          </a:ln>
          <a:effectLst>
            <a:outerShdw blurRad="101600" dist="38100" dir="8100000" algn="bl" rotWithShape="0">
              <a:srgbClr val="000000">
                <a:alpha val="22000"/>
              </a:srgbClr>
            </a:outerShdw>
          </a:effectLst>
        </p:spPr>
      </p:sp>
      <p:sp>
        <p:nvSpPr>
          <p:cNvPr id="5" name="Shape 3"/>
          <p:cNvSpPr/>
          <p:nvPr/>
        </p:nvSpPr>
        <p:spPr>
          <a:xfrm>
            <a:off x="201168" y="822960"/>
            <a:ext cx="2834640" cy="457200"/>
          </a:xfrm>
          <a:prstGeom prst="rect">
            <a:avLst/>
          </a:prstGeom>
          <a:solidFill>
            <a:srgbClr val="F59E0B"/>
          </a:solidFill>
          <a:ln w="12700">
            <a:solidFill>
              <a:srgbClr val="F59E0B"/>
            </a:solidFill>
            <a:prstDash val="solid"/>
          </a:ln>
        </p:spPr>
      </p:sp>
      <p:sp>
        <p:nvSpPr>
          <p:cNvPr id="6" name="Text 4"/>
          <p:cNvSpPr/>
          <p:nvPr/>
        </p:nvSpPr>
        <p:spPr>
          <a:xfrm>
            <a:off x="292608" y="822960"/>
            <a:ext cx="2651760" cy="45720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Threshold Violations</a:t>
            </a:r>
            <a:endParaRPr lang="en-US" sz="1200" dirty="0"/>
          </a:p>
        </p:txBody>
      </p:sp>
      <p:sp>
        <p:nvSpPr>
          <p:cNvPr id="7" name="Text 5"/>
          <p:cNvSpPr/>
          <p:nvPr/>
        </p:nvSpPr>
        <p:spPr>
          <a:xfrm>
            <a:off x="310896" y="1371600"/>
            <a:ext cx="2615184" cy="118872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Hard-coded upper and lower limits on Heart Rate, Steps, and Sleep. Simple, fast, and interpretable. Flags absolute out-of-range values immediately.</a:t>
            </a:r>
            <a:endParaRPr lang="en-US" sz="1050" dirty="0"/>
          </a:p>
        </p:txBody>
      </p:sp>
      <p:sp>
        <p:nvSpPr>
          <p:cNvPr id="8" name="Text 6"/>
          <p:cNvSpPr/>
          <p:nvPr/>
        </p:nvSpPr>
        <p:spPr>
          <a:xfrm>
            <a:off x="310896" y="2651760"/>
            <a:ext cx="2615184" cy="25603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Key Parameters:</a:t>
            </a:r>
            <a:endParaRPr lang="en-US" sz="1000" dirty="0"/>
          </a:p>
        </p:txBody>
      </p:sp>
      <p:sp>
        <p:nvSpPr>
          <p:cNvPr id="9" name="Text 7"/>
          <p:cNvSpPr/>
          <p:nvPr/>
        </p:nvSpPr>
        <p:spPr>
          <a:xfrm>
            <a:off x="310896" y="2944368"/>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Heart Rate: 40 – 120 bpm</a:t>
            </a:r>
            <a:endParaRPr lang="en-US" sz="1000" dirty="0"/>
          </a:p>
        </p:txBody>
      </p:sp>
      <p:sp>
        <p:nvSpPr>
          <p:cNvPr id="10" name="Text 8"/>
          <p:cNvSpPr/>
          <p:nvPr/>
        </p:nvSpPr>
        <p:spPr>
          <a:xfrm>
            <a:off x="310896" y="3282696"/>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Daily Steps: 1,000 – 25,000</a:t>
            </a:r>
            <a:endParaRPr lang="en-US" sz="1000" dirty="0"/>
          </a:p>
        </p:txBody>
      </p:sp>
      <p:sp>
        <p:nvSpPr>
          <p:cNvPr id="11" name="Text 9"/>
          <p:cNvSpPr/>
          <p:nvPr/>
        </p:nvSpPr>
        <p:spPr>
          <a:xfrm>
            <a:off x="310896" y="3621024"/>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Sleep: 180 – 720 minutes</a:t>
            </a:r>
            <a:endParaRPr lang="en-US" sz="1000" dirty="0"/>
          </a:p>
        </p:txBody>
      </p:sp>
      <p:sp>
        <p:nvSpPr>
          <p:cNvPr id="12" name="Text 10"/>
          <p:cNvSpPr/>
          <p:nvPr/>
        </p:nvSpPr>
        <p:spPr>
          <a:xfrm>
            <a:off x="2578608" y="868680"/>
            <a:ext cx="365760" cy="32004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01</a:t>
            </a:r>
            <a:endParaRPr lang="en-US" sz="1200" dirty="0"/>
          </a:p>
        </p:txBody>
      </p:sp>
      <p:sp>
        <p:nvSpPr>
          <p:cNvPr id="13" name="Shape 11"/>
          <p:cNvSpPr/>
          <p:nvPr/>
        </p:nvSpPr>
        <p:spPr>
          <a:xfrm>
            <a:off x="3172968" y="822960"/>
            <a:ext cx="2834640" cy="4114800"/>
          </a:xfrm>
          <a:prstGeom prst="rect">
            <a:avLst/>
          </a:prstGeom>
          <a:solidFill>
            <a:srgbClr val="162A41"/>
          </a:solidFill>
          <a:ln w="12700">
            <a:solidFill>
              <a:srgbClr val="38BDF8"/>
            </a:solidFill>
            <a:prstDash val="solid"/>
          </a:ln>
          <a:effectLst>
            <a:outerShdw blurRad="101600" dist="38100" dir="8100000" algn="bl" rotWithShape="0">
              <a:srgbClr val="000000">
                <a:alpha val="22000"/>
              </a:srgbClr>
            </a:outerShdw>
          </a:effectLst>
        </p:spPr>
      </p:sp>
      <p:sp>
        <p:nvSpPr>
          <p:cNvPr id="14" name="Shape 12"/>
          <p:cNvSpPr/>
          <p:nvPr/>
        </p:nvSpPr>
        <p:spPr>
          <a:xfrm>
            <a:off x="3172968" y="822960"/>
            <a:ext cx="2834640" cy="457200"/>
          </a:xfrm>
          <a:prstGeom prst="rect">
            <a:avLst/>
          </a:prstGeom>
          <a:solidFill>
            <a:srgbClr val="38BDF8"/>
          </a:solidFill>
          <a:ln w="12700">
            <a:solidFill>
              <a:srgbClr val="38BDF8"/>
            </a:solidFill>
            <a:prstDash val="solid"/>
          </a:ln>
        </p:spPr>
      </p:sp>
      <p:sp>
        <p:nvSpPr>
          <p:cNvPr id="15" name="Text 13"/>
          <p:cNvSpPr/>
          <p:nvPr/>
        </p:nvSpPr>
        <p:spPr>
          <a:xfrm>
            <a:off x="3264408" y="822960"/>
            <a:ext cx="2651760" cy="45720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Residual-Based Detection</a:t>
            </a:r>
            <a:endParaRPr lang="en-US" sz="1200" dirty="0"/>
          </a:p>
        </p:txBody>
      </p:sp>
      <p:sp>
        <p:nvSpPr>
          <p:cNvPr id="16" name="Text 14"/>
          <p:cNvSpPr/>
          <p:nvPr/>
        </p:nvSpPr>
        <p:spPr>
          <a:xfrm>
            <a:off x="3282696" y="1371600"/>
            <a:ext cx="2615184" cy="118872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A 7-day rolling median is computed as the expected baseline. Any day where the actual value deviates by more than ±2 standard deviations is flagged as a statistical anomaly.</a:t>
            </a:r>
            <a:endParaRPr lang="en-US" sz="1050" dirty="0"/>
          </a:p>
        </p:txBody>
      </p:sp>
      <p:sp>
        <p:nvSpPr>
          <p:cNvPr id="17" name="Text 15"/>
          <p:cNvSpPr/>
          <p:nvPr/>
        </p:nvSpPr>
        <p:spPr>
          <a:xfrm>
            <a:off x="3282696" y="2651760"/>
            <a:ext cx="2615184" cy="256032"/>
          </a:xfrm>
          <a:prstGeom prst="rect">
            <a:avLst/>
          </a:prstGeom>
          <a:noFill/>
          <a:ln/>
        </p:spPr>
        <p:txBody>
          <a:bodyPr wrap="square" lIns="0" tIns="0" rIns="0" bIns="0" rtlCol="0" anchor="ctr"/>
          <a:lstStyle/>
          <a:p>
            <a:pPr marL="0" indent="0">
              <a:buNone/>
            </a:pPr>
            <a:r>
              <a:rPr lang="en-US" sz="1000" b="1" dirty="0">
                <a:solidFill>
                  <a:srgbClr val="38BDF8"/>
                </a:solidFill>
                <a:latin typeface="Calibri" pitchFamily="34" charset="0"/>
                <a:ea typeface="Calibri" pitchFamily="34" charset="-122"/>
                <a:cs typeface="Calibri" pitchFamily="34" charset="-120"/>
              </a:rPr>
              <a:t>Key Parameters:</a:t>
            </a:r>
            <a:endParaRPr lang="en-US" sz="1000" dirty="0"/>
          </a:p>
        </p:txBody>
      </p:sp>
      <p:sp>
        <p:nvSpPr>
          <p:cNvPr id="18" name="Text 16"/>
          <p:cNvSpPr/>
          <p:nvPr/>
        </p:nvSpPr>
        <p:spPr>
          <a:xfrm>
            <a:off x="3282696" y="2944368"/>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Window: 7-day rolling median</a:t>
            </a:r>
            <a:endParaRPr lang="en-US" sz="1000" dirty="0"/>
          </a:p>
        </p:txBody>
      </p:sp>
      <p:sp>
        <p:nvSpPr>
          <p:cNvPr id="19" name="Text 17"/>
          <p:cNvSpPr/>
          <p:nvPr/>
        </p:nvSpPr>
        <p:spPr>
          <a:xfrm>
            <a:off x="3282696" y="3282696"/>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Threshold: ±2 standard deviations</a:t>
            </a:r>
            <a:endParaRPr lang="en-US" sz="1000" dirty="0"/>
          </a:p>
        </p:txBody>
      </p:sp>
      <p:sp>
        <p:nvSpPr>
          <p:cNvPr id="20" name="Text 18"/>
          <p:cNvSpPr/>
          <p:nvPr/>
        </p:nvSpPr>
        <p:spPr>
          <a:xfrm>
            <a:off x="3282696" y="3621024"/>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Detects sudden spikes / drops</a:t>
            </a:r>
            <a:endParaRPr lang="en-US" sz="1000" dirty="0"/>
          </a:p>
        </p:txBody>
      </p:sp>
      <p:sp>
        <p:nvSpPr>
          <p:cNvPr id="21" name="Text 19"/>
          <p:cNvSpPr/>
          <p:nvPr/>
        </p:nvSpPr>
        <p:spPr>
          <a:xfrm>
            <a:off x="5550408" y="868680"/>
            <a:ext cx="365760" cy="32004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02</a:t>
            </a:r>
            <a:endParaRPr lang="en-US" sz="1200" dirty="0"/>
          </a:p>
        </p:txBody>
      </p:sp>
      <p:sp>
        <p:nvSpPr>
          <p:cNvPr id="22" name="Shape 20"/>
          <p:cNvSpPr/>
          <p:nvPr/>
        </p:nvSpPr>
        <p:spPr>
          <a:xfrm>
            <a:off x="6144768" y="822960"/>
            <a:ext cx="2834640" cy="4114800"/>
          </a:xfrm>
          <a:prstGeom prst="rect">
            <a:avLst/>
          </a:prstGeom>
          <a:solidFill>
            <a:srgbClr val="162A41"/>
          </a:solidFill>
          <a:ln w="12700">
            <a:solidFill>
              <a:srgbClr val="A78BFA"/>
            </a:solidFill>
            <a:prstDash val="solid"/>
          </a:ln>
          <a:effectLst>
            <a:outerShdw blurRad="101600" dist="38100" dir="8100000" algn="bl" rotWithShape="0">
              <a:srgbClr val="000000">
                <a:alpha val="22000"/>
              </a:srgbClr>
            </a:outerShdw>
          </a:effectLst>
        </p:spPr>
      </p:sp>
      <p:sp>
        <p:nvSpPr>
          <p:cNvPr id="23" name="Shape 21"/>
          <p:cNvSpPr/>
          <p:nvPr/>
        </p:nvSpPr>
        <p:spPr>
          <a:xfrm>
            <a:off x="6144768" y="822960"/>
            <a:ext cx="2834640" cy="457200"/>
          </a:xfrm>
          <a:prstGeom prst="rect">
            <a:avLst/>
          </a:prstGeom>
          <a:solidFill>
            <a:srgbClr val="A78BFA"/>
          </a:solidFill>
          <a:ln w="12700">
            <a:solidFill>
              <a:srgbClr val="A78BFA"/>
            </a:solidFill>
            <a:prstDash val="solid"/>
          </a:ln>
        </p:spPr>
      </p:sp>
      <p:sp>
        <p:nvSpPr>
          <p:cNvPr id="24" name="Text 22"/>
          <p:cNvSpPr/>
          <p:nvPr/>
        </p:nvSpPr>
        <p:spPr>
          <a:xfrm>
            <a:off x="6236208" y="822960"/>
            <a:ext cx="2651760" cy="45720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DBSCAN Outlier Detection</a:t>
            </a:r>
            <a:endParaRPr lang="en-US" sz="1200" dirty="0"/>
          </a:p>
        </p:txBody>
      </p:sp>
      <p:sp>
        <p:nvSpPr>
          <p:cNvPr id="25" name="Text 23"/>
          <p:cNvSpPr/>
          <p:nvPr/>
        </p:nvSpPr>
        <p:spPr>
          <a:xfrm>
            <a:off x="6254496" y="1371600"/>
            <a:ext cx="2615184" cy="118872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Machine learning clustering on aggregated user profiles. Users labelled -1 (do not fit any cluster) are structural outliers across all health dimensions.</a:t>
            </a:r>
            <a:endParaRPr lang="en-US" sz="1050" dirty="0"/>
          </a:p>
        </p:txBody>
      </p:sp>
      <p:sp>
        <p:nvSpPr>
          <p:cNvPr id="26" name="Text 24"/>
          <p:cNvSpPr/>
          <p:nvPr/>
        </p:nvSpPr>
        <p:spPr>
          <a:xfrm>
            <a:off x="6254496" y="2651760"/>
            <a:ext cx="2615184" cy="256032"/>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Key Parameters:</a:t>
            </a:r>
            <a:endParaRPr lang="en-US" sz="1000" dirty="0"/>
          </a:p>
        </p:txBody>
      </p:sp>
      <p:sp>
        <p:nvSpPr>
          <p:cNvPr id="27" name="Text 25"/>
          <p:cNvSpPr/>
          <p:nvPr/>
        </p:nvSpPr>
        <p:spPr>
          <a:xfrm>
            <a:off x="6254496" y="2944368"/>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eps = 2.5, min_samples = 2</a:t>
            </a:r>
            <a:endParaRPr lang="en-US" sz="1000" dirty="0"/>
          </a:p>
        </p:txBody>
      </p:sp>
      <p:sp>
        <p:nvSpPr>
          <p:cNvPr id="28" name="Text 26"/>
          <p:cNvSpPr/>
          <p:nvPr/>
        </p:nvSpPr>
        <p:spPr>
          <a:xfrm>
            <a:off x="6254496" y="3282696"/>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Per-user average profile</a:t>
            </a:r>
            <a:endParaRPr lang="en-US" sz="1000" dirty="0"/>
          </a:p>
        </p:txBody>
      </p:sp>
      <p:sp>
        <p:nvSpPr>
          <p:cNvPr id="29" name="Text 27"/>
          <p:cNvSpPr/>
          <p:nvPr/>
        </p:nvSpPr>
        <p:spPr>
          <a:xfrm>
            <a:off x="6254496" y="3621024"/>
            <a:ext cx="2615184" cy="310896"/>
          </a:xfrm>
          <a:prstGeom prst="rect">
            <a:avLst/>
          </a:prstGeom>
          <a:noFill/>
          <a:ln/>
        </p:spPr>
        <p:txBody>
          <a:bodyPr wrap="square" rtlCol="0" anchor="ctr"/>
          <a:lstStyle/>
          <a:p>
            <a:pPr marL="342900" indent="-342900">
              <a:buSzPct val="100000"/>
              <a:buChar char="•"/>
            </a:pPr>
            <a:r>
              <a:rPr lang="en-US" sz="1000" dirty="0">
                <a:solidFill>
                  <a:srgbClr val="DCE8F5"/>
                </a:solidFill>
                <a:latin typeface="Calibri" pitchFamily="34" charset="0"/>
                <a:ea typeface="Calibri" pitchFamily="34" charset="-122"/>
                <a:cs typeface="Calibri" pitchFamily="34" charset="-120"/>
              </a:rPr>
              <a:t>Label -1 = structural outlier</a:t>
            </a:r>
            <a:endParaRPr lang="en-US" sz="1000" dirty="0"/>
          </a:p>
        </p:txBody>
      </p:sp>
      <p:sp>
        <p:nvSpPr>
          <p:cNvPr id="30" name="Text 28"/>
          <p:cNvSpPr/>
          <p:nvPr/>
        </p:nvSpPr>
        <p:spPr>
          <a:xfrm>
            <a:off x="8522208" y="868680"/>
            <a:ext cx="365760" cy="32004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03</a:t>
            </a:r>
            <a:endParaRPr lang="en-US" sz="1200" dirty="0"/>
          </a:p>
        </p:txBody>
      </p:sp>
      <p:sp>
        <p:nvSpPr>
          <p:cNvPr id="31" name="Shape 29"/>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600" b="1" dirty="0">
                <a:solidFill>
                  <a:srgbClr val="F59E0B"/>
                </a:solidFill>
                <a:latin typeface="Calibri" pitchFamily="34" charset="0"/>
                <a:ea typeface="Calibri" pitchFamily="34" charset="-122"/>
                <a:cs typeface="Calibri" pitchFamily="34" charset="-120"/>
              </a:rPr>
              <a:t>Method 1 — Threshold Violations</a:t>
            </a:r>
            <a:endParaRPr lang="en-US" sz="2600" dirty="0"/>
          </a:p>
        </p:txBody>
      </p:sp>
      <p:sp>
        <p:nvSpPr>
          <p:cNvPr id="4" name="Text 2"/>
          <p:cNvSpPr/>
          <p:nvPr/>
        </p:nvSpPr>
        <p:spPr>
          <a:xfrm>
            <a:off x="365760" y="804672"/>
            <a:ext cx="8229600" cy="292608"/>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How it works:</a:t>
            </a:r>
            <a:endParaRPr lang="en-US" sz="1300" dirty="0"/>
          </a:p>
        </p:txBody>
      </p:sp>
      <p:sp>
        <p:nvSpPr>
          <p:cNvPr id="5" name="Text 3"/>
          <p:cNvSpPr/>
          <p:nvPr/>
        </p:nvSpPr>
        <p:spPr>
          <a:xfrm>
            <a:off x="365760" y="1097280"/>
            <a:ext cx="8229600" cy="685800"/>
          </a:xfrm>
          <a:prstGeom prst="rect">
            <a:avLst/>
          </a:prstGeom>
          <a:noFill/>
          <a:ln/>
        </p:spPr>
        <p:txBody>
          <a:bodyPr wrap="square" lIns="0" tIns="0" rIns="0" bIns="0" rtlCol="0" anchor="ctr"/>
          <a:lstStyle/>
          <a:p>
            <a:pPr marL="0" indent="0">
              <a:buNone/>
            </a:pPr>
            <a:r>
              <a:rPr lang="en-US" sz="1150" dirty="0">
                <a:solidFill>
                  <a:srgbClr val="7A9ABB"/>
                </a:solidFill>
                <a:latin typeface="Calibri" pitchFamily="34" charset="0"/>
                <a:ea typeface="Calibri" pitchFamily="34" charset="-122"/>
                <a:cs typeface="Calibri" pitchFamily="34" charset="-120"/>
              </a:rPr>
              <a:t>Hard-coded clinical upper and lower bounds are applied to each health metric. Any daily average that exceeds these limits is immediately flagged as a threshold violation. This method is the most interpretable — a doctor or analyst can instantly understand why a day was flagged.</a:t>
            </a:r>
            <a:endParaRPr lang="en-US" sz="1150" dirty="0"/>
          </a:p>
        </p:txBody>
      </p:sp>
      <p:sp>
        <p:nvSpPr>
          <p:cNvPr id="6" name="Shape 4"/>
          <p:cNvSpPr/>
          <p:nvPr/>
        </p:nvSpPr>
        <p:spPr>
          <a:xfrm>
            <a:off x="201168" y="1920240"/>
            <a:ext cx="2834640" cy="2834640"/>
          </a:xfrm>
          <a:prstGeom prst="rect">
            <a:avLst/>
          </a:prstGeom>
          <a:solidFill>
            <a:srgbClr val="162A41"/>
          </a:solidFill>
          <a:ln w="12700">
            <a:solidFill>
              <a:srgbClr val="38BDF8"/>
            </a:solidFill>
            <a:prstDash val="solid"/>
          </a:ln>
          <a:effectLst>
            <a:outerShdw blurRad="101600" dist="38100" dir="8100000" algn="bl" rotWithShape="0">
              <a:srgbClr val="000000">
                <a:alpha val="22000"/>
              </a:srgbClr>
            </a:outerShdw>
          </a:effectLst>
        </p:spPr>
      </p:sp>
      <p:sp>
        <p:nvSpPr>
          <p:cNvPr id="7" name="Shape 5"/>
          <p:cNvSpPr/>
          <p:nvPr/>
        </p:nvSpPr>
        <p:spPr>
          <a:xfrm>
            <a:off x="201168" y="1920240"/>
            <a:ext cx="2834640" cy="384048"/>
          </a:xfrm>
          <a:prstGeom prst="rect">
            <a:avLst/>
          </a:prstGeom>
          <a:solidFill>
            <a:srgbClr val="38BDF8"/>
          </a:solidFill>
          <a:ln w="12700">
            <a:solidFill>
              <a:srgbClr val="38BDF8"/>
            </a:solidFill>
            <a:prstDash val="solid"/>
          </a:ln>
        </p:spPr>
      </p:sp>
      <p:sp>
        <p:nvSpPr>
          <p:cNvPr id="8" name="Text 6"/>
          <p:cNvSpPr/>
          <p:nvPr/>
        </p:nvSpPr>
        <p:spPr>
          <a:xfrm>
            <a:off x="292608" y="1920240"/>
            <a:ext cx="265176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Heart Rate</a:t>
            </a:r>
            <a:endParaRPr lang="en-US" sz="1300" dirty="0"/>
          </a:p>
        </p:txBody>
      </p:sp>
      <p:sp>
        <p:nvSpPr>
          <p:cNvPr id="9" name="Text 7"/>
          <p:cNvSpPr/>
          <p:nvPr/>
        </p:nvSpPr>
        <p:spPr>
          <a:xfrm>
            <a:off x="310896" y="2423160"/>
            <a:ext cx="2615184" cy="228600"/>
          </a:xfrm>
          <a:prstGeom prst="rect">
            <a:avLst/>
          </a:prstGeom>
          <a:noFill/>
          <a:ln/>
        </p:spPr>
        <p:txBody>
          <a:bodyPr wrap="square" lIns="0" tIns="0" rIns="0" bIns="0" rtlCol="0" anchor="ctr"/>
          <a:lstStyle/>
          <a:p>
            <a:pPr marL="0" indent="0">
              <a:buNone/>
            </a:pPr>
            <a:r>
              <a:rPr lang="en-US" sz="1000" b="1" dirty="0">
                <a:solidFill>
                  <a:srgbClr val="38BDF8"/>
                </a:solidFill>
                <a:latin typeface="Calibri" pitchFamily="34" charset="0"/>
                <a:ea typeface="Calibri" pitchFamily="34" charset="-122"/>
                <a:cs typeface="Calibri" pitchFamily="34" charset="-120"/>
              </a:rPr>
              <a:t>Min (Lower Bound)</a:t>
            </a:r>
            <a:endParaRPr lang="en-US" sz="1000" dirty="0"/>
          </a:p>
        </p:txBody>
      </p:sp>
      <p:sp>
        <p:nvSpPr>
          <p:cNvPr id="10" name="Text 8"/>
          <p:cNvSpPr/>
          <p:nvPr/>
        </p:nvSpPr>
        <p:spPr>
          <a:xfrm>
            <a:off x="310896" y="265176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40 bpm</a:t>
            </a:r>
            <a:endParaRPr lang="en-US" sz="1300" dirty="0"/>
          </a:p>
        </p:txBody>
      </p:sp>
      <p:sp>
        <p:nvSpPr>
          <p:cNvPr id="11" name="Text 9"/>
          <p:cNvSpPr/>
          <p:nvPr/>
        </p:nvSpPr>
        <p:spPr>
          <a:xfrm>
            <a:off x="310896" y="3017520"/>
            <a:ext cx="2615184" cy="228600"/>
          </a:xfrm>
          <a:prstGeom prst="rect">
            <a:avLst/>
          </a:prstGeom>
          <a:noFill/>
          <a:ln/>
        </p:spPr>
        <p:txBody>
          <a:bodyPr wrap="square" lIns="0" tIns="0" rIns="0" bIns="0" rtlCol="0" anchor="ctr"/>
          <a:lstStyle/>
          <a:p>
            <a:pPr marL="0" indent="0">
              <a:buNone/>
            </a:pPr>
            <a:r>
              <a:rPr lang="en-US" sz="1000" b="1" dirty="0">
                <a:solidFill>
                  <a:srgbClr val="38BDF8"/>
                </a:solidFill>
                <a:latin typeface="Calibri" pitchFamily="34" charset="0"/>
                <a:ea typeface="Calibri" pitchFamily="34" charset="-122"/>
                <a:cs typeface="Calibri" pitchFamily="34" charset="-120"/>
              </a:rPr>
              <a:t>Max (Upper Bound)</a:t>
            </a:r>
            <a:endParaRPr lang="en-US" sz="1000" dirty="0"/>
          </a:p>
        </p:txBody>
      </p:sp>
      <p:sp>
        <p:nvSpPr>
          <p:cNvPr id="12" name="Text 10"/>
          <p:cNvSpPr/>
          <p:nvPr/>
        </p:nvSpPr>
        <p:spPr>
          <a:xfrm>
            <a:off x="310896" y="324612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120 bpm</a:t>
            </a:r>
            <a:endParaRPr lang="en-US" sz="1300" dirty="0"/>
          </a:p>
        </p:txBody>
      </p:sp>
      <p:sp>
        <p:nvSpPr>
          <p:cNvPr id="13" name="Text 11"/>
          <p:cNvSpPr/>
          <p:nvPr/>
        </p:nvSpPr>
        <p:spPr>
          <a:xfrm>
            <a:off x="310896" y="3611880"/>
            <a:ext cx="2615184" cy="685800"/>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Below 40 = bradycardia risk. Above 120 = tachycardia concern.</a:t>
            </a:r>
            <a:endParaRPr lang="en-US" sz="950" dirty="0"/>
          </a:p>
        </p:txBody>
      </p:sp>
      <p:sp>
        <p:nvSpPr>
          <p:cNvPr id="14" name="Shape 12"/>
          <p:cNvSpPr/>
          <p:nvPr/>
        </p:nvSpPr>
        <p:spPr>
          <a:xfrm>
            <a:off x="3172968" y="1920240"/>
            <a:ext cx="2834640" cy="2834640"/>
          </a:xfrm>
          <a:prstGeom prst="rect">
            <a:avLst/>
          </a:prstGeom>
          <a:solidFill>
            <a:srgbClr val="162A41"/>
          </a:solidFill>
          <a:ln w="12700">
            <a:solidFill>
              <a:srgbClr val="10B981"/>
            </a:solidFill>
            <a:prstDash val="solid"/>
          </a:ln>
          <a:effectLst>
            <a:outerShdw blurRad="101600" dist="38100" dir="8100000" algn="bl" rotWithShape="0">
              <a:srgbClr val="000000">
                <a:alpha val="22000"/>
              </a:srgbClr>
            </a:outerShdw>
          </a:effectLst>
        </p:spPr>
      </p:sp>
      <p:sp>
        <p:nvSpPr>
          <p:cNvPr id="15" name="Shape 13"/>
          <p:cNvSpPr/>
          <p:nvPr/>
        </p:nvSpPr>
        <p:spPr>
          <a:xfrm>
            <a:off x="3172968" y="1920240"/>
            <a:ext cx="2834640" cy="384048"/>
          </a:xfrm>
          <a:prstGeom prst="rect">
            <a:avLst/>
          </a:prstGeom>
          <a:solidFill>
            <a:srgbClr val="10B981"/>
          </a:solidFill>
          <a:ln w="12700">
            <a:solidFill>
              <a:srgbClr val="10B981"/>
            </a:solidFill>
            <a:prstDash val="solid"/>
          </a:ln>
        </p:spPr>
      </p:sp>
      <p:sp>
        <p:nvSpPr>
          <p:cNvPr id="16" name="Text 14"/>
          <p:cNvSpPr/>
          <p:nvPr/>
        </p:nvSpPr>
        <p:spPr>
          <a:xfrm>
            <a:off x="3264408" y="1920240"/>
            <a:ext cx="265176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Daily Steps</a:t>
            </a:r>
            <a:endParaRPr lang="en-US" sz="1300" dirty="0"/>
          </a:p>
        </p:txBody>
      </p:sp>
      <p:sp>
        <p:nvSpPr>
          <p:cNvPr id="17" name="Text 15"/>
          <p:cNvSpPr/>
          <p:nvPr/>
        </p:nvSpPr>
        <p:spPr>
          <a:xfrm>
            <a:off x="3282696" y="2423160"/>
            <a:ext cx="2615184"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Min (Lower Bound)</a:t>
            </a:r>
            <a:endParaRPr lang="en-US" sz="1000" dirty="0"/>
          </a:p>
        </p:txBody>
      </p:sp>
      <p:sp>
        <p:nvSpPr>
          <p:cNvPr id="18" name="Text 16"/>
          <p:cNvSpPr/>
          <p:nvPr/>
        </p:nvSpPr>
        <p:spPr>
          <a:xfrm>
            <a:off x="3282696" y="265176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1,000 steps</a:t>
            </a:r>
            <a:endParaRPr lang="en-US" sz="1300" dirty="0"/>
          </a:p>
        </p:txBody>
      </p:sp>
      <p:sp>
        <p:nvSpPr>
          <p:cNvPr id="19" name="Text 17"/>
          <p:cNvSpPr/>
          <p:nvPr/>
        </p:nvSpPr>
        <p:spPr>
          <a:xfrm>
            <a:off x="3282696" y="3017520"/>
            <a:ext cx="2615184"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Max (Upper Bound)</a:t>
            </a:r>
            <a:endParaRPr lang="en-US" sz="1000" dirty="0"/>
          </a:p>
        </p:txBody>
      </p:sp>
      <p:sp>
        <p:nvSpPr>
          <p:cNvPr id="20" name="Text 18"/>
          <p:cNvSpPr/>
          <p:nvPr/>
        </p:nvSpPr>
        <p:spPr>
          <a:xfrm>
            <a:off x="3282696" y="324612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25,000 steps</a:t>
            </a:r>
            <a:endParaRPr lang="en-US" sz="1300" dirty="0"/>
          </a:p>
        </p:txBody>
      </p:sp>
      <p:sp>
        <p:nvSpPr>
          <p:cNvPr id="21" name="Text 19"/>
          <p:cNvSpPr/>
          <p:nvPr/>
        </p:nvSpPr>
        <p:spPr>
          <a:xfrm>
            <a:off x="3282696" y="3611880"/>
            <a:ext cx="2615184" cy="685800"/>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Below 1,000 = inactivity/sensor error. Above 25,000 = unrealistic.</a:t>
            </a:r>
            <a:endParaRPr lang="en-US" sz="950" dirty="0"/>
          </a:p>
        </p:txBody>
      </p:sp>
      <p:sp>
        <p:nvSpPr>
          <p:cNvPr id="22" name="Shape 20"/>
          <p:cNvSpPr/>
          <p:nvPr/>
        </p:nvSpPr>
        <p:spPr>
          <a:xfrm>
            <a:off x="6144768" y="1920240"/>
            <a:ext cx="2834640" cy="2834640"/>
          </a:xfrm>
          <a:prstGeom prst="rect">
            <a:avLst/>
          </a:prstGeom>
          <a:solidFill>
            <a:srgbClr val="162A41"/>
          </a:solidFill>
          <a:ln w="12700">
            <a:solidFill>
              <a:srgbClr val="A78BFA"/>
            </a:solidFill>
            <a:prstDash val="solid"/>
          </a:ln>
          <a:effectLst>
            <a:outerShdw blurRad="101600" dist="38100" dir="8100000" algn="bl" rotWithShape="0">
              <a:srgbClr val="000000">
                <a:alpha val="22000"/>
              </a:srgbClr>
            </a:outerShdw>
          </a:effectLst>
        </p:spPr>
      </p:sp>
      <p:sp>
        <p:nvSpPr>
          <p:cNvPr id="23" name="Shape 21"/>
          <p:cNvSpPr/>
          <p:nvPr/>
        </p:nvSpPr>
        <p:spPr>
          <a:xfrm>
            <a:off x="6144768" y="1920240"/>
            <a:ext cx="2834640" cy="384048"/>
          </a:xfrm>
          <a:prstGeom prst="rect">
            <a:avLst/>
          </a:prstGeom>
          <a:solidFill>
            <a:srgbClr val="A78BFA"/>
          </a:solidFill>
          <a:ln w="12700">
            <a:solidFill>
              <a:srgbClr val="A78BFA"/>
            </a:solidFill>
            <a:prstDash val="solid"/>
          </a:ln>
        </p:spPr>
      </p:sp>
      <p:sp>
        <p:nvSpPr>
          <p:cNvPr id="24" name="Text 22"/>
          <p:cNvSpPr/>
          <p:nvPr/>
        </p:nvSpPr>
        <p:spPr>
          <a:xfrm>
            <a:off x="6236208" y="1920240"/>
            <a:ext cx="2651760" cy="38404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Sleep Duration</a:t>
            </a:r>
            <a:endParaRPr lang="en-US" sz="1300" dirty="0"/>
          </a:p>
        </p:txBody>
      </p:sp>
      <p:sp>
        <p:nvSpPr>
          <p:cNvPr id="25" name="Text 23"/>
          <p:cNvSpPr/>
          <p:nvPr/>
        </p:nvSpPr>
        <p:spPr>
          <a:xfrm>
            <a:off x="6254496" y="2423160"/>
            <a:ext cx="2615184" cy="228600"/>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Min (Lower Bound)</a:t>
            </a:r>
            <a:endParaRPr lang="en-US" sz="1000" dirty="0"/>
          </a:p>
        </p:txBody>
      </p:sp>
      <p:sp>
        <p:nvSpPr>
          <p:cNvPr id="26" name="Text 24"/>
          <p:cNvSpPr/>
          <p:nvPr/>
        </p:nvSpPr>
        <p:spPr>
          <a:xfrm>
            <a:off x="6254496" y="265176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180 min (3h)</a:t>
            </a:r>
            <a:endParaRPr lang="en-US" sz="1300" dirty="0"/>
          </a:p>
        </p:txBody>
      </p:sp>
      <p:sp>
        <p:nvSpPr>
          <p:cNvPr id="27" name="Text 25"/>
          <p:cNvSpPr/>
          <p:nvPr/>
        </p:nvSpPr>
        <p:spPr>
          <a:xfrm>
            <a:off x="6254496" y="3017520"/>
            <a:ext cx="2615184" cy="228600"/>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Max (Upper Bound)</a:t>
            </a:r>
            <a:endParaRPr lang="en-US" sz="1000" dirty="0"/>
          </a:p>
        </p:txBody>
      </p:sp>
      <p:sp>
        <p:nvSpPr>
          <p:cNvPr id="28" name="Text 26"/>
          <p:cNvSpPr/>
          <p:nvPr/>
        </p:nvSpPr>
        <p:spPr>
          <a:xfrm>
            <a:off x="6254496" y="3246120"/>
            <a:ext cx="2615184" cy="256032"/>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720 min (12h)</a:t>
            </a:r>
            <a:endParaRPr lang="en-US" sz="1300" dirty="0"/>
          </a:p>
        </p:txBody>
      </p:sp>
      <p:sp>
        <p:nvSpPr>
          <p:cNvPr id="29" name="Text 27"/>
          <p:cNvSpPr/>
          <p:nvPr/>
        </p:nvSpPr>
        <p:spPr>
          <a:xfrm>
            <a:off x="6254496" y="3611880"/>
            <a:ext cx="2615184" cy="685800"/>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Below 3h = insufficient rest. Above 12h = hypersomnia flag.</a:t>
            </a:r>
            <a:endParaRPr lang="en-US" sz="950" dirty="0"/>
          </a:p>
        </p:txBody>
      </p:sp>
      <p:sp>
        <p:nvSpPr>
          <p:cNvPr id="30" name="Shape 28"/>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8BDF8"/>
          </a:solidFill>
          <a:ln w="12700">
            <a:solidFill>
              <a:srgbClr val="38BDF8"/>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200" b="1" dirty="0">
                <a:solidFill>
                  <a:srgbClr val="38BDF8"/>
                </a:solidFill>
                <a:latin typeface="Calibri" pitchFamily="34" charset="0"/>
                <a:ea typeface="Calibri" pitchFamily="34" charset="-122"/>
                <a:cs typeface="Calibri" pitchFamily="34" charset="-120"/>
              </a:rPr>
              <a:t>Method 2 — Residual-Based Detection (Rolling Median ± 2σ)</a:t>
            </a:r>
            <a:endParaRPr lang="en-US" sz="2200" dirty="0"/>
          </a:p>
        </p:txBody>
      </p:sp>
      <p:sp>
        <p:nvSpPr>
          <p:cNvPr id="4" name="Text 2"/>
          <p:cNvSpPr/>
          <p:nvPr/>
        </p:nvSpPr>
        <p:spPr>
          <a:xfrm>
            <a:off x="365760" y="804672"/>
            <a:ext cx="4114800" cy="292608"/>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How it works:</a:t>
            </a:r>
            <a:endParaRPr lang="en-US" sz="1300" dirty="0"/>
          </a:p>
        </p:txBody>
      </p:sp>
      <p:sp>
        <p:nvSpPr>
          <p:cNvPr id="5" name="Text 3"/>
          <p:cNvSpPr/>
          <p:nvPr/>
        </p:nvSpPr>
        <p:spPr>
          <a:xfrm>
            <a:off x="365760" y="1097280"/>
            <a:ext cx="4114800" cy="1828800"/>
          </a:xfrm>
          <a:prstGeom prst="rect">
            <a:avLst/>
          </a:prstGeom>
          <a:noFill/>
          <a:ln/>
        </p:spPr>
        <p:txBody>
          <a:bodyPr wrap="square" lIns="0" tIns="0" rIns="0" bIns="0" rtlCol="0" anchor="ctr"/>
          <a:lstStyle/>
          <a:p>
            <a:pPr marL="0" indent="0">
              <a:buNone/>
            </a:pPr>
            <a:r>
              <a:rPr lang="en-US" sz="1150" dirty="0">
                <a:solidFill>
                  <a:srgbClr val="7A9ABB"/>
                </a:solidFill>
                <a:latin typeface="Calibri" pitchFamily="34" charset="0"/>
                <a:ea typeface="Calibri" pitchFamily="34" charset="-122"/>
                <a:cs typeface="Calibri" pitchFamily="34" charset="-120"/>
              </a:rPr>
              <a:t>A rolling 7-day median is computed as the expected baseline for each metric. Any day where the actual value deviates by more than ±2 standard deviations from this baseline is flagged as a statistical anomaly.</a:t>
            </a:r>
            <a:endParaRPr lang="en-US" sz="1150" dirty="0"/>
          </a:p>
          <a:p>
            <a:pPr marL="0" indent="0">
              <a:buNone/>
            </a:pPr>
            <a:endParaRPr lang="en-US" sz="1150" dirty="0"/>
          </a:p>
          <a:p>
            <a:pPr marL="0" indent="0">
              <a:buNone/>
            </a:pPr>
            <a:r>
              <a:rPr lang="en-US" sz="1150" dirty="0">
                <a:solidFill>
                  <a:srgbClr val="7A9ABB"/>
                </a:solidFill>
                <a:latin typeface="Calibri" pitchFamily="34" charset="0"/>
                <a:ea typeface="Calibri" pitchFamily="34" charset="-122"/>
                <a:cs typeface="Calibri" pitchFamily="34" charset="-120"/>
              </a:rPr>
              <a:t>This method detects sudden, unexpected changes relative to the user's recent pattern — even if the absolute value is technically within normal range.</a:t>
            </a:r>
            <a:endParaRPr lang="en-US" sz="1150" dirty="0"/>
          </a:p>
        </p:txBody>
      </p:sp>
      <p:sp>
        <p:nvSpPr>
          <p:cNvPr id="6" name="Text 4"/>
          <p:cNvSpPr/>
          <p:nvPr/>
        </p:nvSpPr>
        <p:spPr>
          <a:xfrm>
            <a:off x="365760" y="3017520"/>
            <a:ext cx="4114800" cy="292608"/>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Algorithm Steps:</a:t>
            </a:r>
            <a:endParaRPr lang="en-US" sz="1200" dirty="0"/>
          </a:p>
        </p:txBody>
      </p:sp>
      <p:sp>
        <p:nvSpPr>
          <p:cNvPr id="7" name="Shape 5"/>
          <p:cNvSpPr/>
          <p:nvPr/>
        </p:nvSpPr>
        <p:spPr>
          <a:xfrm>
            <a:off x="365760" y="3383280"/>
            <a:ext cx="256032" cy="256032"/>
          </a:xfrm>
          <a:prstGeom prst="rect">
            <a:avLst/>
          </a:prstGeom>
          <a:solidFill>
            <a:srgbClr val="38BDF8"/>
          </a:solidFill>
          <a:ln w="12700">
            <a:solidFill>
              <a:srgbClr val="38BDF8"/>
            </a:solidFill>
            <a:prstDash val="solid"/>
          </a:ln>
        </p:spPr>
      </p:sp>
      <p:sp>
        <p:nvSpPr>
          <p:cNvPr id="8" name="Text 6"/>
          <p:cNvSpPr/>
          <p:nvPr/>
        </p:nvSpPr>
        <p:spPr>
          <a:xfrm>
            <a:off x="365760" y="3383280"/>
            <a:ext cx="256032" cy="256032"/>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685800" y="3383280"/>
            <a:ext cx="3749040" cy="256032"/>
          </a:xfrm>
          <a:prstGeom prst="rect">
            <a:avLst/>
          </a:prstGeom>
          <a:noFill/>
          <a:ln/>
        </p:spPr>
        <p:txBody>
          <a:bodyPr wrap="square" lIns="0" tIns="0" rIns="0" bIns="0" rtlCol="0" anchor="ctr"/>
          <a:lstStyle/>
          <a:p>
            <a:pPr marL="0" indent="0">
              <a:buNone/>
            </a:pPr>
            <a:r>
              <a:rPr lang="en-US" sz="1050" dirty="0">
                <a:solidFill>
                  <a:srgbClr val="DCE8F5"/>
                </a:solidFill>
                <a:latin typeface="Calibri" pitchFamily="34" charset="0"/>
                <a:ea typeface="Calibri" pitchFamily="34" charset="-122"/>
                <a:cs typeface="Calibri" pitchFamily="34" charset="-120"/>
              </a:rPr>
              <a:t>Compute 7-day rolling median for each metric</a:t>
            </a:r>
            <a:endParaRPr lang="en-US" sz="1050" dirty="0"/>
          </a:p>
        </p:txBody>
      </p:sp>
      <p:sp>
        <p:nvSpPr>
          <p:cNvPr id="10" name="Shape 8"/>
          <p:cNvSpPr/>
          <p:nvPr/>
        </p:nvSpPr>
        <p:spPr>
          <a:xfrm>
            <a:off x="365760" y="3694176"/>
            <a:ext cx="256032" cy="256032"/>
          </a:xfrm>
          <a:prstGeom prst="rect">
            <a:avLst/>
          </a:prstGeom>
          <a:solidFill>
            <a:srgbClr val="38BDF8"/>
          </a:solidFill>
          <a:ln w="12700">
            <a:solidFill>
              <a:srgbClr val="38BDF8"/>
            </a:solidFill>
            <a:prstDash val="solid"/>
          </a:ln>
        </p:spPr>
      </p:sp>
      <p:sp>
        <p:nvSpPr>
          <p:cNvPr id="11" name="Text 9"/>
          <p:cNvSpPr/>
          <p:nvPr/>
        </p:nvSpPr>
        <p:spPr>
          <a:xfrm>
            <a:off x="365760" y="3694176"/>
            <a:ext cx="256032" cy="256032"/>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685800" y="3694176"/>
            <a:ext cx="3749040" cy="256032"/>
          </a:xfrm>
          <a:prstGeom prst="rect">
            <a:avLst/>
          </a:prstGeom>
          <a:noFill/>
          <a:ln/>
        </p:spPr>
        <p:txBody>
          <a:bodyPr wrap="square" lIns="0" tIns="0" rIns="0" bIns="0" rtlCol="0" anchor="ctr"/>
          <a:lstStyle/>
          <a:p>
            <a:pPr marL="0" indent="0">
              <a:buNone/>
            </a:pPr>
            <a:r>
              <a:rPr lang="en-US" sz="1050" dirty="0">
                <a:solidFill>
                  <a:srgbClr val="DCE8F5"/>
                </a:solidFill>
                <a:latin typeface="Calibri" pitchFamily="34" charset="0"/>
                <a:ea typeface="Calibri" pitchFamily="34" charset="-122"/>
                <a:cs typeface="Calibri" pitchFamily="34" charset="-120"/>
              </a:rPr>
              <a:t>Compute 7-day rolling standard deviation</a:t>
            </a:r>
            <a:endParaRPr lang="en-US" sz="1050" dirty="0"/>
          </a:p>
        </p:txBody>
      </p:sp>
      <p:sp>
        <p:nvSpPr>
          <p:cNvPr id="13" name="Shape 11"/>
          <p:cNvSpPr/>
          <p:nvPr/>
        </p:nvSpPr>
        <p:spPr>
          <a:xfrm>
            <a:off x="365760" y="4005072"/>
            <a:ext cx="256032" cy="256032"/>
          </a:xfrm>
          <a:prstGeom prst="rect">
            <a:avLst/>
          </a:prstGeom>
          <a:solidFill>
            <a:srgbClr val="38BDF8"/>
          </a:solidFill>
          <a:ln w="12700">
            <a:solidFill>
              <a:srgbClr val="38BDF8"/>
            </a:solidFill>
            <a:prstDash val="solid"/>
          </a:ln>
        </p:spPr>
      </p:sp>
      <p:sp>
        <p:nvSpPr>
          <p:cNvPr id="14" name="Text 12"/>
          <p:cNvSpPr/>
          <p:nvPr/>
        </p:nvSpPr>
        <p:spPr>
          <a:xfrm>
            <a:off x="365760" y="4005072"/>
            <a:ext cx="256032" cy="256032"/>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685800" y="4005072"/>
            <a:ext cx="3749040" cy="256032"/>
          </a:xfrm>
          <a:prstGeom prst="rect">
            <a:avLst/>
          </a:prstGeom>
          <a:noFill/>
          <a:ln/>
        </p:spPr>
        <p:txBody>
          <a:bodyPr wrap="square" lIns="0" tIns="0" rIns="0" bIns="0" rtlCol="0" anchor="ctr"/>
          <a:lstStyle/>
          <a:p>
            <a:pPr marL="0" indent="0">
              <a:buNone/>
            </a:pPr>
            <a:r>
              <a:rPr lang="en-US" sz="1050" dirty="0">
                <a:solidFill>
                  <a:srgbClr val="DCE8F5"/>
                </a:solidFill>
                <a:latin typeface="Calibri" pitchFamily="34" charset="0"/>
                <a:ea typeface="Calibri" pitchFamily="34" charset="-122"/>
                <a:cs typeface="Calibri" pitchFamily="34" charset="-120"/>
              </a:rPr>
              <a:t>Calculate daily residual: | actual − median |</a:t>
            </a:r>
            <a:endParaRPr lang="en-US" sz="1050" dirty="0"/>
          </a:p>
        </p:txBody>
      </p:sp>
      <p:sp>
        <p:nvSpPr>
          <p:cNvPr id="16" name="Shape 14"/>
          <p:cNvSpPr/>
          <p:nvPr/>
        </p:nvSpPr>
        <p:spPr>
          <a:xfrm>
            <a:off x="365760" y="4315968"/>
            <a:ext cx="256032" cy="256032"/>
          </a:xfrm>
          <a:prstGeom prst="rect">
            <a:avLst/>
          </a:prstGeom>
          <a:solidFill>
            <a:srgbClr val="38BDF8"/>
          </a:solidFill>
          <a:ln w="12700">
            <a:solidFill>
              <a:srgbClr val="38BDF8"/>
            </a:solidFill>
            <a:prstDash val="solid"/>
          </a:ln>
        </p:spPr>
      </p:sp>
      <p:sp>
        <p:nvSpPr>
          <p:cNvPr id="17" name="Text 15"/>
          <p:cNvSpPr/>
          <p:nvPr/>
        </p:nvSpPr>
        <p:spPr>
          <a:xfrm>
            <a:off x="365760" y="4315968"/>
            <a:ext cx="256032" cy="256032"/>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685800" y="4315968"/>
            <a:ext cx="3749040" cy="256032"/>
          </a:xfrm>
          <a:prstGeom prst="rect">
            <a:avLst/>
          </a:prstGeom>
          <a:noFill/>
          <a:ln/>
        </p:spPr>
        <p:txBody>
          <a:bodyPr wrap="square" lIns="0" tIns="0" rIns="0" bIns="0" rtlCol="0" anchor="ctr"/>
          <a:lstStyle/>
          <a:p>
            <a:pPr marL="0" indent="0">
              <a:buNone/>
            </a:pPr>
            <a:r>
              <a:rPr lang="en-US" sz="1050" dirty="0">
                <a:solidFill>
                  <a:srgbClr val="DCE8F5"/>
                </a:solidFill>
                <a:latin typeface="Calibri" pitchFamily="34" charset="0"/>
                <a:ea typeface="Calibri" pitchFamily="34" charset="-122"/>
                <a:cs typeface="Calibri" pitchFamily="34" charset="-120"/>
              </a:rPr>
              <a:t>Divide residual by standard deviation → Z-score</a:t>
            </a:r>
            <a:endParaRPr lang="en-US" sz="1050" dirty="0"/>
          </a:p>
        </p:txBody>
      </p:sp>
      <p:sp>
        <p:nvSpPr>
          <p:cNvPr id="19" name="Shape 17"/>
          <p:cNvSpPr/>
          <p:nvPr/>
        </p:nvSpPr>
        <p:spPr>
          <a:xfrm>
            <a:off x="365760" y="4626864"/>
            <a:ext cx="256032" cy="256032"/>
          </a:xfrm>
          <a:prstGeom prst="rect">
            <a:avLst/>
          </a:prstGeom>
          <a:solidFill>
            <a:srgbClr val="38BDF8"/>
          </a:solidFill>
          <a:ln w="12700">
            <a:solidFill>
              <a:srgbClr val="38BDF8"/>
            </a:solidFill>
            <a:prstDash val="solid"/>
          </a:ln>
        </p:spPr>
      </p:sp>
      <p:sp>
        <p:nvSpPr>
          <p:cNvPr id="20" name="Text 18"/>
          <p:cNvSpPr/>
          <p:nvPr/>
        </p:nvSpPr>
        <p:spPr>
          <a:xfrm>
            <a:off x="365760" y="4626864"/>
            <a:ext cx="256032" cy="256032"/>
          </a:xfrm>
          <a:prstGeom prst="rect">
            <a:avLst/>
          </a:prstGeom>
          <a:noFill/>
          <a:ln/>
        </p:spPr>
        <p:txBody>
          <a:bodyPr wrap="square"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685800" y="4626864"/>
            <a:ext cx="3749040" cy="256032"/>
          </a:xfrm>
          <a:prstGeom prst="rect">
            <a:avLst/>
          </a:prstGeom>
          <a:noFill/>
          <a:ln/>
        </p:spPr>
        <p:txBody>
          <a:bodyPr wrap="square" lIns="0" tIns="0" rIns="0" bIns="0" rtlCol="0" anchor="ctr"/>
          <a:lstStyle/>
          <a:p>
            <a:pPr marL="0" indent="0">
              <a:buNone/>
            </a:pPr>
            <a:r>
              <a:rPr lang="en-US" sz="1050" dirty="0">
                <a:solidFill>
                  <a:srgbClr val="DCE8F5"/>
                </a:solidFill>
                <a:latin typeface="Calibri" pitchFamily="34" charset="0"/>
                <a:ea typeface="Calibri" pitchFamily="34" charset="-122"/>
                <a:cs typeface="Calibri" pitchFamily="34" charset="-120"/>
              </a:rPr>
              <a:t>Flag days where Z-score &gt; 2.0 as anomalous</a:t>
            </a:r>
            <a:endParaRPr lang="en-US" sz="1050" dirty="0"/>
          </a:p>
        </p:txBody>
      </p:sp>
      <p:sp>
        <p:nvSpPr>
          <p:cNvPr id="22" name="Shape 20"/>
          <p:cNvSpPr/>
          <p:nvPr/>
        </p:nvSpPr>
        <p:spPr>
          <a:xfrm>
            <a:off x="4754880" y="777240"/>
            <a:ext cx="4114800" cy="4114800"/>
          </a:xfrm>
          <a:prstGeom prst="rect">
            <a:avLst/>
          </a:prstGeom>
          <a:solidFill>
            <a:srgbClr val="162A41"/>
          </a:solidFill>
          <a:ln w="12700">
            <a:solidFill>
              <a:srgbClr val="38BDF8"/>
            </a:solidFill>
            <a:prstDash val="solid"/>
          </a:ln>
          <a:effectLst>
            <a:outerShdw blurRad="101600" dist="38100" dir="8100000" algn="bl" rotWithShape="0">
              <a:srgbClr val="000000">
                <a:alpha val="22000"/>
              </a:srgbClr>
            </a:outerShdw>
          </a:effectLst>
        </p:spPr>
      </p:sp>
      <p:sp>
        <p:nvSpPr>
          <p:cNvPr id="23" name="Shape 21"/>
          <p:cNvSpPr/>
          <p:nvPr/>
        </p:nvSpPr>
        <p:spPr>
          <a:xfrm>
            <a:off x="4754880" y="777240"/>
            <a:ext cx="4114800" cy="384048"/>
          </a:xfrm>
          <a:prstGeom prst="rect">
            <a:avLst/>
          </a:prstGeom>
          <a:solidFill>
            <a:srgbClr val="38BDF8"/>
          </a:solidFill>
          <a:ln w="12700">
            <a:solidFill>
              <a:srgbClr val="38BDF8"/>
            </a:solidFill>
            <a:prstDash val="solid"/>
          </a:ln>
        </p:spPr>
      </p:sp>
      <p:sp>
        <p:nvSpPr>
          <p:cNvPr id="24" name="Text 22"/>
          <p:cNvSpPr/>
          <p:nvPr/>
        </p:nvSpPr>
        <p:spPr>
          <a:xfrm>
            <a:off x="4846320" y="777240"/>
            <a:ext cx="393192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Why use this method?</a:t>
            </a:r>
            <a:endParaRPr lang="en-US" sz="1200" dirty="0"/>
          </a:p>
        </p:txBody>
      </p:sp>
      <p:sp>
        <p:nvSpPr>
          <p:cNvPr id="25" name="Shape 23"/>
          <p:cNvSpPr/>
          <p:nvPr/>
        </p:nvSpPr>
        <p:spPr>
          <a:xfrm>
            <a:off x="4846320" y="1261872"/>
            <a:ext cx="3931920" cy="502920"/>
          </a:xfrm>
          <a:prstGeom prst="rect">
            <a:avLst/>
          </a:prstGeom>
          <a:solidFill>
            <a:srgbClr val="0D1B2A"/>
          </a:solidFill>
          <a:ln w="12700">
            <a:solidFill>
              <a:srgbClr val="1E3A5F"/>
            </a:solidFill>
            <a:prstDash val="solid"/>
          </a:ln>
        </p:spPr>
      </p:sp>
      <p:sp>
        <p:nvSpPr>
          <p:cNvPr id="26" name="Text 24"/>
          <p:cNvSpPr/>
          <p:nvPr/>
        </p:nvSpPr>
        <p:spPr>
          <a:xfrm>
            <a:off x="4956048" y="1298448"/>
            <a:ext cx="3749040" cy="201168"/>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Personalised Baseline</a:t>
            </a:r>
            <a:endParaRPr lang="en-US" sz="1100" dirty="0"/>
          </a:p>
        </p:txBody>
      </p:sp>
      <p:sp>
        <p:nvSpPr>
          <p:cNvPr id="27" name="Text 25"/>
          <p:cNvSpPr/>
          <p:nvPr/>
        </p:nvSpPr>
        <p:spPr>
          <a:xfrm>
            <a:off x="4956048" y="1490472"/>
            <a:ext cx="3749040" cy="182880"/>
          </a:xfrm>
          <a:prstGeom prst="rect">
            <a:avLst/>
          </a:prstGeom>
          <a:noFill/>
          <a:ln/>
        </p:spPr>
        <p:txBody>
          <a:bodyPr wrap="square" lIns="0" tIns="0" rIns="0" bIns="0" rtlCol="0" anchor="ctr"/>
          <a:lstStyle/>
          <a:p>
            <a:pPr marL="0" indent="0">
              <a:buNone/>
            </a:pPr>
            <a:r>
              <a:rPr lang="en-US" sz="950" dirty="0">
                <a:solidFill>
                  <a:srgbClr val="DCE8F5"/>
                </a:solidFill>
                <a:latin typeface="Calibri" pitchFamily="34" charset="0"/>
                <a:ea typeface="Calibri" pitchFamily="34" charset="-122"/>
                <a:cs typeface="Calibri" pitchFamily="34" charset="-120"/>
              </a:rPr>
              <a:t>Uses each user's own recent history, not population averages</a:t>
            </a:r>
            <a:endParaRPr lang="en-US" sz="950" dirty="0"/>
          </a:p>
        </p:txBody>
      </p:sp>
      <p:sp>
        <p:nvSpPr>
          <p:cNvPr id="28" name="Shape 26"/>
          <p:cNvSpPr/>
          <p:nvPr/>
        </p:nvSpPr>
        <p:spPr>
          <a:xfrm>
            <a:off x="4846320" y="1828800"/>
            <a:ext cx="3931920" cy="502920"/>
          </a:xfrm>
          <a:prstGeom prst="rect">
            <a:avLst/>
          </a:prstGeom>
          <a:solidFill>
            <a:srgbClr val="0D1B2A"/>
          </a:solidFill>
          <a:ln w="12700">
            <a:solidFill>
              <a:srgbClr val="1E3A5F"/>
            </a:solidFill>
            <a:prstDash val="solid"/>
          </a:ln>
        </p:spPr>
      </p:sp>
      <p:sp>
        <p:nvSpPr>
          <p:cNvPr id="29" name="Text 27"/>
          <p:cNvSpPr/>
          <p:nvPr/>
        </p:nvSpPr>
        <p:spPr>
          <a:xfrm>
            <a:off x="4956048" y="1865376"/>
            <a:ext cx="3749040" cy="201168"/>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Detects Relative Change</a:t>
            </a:r>
            <a:endParaRPr lang="en-US" sz="1100" dirty="0"/>
          </a:p>
        </p:txBody>
      </p:sp>
      <p:sp>
        <p:nvSpPr>
          <p:cNvPr id="30" name="Text 28"/>
          <p:cNvSpPr/>
          <p:nvPr/>
        </p:nvSpPr>
        <p:spPr>
          <a:xfrm>
            <a:off x="4956048" y="2057400"/>
            <a:ext cx="3749040" cy="182880"/>
          </a:xfrm>
          <a:prstGeom prst="rect">
            <a:avLst/>
          </a:prstGeom>
          <a:noFill/>
          <a:ln/>
        </p:spPr>
        <p:txBody>
          <a:bodyPr wrap="square" lIns="0" tIns="0" rIns="0" bIns="0" rtlCol="0" anchor="ctr"/>
          <a:lstStyle/>
          <a:p>
            <a:pPr marL="0" indent="0">
              <a:buNone/>
            </a:pPr>
            <a:r>
              <a:rPr lang="en-US" sz="950" dirty="0">
                <a:solidFill>
                  <a:srgbClr val="DCE8F5"/>
                </a:solidFill>
                <a:latin typeface="Calibri" pitchFamily="34" charset="0"/>
                <a:ea typeface="Calibri" pitchFamily="34" charset="-122"/>
                <a:cs typeface="Calibri" pitchFamily="34" charset="-120"/>
              </a:rPr>
              <a:t>Flags sudden drops/spikes even if absolute value looks normal</a:t>
            </a:r>
            <a:endParaRPr lang="en-US" sz="950" dirty="0"/>
          </a:p>
        </p:txBody>
      </p:sp>
      <p:sp>
        <p:nvSpPr>
          <p:cNvPr id="31" name="Shape 29"/>
          <p:cNvSpPr/>
          <p:nvPr/>
        </p:nvSpPr>
        <p:spPr>
          <a:xfrm>
            <a:off x="4846320" y="2395728"/>
            <a:ext cx="3931920" cy="502920"/>
          </a:xfrm>
          <a:prstGeom prst="rect">
            <a:avLst/>
          </a:prstGeom>
          <a:solidFill>
            <a:srgbClr val="0D1B2A"/>
          </a:solidFill>
          <a:ln w="12700">
            <a:solidFill>
              <a:srgbClr val="1E3A5F"/>
            </a:solidFill>
            <a:prstDash val="solid"/>
          </a:ln>
        </p:spPr>
      </p:sp>
      <p:sp>
        <p:nvSpPr>
          <p:cNvPr id="32" name="Text 30"/>
          <p:cNvSpPr/>
          <p:nvPr/>
        </p:nvSpPr>
        <p:spPr>
          <a:xfrm>
            <a:off x="4956048" y="2432304"/>
            <a:ext cx="3749040" cy="201168"/>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Robust to Noise</a:t>
            </a:r>
            <a:endParaRPr lang="en-US" sz="1100" dirty="0"/>
          </a:p>
        </p:txBody>
      </p:sp>
      <p:sp>
        <p:nvSpPr>
          <p:cNvPr id="33" name="Text 31"/>
          <p:cNvSpPr/>
          <p:nvPr/>
        </p:nvSpPr>
        <p:spPr>
          <a:xfrm>
            <a:off x="4956048" y="2624328"/>
            <a:ext cx="3749040" cy="182880"/>
          </a:xfrm>
          <a:prstGeom prst="rect">
            <a:avLst/>
          </a:prstGeom>
          <a:noFill/>
          <a:ln/>
        </p:spPr>
        <p:txBody>
          <a:bodyPr wrap="square" lIns="0" tIns="0" rIns="0" bIns="0" rtlCol="0" anchor="ctr"/>
          <a:lstStyle/>
          <a:p>
            <a:pPr marL="0" indent="0">
              <a:buNone/>
            </a:pPr>
            <a:r>
              <a:rPr lang="en-US" sz="950" dirty="0">
                <a:solidFill>
                  <a:srgbClr val="DCE8F5"/>
                </a:solidFill>
                <a:latin typeface="Calibri" pitchFamily="34" charset="0"/>
                <a:ea typeface="Calibri" pitchFamily="34" charset="-122"/>
                <a:cs typeface="Calibri" pitchFamily="34" charset="-120"/>
              </a:rPr>
              <a:t>Rolling median is less affected by single extreme days vs rolling mean</a:t>
            </a:r>
            <a:endParaRPr lang="en-US" sz="950" dirty="0"/>
          </a:p>
        </p:txBody>
      </p:sp>
      <p:sp>
        <p:nvSpPr>
          <p:cNvPr id="34" name="Shape 32"/>
          <p:cNvSpPr/>
          <p:nvPr/>
        </p:nvSpPr>
        <p:spPr>
          <a:xfrm>
            <a:off x="4846320" y="2962656"/>
            <a:ext cx="3931920" cy="502920"/>
          </a:xfrm>
          <a:prstGeom prst="rect">
            <a:avLst/>
          </a:prstGeom>
          <a:solidFill>
            <a:srgbClr val="0D1B2A"/>
          </a:solidFill>
          <a:ln w="12700">
            <a:solidFill>
              <a:srgbClr val="1E3A5F"/>
            </a:solidFill>
            <a:prstDash val="solid"/>
          </a:ln>
        </p:spPr>
      </p:sp>
      <p:sp>
        <p:nvSpPr>
          <p:cNvPr id="35" name="Text 33"/>
          <p:cNvSpPr/>
          <p:nvPr/>
        </p:nvSpPr>
        <p:spPr>
          <a:xfrm>
            <a:off x="4956048" y="2999232"/>
            <a:ext cx="3749040" cy="201168"/>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Interpretable Z-Score</a:t>
            </a:r>
            <a:endParaRPr lang="en-US" sz="1100" dirty="0"/>
          </a:p>
        </p:txBody>
      </p:sp>
      <p:sp>
        <p:nvSpPr>
          <p:cNvPr id="36" name="Text 34"/>
          <p:cNvSpPr/>
          <p:nvPr/>
        </p:nvSpPr>
        <p:spPr>
          <a:xfrm>
            <a:off x="4956048" y="3191256"/>
            <a:ext cx="3749040" cy="182880"/>
          </a:xfrm>
          <a:prstGeom prst="rect">
            <a:avLst/>
          </a:prstGeom>
          <a:noFill/>
          <a:ln/>
        </p:spPr>
        <p:txBody>
          <a:bodyPr wrap="square" lIns="0" tIns="0" rIns="0" bIns="0" rtlCol="0" anchor="ctr"/>
          <a:lstStyle/>
          <a:p>
            <a:pPr marL="0" indent="0">
              <a:buNone/>
            </a:pPr>
            <a:r>
              <a:rPr lang="en-US" sz="950" dirty="0">
                <a:solidFill>
                  <a:srgbClr val="DCE8F5"/>
                </a:solidFill>
                <a:latin typeface="Calibri" pitchFamily="34" charset="0"/>
                <a:ea typeface="Calibri" pitchFamily="34" charset="-122"/>
                <a:cs typeface="Calibri" pitchFamily="34" charset="-120"/>
              </a:rPr>
              <a:t>Z-score &gt; 2 means the day was more than 2 std deviations unusual</a:t>
            </a:r>
            <a:endParaRPr lang="en-US" sz="950" dirty="0"/>
          </a:p>
        </p:txBody>
      </p:sp>
      <p:sp>
        <p:nvSpPr>
          <p:cNvPr id="37" name="Shape 35"/>
          <p:cNvSpPr/>
          <p:nvPr/>
        </p:nvSpPr>
        <p:spPr>
          <a:xfrm>
            <a:off x="4846320" y="3529584"/>
            <a:ext cx="3931920" cy="502920"/>
          </a:xfrm>
          <a:prstGeom prst="rect">
            <a:avLst/>
          </a:prstGeom>
          <a:solidFill>
            <a:srgbClr val="0D1B2A"/>
          </a:solidFill>
          <a:ln w="12700">
            <a:solidFill>
              <a:srgbClr val="1E3A5F"/>
            </a:solidFill>
            <a:prstDash val="solid"/>
          </a:ln>
        </p:spPr>
      </p:sp>
      <p:sp>
        <p:nvSpPr>
          <p:cNvPr id="38" name="Text 36"/>
          <p:cNvSpPr/>
          <p:nvPr/>
        </p:nvSpPr>
        <p:spPr>
          <a:xfrm>
            <a:off x="4956048" y="3566160"/>
            <a:ext cx="3749040" cy="201168"/>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Applied to 3 Metrics</a:t>
            </a:r>
            <a:endParaRPr lang="en-US" sz="1100" dirty="0"/>
          </a:p>
        </p:txBody>
      </p:sp>
      <p:sp>
        <p:nvSpPr>
          <p:cNvPr id="39" name="Text 37"/>
          <p:cNvSpPr/>
          <p:nvPr/>
        </p:nvSpPr>
        <p:spPr>
          <a:xfrm>
            <a:off x="4956048" y="3758184"/>
            <a:ext cx="3749040" cy="182880"/>
          </a:xfrm>
          <a:prstGeom prst="rect">
            <a:avLst/>
          </a:prstGeom>
          <a:noFill/>
          <a:ln/>
        </p:spPr>
        <p:txBody>
          <a:bodyPr wrap="square" lIns="0" tIns="0" rIns="0" bIns="0" rtlCol="0" anchor="ctr"/>
          <a:lstStyle/>
          <a:p>
            <a:pPr marL="0" indent="0">
              <a:buNone/>
            </a:pPr>
            <a:r>
              <a:rPr lang="en-US" sz="950" dirty="0">
                <a:solidFill>
                  <a:srgbClr val="DCE8F5"/>
                </a:solidFill>
                <a:latin typeface="Calibri" pitchFamily="34" charset="0"/>
                <a:ea typeface="Calibri" pitchFamily="34" charset="-122"/>
                <a:cs typeface="Calibri" pitchFamily="34" charset="-120"/>
              </a:rPr>
              <a:t>Heart rate, daily steps, and sleep duration — independently</a:t>
            </a:r>
            <a:endParaRPr lang="en-US" sz="950" dirty="0"/>
          </a:p>
        </p:txBody>
      </p:sp>
      <p:sp>
        <p:nvSpPr>
          <p:cNvPr id="40" name="Shape 38"/>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78BFA"/>
          </a:solidFill>
          <a:ln w="12700">
            <a:solidFill>
              <a:srgbClr val="A78BFA"/>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buNone/>
            </a:pPr>
            <a:r>
              <a:rPr lang="en-US" sz="2200" b="1" dirty="0">
                <a:solidFill>
                  <a:srgbClr val="A78BFA"/>
                </a:solidFill>
                <a:latin typeface="Calibri" pitchFamily="34" charset="0"/>
                <a:ea typeface="Calibri" pitchFamily="34" charset="-122"/>
                <a:cs typeface="Calibri" pitchFamily="34" charset="-120"/>
              </a:rPr>
              <a:t>Method 3 — DBSCAN Structural Outlier Detection</a:t>
            </a:r>
            <a:endParaRPr lang="en-US" sz="2200" dirty="0"/>
          </a:p>
        </p:txBody>
      </p:sp>
      <p:sp>
        <p:nvSpPr>
          <p:cNvPr id="4" name="Text 2"/>
          <p:cNvSpPr/>
          <p:nvPr/>
        </p:nvSpPr>
        <p:spPr>
          <a:xfrm>
            <a:off x="365760" y="804672"/>
            <a:ext cx="8412480" cy="292608"/>
          </a:xfrm>
          <a:prstGeom prst="rect">
            <a:avLst/>
          </a:prstGeom>
          <a:noFill/>
          <a:ln/>
        </p:spPr>
        <p:txBody>
          <a:bodyPr wrap="square" lIns="0" tIns="0" rIns="0" bIns="0" rtlCol="0" anchor="ctr"/>
          <a:lstStyle/>
          <a:p>
            <a:pPr marL="0" indent="0">
              <a:buNone/>
            </a:pPr>
            <a:r>
              <a:rPr lang="en-US" sz="1300" b="1" dirty="0">
                <a:solidFill>
                  <a:srgbClr val="DCE8F5"/>
                </a:solidFill>
                <a:latin typeface="Calibri" pitchFamily="34" charset="0"/>
                <a:ea typeface="Calibri" pitchFamily="34" charset="-122"/>
                <a:cs typeface="Calibri" pitchFamily="34" charset="-120"/>
              </a:rPr>
              <a:t>How it works:</a:t>
            </a:r>
            <a:endParaRPr lang="en-US" sz="1300" dirty="0"/>
          </a:p>
        </p:txBody>
      </p:sp>
      <p:sp>
        <p:nvSpPr>
          <p:cNvPr id="5" name="Text 3"/>
          <p:cNvSpPr/>
          <p:nvPr/>
        </p:nvSpPr>
        <p:spPr>
          <a:xfrm>
            <a:off x="365760" y="1097280"/>
            <a:ext cx="8412480" cy="685800"/>
          </a:xfrm>
          <a:prstGeom prst="rect">
            <a:avLst/>
          </a:prstGeom>
          <a:noFill/>
          <a:ln/>
        </p:spPr>
        <p:txBody>
          <a:bodyPr wrap="square" lIns="0" tIns="0" rIns="0" bIns="0" rtlCol="0" anchor="ctr"/>
          <a:lstStyle/>
          <a:p>
            <a:pPr marL="0" indent="0">
              <a:buNone/>
            </a:pPr>
            <a:r>
              <a:rPr lang="en-US" sz="1150" dirty="0">
                <a:solidFill>
                  <a:srgbClr val="7A9ABB"/>
                </a:solidFill>
                <a:latin typeface="Calibri" pitchFamily="34" charset="0"/>
                <a:ea typeface="Calibri" pitchFamily="34" charset="-122"/>
                <a:cs typeface="Calibri" pitchFamily="34" charset="-120"/>
              </a:rPr>
              <a:t>Machine learning clustering (DBSCAN) is applied to aggregated user profiles — one row per user, averaging all their daily metrics. Users who do not fit into any cluster are labelled -1 by DBSCAN and identified as structural outliers. These users have an unusual combination of health metrics that doesn't match any other user group.</a:t>
            </a:r>
            <a:endParaRPr lang="en-US" sz="1150" dirty="0"/>
          </a:p>
        </p:txBody>
      </p:sp>
      <p:sp>
        <p:nvSpPr>
          <p:cNvPr id="6" name="Text 4"/>
          <p:cNvSpPr/>
          <p:nvPr/>
        </p:nvSpPr>
        <p:spPr>
          <a:xfrm>
            <a:off x="365760" y="1874520"/>
            <a:ext cx="8412480" cy="292608"/>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System Architecture — Data Flow:</a:t>
            </a:r>
            <a:endParaRPr lang="en-US" sz="1200" dirty="0"/>
          </a:p>
        </p:txBody>
      </p:sp>
      <p:sp>
        <p:nvSpPr>
          <p:cNvPr id="7" name="Shape 5"/>
          <p:cNvSpPr/>
          <p:nvPr/>
        </p:nvSpPr>
        <p:spPr>
          <a:xfrm>
            <a:off x="365760" y="2267712"/>
            <a:ext cx="5029200" cy="320040"/>
          </a:xfrm>
          <a:prstGeom prst="rect">
            <a:avLst/>
          </a:prstGeom>
          <a:solidFill>
            <a:srgbClr val="162A41"/>
          </a:solidFill>
          <a:ln w="12700">
            <a:solidFill>
              <a:srgbClr val="A78BFA"/>
            </a:solidFill>
            <a:prstDash val="solid"/>
          </a:ln>
        </p:spPr>
      </p:sp>
      <p:sp>
        <p:nvSpPr>
          <p:cNvPr id="8" name="Text 6"/>
          <p:cNvSpPr/>
          <p:nvPr/>
        </p:nvSpPr>
        <p:spPr>
          <a:xfrm>
            <a:off x="457200" y="2267712"/>
            <a:ext cx="4846320" cy="32004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Raw Fitbit CSVs (5 files)</a:t>
            </a:r>
            <a:endParaRPr lang="en-US" sz="1050" dirty="0"/>
          </a:p>
        </p:txBody>
      </p:sp>
      <p:sp>
        <p:nvSpPr>
          <p:cNvPr id="9" name="Text 7"/>
          <p:cNvSpPr/>
          <p:nvPr/>
        </p:nvSpPr>
        <p:spPr>
          <a:xfrm>
            <a:off x="2651760" y="2578608"/>
            <a:ext cx="457200" cy="164592"/>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365760" y="2724912"/>
            <a:ext cx="5029200" cy="320040"/>
          </a:xfrm>
          <a:prstGeom prst="rect">
            <a:avLst/>
          </a:prstGeom>
          <a:solidFill>
            <a:srgbClr val="162A41"/>
          </a:solidFill>
          <a:ln w="12700">
            <a:solidFill>
              <a:srgbClr val="A78BFA"/>
            </a:solidFill>
            <a:prstDash val="solid"/>
          </a:ln>
        </p:spPr>
      </p:sp>
      <p:sp>
        <p:nvSpPr>
          <p:cNvPr id="11" name="Text 9"/>
          <p:cNvSpPr/>
          <p:nvPr/>
        </p:nvSpPr>
        <p:spPr>
          <a:xfrm>
            <a:off x="457200" y="2724912"/>
            <a:ext cx="4846320" cy="32004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Merge → Master DataFrame (one row per user per day)</a:t>
            </a:r>
            <a:endParaRPr lang="en-US" sz="1050" dirty="0"/>
          </a:p>
        </p:txBody>
      </p:sp>
      <p:sp>
        <p:nvSpPr>
          <p:cNvPr id="12" name="Text 10"/>
          <p:cNvSpPr/>
          <p:nvPr/>
        </p:nvSpPr>
        <p:spPr>
          <a:xfrm>
            <a:off x="2651760" y="3035808"/>
            <a:ext cx="457200" cy="164592"/>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a:t>
            </a:r>
            <a:endParaRPr lang="en-US" sz="900" dirty="0"/>
          </a:p>
        </p:txBody>
      </p:sp>
      <p:sp>
        <p:nvSpPr>
          <p:cNvPr id="13" name="Shape 11"/>
          <p:cNvSpPr/>
          <p:nvPr/>
        </p:nvSpPr>
        <p:spPr>
          <a:xfrm>
            <a:off x="365760" y="3182112"/>
            <a:ext cx="5029200" cy="320040"/>
          </a:xfrm>
          <a:prstGeom prst="rect">
            <a:avLst/>
          </a:prstGeom>
          <a:solidFill>
            <a:srgbClr val="162A41"/>
          </a:solidFill>
          <a:ln w="12700">
            <a:solidFill>
              <a:srgbClr val="A78BFA"/>
            </a:solidFill>
            <a:prstDash val="solid"/>
          </a:ln>
        </p:spPr>
      </p:sp>
      <p:sp>
        <p:nvSpPr>
          <p:cNvPr id="14" name="Text 12"/>
          <p:cNvSpPr/>
          <p:nvPr/>
        </p:nvSpPr>
        <p:spPr>
          <a:xfrm>
            <a:off x="457200" y="3182112"/>
            <a:ext cx="4846320" cy="32004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Group by User ID → Average all daily metrics</a:t>
            </a:r>
            <a:endParaRPr lang="en-US" sz="1050" dirty="0"/>
          </a:p>
        </p:txBody>
      </p:sp>
      <p:sp>
        <p:nvSpPr>
          <p:cNvPr id="15" name="Text 13"/>
          <p:cNvSpPr/>
          <p:nvPr/>
        </p:nvSpPr>
        <p:spPr>
          <a:xfrm>
            <a:off x="2651760" y="3493008"/>
            <a:ext cx="457200" cy="164592"/>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365760" y="3639312"/>
            <a:ext cx="5029200" cy="320040"/>
          </a:xfrm>
          <a:prstGeom prst="rect">
            <a:avLst/>
          </a:prstGeom>
          <a:solidFill>
            <a:srgbClr val="162A41"/>
          </a:solidFill>
          <a:ln w="12700">
            <a:solidFill>
              <a:srgbClr val="A78BFA"/>
            </a:solidFill>
            <a:prstDash val="solid"/>
          </a:ln>
        </p:spPr>
      </p:sp>
      <p:sp>
        <p:nvSpPr>
          <p:cNvPr id="17" name="Text 15"/>
          <p:cNvSpPr/>
          <p:nvPr/>
        </p:nvSpPr>
        <p:spPr>
          <a:xfrm>
            <a:off x="457200" y="3639312"/>
            <a:ext cx="4846320" cy="32004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StandardScaler → Normalise feature values</a:t>
            </a:r>
            <a:endParaRPr lang="en-US" sz="1050" dirty="0"/>
          </a:p>
        </p:txBody>
      </p:sp>
      <p:sp>
        <p:nvSpPr>
          <p:cNvPr id="18" name="Text 16"/>
          <p:cNvSpPr/>
          <p:nvPr/>
        </p:nvSpPr>
        <p:spPr>
          <a:xfrm>
            <a:off x="2651760" y="3950208"/>
            <a:ext cx="457200" cy="164592"/>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365760" y="4096512"/>
            <a:ext cx="5029200" cy="320040"/>
          </a:xfrm>
          <a:prstGeom prst="rect">
            <a:avLst/>
          </a:prstGeom>
          <a:solidFill>
            <a:srgbClr val="162A41"/>
          </a:solidFill>
          <a:ln w="12700">
            <a:solidFill>
              <a:srgbClr val="A78BFA"/>
            </a:solidFill>
            <a:prstDash val="solid"/>
          </a:ln>
        </p:spPr>
      </p:sp>
      <p:sp>
        <p:nvSpPr>
          <p:cNvPr id="20" name="Text 18"/>
          <p:cNvSpPr/>
          <p:nvPr/>
        </p:nvSpPr>
        <p:spPr>
          <a:xfrm>
            <a:off x="457200" y="4096512"/>
            <a:ext cx="4846320" cy="320040"/>
          </a:xfrm>
          <a:prstGeom prst="rect">
            <a:avLst/>
          </a:prstGeom>
          <a:noFill/>
          <a:ln/>
        </p:spPr>
        <p:txBody>
          <a:bodyPr wrap="square" rtlCol="0" anchor="ctr"/>
          <a:lstStyle/>
          <a:p>
            <a:pPr marL="0" indent="0">
              <a:buNone/>
            </a:pPr>
            <a:r>
              <a:rPr lang="en-US" sz="1050" dirty="0">
                <a:solidFill>
                  <a:srgbClr val="DCE8F5"/>
                </a:solidFill>
                <a:latin typeface="Calibri" pitchFamily="34" charset="0"/>
                <a:ea typeface="Calibri" pitchFamily="34" charset="-122"/>
                <a:cs typeface="Calibri" pitchFamily="34" charset="-120"/>
              </a:rPr>
              <a:t>DBSCAN (eps=2.5, min_samples=2) → Cluster labels</a:t>
            </a:r>
            <a:endParaRPr lang="en-US" sz="1050" dirty="0"/>
          </a:p>
        </p:txBody>
      </p:sp>
      <p:sp>
        <p:nvSpPr>
          <p:cNvPr id="21" name="Text 19"/>
          <p:cNvSpPr/>
          <p:nvPr/>
        </p:nvSpPr>
        <p:spPr>
          <a:xfrm>
            <a:off x="2651760" y="4407408"/>
            <a:ext cx="457200" cy="164592"/>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365760" y="4553712"/>
            <a:ext cx="5029200" cy="320040"/>
          </a:xfrm>
          <a:prstGeom prst="rect">
            <a:avLst/>
          </a:prstGeom>
          <a:solidFill>
            <a:srgbClr val="162A41"/>
          </a:solidFill>
          <a:ln w="12700">
            <a:solidFill>
              <a:srgbClr val="EF4444"/>
            </a:solidFill>
            <a:prstDash val="solid"/>
          </a:ln>
        </p:spPr>
      </p:sp>
      <p:sp>
        <p:nvSpPr>
          <p:cNvPr id="23" name="Text 21"/>
          <p:cNvSpPr/>
          <p:nvPr/>
        </p:nvSpPr>
        <p:spPr>
          <a:xfrm>
            <a:off x="457200" y="4553712"/>
            <a:ext cx="4846320" cy="320040"/>
          </a:xfrm>
          <a:prstGeom prst="rect">
            <a:avLst/>
          </a:prstGeom>
          <a:noFill/>
          <a:ln/>
        </p:spPr>
        <p:txBody>
          <a:bodyPr wrap="square" rtlCol="0" anchor="ctr"/>
          <a:lstStyle/>
          <a:p>
            <a:pPr marL="0" indent="0">
              <a:buNone/>
            </a:pPr>
            <a:r>
              <a:rPr lang="en-US" sz="1050" b="1" dirty="0">
                <a:solidFill>
                  <a:srgbClr val="EF4444"/>
                </a:solidFill>
                <a:latin typeface="Calibri" pitchFamily="34" charset="0"/>
                <a:ea typeface="Calibri" pitchFamily="34" charset="-122"/>
                <a:cs typeface="Calibri" pitchFamily="34" charset="-120"/>
              </a:rPr>
              <a:t>Users with label -1 → Structural Outliers flagged</a:t>
            </a:r>
            <a:endParaRPr lang="en-US" sz="1050" dirty="0"/>
          </a:p>
        </p:txBody>
      </p:sp>
      <p:sp>
        <p:nvSpPr>
          <p:cNvPr id="24" name="Shape 22"/>
          <p:cNvSpPr/>
          <p:nvPr/>
        </p:nvSpPr>
        <p:spPr>
          <a:xfrm>
            <a:off x="5760720" y="1828800"/>
            <a:ext cx="3154680" cy="3108960"/>
          </a:xfrm>
          <a:prstGeom prst="rect">
            <a:avLst/>
          </a:prstGeom>
          <a:solidFill>
            <a:srgbClr val="162A41"/>
          </a:solidFill>
          <a:ln w="12700">
            <a:solidFill>
              <a:srgbClr val="A78BFA"/>
            </a:solidFill>
            <a:prstDash val="solid"/>
          </a:ln>
          <a:effectLst>
            <a:outerShdw blurRad="101600" dist="38100" dir="8100000" algn="bl" rotWithShape="0">
              <a:srgbClr val="000000">
                <a:alpha val="22000"/>
              </a:srgbClr>
            </a:outerShdw>
          </a:effectLst>
        </p:spPr>
      </p:sp>
      <p:sp>
        <p:nvSpPr>
          <p:cNvPr id="25" name="Shape 23"/>
          <p:cNvSpPr/>
          <p:nvPr/>
        </p:nvSpPr>
        <p:spPr>
          <a:xfrm>
            <a:off x="5760720" y="1828800"/>
            <a:ext cx="3154680" cy="384048"/>
          </a:xfrm>
          <a:prstGeom prst="rect">
            <a:avLst/>
          </a:prstGeom>
          <a:solidFill>
            <a:srgbClr val="A78BFA"/>
          </a:solidFill>
          <a:ln w="12700">
            <a:solidFill>
              <a:srgbClr val="A78BFA"/>
            </a:solidFill>
            <a:prstDash val="solid"/>
          </a:ln>
        </p:spPr>
      </p:sp>
      <p:sp>
        <p:nvSpPr>
          <p:cNvPr id="26" name="Text 24"/>
          <p:cNvSpPr/>
          <p:nvPr/>
        </p:nvSpPr>
        <p:spPr>
          <a:xfrm>
            <a:off x="5852160" y="1828800"/>
            <a:ext cx="297180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DBSCAN Parameters</a:t>
            </a:r>
            <a:endParaRPr lang="en-US" sz="1200" dirty="0"/>
          </a:p>
        </p:txBody>
      </p:sp>
      <p:sp>
        <p:nvSpPr>
          <p:cNvPr id="27" name="Text 25"/>
          <p:cNvSpPr/>
          <p:nvPr/>
        </p:nvSpPr>
        <p:spPr>
          <a:xfrm>
            <a:off x="5870448" y="233172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eps = 2.5</a:t>
            </a:r>
            <a:endParaRPr lang="en-US" sz="1100" dirty="0"/>
          </a:p>
        </p:txBody>
      </p:sp>
      <p:sp>
        <p:nvSpPr>
          <p:cNvPr id="28" name="Text 26"/>
          <p:cNvSpPr/>
          <p:nvPr/>
        </p:nvSpPr>
        <p:spPr>
          <a:xfrm>
            <a:off x="5870448" y="252374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Neighbourhood radius for clustering</a:t>
            </a:r>
            <a:endParaRPr lang="en-US" sz="950" dirty="0"/>
          </a:p>
        </p:txBody>
      </p:sp>
      <p:sp>
        <p:nvSpPr>
          <p:cNvPr id="29" name="Text 27"/>
          <p:cNvSpPr/>
          <p:nvPr/>
        </p:nvSpPr>
        <p:spPr>
          <a:xfrm>
            <a:off x="5870448" y="274320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min_samples = 2</a:t>
            </a:r>
            <a:endParaRPr lang="en-US" sz="1100" dirty="0"/>
          </a:p>
        </p:txBody>
      </p:sp>
      <p:sp>
        <p:nvSpPr>
          <p:cNvPr id="30" name="Text 28"/>
          <p:cNvSpPr/>
          <p:nvPr/>
        </p:nvSpPr>
        <p:spPr>
          <a:xfrm>
            <a:off x="5870448" y="293522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Min users to form a group</a:t>
            </a:r>
            <a:endParaRPr lang="en-US" sz="950" dirty="0"/>
          </a:p>
        </p:txBody>
      </p:sp>
      <p:sp>
        <p:nvSpPr>
          <p:cNvPr id="31" name="Text 29"/>
          <p:cNvSpPr/>
          <p:nvPr/>
        </p:nvSpPr>
        <p:spPr>
          <a:xfrm>
            <a:off x="5870448" y="315468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Label = -1</a:t>
            </a:r>
            <a:endParaRPr lang="en-US" sz="1100" dirty="0"/>
          </a:p>
        </p:txBody>
      </p:sp>
      <p:sp>
        <p:nvSpPr>
          <p:cNvPr id="32" name="Text 30"/>
          <p:cNvSpPr/>
          <p:nvPr/>
        </p:nvSpPr>
        <p:spPr>
          <a:xfrm>
            <a:off x="5870448" y="334670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User is a structural outlier</a:t>
            </a:r>
            <a:endParaRPr lang="en-US" sz="950" dirty="0"/>
          </a:p>
        </p:txBody>
      </p:sp>
      <p:sp>
        <p:nvSpPr>
          <p:cNvPr id="33" name="Text 31"/>
          <p:cNvSpPr/>
          <p:nvPr/>
        </p:nvSpPr>
        <p:spPr>
          <a:xfrm>
            <a:off x="5870448" y="356616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StandardScaler</a:t>
            </a:r>
            <a:endParaRPr lang="en-US" sz="1100" dirty="0"/>
          </a:p>
        </p:txBody>
      </p:sp>
      <p:sp>
        <p:nvSpPr>
          <p:cNvPr id="34" name="Text 32"/>
          <p:cNvSpPr/>
          <p:nvPr/>
        </p:nvSpPr>
        <p:spPr>
          <a:xfrm>
            <a:off x="5870448" y="375818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Normalises features before clustering</a:t>
            </a:r>
            <a:endParaRPr lang="en-US" sz="950" dirty="0"/>
          </a:p>
        </p:txBody>
      </p:sp>
      <p:sp>
        <p:nvSpPr>
          <p:cNvPr id="35" name="Text 33"/>
          <p:cNvSpPr/>
          <p:nvPr/>
        </p:nvSpPr>
        <p:spPr>
          <a:xfrm>
            <a:off x="5870448" y="397764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PCA (2D)</a:t>
            </a:r>
            <a:endParaRPr lang="en-US" sz="1100" dirty="0"/>
          </a:p>
        </p:txBody>
      </p:sp>
      <p:sp>
        <p:nvSpPr>
          <p:cNvPr id="36" name="Text 34"/>
          <p:cNvSpPr/>
          <p:nvPr/>
        </p:nvSpPr>
        <p:spPr>
          <a:xfrm>
            <a:off x="5870448" y="416966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Visualises outliers vs groups</a:t>
            </a:r>
            <a:endParaRPr lang="en-US" sz="950" dirty="0"/>
          </a:p>
        </p:txBody>
      </p:sp>
      <p:sp>
        <p:nvSpPr>
          <p:cNvPr id="37" name="Text 35"/>
          <p:cNvSpPr/>
          <p:nvPr/>
        </p:nvSpPr>
        <p:spPr>
          <a:xfrm>
            <a:off x="5870448" y="4389120"/>
            <a:ext cx="2926080" cy="201168"/>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Red × marker</a:t>
            </a:r>
            <a:endParaRPr lang="en-US" sz="1100" dirty="0"/>
          </a:p>
        </p:txBody>
      </p:sp>
      <p:sp>
        <p:nvSpPr>
          <p:cNvPr id="38" name="Text 36"/>
          <p:cNvSpPr/>
          <p:nvPr/>
        </p:nvSpPr>
        <p:spPr>
          <a:xfrm>
            <a:off x="5870448" y="4581144"/>
            <a:ext cx="2926080" cy="164592"/>
          </a:xfrm>
          <a:prstGeom prst="rect">
            <a:avLst/>
          </a:prstGeom>
          <a:noFill/>
          <a:ln/>
        </p:spPr>
        <p:txBody>
          <a:bodyPr wrap="square" lIns="0" tIns="0" rIns="0" bIns="0" rtlCol="0" anchor="ctr"/>
          <a:lstStyle/>
          <a:p>
            <a:pPr marL="0" indent="0">
              <a:buNone/>
            </a:pPr>
            <a:r>
              <a:rPr lang="en-US" sz="950" dirty="0">
                <a:solidFill>
                  <a:srgbClr val="7A9ABB"/>
                </a:solidFill>
                <a:latin typeface="Calibri" pitchFamily="34" charset="0"/>
                <a:ea typeface="Calibri" pitchFamily="34" charset="-122"/>
                <a:cs typeface="Calibri" pitchFamily="34" charset="-120"/>
              </a:rPr>
              <a:t>Outlier shown on PCA plot</a:t>
            </a:r>
            <a:endParaRPr lang="en-US" sz="950" dirty="0"/>
          </a:p>
        </p:txBody>
      </p:sp>
      <p:sp>
        <p:nvSpPr>
          <p:cNvPr id="39" name="Shape 37"/>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Text 1"/>
          <p:cNvSpPr/>
          <p:nvPr/>
        </p:nvSpPr>
        <p:spPr>
          <a:xfrm>
            <a:off x="365760" y="164592"/>
            <a:ext cx="8412480" cy="502920"/>
          </a:xfrm>
          <a:prstGeom prst="rect">
            <a:avLst/>
          </a:prstGeom>
          <a:noFill/>
          <a:ln/>
        </p:spPr>
        <p:txBody>
          <a:bodyPr wrap="square" lIns="0" tIns="0" rIns="0" bIns="0" rtlCol="0" anchor="ctr"/>
          <a:lstStyle/>
          <a:p>
            <a:pPr marL="0" indent="0" algn="ctr">
              <a:buNone/>
            </a:pPr>
            <a:r>
              <a:rPr lang="en-US" sz="2800" b="1" dirty="0">
                <a:solidFill>
                  <a:srgbClr val="EF4444"/>
                </a:solidFill>
                <a:latin typeface="Calibri" pitchFamily="34" charset="0"/>
                <a:ea typeface="Calibri" pitchFamily="34" charset="-122"/>
                <a:cs typeface="Calibri" pitchFamily="34" charset="-120"/>
              </a:rPr>
              <a:t>Milestone 3 — Summary</a:t>
            </a:r>
            <a:endParaRPr lang="en-US" sz="2800" dirty="0"/>
          </a:p>
        </p:txBody>
      </p:sp>
      <p:sp>
        <p:nvSpPr>
          <p:cNvPr id="4" name="Shape 2"/>
          <p:cNvSpPr/>
          <p:nvPr/>
        </p:nvSpPr>
        <p:spPr>
          <a:xfrm>
            <a:off x="320040" y="1005840"/>
            <a:ext cx="4206240" cy="1051560"/>
          </a:xfrm>
          <a:prstGeom prst="rect">
            <a:avLst/>
          </a:prstGeom>
          <a:solidFill>
            <a:srgbClr val="162A41"/>
          </a:solidFill>
          <a:ln w="12700">
            <a:solidFill>
              <a:srgbClr val="10B981"/>
            </a:solidFill>
            <a:prstDash val="solid"/>
          </a:ln>
          <a:effectLst>
            <a:outerShdw blurRad="101600" dist="38100" dir="8100000" algn="bl" rotWithShape="0">
              <a:srgbClr val="000000">
                <a:alpha val="22000"/>
              </a:srgbClr>
            </a:outerShdw>
          </a:effectLst>
        </p:spPr>
      </p:sp>
      <p:sp>
        <p:nvSpPr>
          <p:cNvPr id="5" name="Text 3"/>
          <p:cNvSpPr/>
          <p:nvPr/>
        </p:nvSpPr>
        <p:spPr>
          <a:xfrm>
            <a:off x="411480" y="109728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868680" y="1143000"/>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Threshold violations: HR, Steps, Sleep vs hard-coded clinical limits</a:t>
            </a:r>
            <a:endParaRPr lang="en-US" sz="1150" dirty="0"/>
          </a:p>
        </p:txBody>
      </p:sp>
      <p:sp>
        <p:nvSpPr>
          <p:cNvPr id="7" name="Shape 5"/>
          <p:cNvSpPr/>
          <p:nvPr/>
        </p:nvSpPr>
        <p:spPr>
          <a:xfrm>
            <a:off x="4754880" y="1005840"/>
            <a:ext cx="4206240" cy="1051560"/>
          </a:xfrm>
          <a:prstGeom prst="rect">
            <a:avLst/>
          </a:prstGeom>
          <a:solidFill>
            <a:srgbClr val="162A41"/>
          </a:solidFill>
          <a:ln w="12700">
            <a:solidFill>
              <a:srgbClr val="38BDF8"/>
            </a:solidFill>
            <a:prstDash val="solid"/>
          </a:ln>
          <a:effectLst>
            <a:outerShdw blurRad="101600" dist="38100" dir="8100000" algn="bl" rotWithShape="0">
              <a:srgbClr val="000000">
                <a:alpha val="22000"/>
              </a:srgbClr>
            </a:outerShdw>
          </a:effectLst>
        </p:spPr>
      </p:sp>
      <p:sp>
        <p:nvSpPr>
          <p:cNvPr id="8" name="Text 6"/>
          <p:cNvSpPr/>
          <p:nvPr/>
        </p:nvSpPr>
        <p:spPr>
          <a:xfrm>
            <a:off x="4846320" y="1097280"/>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5303520" y="1143000"/>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Residual detection: 7-day rolling median ±2σ for all 3 metrics</a:t>
            </a:r>
            <a:endParaRPr lang="en-US" sz="1150" dirty="0"/>
          </a:p>
        </p:txBody>
      </p:sp>
      <p:sp>
        <p:nvSpPr>
          <p:cNvPr id="10" name="Shape 8"/>
          <p:cNvSpPr/>
          <p:nvPr/>
        </p:nvSpPr>
        <p:spPr>
          <a:xfrm>
            <a:off x="320040" y="2267712"/>
            <a:ext cx="4206240" cy="1051560"/>
          </a:xfrm>
          <a:prstGeom prst="rect">
            <a:avLst/>
          </a:prstGeom>
          <a:solidFill>
            <a:srgbClr val="162A41"/>
          </a:solidFill>
          <a:ln w="12700">
            <a:solidFill>
              <a:srgbClr val="A78BFA"/>
            </a:solidFill>
            <a:prstDash val="solid"/>
          </a:ln>
          <a:effectLst>
            <a:outerShdw blurRad="101600" dist="38100" dir="8100000" algn="bl" rotWithShape="0">
              <a:srgbClr val="000000">
                <a:alpha val="22000"/>
              </a:srgbClr>
            </a:outerShdw>
          </a:effectLst>
        </p:spPr>
      </p:sp>
      <p:sp>
        <p:nvSpPr>
          <p:cNvPr id="11" name="Text 9"/>
          <p:cNvSpPr/>
          <p:nvPr/>
        </p:nvSpPr>
        <p:spPr>
          <a:xfrm>
            <a:off x="411480" y="2359152"/>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868680" y="2404872"/>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DBSCAN outliers: per-user profile clustering, label -1 = anomalous user</a:t>
            </a:r>
            <a:endParaRPr lang="en-US" sz="1150" dirty="0"/>
          </a:p>
        </p:txBody>
      </p:sp>
      <p:sp>
        <p:nvSpPr>
          <p:cNvPr id="13" name="Shape 11"/>
          <p:cNvSpPr/>
          <p:nvPr/>
        </p:nvSpPr>
        <p:spPr>
          <a:xfrm>
            <a:off x="4754880" y="2267712"/>
            <a:ext cx="4206240" cy="1051560"/>
          </a:xfrm>
          <a:prstGeom prst="rect">
            <a:avLst/>
          </a:prstGeom>
          <a:solidFill>
            <a:srgbClr val="162A41"/>
          </a:solidFill>
          <a:ln w="12700">
            <a:solidFill>
              <a:srgbClr val="F59E0B"/>
            </a:solidFill>
            <a:prstDash val="solid"/>
          </a:ln>
          <a:effectLst>
            <a:outerShdw blurRad="101600" dist="38100" dir="8100000" algn="bl" rotWithShape="0">
              <a:srgbClr val="000000">
                <a:alpha val="22000"/>
              </a:srgbClr>
            </a:outerShdw>
          </a:effectLst>
        </p:spPr>
      </p:sp>
      <p:sp>
        <p:nvSpPr>
          <p:cNvPr id="14" name="Text 12"/>
          <p:cNvSpPr/>
          <p:nvPr/>
        </p:nvSpPr>
        <p:spPr>
          <a:xfrm>
            <a:off x="4846320" y="2359152"/>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5303520" y="2404872"/>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Combined anomaly heatmap — days with multiple simultaneous alerts</a:t>
            </a:r>
            <a:endParaRPr lang="en-US" sz="1150" dirty="0"/>
          </a:p>
        </p:txBody>
      </p:sp>
      <p:sp>
        <p:nvSpPr>
          <p:cNvPr id="16" name="Shape 14"/>
          <p:cNvSpPr/>
          <p:nvPr/>
        </p:nvSpPr>
        <p:spPr>
          <a:xfrm>
            <a:off x="320040" y="3529584"/>
            <a:ext cx="4206240" cy="1051560"/>
          </a:xfrm>
          <a:prstGeom prst="rect">
            <a:avLst/>
          </a:prstGeom>
          <a:solidFill>
            <a:srgbClr val="162A41"/>
          </a:solidFill>
          <a:ln w="12700">
            <a:solidFill>
              <a:srgbClr val="EF4444"/>
            </a:solidFill>
            <a:prstDash val="solid"/>
          </a:ln>
          <a:effectLst>
            <a:outerShdw blurRad="101600" dist="38100" dir="8100000" algn="bl" rotWithShape="0">
              <a:srgbClr val="000000">
                <a:alpha val="22000"/>
              </a:srgbClr>
            </a:outerShdw>
          </a:effectLst>
        </p:spPr>
      </p:sp>
      <p:sp>
        <p:nvSpPr>
          <p:cNvPr id="17" name="Text 15"/>
          <p:cNvSpPr/>
          <p:nvPr/>
        </p:nvSpPr>
        <p:spPr>
          <a:xfrm>
            <a:off x="411480" y="3621024"/>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868680" y="3666744"/>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Downloadable anomaly report CSV with date, metric, value, method, and note</a:t>
            </a:r>
            <a:endParaRPr lang="en-US" sz="1150" dirty="0"/>
          </a:p>
        </p:txBody>
      </p:sp>
      <p:sp>
        <p:nvSpPr>
          <p:cNvPr id="19" name="Shape 17"/>
          <p:cNvSpPr/>
          <p:nvPr/>
        </p:nvSpPr>
        <p:spPr>
          <a:xfrm>
            <a:off x="4754880" y="3529584"/>
            <a:ext cx="4206240" cy="1051560"/>
          </a:xfrm>
          <a:prstGeom prst="rect">
            <a:avLst/>
          </a:prstGeom>
          <a:solidFill>
            <a:srgbClr val="162A41"/>
          </a:solidFill>
          <a:ln w="12700">
            <a:solidFill>
              <a:srgbClr val="6366F1"/>
            </a:solidFill>
            <a:prstDash val="solid"/>
          </a:ln>
          <a:effectLst>
            <a:outerShdw blurRad="101600" dist="38100" dir="8100000" algn="bl" rotWithShape="0">
              <a:srgbClr val="000000">
                <a:alpha val="22000"/>
              </a:srgbClr>
            </a:outerShdw>
          </a:effectLst>
        </p:spPr>
      </p:sp>
      <p:sp>
        <p:nvSpPr>
          <p:cNvPr id="20" name="Text 18"/>
          <p:cNvSpPr/>
          <p:nvPr/>
        </p:nvSpPr>
        <p:spPr>
          <a:xfrm>
            <a:off x="4846320" y="3621024"/>
            <a:ext cx="457200" cy="822960"/>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5303520" y="3666744"/>
            <a:ext cx="3520440" cy="777240"/>
          </a:xfrm>
          <a:prstGeom prst="rect">
            <a:avLst/>
          </a:prstGeom>
          <a:noFill/>
          <a:ln/>
        </p:spPr>
        <p:txBody>
          <a:bodyPr wrap="square" rtlCol="0" anchor="ctr"/>
          <a:lstStyle/>
          <a:p>
            <a:pPr marL="0" indent="0">
              <a:buNone/>
            </a:pPr>
            <a:r>
              <a:rPr lang="en-US" sz="1150" dirty="0">
                <a:solidFill>
                  <a:srgbClr val="DCE8F5"/>
                </a:solidFill>
                <a:latin typeface="Calibri" pitchFamily="34" charset="0"/>
                <a:ea typeface="Calibri" pitchFamily="34" charset="-122"/>
                <a:cs typeface="Calibri" pitchFamily="34" charset="-120"/>
              </a:rPr>
              <a:t>PCA visualisation of structural outliers vs normal user clusters</a:t>
            </a:r>
            <a:endParaRPr lang="en-US" sz="1150" dirty="0"/>
          </a:p>
        </p:txBody>
      </p:sp>
      <p:sp>
        <p:nvSpPr>
          <p:cNvPr id="24" name="Shape 22"/>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8768E6E-2587-5557-3A01-94F59D6F8E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F78846-624B-CFD7-250F-096A7EB7C754}"/>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11C87119-6D98-655A-D04E-22943D4ABFEE}"/>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Anomalies in Heart Rate </a:t>
            </a:r>
          </a:p>
          <a:p>
            <a:pPr marL="0" indent="0">
              <a:buNone/>
            </a:pPr>
            <a:endParaRPr lang="en-US" sz="2800" dirty="0"/>
          </a:p>
        </p:txBody>
      </p:sp>
      <p:sp>
        <p:nvSpPr>
          <p:cNvPr id="25" name="Shape 23">
            <a:extLst>
              <a:ext uri="{FF2B5EF4-FFF2-40B4-BE49-F238E27FC236}">
                <a16:creationId xmlns:a16="http://schemas.microsoft.com/office/drawing/2014/main" id="{A5E32511-F8B4-CE9A-0E93-EF03061653FA}"/>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C44979A3-BFAB-7BD8-2E88-9CFF879FA5A3}"/>
              </a:ext>
            </a:extLst>
          </p:cNvPr>
          <p:cNvPicPr>
            <a:picLocks noChangeAspect="1"/>
          </p:cNvPicPr>
          <p:nvPr/>
        </p:nvPicPr>
        <p:blipFill>
          <a:blip r:embed="rId3"/>
          <a:stretch>
            <a:fillRect/>
          </a:stretch>
        </p:blipFill>
        <p:spPr>
          <a:xfrm>
            <a:off x="2068670" y="1280160"/>
            <a:ext cx="4978159" cy="3340800"/>
          </a:xfrm>
          <a:prstGeom prst="rect">
            <a:avLst/>
          </a:prstGeom>
        </p:spPr>
      </p:pic>
    </p:spTree>
    <p:extLst>
      <p:ext uri="{BB962C8B-B14F-4D97-AF65-F5344CB8AC3E}">
        <p14:creationId xmlns:p14="http://schemas.microsoft.com/office/powerpoint/2010/main" val="3128488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6336BE4-4258-33F2-0C0C-1E64D6E28E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720F0F-0E38-AF16-E60A-A317ED680CA5}"/>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4610F598-FFD2-B188-5C7D-E99B15FAC520}"/>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Anomalies in Sleep Rate</a:t>
            </a:r>
          </a:p>
          <a:p>
            <a:pPr marL="0" indent="0">
              <a:buNone/>
            </a:pPr>
            <a:endParaRPr lang="en-US" sz="2800" dirty="0"/>
          </a:p>
        </p:txBody>
      </p:sp>
      <p:sp>
        <p:nvSpPr>
          <p:cNvPr id="25" name="Shape 23">
            <a:extLst>
              <a:ext uri="{FF2B5EF4-FFF2-40B4-BE49-F238E27FC236}">
                <a16:creationId xmlns:a16="http://schemas.microsoft.com/office/drawing/2014/main" id="{907A2AF2-E3A3-445D-E4A4-F75E82A89708}"/>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7C6C6E65-D8EC-D018-9C67-AA7947D84609}"/>
              </a:ext>
            </a:extLst>
          </p:cNvPr>
          <p:cNvPicPr>
            <a:picLocks noChangeAspect="1"/>
          </p:cNvPicPr>
          <p:nvPr/>
        </p:nvPicPr>
        <p:blipFill>
          <a:blip r:embed="rId3"/>
          <a:stretch>
            <a:fillRect/>
          </a:stretch>
        </p:blipFill>
        <p:spPr>
          <a:xfrm>
            <a:off x="2179121" y="1280160"/>
            <a:ext cx="4503097" cy="3221701"/>
          </a:xfrm>
          <a:prstGeom prst="rect">
            <a:avLst/>
          </a:prstGeom>
        </p:spPr>
      </p:pic>
    </p:spTree>
    <p:extLst>
      <p:ext uri="{BB962C8B-B14F-4D97-AF65-F5344CB8AC3E}">
        <p14:creationId xmlns:p14="http://schemas.microsoft.com/office/powerpoint/2010/main" val="1619149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5E08C4D-74E2-AEDC-F1ED-420E06322F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CCC1DF-9067-457A-ACC8-3242AAD2F393}"/>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F812C8AB-4680-C2D3-24E5-20F968FCE4FE}"/>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DBSCAN Outliers</a:t>
            </a:r>
          </a:p>
          <a:p>
            <a:pPr marL="0" indent="0">
              <a:buNone/>
            </a:pPr>
            <a:endParaRPr lang="en-US" sz="2800" dirty="0"/>
          </a:p>
        </p:txBody>
      </p:sp>
      <p:sp>
        <p:nvSpPr>
          <p:cNvPr id="25" name="Shape 23">
            <a:extLst>
              <a:ext uri="{FF2B5EF4-FFF2-40B4-BE49-F238E27FC236}">
                <a16:creationId xmlns:a16="http://schemas.microsoft.com/office/drawing/2014/main" id="{0548707C-7E9D-6918-C3C0-F5E27F3170D3}"/>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5" name="Picture 4">
            <a:extLst>
              <a:ext uri="{FF2B5EF4-FFF2-40B4-BE49-F238E27FC236}">
                <a16:creationId xmlns:a16="http://schemas.microsoft.com/office/drawing/2014/main" id="{BA01AB84-500B-BB91-C0AD-120B3F8522CF}"/>
              </a:ext>
            </a:extLst>
          </p:cNvPr>
          <p:cNvPicPr>
            <a:picLocks noChangeAspect="1"/>
          </p:cNvPicPr>
          <p:nvPr/>
        </p:nvPicPr>
        <p:blipFill>
          <a:blip r:embed="rId3"/>
          <a:stretch>
            <a:fillRect/>
          </a:stretch>
        </p:blipFill>
        <p:spPr>
          <a:xfrm>
            <a:off x="2046919" y="1280160"/>
            <a:ext cx="5050161" cy="3513646"/>
          </a:xfrm>
          <a:prstGeom prst="rect">
            <a:avLst/>
          </a:prstGeom>
        </p:spPr>
      </p:pic>
    </p:spTree>
    <p:extLst>
      <p:ext uri="{BB962C8B-B14F-4D97-AF65-F5344CB8AC3E}">
        <p14:creationId xmlns:p14="http://schemas.microsoft.com/office/powerpoint/2010/main" val="2167538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8A95BA9-209E-3A5B-66FE-BDC50295A3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0A1462C-54B0-99A0-050E-E084842523B6}"/>
              </a:ext>
            </a:extLst>
          </p:cNvPr>
          <p:cNvSpPr/>
          <p:nvPr/>
        </p:nvSpPr>
        <p:spPr>
          <a:xfrm>
            <a:off x="0" y="0"/>
            <a:ext cx="9144000" cy="73152"/>
          </a:xfrm>
          <a:prstGeom prst="rect">
            <a:avLst/>
          </a:prstGeom>
          <a:solidFill>
            <a:srgbClr val="A78BFA"/>
          </a:solidFill>
          <a:ln w="12700">
            <a:solidFill>
              <a:srgbClr val="A78BFA"/>
            </a:solidFill>
            <a:prstDash val="solid"/>
          </a:ln>
        </p:spPr>
        <p:txBody>
          <a:bodyPr/>
          <a:lstStyle/>
          <a:p>
            <a:endParaRPr lang="en-IN"/>
          </a:p>
        </p:txBody>
      </p:sp>
      <p:sp>
        <p:nvSpPr>
          <p:cNvPr id="3" name="Text 1">
            <a:extLst>
              <a:ext uri="{FF2B5EF4-FFF2-40B4-BE49-F238E27FC236}">
                <a16:creationId xmlns:a16="http://schemas.microsoft.com/office/drawing/2014/main" id="{EDD51505-9FD7-C3D8-E48A-9995ACADED7A}"/>
              </a:ext>
            </a:extLst>
          </p:cNvPr>
          <p:cNvSpPr/>
          <p:nvPr/>
        </p:nvSpPr>
        <p:spPr>
          <a:xfrm>
            <a:off x="351510" y="731520"/>
            <a:ext cx="8412480" cy="548640"/>
          </a:xfrm>
          <a:prstGeom prst="rect">
            <a:avLst/>
          </a:prstGeom>
          <a:noFill/>
          <a:ln/>
        </p:spPr>
        <p:txBody>
          <a:bodyPr wrap="square" lIns="0" tIns="0" rIns="0" bIns="0" rtlCol="0" anchor="ctr"/>
          <a:lstStyle/>
          <a:p>
            <a:pPr marL="0" indent="0">
              <a:buNone/>
            </a:pPr>
            <a:r>
              <a:rPr lang="en-US" sz="2800" b="1" dirty="0">
                <a:solidFill>
                  <a:srgbClr val="A78BFA"/>
                </a:solidFill>
                <a:latin typeface="Calibri" pitchFamily="34" charset="0"/>
                <a:ea typeface="Calibri" pitchFamily="34" charset="-122"/>
                <a:cs typeface="Calibri" pitchFamily="34" charset="-120"/>
              </a:rPr>
              <a:t>Output Screenshots: </a:t>
            </a:r>
          </a:p>
          <a:p>
            <a:pPr marL="0" indent="0">
              <a:buNone/>
            </a:pPr>
            <a:endParaRPr lang="en-US" sz="1200" b="1" dirty="0">
              <a:solidFill>
                <a:srgbClr val="A78BFA"/>
              </a:solidFill>
              <a:latin typeface="Calibri" pitchFamily="34" charset="0"/>
              <a:ea typeface="Calibri" pitchFamily="34" charset="-122"/>
              <a:cs typeface="Calibri" pitchFamily="34" charset="-120"/>
            </a:endParaRPr>
          </a:p>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Anomaly Report Summary</a:t>
            </a:r>
          </a:p>
          <a:p>
            <a:pPr marL="0" indent="0">
              <a:buNone/>
            </a:pPr>
            <a:endParaRPr lang="en-US" sz="2800" dirty="0"/>
          </a:p>
        </p:txBody>
      </p:sp>
      <p:sp>
        <p:nvSpPr>
          <p:cNvPr id="25" name="Shape 23">
            <a:extLst>
              <a:ext uri="{FF2B5EF4-FFF2-40B4-BE49-F238E27FC236}">
                <a16:creationId xmlns:a16="http://schemas.microsoft.com/office/drawing/2014/main" id="{3A6F0EC0-DF55-0E34-8677-7DA6D2BA9A8F}"/>
              </a:ext>
            </a:extLst>
          </p:cNvPr>
          <p:cNvSpPr/>
          <p:nvPr/>
        </p:nvSpPr>
        <p:spPr>
          <a:xfrm>
            <a:off x="0" y="5070348"/>
            <a:ext cx="9144000" cy="73152"/>
          </a:xfrm>
          <a:prstGeom prst="rect">
            <a:avLst/>
          </a:prstGeom>
          <a:solidFill>
            <a:srgbClr val="6366F1"/>
          </a:solidFill>
          <a:ln w="12700">
            <a:solidFill>
              <a:srgbClr val="6366F1"/>
            </a:solidFill>
            <a:prstDash val="solid"/>
          </a:ln>
        </p:spPr>
        <p:txBody>
          <a:bodyPr/>
          <a:lstStyle/>
          <a:p>
            <a:endParaRPr lang="en-IN"/>
          </a:p>
        </p:txBody>
      </p:sp>
      <p:pic>
        <p:nvPicPr>
          <p:cNvPr id="6" name="Picture 5">
            <a:extLst>
              <a:ext uri="{FF2B5EF4-FFF2-40B4-BE49-F238E27FC236}">
                <a16:creationId xmlns:a16="http://schemas.microsoft.com/office/drawing/2014/main" id="{4B5AE973-DEB0-9C6E-4250-356CEDDC8C7C}"/>
              </a:ext>
            </a:extLst>
          </p:cNvPr>
          <p:cNvPicPr>
            <a:picLocks noChangeAspect="1"/>
          </p:cNvPicPr>
          <p:nvPr/>
        </p:nvPicPr>
        <p:blipFill>
          <a:blip r:embed="rId3"/>
          <a:stretch>
            <a:fillRect/>
          </a:stretch>
        </p:blipFill>
        <p:spPr>
          <a:xfrm>
            <a:off x="774077" y="1356481"/>
            <a:ext cx="7595846" cy="2854931"/>
          </a:xfrm>
          <a:prstGeom prst="rect">
            <a:avLst/>
          </a:prstGeom>
        </p:spPr>
      </p:pic>
    </p:spTree>
    <p:extLst>
      <p:ext uri="{BB962C8B-B14F-4D97-AF65-F5344CB8AC3E}">
        <p14:creationId xmlns:p14="http://schemas.microsoft.com/office/powerpoint/2010/main" val="1817867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1741</Words>
  <Application>Microsoft Office PowerPoint</Application>
  <PresentationFormat>On-screen Show (16:9)</PresentationFormat>
  <Paragraphs>331</Paragraphs>
  <Slides>27</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FitPulse — Health Anomaly Detection</dc:title>
  <dc:subject>PptxGenJS Presentation</dc:subject>
  <dc:creator>PptxGenJS</dc:creator>
  <cp:lastModifiedBy>Thejomayie K</cp:lastModifiedBy>
  <cp:revision>4</cp:revision>
  <dcterms:created xsi:type="dcterms:W3CDTF">2026-03-26T12:34:38Z</dcterms:created>
  <dcterms:modified xsi:type="dcterms:W3CDTF">2026-03-28T13:08:56Z</dcterms:modified>
</cp:coreProperties>
</file>